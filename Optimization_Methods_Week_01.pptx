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b9cbe870754699" /><Relationship Type="http://schemas.openxmlformats.org/officeDocument/2006/relationships/extended-properties" Target="/docProps/app.xml" Id="R55ecefbe8f5c4194" /><Relationship Type="http://schemas.openxmlformats.org/officeDocument/2006/relationships/officeDocument" Target="/ppt/presentation.xml" Id="R468c1894cba242e2" /></Relationships>
</file>

<file path=ppt/presentation.xml><?xml version="1.0" encoding="utf-8"?>
<p:presentation xmlns:p="http://schemas.openxmlformats.org/presentationml/2006/main">
  <p:sldMasterIdLst>
    <p:sldMasterId xmlns:r="http://schemas.openxmlformats.org/officeDocument/2006/relationships" id="2147483648" r:id="Rf1d02d8424964215"/>
  </p:sldMasterIdLst>
  <p:notesMasterIdLst>
    <p:notesMasterId xmlns:r="http://schemas.openxmlformats.org/officeDocument/2006/relationships" r:id="Rb0b4298f6bc5468d"/>
  </p:notesMasterIdLst>
  <p:sldIdLst>
    <p:sldId xmlns:r="http://schemas.openxmlformats.org/officeDocument/2006/relationships" id="256" r:id="R8a154bd8fe0048d8"/>
    <p:sldId xmlns:r="http://schemas.openxmlformats.org/officeDocument/2006/relationships" id="257" r:id="R917e337f5cb34290"/>
    <p:sldId xmlns:r="http://schemas.openxmlformats.org/officeDocument/2006/relationships" id="258" r:id="R7b42b79783c9443d"/>
    <p:sldId xmlns:r="http://schemas.openxmlformats.org/officeDocument/2006/relationships" id="259" r:id="Rce7b87d601654a85"/>
    <p:sldId xmlns:r="http://schemas.openxmlformats.org/officeDocument/2006/relationships" id="260" r:id="R11b4dabd5e5e4d8f"/>
    <p:sldId xmlns:r="http://schemas.openxmlformats.org/officeDocument/2006/relationships" id="261" r:id="R451b5e4972b8475e"/>
    <p:sldId xmlns:r="http://schemas.openxmlformats.org/officeDocument/2006/relationships" id="262" r:id="R913a1b55a98d40e3"/>
    <p:sldId xmlns:r="http://schemas.openxmlformats.org/officeDocument/2006/relationships" id="263" r:id="Rcb631bfefeec4797"/>
    <p:sldId xmlns:r="http://schemas.openxmlformats.org/officeDocument/2006/relationships" id="264" r:id="Rd4d36b30cd2d4d0d"/>
    <p:sldId xmlns:r="http://schemas.openxmlformats.org/officeDocument/2006/relationships" id="265" r:id="R0629ccba238d4c3d"/>
    <p:sldId xmlns:r="http://schemas.openxmlformats.org/officeDocument/2006/relationships" id="266" r:id="Rdf1cd05011014fea"/>
    <p:sldId xmlns:r="http://schemas.openxmlformats.org/officeDocument/2006/relationships" id="267" r:id="Rc0b26df692254285"/>
    <p:sldId xmlns:r="http://schemas.openxmlformats.org/officeDocument/2006/relationships" id="268" r:id="R967aea3e50b94eb9"/>
    <p:sldId xmlns:r="http://schemas.openxmlformats.org/officeDocument/2006/relationships" id="269" r:id="R65d68c1cc8c54f57"/>
    <p:sldId xmlns:r="http://schemas.openxmlformats.org/officeDocument/2006/relationships" id="270" r:id="Rb74eb7cf05f04353"/>
    <p:sldId xmlns:r="http://schemas.openxmlformats.org/officeDocument/2006/relationships" id="271" r:id="Rcf8fa560e28941f6"/>
    <p:sldId xmlns:r="http://schemas.openxmlformats.org/officeDocument/2006/relationships" id="272" r:id="Rdfc849e5795c496b"/>
    <p:sldId xmlns:r="http://schemas.openxmlformats.org/officeDocument/2006/relationships" id="273" r:id="Rd59c182438e84a3d"/>
    <p:sldId xmlns:r="http://schemas.openxmlformats.org/officeDocument/2006/relationships" id="274" r:id="Rd2923ba59a594aa2"/>
    <p:sldId xmlns:r="http://schemas.openxmlformats.org/officeDocument/2006/relationships" id="275" r:id="R20fec5b3924045ba"/>
    <p:sldId xmlns:r="http://schemas.openxmlformats.org/officeDocument/2006/relationships" id="276" r:id="Rae79107198a847b2"/>
    <p:sldId xmlns:r="http://schemas.openxmlformats.org/officeDocument/2006/relationships" id="277" r:id="Rc88d0c9541d244a0"/>
    <p:sldId xmlns:r="http://schemas.openxmlformats.org/officeDocument/2006/relationships" id="278" r:id="Rada6508a717043f3"/>
    <p:sldId xmlns:r="http://schemas.openxmlformats.org/officeDocument/2006/relationships" id="279" r:id="R350f00a61e5d4386"/>
    <p:sldId xmlns:r="http://schemas.openxmlformats.org/officeDocument/2006/relationships" id="280" r:id="R5372979ac37e483b"/>
    <p:sldId xmlns:r="http://schemas.openxmlformats.org/officeDocument/2006/relationships" id="281" r:id="R529042f8de5e4e08"/>
    <p:sldId xmlns:r="http://schemas.openxmlformats.org/officeDocument/2006/relationships" id="282" r:id="Rdf149001db254dd6"/>
    <p:sldId xmlns:r="http://schemas.openxmlformats.org/officeDocument/2006/relationships" id="283" r:id="R881af714c137422a"/>
    <p:sldId xmlns:r="http://schemas.openxmlformats.org/officeDocument/2006/relationships" id="284" r:id="R0659b22b129844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69caec65ab4664" /><Relationship Type="http://schemas.openxmlformats.org/officeDocument/2006/relationships/slideMaster" Target="/ppt/slideMasters/slideMaster1.xml" Id="Rf1d02d8424964215" /><Relationship Type="http://schemas.openxmlformats.org/officeDocument/2006/relationships/notesMaster" Target="/ppt/notesMasters/notesMaster1.xml" Id="Rb0b4298f6bc5468d" /><Relationship Type="http://schemas.openxmlformats.org/officeDocument/2006/relationships/presProps" Target="/ppt/presProps.xml" Id="Ra1d1006fe9fa4ec5" /><Relationship Type="http://schemas.openxmlformats.org/officeDocument/2006/relationships/tableStyles" Target="/ppt/tableStyles.xml" Id="R6a30927006eb4615" /><Relationship Type="http://schemas.openxmlformats.org/officeDocument/2006/relationships/slide" Target="/ppt/slides/slide1.xml" Id="R8a154bd8fe0048d8" /><Relationship Type="http://schemas.openxmlformats.org/officeDocument/2006/relationships/slide" Target="/ppt/slides/slide2.xml" Id="R917e337f5cb34290" /><Relationship Type="http://schemas.openxmlformats.org/officeDocument/2006/relationships/slide" Target="/ppt/slides/slide3.xml" Id="R7b42b79783c9443d" /><Relationship Type="http://schemas.openxmlformats.org/officeDocument/2006/relationships/slide" Target="/ppt/slides/slide4.xml" Id="Rce7b87d601654a85" /><Relationship Type="http://schemas.openxmlformats.org/officeDocument/2006/relationships/slide" Target="/ppt/slides/slide5.xml" Id="R11b4dabd5e5e4d8f" /><Relationship Type="http://schemas.openxmlformats.org/officeDocument/2006/relationships/slide" Target="/ppt/slides/slide6.xml" Id="R451b5e4972b8475e" /><Relationship Type="http://schemas.openxmlformats.org/officeDocument/2006/relationships/slide" Target="/ppt/slides/slide7.xml" Id="R913a1b55a98d40e3" /><Relationship Type="http://schemas.openxmlformats.org/officeDocument/2006/relationships/slide" Target="/ppt/slides/slide8.xml" Id="Rcb631bfefeec4797" /><Relationship Type="http://schemas.openxmlformats.org/officeDocument/2006/relationships/slide" Target="/ppt/slides/slide9.xml" Id="Rd4d36b30cd2d4d0d" /><Relationship Type="http://schemas.openxmlformats.org/officeDocument/2006/relationships/slide" Target="/ppt/slides/slide10.xml" Id="R0629ccba238d4c3d" /><Relationship Type="http://schemas.openxmlformats.org/officeDocument/2006/relationships/slide" Target="/ppt/slides/slide11.xml" Id="Rdf1cd05011014fea" /><Relationship Type="http://schemas.openxmlformats.org/officeDocument/2006/relationships/slide" Target="/ppt/slides/slide12.xml" Id="Rc0b26df692254285" /><Relationship Type="http://schemas.openxmlformats.org/officeDocument/2006/relationships/slide" Target="/ppt/slides/slide13.xml" Id="R967aea3e50b94eb9" /><Relationship Type="http://schemas.openxmlformats.org/officeDocument/2006/relationships/slide" Target="/ppt/slides/slide14.xml" Id="R65d68c1cc8c54f57" /><Relationship Type="http://schemas.openxmlformats.org/officeDocument/2006/relationships/slide" Target="/ppt/slides/slide15.xml" Id="Rb74eb7cf05f04353" /><Relationship Type="http://schemas.openxmlformats.org/officeDocument/2006/relationships/slide" Target="/ppt/slides/slide16.xml" Id="Rcf8fa560e28941f6" /><Relationship Type="http://schemas.openxmlformats.org/officeDocument/2006/relationships/slide" Target="/ppt/slides/slide17.xml" Id="Rdfc849e5795c496b" /><Relationship Type="http://schemas.openxmlformats.org/officeDocument/2006/relationships/slide" Target="/ppt/slides/slide18.xml" Id="Rd59c182438e84a3d" /><Relationship Type="http://schemas.openxmlformats.org/officeDocument/2006/relationships/slide" Target="/ppt/slides/slide19.xml" Id="Rd2923ba59a594aa2" /><Relationship Type="http://schemas.openxmlformats.org/officeDocument/2006/relationships/slide" Target="/ppt/slides/slide20.xml" Id="R20fec5b3924045ba" /><Relationship Type="http://schemas.openxmlformats.org/officeDocument/2006/relationships/slide" Target="/ppt/slides/slide21.xml" Id="Rae79107198a847b2" /><Relationship Type="http://schemas.openxmlformats.org/officeDocument/2006/relationships/slide" Target="/ppt/slides/slide22.xml" Id="Rc88d0c9541d244a0" /><Relationship Type="http://schemas.openxmlformats.org/officeDocument/2006/relationships/slide" Target="/ppt/slides/slide23.xml" Id="Rada6508a717043f3" /><Relationship Type="http://schemas.openxmlformats.org/officeDocument/2006/relationships/slide" Target="/ppt/slides/slide24.xml" Id="R350f00a61e5d4386" /><Relationship Type="http://schemas.openxmlformats.org/officeDocument/2006/relationships/slide" Target="/ppt/slides/slide25.xml" Id="R5372979ac37e483b" /><Relationship Type="http://schemas.openxmlformats.org/officeDocument/2006/relationships/slide" Target="/ppt/slides/slide26.xml" Id="R529042f8de5e4e08" /><Relationship Type="http://schemas.openxmlformats.org/officeDocument/2006/relationships/slide" Target="/ppt/slides/slide27.xml" Id="Rdf149001db254dd6" /><Relationship Type="http://schemas.openxmlformats.org/officeDocument/2006/relationships/slide" Target="/ppt/slides/slide28.xml" Id="R881af714c137422a" /><Relationship Type="http://schemas.openxmlformats.org/officeDocument/2006/relationships/slide" Target="/ppt/slides/slide29.xml" Id="R0659b22b129844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2869f6a03e4b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1ac9d3832d4131" /><Relationship Type="http://schemas.openxmlformats.org/officeDocument/2006/relationships/notesMaster" Target="/ppt/notesMasters/notesMaster1.xml" Id="Rcf926dc4cc4844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30c65708774e97" /><Relationship Type="http://schemas.openxmlformats.org/officeDocument/2006/relationships/notesMaster" Target="/ppt/notesMasters/notesMaster1.xml" Id="Ra4074b8e7f5f4d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07ccbfe7444326" /><Relationship Type="http://schemas.openxmlformats.org/officeDocument/2006/relationships/notesMaster" Target="/ppt/notesMasters/notesMaster1.xml" Id="Rd398cf1934004d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40d249b37b4454" /><Relationship Type="http://schemas.openxmlformats.org/officeDocument/2006/relationships/notesMaster" Target="/ppt/notesMasters/notesMaster1.xml" Id="R3fdd9466bc7242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b8ab94ab504c05" /><Relationship Type="http://schemas.openxmlformats.org/officeDocument/2006/relationships/notesMaster" Target="/ppt/notesMasters/notesMaster1.xml" Id="R741447db672c45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d153f6ccd841d4" /><Relationship Type="http://schemas.openxmlformats.org/officeDocument/2006/relationships/notesMaster" Target="/ppt/notesMasters/notesMaster1.xml" Id="Rc4fcb05c0b284b0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85239a50094379" /><Relationship Type="http://schemas.openxmlformats.org/officeDocument/2006/relationships/notesMaster" Target="/ppt/notesMasters/notesMaster1.xml" Id="R7034a4b9249641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7cbca86f08465e" /><Relationship Type="http://schemas.openxmlformats.org/officeDocument/2006/relationships/notesMaster" Target="/ppt/notesMasters/notesMaster1.xml" Id="Rbb30f335a21142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8a6164ad004f84" /><Relationship Type="http://schemas.openxmlformats.org/officeDocument/2006/relationships/notesMaster" Target="/ppt/notesMasters/notesMaster1.xml" Id="R4fb1926dfc8d432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41afb69e7674f77" /><Relationship Type="http://schemas.openxmlformats.org/officeDocument/2006/relationships/notesMaster" Target="/ppt/notesMasters/notesMaster1.xml" Id="Rc7eceb7d81244a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9928e2791447ea" /><Relationship Type="http://schemas.openxmlformats.org/officeDocument/2006/relationships/notesMaster" Target="/ppt/notesMasters/notesMaster1.xml" Id="R5b566adb4db94ba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23bcee377c9462a" /><Relationship Type="http://schemas.openxmlformats.org/officeDocument/2006/relationships/notesMaster" Target="/ppt/notesMasters/notesMaster1.xml" Id="Red1de468eb964b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4b87c52c07c4777" /><Relationship Type="http://schemas.openxmlformats.org/officeDocument/2006/relationships/notesMaster" Target="/ppt/notesMasters/notesMaster1.xml" Id="R55f8ecf14809458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7232ae9279f4d99" /><Relationship Type="http://schemas.openxmlformats.org/officeDocument/2006/relationships/notesMaster" Target="/ppt/notesMasters/notesMaster1.xml" Id="R34f91c0571294ad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c36555942543d3" /><Relationship Type="http://schemas.openxmlformats.org/officeDocument/2006/relationships/notesMaster" Target="/ppt/notesMasters/notesMaster1.xml" Id="Rdf614740da14401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230251fcc2c497a" /><Relationship Type="http://schemas.openxmlformats.org/officeDocument/2006/relationships/notesMaster" Target="/ppt/notesMasters/notesMaster1.xml" Id="R712121429fae460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901b0b4adc94e6d" /><Relationship Type="http://schemas.openxmlformats.org/officeDocument/2006/relationships/notesMaster" Target="/ppt/notesMasters/notesMaster1.xml" Id="R1a5109ea24e5499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1c1f6106bf54348" /><Relationship Type="http://schemas.openxmlformats.org/officeDocument/2006/relationships/notesMaster" Target="/ppt/notesMasters/notesMaster1.xml" Id="R4bf7e606f01f4e4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2e7558ba7374197" /><Relationship Type="http://schemas.openxmlformats.org/officeDocument/2006/relationships/notesMaster" Target="/ppt/notesMasters/notesMaster1.xml" Id="R563dc8a6690b422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e75a3dd109c4390" /><Relationship Type="http://schemas.openxmlformats.org/officeDocument/2006/relationships/notesMaster" Target="/ppt/notesMasters/notesMaster1.xml" Id="Rfe905bf1f174469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14a9defb1e442bb" /><Relationship Type="http://schemas.openxmlformats.org/officeDocument/2006/relationships/notesMaster" Target="/ppt/notesMasters/notesMaster1.xml" Id="R7a398ca80b3b408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ee5ee1b5d2e4de4" /><Relationship Type="http://schemas.openxmlformats.org/officeDocument/2006/relationships/notesMaster" Target="/ppt/notesMasters/notesMaster1.xml" Id="Re9c64e1ad2be405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0944f9d572e4d01" /><Relationship Type="http://schemas.openxmlformats.org/officeDocument/2006/relationships/notesMaster" Target="/ppt/notesMasters/notesMaster1.xml" Id="Rceb73ca8963b49b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70e5e06bd674635" /><Relationship Type="http://schemas.openxmlformats.org/officeDocument/2006/relationships/notesMaster" Target="/ppt/notesMasters/notesMaster1.xml" Id="Rc792445717c340b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6836cf75c074195" /><Relationship Type="http://schemas.openxmlformats.org/officeDocument/2006/relationships/notesMaster" Target="/ppt/notesMasters/notesMaster1.xml" Id="Rac17cbaa77f3428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6b9a58e0618475a" /><Relationship Type="http://schemas.openxmlformats.org/officeDocument/2006/relationships/notesMaster" Target="/ppt/notesMasters/notesMaster1.xml" Id="R06effb609cdf4ac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a634fad13784e27" /><Relationship Type="http://schemas.openxmlformats.org/officeDocument/2006/relationships/notesMaster" Target="/ppt/notesMasters/notesMaster1.xml" Id="R90d464a5790942b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1d6c5e442b24d14" /><Relationship Type="http://schemas.openxmlformats.org/officeDocument/2006/relationships/notesMaster" Target="/ppt/notesMasters/notesMaster1.xml" Id="R5e7c0120cec64ae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bb2f6d167ca49e1" /><Relationship Type="http://schemas.openxmlformats.org/officeDocument/2006/relationships/notesMaster" Target="/ppt/notesMasters/notesMaster1.xml" Id="R383161b1bb4841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Optimization is not merely a chapter of mathematics. It is a disciplined way to decide when several alternatives compete and resources are limited. every point represents a possible solution; the highlighted path represents a method that searches for a better one.</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placement of each service is a decision. A placement affects response time, monetary cost, server capacity and reliability. Choosing one service is easy; coordinating twelve services creates many interacting choices.</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components: alternatives, a quality measure, and restrictions. The output is not simply a good idea—it is the best feasible decision found under an explicit model and computational budget.</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variables are controllable choices; objective as the measure to minimize or maximize; constraints as mandatory conditions; data as known inputs. strong university optimization courses begin with formulation because an algorithm cannot repair a wrong model.</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mathematical variable and a Java field serve related purposes: both encode a choice. In this discrete example each service stores a server identifier. Representation determines which candidates the algorithm can create and how efficiently it can manipulate them.</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objective is not automatically ‘correct’. Cost, speed, energy and reliability reflect different viewpoints. The illustrative chart shows the same alternatives receiving different rankings under different measures. The numbers are illustrative rather than measured experimental data.</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fast solution that violates server capacity is not a valid answer. Constraints may be technical, financial, legal, safety-related or organizational. Some problems permit temporary violations with penalties, but the final model must state how violations are treated.</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often mistake data for decision variables. We choose the server assignment, but we normally do not choose existing capacity or measured network delay. Note that uncertain data motivate robust and stochastic optimization later, but Week 1 treats inputs as given.</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phrase ‘make it better’ cannot be implemented or tested. A defensible formulation identifies exactly what will change, what is minimized, which conditions are mandatory, and which inputs are assumed known. This is a central professional skill, not clerical work.</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complete assignment is a point in the search space. Red points illustrate candidates that violate a constraint; green points are feasible; the amber point is the best candidate found so far. Real spaces may contain millions or far more candidates.</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Discrete choices take separated values; continuous choices vary over an interval. Some engineering problems combine both. The distinction affects representation, neighbourhood definitions, derivatives, and algorithm selection.</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Improving response time may increase cost. The highlighted points form an illustrative trade-off boundary: moving toward one objective can worsen another. Multi-objective optimization supports decision-making rather than automatically selecting one universally best answer.</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stochastic algorithm is not unscientific. It requires stronger reporting: random seed, repeated runs, distribution summaries, and comparable evaluation budgets. Deterministic methods can often be verified with a single identical rerun, although model and numerical issues remain.</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methods provide proof or a bound under particular model assumptions. Heuristics use domain knowledge and are often fast. Metaheuristics provide general exploration mechanisms and are useful when spaces are difficult, but usually do not prove global optimality.</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additional service multiplies the number of assignments by four. The chart plots the base-10 logarithm so all values remain visible. At twelve services there are over sixteen million complete assignments; realistic systems can be vastly larger.</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method should be evaluated by solution quality, computation time and confidence in the result. Confidence may come from proof, bounds, comparisons, repeated runs or validation on known instances. Improving one dimension may cost another.</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decision in each domain: routing selects paths; cloud optimization assigns workloads; machine learning adjusts parameters; software testing prioritizes cases; security allocates defensive resources; logistics plans routes or packing.</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contains a decision question and an improvement goal. constraints would include developer capacity, deadlines, dependencies, budgets, or platform limits.</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verification from validation. Verification can use a small hand-calculated example. Validation may require stakeholder review or comparison with real behaviour. Results must be explained, not merely printed.</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pseudocode is intentionally simple. Every candidate is checked for feasibility and then assigned an objective value. In later weeks the search algorithm can change while this model-specific evaluation remains stable. A key risk is hiding constraints inside unrelated code.</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should not implement random search yet. They first build trustworthy representation, constraint checking and objective evaluation. Provide three small candidate assignments so they can compare code output with a manual calculation.</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ProblemData contains inputs, Candidate contains decisions, Evaluation contains results, Evaluator contains model logic, and Main orchestrates the demonstration. This is not the only valid design; its purpose is to make the academic model visible in code.</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Reproducibility means another student can recreate the same conditions. The record on the right illustrates what later labs should log. In Week 1 there may be no random seed, but students should understand why it becomes essential for stochastic methods.</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Sophisticated algorithms cannot rescue an ambiguous objective or incorrect evaluator. Unit tests, manual cases, feasibility counts, baselines and repeated runs are academic safeguards. These mistakes will be referenced throughout the semester.</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pairs three minutes. Expected directions: decisions are course-room-time assignments; objectives may minimize clashes or idle time; constraints include room capacity and instructor availability; data include course lists and room capacities; the space is primarily discrete.</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Classical methods provide structure and guarantees; discrete methods address combinatorial decisions; metaheuristics address difficult spaces; multi-objective methods support trade-offs. The same formulation and experimental principles remain throughout.</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server-placement question. Students should now be able to explain why it is an optimization problem and identify its four components. Stress that Week 1 is successful if they can formulate and criticize a model, not memorize algorithm names.</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2 will add a search procedure around the evaluator. Students should arrive with a correct model, a verified small example and a basic understanding of search-space growth.</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deck adapts the modeling-first approach used in leading optimization courses while lowering the mathematical entry barrier for this audience. Rao will serve as the principal engineering reference; Boyd and Vandenberghe provide deeper theoretical reading.</a:t>
            </a:r>
          </a:p>
          <a:p xmlns:a="http://schemas.openxmlformats.org/drawingml/2006/main">
            <a:r>
              <a:t/>
            </a:r>
          </a:p>
          <a:p xmlns:a="http://schemas.openxmlformats.org/drawingml/2006/main">
            <a:r>
              <a:t>The concepts on this slide belong to the same optimization model: decisions define what may change, the objective establishes how feasible candidates are compared, constraints define acceptability, and data describe the problem instance. The distinction among these roles is essential because an optimization algorithm can search only the model it has been given; it cannot correct an ambiguous objective or a missing constraint.</a:t>
            </a:r>
          </a:p>
          <a:p xmlns:a="http://schemas.openxmlformats.org/drawingml/2006/main">
            <a:r>
              <a:t/>
            </a:r>
          </a:p>
          <a:p xmlns:a="http://schemas.openxmlformats.org/drawingml/2006/main">
            <a:r>
              <a:t>[Sources]</a:t>
            </a:r>
          </a:p>
          <a:p xmlns:a="http://schemas.openxmlformats.org/drawingml/2006/main">
            <a:r>
              <a:t>- MIT OpenCourseWare, 6.079 Introduction to Convex Optimization, Lecture 1 (Fall 2009): https://ocw.mit.edu/courses/6-079-introduction-to-convex-optimization-fall-2009/pages/lecture-notes/</a:t>
            </a:r>
          </a:p>
          <a:p xmlns:a="http://schemas.openxmlformats.org/drawingml/2006/main">
            <a:r>
              <a:t>- MIT OpenCourseWare, 6.7220J Nonlinear Optimization, Lecture 1 calendar (Spring 2025): https://ocw.mit.edu/courses/6-7220j-nonlinear-optimization-spring-2025/pages/calendar/</a:t>
            </a:r>
          </a:p>
          <a:p xmlns:a="http://schemas.openxmlformats.org/drawingml/2006/main">
            <a:r>
              <a:t>- Stanford Engineering Everywhere, EE364A Convex Optimization I, Lecture 1: https://see.stanford.edu/Course/EE364A/85</a:t>
            </a:r>
          </a:p>
          <a:p xmlns:a="http://schemas.openxmlformats.org/drawingml/2006/main">
            <a:r>
              <a:t>- Carnegie Mellon University, 24-785 Engineering Optimization: https://www.meche.engineering.cmu.edu/education/courses/24-785.html</a:t>
            </a:r>
          </a:p>
          <a:p xmlns:a="http://schemas.openxmlformats.org/drawingml/2006/main">
            <a:r>
              <a:t>- S. S. Rao, Engineering Optimization: Theory and Practice, 5th ed., Wiley, 2019.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c47e8fd0b444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72b02d5811466c" /><Relationship Type="http://schemas.openxmlformats.org/officeDocument/2006/relationships/slideLayout" Target="/ppt/slideLayouts/slideLayout1.xml" Id="Ref0e0ca69b034c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0e0ca69b034c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f1496a1e3c1432c" /><Relationship Type="http://schemas.openxmlformats.org/officeDocument/2006/relationships/image" Target="/ppt/media/image.png" Id="R3149181baed34b32" /><Relationship Type="http://schemas.openxmlformats.org/officeDocument/2006/relationships/notesSlide" Target="/ppt/notesSlides/notesSlide1.xml" Id="R6fad7bc170b545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7ee1e63bd0e4b36" /><Relationship Type="http://schemas.openxmlformats.org/officeDocument/2006/relationships/notesSlide" Target="/ppt/notesSlides/notesSlide2.xml" Id="R4ba0d2f32c5a44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5a0399701cf467e" /><Relationship Type="http://schemas.openxmlformats.org/officeDocument/2006/relationships/notesSlide" Target="/ppt/notesSlides/notesSlide3.xml" Id="R39a54d54cd394f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addc47fa9354c73" /><Relationship Type="http://schemas.openxmlformats.org/officeDocument/2006/relationships/notesSlide" Target="/ppt/notesSlides/notesSlide4.xml" Id="R2489612e8a5d4f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972808f754647eb" /><Relationship Type="http://schemas.openxmlformats.org/officeDocument/2006/relationships/notesSlide" Target="/ppt/notesSlides/notesSlide5.xml" Id="R2992e29ba18146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91c1b43ed84dae" /><Relationship Type="http://schemas.openxmlformats.org/officeDocument/2006/relationships/chart" Target="/ppt/slides/charts/chart1.xml" Id="Rbd762412efaf4a66" /><Relationship Type="http://schemas.openxmlformats.org/officeDocument/2006/relationships/notesSlide" Target="/ppt/notesSlides/notesSlide6.xml" Id="R020bded4b2b041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a2a9ed69e7b4b78" /><Relationship Type="http://schemas.openxmlformats.org/officeDocument/2006/relationships/image" Target="/ppt/media/image2.png" Id="R68a8abca2b2243a7" /><Relationship Type="http://schemas.openxmlformats.org/officeDocument/2006/relationships/notesSlide" Target="/ppt/notesSlides/notesSlide7.xml" Id="Rb8df40cc3d5a47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52a98a3c6034c07" /><Relationship Type="http://schemas.openxmlformats.org/officeDocument/2006/relationships/notesSlide" Target="/ppt/notesSlides/notesSlide8.xml" Id="R3e70c215c7a647d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aabe21d3c75446a" /><Relationship Type="http://schemas.openxmlformats.org/officeDocument/2006/relationships/notesSlide" Target="/ppt/notesSlides/notesSlide9.xml" Id="R8d6e68efa6054c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12cac564e4b4a46" /><Relationship Type="http://schemas.openxmlformats.org/officeDocument/2006/relationships/image" Target="/ppt/media/image3.png" Id="R25adaf3463d4486b" /><Relationship Type="http://schemas.openxmlformats.org/officeDocument/2006/relationships/notesSlide" Target="/ppt/notesSlides/notesSlide10.xml" Id="Rfc1407f9d4e14ea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3f30b2fd3f74e94" /><Relationship Type="http://schemas.openxmlformats.org/officeDocument/2006/relationships/notesSlide" Target="/ppt/notesSlides/notesSlide11.xml" Id="R12071de3fa124d4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95772dfd3334dae" /><Relationship Type="http://schemas.openxmlformats.org/officeDocument/2006/relationships/chart" Target="/ppt/slides/charts/chart2.xml" Id="Re28b7dce68894212" /><Relationship Type="http://schemas.openxmlformats.org/officeDocument/2006/relationships/image" Target="/ppt/media/image4.png" Id="R5db76d92527e4d23" /><Relationship Type="http://schemas.openxmlformats.org/officeDocument/2006/relationships/notesSlide" Target="/ppt/notesSlides/notesSlide12.xml" Id="R0d64e0db2db346a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fa6eb1628734843" /><Relationship Type="http://schemas.openxmlformats.org/officeDocument/2006/relationships/notesSlide" Target="/ppt/notesSlides/notesSlide13.xml" Id="R4f3c5d911c31478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a66e944ad5f4ef9" /><Relationship Type="http://schemas.openxmlformats.org/officeDocument/2006/relationships/notesSlide" Target="/ppt/notesSlides/notesSlide14.xml" Id="Rdc1bb305287943a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1878812d6a44b12" /><Relationship Type="http://schemas.openxmlformats.org/officeDocument/2006/relationships/chart" Target="/ppt/slides/charts/chart3.xml" Id="Rf8bf30ff9fd64d0c" /><Relationship Type="http://schemas.openxmlformats.org/officeDocument/2006/relationships/notesSlide" Target="/ppt/notesSlides/notesSlide15.xml" Id="R1b67b8f9afc8473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97b4f3abb1342a4" /><Relationship Type="http://schemas.openxmlformats.org/officeDocument/2006/relationships/notesSlide" Target="/ppt/notesSlides/notesSlide16.xml" Id="R8feb89acfa934cd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787d78aee164743" /><Relationship Type="http://schemas.openxmlformats.org/officeDocument/2006/relationships/notesSlide" Target="/ppt/notesSlides/notesSlide17.xml" Id="R488d0e70c849493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44a1fbe158d4b5d" /><Relationship Type="http://schemas.openxmlformats.org/officeDocument/2006/relationships/notesSlide" Target="/ppt/notesSlides/notesSlide18.xml" Id="R73ca9240567f4bf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d48d273fde845ac" /><Relationship Type="http://schemas.openxmlformats.org/officeDocument/2006/relationships/notesSlide" Target="/ppt/notesSlides/notesSlide19.xml" Id="Recd905766a944e0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c5f10ff7c47484c" /><Relationship Type="http://schemas.openxmlformats.org/officeDocument/2006/relationships/notesSlide" Target="/ppt/notesSlides/notesSlide20.xml" Id="R01e47bc4602049e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ec14560a06f4e22" /><Relationship Type="http://schemas.openxmlformats.org/officeDocument/2006/relationships/notesSlide" Target="/ppt/notesSlides/notesSlide21.xml" Id="R6ba0c8d6d54c4a1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b97072f29dd4f4a" /><Relationship Type="http://schemas.openxmlformats.org/officeDocument/2006/relationships/notesSlide" Target="/ppt/notesSlides/notesSlide22.xml" Id="Ree4cee306c2147b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6bc716ecdda4753" /><Relationship Type="http://schemas.openxmlformats.org/officeDocument/2006/relationships/notesSlide" Target="/ppt/notesSlides/notesSlide23.xml" Id="R327d2387a45248b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291a874d49a4ace" /><Relationship Type="http://schemas.openxmlformats.org/officeDocument/2006/relationships/notesSlide" Target="/ppt/notesSlides/notesSlide24.xml" Id="Ra5521a5e441f434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547631da3d247a9" /><Relationship Type="http://schemas.openxmlformats.org/officeDocument/2006/relationships/notesSlide" Target="/ppt/notesSlides/notesSlide25.xml" Id="R78dfcc85c0d4474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7bd3e8234284b84" /><Relationship Type="http://schemas.openxmlformats.org/officeDocument/2006/relationships/notesSlide" Target="/ppt/notesSlides/notesSlide26.xml" Id="R184fee326108481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492f7e360df44e9" /><Relationship Type="http://schemas.openxmlformats.org/officeDocument/2006/relationships/notesSlide" Target="/ppt/notesSlides/notesSlide27.xml" Id="R7e38ca295b40453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32e15bad0bc4ec6" /><Relationship Type="http://schemas.openxmlformats.org/officeDocument/2006/relationships/notesSlide" Target="/ppt/notesSlides/notesSlide28.xml" Id="R5e72b9b4fc22499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fa64a9758764928" /><Relationship Type="http://schemas.openxmlformats.org/officeDocument/2006/relationships/notesSlide" Target="/ppt/notesSlides/notesSlide29.xml" Id="R3c62f5e3af64423e" /></Relationships>
</file>

<file path=ppt/slides/charts/chart1.xml><?xml version="1.0" encoding="utf-8"?>
<c:chartSpace xmlns:c="http://schemas.openxmlformats.org/drawingml/2006/chart">
  <c:lang val="en-US"/>
  <c:chart>
    <c:plotArea>
      <c:barChart>
        <c:barDir val="col"/>
        <c:varyColors val="0"/>
        <c:ser>
          <c:idx val="0"/>
          <c:order val="0"/>
          <c:tx>
            <c:v>Cost</c:v>
          </c:tx>
          <c:spPr>
            <a:solidFill xmlns:a="http://schemas.openxmlformats.org/drawingml/2006/main">
              <a:srgbClr val="0B9B91"/>
            </a:solidFill>
          </c:spPr>
          <c:cat>
            <c:strLit>
              <c:ptCount val="3"/>
              <c:pt idx="0">
                <c:v>A</c:v>
              </c:pt>
              <c:pt idx="1">
                <c:v>B</c:v>
              </c:pt>
              <c:pt idx="2">
                <c:v>C</c:v>
              </c:pt>
            </c:strLit>
          </c:cat>
          <c:val>
            <c:numLit>
              <c:formatCode>General</c:formatCode>
              <c:ptCount val="3"/>
              <c:pt idx="0">
                <c:v>82</c:v>
              </c:pt>
              <c:pt idx="1">
                <c:v>58</c:v>
              </c:pt>
              <c:pt idx="2">
                <c:v>70</c:v>
              </c:pt>
            </c:numLit>
          </c:val>
        </c:ser>
        <c:ser>
          <c:idx val="1"/>
          <c:order val="1"/>
          <c:tx>
            <c:v>Speed</c:v>
          </c:tx>
          <c:spPr>
            <a:solidFill xmlns:a="http://schemas.openxmlformats.org/drawingml/2006/main">
              <a:srgbClr val="F2A93B"/>
            </a:solidFill>
          </c:spPr>
          <c:cat>
            <c:strLit>
              <c:ptCount val="3"/>
              <c:pt idx="0">
                <c:v>A</c:v>
              </c:pt>
              <c:pt idx="1">
                <c:v>B</c:v>
              </c:pt>
              <c:pt idx="2">
                <c:v>C</c:v>
              </c:pt>
            </c:strLit>
          </c:cat>
          <c:val>
            <c:numLit>
              <c:formatCode>General</c:formatCode>
              <c:ptCount val="3"/>
              <c:pt idx="0">
                <c:v>55</c:v>
              </c:pt>
              <c:pt idx="1">
                <c:v>88</c:v>
              </c:pt>
              <c:pt idx="2">
                <c:v>68</c:v>
              </c:pt>
            </c:numLit>
          </c:val>
        </c:ser>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8707C"/>
                </a:solidFill>
              </a:defRPr>
            </a:pPr>
          </a:p>
        </c:txPr>
        <c:crossAx val="48672768"/>
      </c:catAx>
      <c:valAx>
        <c:axId val="48672768"/>
        <c:scaling>
          <c:orientation val="minMax"/>
        </c:scaling>
        <c:delete val="0"/>
        <c:axPos val="l"/>
        <c:majorGridlines>
          <c:spPr>
            <a:ln xmlns:a="http://schemas.openxmlformats.org/drawingml/2006/main" w="9525">
              <a:solidFill>
                <a:srgbClr val="CED9DB"/>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8707C"/>
                </a:solidFil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58707C"/>
              </a:solidFill>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scatterChart>
        <c:scatterStyle val="marker"/>
        <c:ser>
          <c:idx val="0"/>
          <c:order val="0"/>
          <c:tx>
            <c:v>Candidate designs</c:v>
          </c:tx>
          <c:spPr>
            <a:solidFill xmlns:a="http://schemas.openxmlformats.org/drawingml/2006/main">
              <a:srgbClr val="0B9B91"/>
            </a:solidFill>
          </c:spPr>
          <c:xVal>
            <c:numLit>
              <c:formatCode>General</c:formatCode>
              <c:ptCount val="9"/>
              <c:pt idx="0">
                <c:v>2</c:v>
              </c:pt>
              <c:pt idx="1">
                <c:v>3</c:v>
              </c:pt>
              <c:pt idx="2">
                <c:v>4</c:v>
              </c:pt>
              <c:pt idx="3">
                <c:v>5</c:v>
              </c:pt>
              <c:pt idx="4">
                <c:v>6</c:v>
              </c:pt>
              <c:pt idx="5">
                <c:v>7</c:v>
              </c:pt>
              <c:pt idx="6">
                <c:v>8</c:v>
              </c:pt>
              <c:pt idx="7">
                <c:v>4</c:v>
              </c:pt>
              <c:pt idx="8">
                <c:v>6</c:v>
              </c:pt>
            </c:numLit>
          </c:xVal>
          <c:yVal>
            <c:numLit>
              <c:formatCode>General</c:formatCode>
              <c:ptCount val="9"/>
              <c:pt idx="0">
                <c:v>9</c:v>
              </c:pt>
              <c:pt idx="1">
                <c:v>8</c:v>
              </c:pt>
              <c:pt idx="2">
                <c:v>7.3</c:v>
              </c:pt>
              <c:pt idx="3">
                <c:v>6.3</c:v>
              </c:pt>
              <c:pt idx="4">
                <c:v>5.8</c:v>
              </c:pt>
              <c:pt idx="5">
                <c:v>4.7</c:v>
              </c:pt>
              <c:pt idx="6">
                <c:v>4.1</c:v>
              </c:pt>
              <c:pt idx="7">
                <c:v>9.2</c:v>
              </c:pt>
              <c:pt idx="8">
                <c:v>7.8</c:v>
              </c:pt>
            </c:numLit>
          </c:yVal>
        </c:ser>
        <c:ser>
          <c:idx val="1"/>
          <c:order val="1"/>
          <c:tx>
            <c:v>Trade-off set</c:v>
          </c:tx>
          <c:spPr>
            <a:solidFill xmlns:a="http://schemas.openxmlformats.org/drawingml/2006/main">
              <a:srgbClr val="F2A93B"/>
            </a:solidFill>
          </c:spPr>
          <c:xVal>
            <c:numLit>
              <c:formatCode>General</c:formatCode>
              <c:ptCount val="7"/>
              <c:pt idx="0">
                <c:v>2</c:v>
              </c:pt>
              <c:pt idx="1">
                <c:v>3</c:v>
              </c:pt>
              <c:pt idx="2">
                <c:v>4</c:v>
              </c:pt>
              <c:pt idx="3">
                <c:v>5</c:v>
              </c:pt>
              <c:pt idx="4">
                <c:v>6</c:v>
              </c:pt>
              <c:pt idx="5">
                <c:v>7</c:v>
              </c:pt>
              <c:pt idx="6">
                <c:v>8</c:v>
              </c:pt>
            </c:numLit>
          </c:xVal>
          <c:yVal>
            <c:numLit>
              <c:formatCode>General</c:formatCode>
              <c:ptCount val="7"/>
              <c:pt idx="0">
                <c:v>9</c:v>
              </c:pt>
              <c:pt idx="1">
                <c:v>8</c:v>
              </c:pt>
              <c:pt idx="2">
                <c:v>7.3</c:v>
              </c:pt>
              <c:pt idx="3">
                <c:v>6.3</c:v>
              </c:pt>
              <c:pt idx="4">
                <c:v>5.8</c:v>
              </c:pt>
              <c:pt idx="5">
                <c:v>4.7</c:v>
              </c:pt>
              <c:pt idx="6">
                <c:v>4.1</c:v>
              </c:pt>
            </c:numLit>
          </c:yVal>
        </c:ser>
        <c:axId val="48650112"/>
        <c:axId val="48672768"/>
      </c:scatterChart>
      <c:valAx>
        <c:axId val="48672768"/>
        <c:scaling>
          <c:orientation val="minMax"/>
        </c:scaling>
        <c:delete val="0"/>
        <c:axPos val="l"/>
        <c:majorGridlines>
          <c:spPr>
            <a:ln xmlns:a="http://schemas.openxmlformats.org/drawingml/2006/main" w="9525">
              <a:solidFill>
                <a:srgbClr val="CED9DB"/>
              </a:solidFill>
              <a:prstDash val="solid"/>
            </a:ln>
          </c:spPr>
        </c:majorGridlines>
        <c:title>
          <c:tx>
            <c:rich>
              <a:bodyPr xmlns:a="http://schemas.openxmlformats.org/drawingml/2006/main"/>
              <a:lstStyle xmlns:a="http://schemas.openxmlformats.org/drawingml/2006/main"/>
              <a:p xmlns:a="http://schemas.openxmlformats.org/drawingml/2006/main">
                <a:r>
                  <a:t>response time →</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8707C"/>
                </a:solidFill>
              </a:defRPr>
            </a:pPr>
          </a:p>
        </c:txPr>
        <c:crossAx val="48650112"/>
      </c:valAx>
      <c:valAx>
        <c:axId val="48650112"/>
        <c:scaling>
          <c:orientation val="minMax"/>
        </c:scaling>
        <c:delete val="0"/>
        <c:axPos val="b"/>
        <c:majorGridlines>
          <c:spPr>
            <a:ln xmlns:a="http://schemas.openxmlformats.org/drawingml/2006/main" w="9525">
              <a:solidFill>
                <a:srgbClr val="CED9DB"/>
              </a:solidFill>
              <a:prstDash val="solid"/>
            </a:ln>
          </c:spPr>
        </c:majorGridlines>
        <c:title>
          <c:tx>
            <c:rich>
              <a:bodyPr xmlns:a="http://schemas.openxmlformats.org/drawingml/2006/main"/>
              <a:lstStyle xmlns:a="http://schemas.openxmlformats.org/drawingml/2006/main"/>
              <a:p xmlns:a="http://schemas.openxmlformats.org/drawingml/2006/main">
                <a:r>
                  <a:t>cost →</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8707C"/>
                </a:solidFil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58707C"/>
              </a:solidFill>
            </a:defRPr>
          </a:pPr>
        </a:p>
      </c:txPr>
    </c:legend>
    <c:plotVisOnly val="1"/>
  </c:chart>
  <c:spPr>
    <a:solidFill xmlns:a="http://schemas.openxmlformats.org/drawingml/2006/main">
      <a:srgbClr val="F7F4EE"/>
    </a:solidFill>
  </c:spPr>
</c:chartSpace>
</file>

<file path=ppt/slides/charts/chart3.xml><?xml version="1.0" encoding="utf-8"?>
<c:chartSpace xmlns:c="http://schemas.openxmlformats.org/drawingml/2006/chart">
  <c:lang val="en-US"/>
  <c:chart>
    <c:plotArea>
      <c:barChart>
        <c:barDir val="col"/>
        <c:varyColors val="0"/>
        <c:ser>
          <c:idx val="0"/>
          <c:order val="0"/>
          <c:tx>
            <c:v>orders of magnitude</c:v>
          </c:tx>
          <c:spPr>
            <a:solidFill xmlns:a="http://schemas.openxmlformats.org/drawingml/2006/main">
              <a:srgbClr val="0B9B91"/>
            </a:solidFill>
          </c:spPr>
          <c:cat>
            <c:strLit>
              <c:ptCount val="6"/>
              <c:pt idx="0">
                <c:v>2 services</c:v>
              </c:pt>
              <c:pt idx="1">
                <c:v>4 services</c:v>
              </c:pt>
              <c:pt idx="2">
                <c:v>6 services</c:v>
              </c:pt>
              <c:pt idx="3">
                <c:v>8 services</c:v>
              </c:pt>
              <c:pt idx="4">
                <c:v>10 services</c:v>
              </c:pt>
              <c:pt idx="5">
                <c:v>12 services</c:v>
              </c:pt>
            </c:strLit>
          </c:cat>
          <c:val>
            <c:numLit>
              <c:formatCode>General</c:formatCode>
              <c:ptCount val="6"/>
              <c:pt idx="0">
                <c:v>1.2</c:v>
              </c:pt>
              <c:pt idx="1">
                <c:v>2.4</c:v>
              </c:pt>
              <c:pt idx="2">
                <c:v>3.6</c:v>
              </c:pt>
              <c:pt idx="3">
                <c:v>4.8</c:v>
              </c:pt>
              <c:pt idx="4">
                <c:v>6</c:v>
              </c:pt>
              <c:pt idx="5">
                <c:v>7.2</c:v>
              </c:pt>
            </c:numLit>
          </c:val>
        </c:ser>
        <c:axId val="48650112"/>
        <c:axId val="48672768"/>
      </c:barChart>
      <c:catAx>
        <c:axId val="48650112"/>
        <c:scaling>
          <c:orientation val="minMax"/>
        </c:scaling>
        <c:delete val="0"/>
        <c:axPos val="b"/>
        <c:majorGridlines>
          <c:spPr>
            <a:ln xmlns:a="http://schemas.openxmlformats.org/drawingml/2006/main" w="9525">
              <a:solidFill>
                <a:srgbClr val="CED9DB"/>
              </a:solidFill>
              <a:prstDash val="solid"/>
            </a:ln>
          </c:spPr>
        </c:majorGridlines>
        <c:title>
          <c:tx>
            <c:rich>
              <a:bodyPr xmlns:a="http://schemas.openxmlformats.org/drawingml/2006/main"/>
              <a:lstStyle xmlns:a="http://schemas.openxmlformats.org/drawingml/2006/main"/>
              <a:p xmlns:a="http://schemas.openxmlformats.org/drawingml/2006/main">
                <a:r>
                  <a:t>log10(candidate assignments)</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8707C"/>
                </a:solidFill>
              </a:defRPr>
            </a:pPr>
          </a:p>
        </c:txPr>
        <c:crossAx val="48672768"/>
      </c:catAx>
      <c:valAx>
        <c:axId val="48672768"/>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8707C"/>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7F4EE"/>
    </a:solidFill>
  </c:spPr>
</c:chartSpace>
</file>

<file path=ppt/slides/slide1.xml><?xml version="1.0" encoding="utf-8"?>
<p:sld xmlns:p="http://schemas.openxmlformats.org/presentationml/2006/main">
  <p:cSld>
    <p:bg>
      <p:bgPr>
        <a:solidFill xmlns:a="http://schemas.openxmlformats.org/drawingml/2006/main">
          <a:srgbClr val="071C28"/>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149181baed34b3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40383F0-8158-4496-BF08-95810ED4CC5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5C867A6-4AAB-4A19-A4FE-22D9A96BB045}"/>
              </a:ext>
            </a:extLst>
          </p:cNvPr>
          <p:cNvSpPr>
            <a:spLocks xmlns:a="http://schemas.openxmlformats.org/drawingml/2006/main" noGrp="1"/>
          </p:cNvSpPr>
          <p:nvPr/>
        </p:nvSpPr>
        <p:spPr>
          <a:xfrm xmlns:a="http://schemas.openxmlformats.org/drawingml/2006/main">
            <a:off x="647700" y="6667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70D5D0"/>
                </a:solidFill>
              </a:defRPr>
            </a:pPr>
            <a:r>
              <a:rPr sz="1125" b="1">
                <a:solidFill>
                  <a:srgbClr val="70D5D0"/>
                </a:solidFill>
              </a:rPr>
              <a:t>OPTIMIZATION METHODS</a:t>
            </a:r>
          </a:p>
        </p:txBody>
      </p:sp>
      <p:sp>
        <p:nvSpPr>
          <p:cNvPr id="4" name="">
            <a:extLst xmlns:a="http://schemas.openxmlformats.org/drawingml/2006/main">
              <a:ext uri="{FF2B5EF4-FFF2-40B4-BE49-F238E27FC236}">
                <a16:creationId xmlns:a16="http://schemas.microsoft.com/office/drawing/2014/main" id="{8DDC09DA-EED5-4300-BC36-5F8F0DC934FB}"/>
              </a:ext>
            </a:extLst>
          </p:cNvPr>
          <p:cNvSpPr>
            <a:spLocks xmlns:a="http://schemas.openxmlformats.org/drawingml/2006/main" noGrp="1"/>
          </p:cNvSpPr>
          <p:nvPr/>
        </p:nvSpPr>
        <p:spPr>
          <a:xfrm xmlns:a="http://schemas.openxmlformats.org/drawingml/2006/main">
            <a:off x="647700" y="1571625"/>
            <a:ext cx="5715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050" b="1">
                <a:solidFill>
                  <a:srgbClr val="FFFFFF"/>
                </a:solidFill>
              </a:defRPr>
            </a:pPr>
            <a:r>
              <a:rPr sz="4050" b="1">
                <a:solidFill>
                  <a:srgbClr val="FFFFFF"/>
                </a:solidFill>
              </a:rPr>
              <a:t>Thinking clearly about</a:t>
            </a:r>
          </a:p>
          <a:p xmlns:a="http://schemas.openxmlformats.org/drawingml/2006/main">
            <a:pPr algn="l">
              <a:defRPr sz="4050" b="1">
                <a:solidFill>
                  <a:srgbClr val="FFFFFF"/>
                </a:solidFill>
              </a:defRPr>
            </a:pPr>
            <a:r>
              <a:rPr sz="4050" b="1">
                <a:solidFill>
                  <a:srgbClr val="FFFFFF"/>
                </a:solidFill>
              </a:rPr>
              <a:t>better decisions</a:t>
            </a:r>
          </a:p>
        </p:txBody>
      </p:sp>
      <p:sp>
        <p:nvSpPr>
          <p:cNvPr id="5" name="">
            <a:extLst xmlns:a="http://schemas.openxmlformats.org/drawingml/2006/main">
              <a:ext uri="{FF2B5EF4-FFF2-40B4-BE49-F238E27FC236}">
                <a16:creationId xmlns:a16="http://schemas.microsoft.com/office/drawing/2014/main" id="{53E96B19-9AA9-4D1B-840B-4B77606AAEB5}"/>
              </a:ext>
            </a:extLst>
          </p:cNvPr>
          <p:cNvSpPr>
            <a:spLocks xmlns:a="http://schemas.openxmlformats.org/drawingml/2006/main" noGrp="1"/>
          </p:cNvSpPr>
          <p:nvPr/>
        </p:nvSpPr>
        <p:spPr>
          <a:xfrm xmlns:a="http://schemas.openxmlformats.org/drawingml/2006/main">
            <a:off x="666750" y="3333750"/>
            <a:ext cx="5572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D6E8EC"/>
                </a:solidFill>
              </a:defRPr>
            </a:pPr>
            <a:r>
              <a:rPr sz="1725" b="0">
                <a:solidFill>
                  <a:srgbClr val="D6E8EC"/>
                </a:solidFill>
              </a:rPr>
              <a:t>Week 1 • Foundations, models and engineering applications</a:t>
            </a:r>
          </a:p>
        </p:txBody>
      </p:sp>
      <p:sp>
        <p:nvSpPr>
          <p:cNvPr id="6" name="">
            <a:extLst xmlns:a="http://schemas.openxmlformats.org/drawingml/2006/main">
              <a:ext uri="{FF2B5EF4-FFF2-40B4-BE49-F238E27FC236}">
                <a16:creationId xmlns:a16="http://schemas.microsoft.com/office/drawing/2014/main" id="{14EBE208-B94C-48FE-91A4-AF045842D98A}"/>
              </a:ext>
            </a:extLst>
          </p:cNvPr>
          <p:cNvSpPr>
            <a:spLocks xmlns:a="http://schemas.openxmlformats.org/drawingml/2006/main" noGrp="1"/>
          </p:cNvSpPr>
          <p:nvPr/>
        </p:nvSpPr>
        <p:spPr>
          <a:xfrm xmlns:a="http://schemas.openxmlformats.org/drawingml/2006/main">
            <a:off x="666750" y="5857875"/>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FFFFF"/>
                </a:solidFill>
              </a:defRPr>
            </a:pPr>
            <a:r>
              <a:rPr sz="1275" b="1">
                <a:solidFill>
                  <a:srgbClr val="FFFFFF"/>
                </a:solidFill>
              </a:rPr>
              <a:t>Third-Year Software / Computer Engineering</a:t>
            </a:r>
          </a:p>
        </p:txBody>
      </p:sp>
      <p:sp>
        <p:nvSpPr>
          <p:cNvPr id="7" name="">
            <a:extLst xmlns:a="http://schemas.openxmlformats.org/drawingml/2006/main">
              <a:ext uri="{FF2B5EF4-FFF2-40B4-BE49-F238E27FC236}">
                <a16:creationId xmlns:a16="http://schemas.microsoft.com/office/drawing/2014/main" id="{36FF9746-0642-4918-A855-D38ACC2400AB}"/>
              </a:ext>
            </a:extLst>
          </p:cNvPr>
          <p:cNvSpPr>
            <a:spLocks xmlns:a="http://schemas.openxmlformats.org/drawingml/2006/main" noGrp="1"/>
          </p:cNvSpPr>
          <p:nvPr/>
        </p:nvSpPr>
        <p:spPr>
          <a:xfrm xmlns:a="http://schemas.openxmlformats.org/drawingml/2006/main">
            <a:off x="666750" y="61912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B9CFD6"/>
                </a:solidFill>
              </a:defRPr>
            </a:pPr>
            <a:r>
              <a:rPr sz="1050" b="0">
                <a:solidFill>
                  <a:srgbClr val="B9CFD6"/>
                </a:solidFill>
              </a:rPr>
              <a:t>Salahaddin University–Erbil • College of Engineering</a:t>
            </a:r>
          </a:p>
        </p:txBody>
      </p:sp>
    </p:spTree>
    <p:extLst>
      <p:ext uri="{BB962C8B-B14F-4D97-AF65-F5344CB8AC3E}">
        <p14:creationId xmlns:p14="http://schemas.microsoft.com/office/powerpoint/2010/main" val="521977088"/>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43286B0-D54F-4908-A2CD-C6A6A773A899}"/>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OPENING CASE</a:t>
            </a:r>
          </a:p>
        </p:txBody>
      </p:sp>
      <p:sp>
        <p:nvSpPr>
          <p:cNvPr id="2" name="">
            <a:extLst xmlns:a="http://schemas.openxmlformats.org/drawingml/2006/main">
              <a:ext uri="{FF2B5EF4-FFF2-40B4-BE49-F238E27FC236}">
                <a16:creationId xmlns:a16="http://schemas.microsoft.com/office/drawing/2014/main" id="{4184DE2C-7E4C-4C4F-A417-6E0F9BCB526D}"/>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A decision can be easy to state—and hard to solve</a:t>
            </a:r>
          </a:p>
        </p:txBody>
      </p:sp>
      <p:sp>
        <p:nvSpPr>
          <p:cNvPr id="3" name="">
            <a:extLst xmlns:a="http://schemas.openxmlformats.org/drawingml/2006/main">
              <a:ext uri="{FF2B5EF4-FFF2-40B4-BE49-F238E27FC236}">
                <a16:creationId xmlns:a16="http://schemas.microsoft.com/office/drawing/2014/main" id="{97AF5EFF-28ED-4122-961B-82116CAB0F46}"/>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A075424-90D2-4B93-B410-757FA0ACED56}"/>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49E37496-5945-4700-B7F0-4ED29BCC4943}"/>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02</a:t>
            </a:r>
          </a:p>
        </p:txBody>
      </p:sp>
      <p:sp>
        <p:nvSpPr>
          <p:cNvPr id="6" name="">
            <a:extLst xmlns:a="http://schemas.openxmlformats.org/drawingml/2006/main">
              <a:ext uri="{FF2B5EF4-FFF2-40B4-BE49-F238E27FC236}">
                <a16:creationId xmlns:a16="http://schemas.microsoft.com/office/drawing/2014/main" id="{756DEF2D-83F6-4761-8477-D6CC7B2D1449}"/>
              </a:ext>
            </a:extLst>
          </p:cNvPr>
          <p:cNvSpPr>
            <a:spLocks xmlns:a="http://schemas.openxmlformats.org/drawingml/2006/main" noGrp="1"/>
          </p:cNvSpPr>
          <p:nvPr/>
        </p:nvSpPr>
        <p:spPr>
          <a:xfrm xmlns:a="http://schemas.openxmlformats.org/drawingml/2006/main">
            <a:off x="762000" y="157162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092A3D"/>
                </a:solidFill>
              </a:defRPr>
            </a:pPr>
            <a:r>
              <a:rPr sz="2325" b="1">
                <a:solidFill>
                  <a:srgbClr val="092A3D"/>
                </a:solidFill>
              </a:rPr>
              <a:t>A university must place 12 online services on 4 servers.</a:t>
            </a:r>
          </a:p>
        </p:txBody>
      </p:sp>
      <p:sp>
        <p:nvSpPr>
          <p:cNvPr id="7" name="">
            <a:extLst xmlns:a="http://schemas.openxmlformats.org/drawingml/2006/main">
              <a:ext uri="{FF2B5EF4-FFF2-40B4-BE49-F238E27FC236}">
                <a16:creationId xmlns:a16="http://schemas.microsoft.com/office/drawing/2014/main" id="{39701D65-F1A4-4364-93EA-D441858BE435}"/>
              </a:ext>
            </a:extLst>
          </p:cNvPr>
          <p:cNvSpPr>
            <a:spLocks xmlns:a="http://schemas.openxmlformats.org/drawingml/2006/main" noGrp="1"/>
          </p:cNvSpPr>
          <p:nvPr/>
        </p:nvSpPr>
        <p:spPr>
          <a:xfrm xmlns:a="http://schemas.openxmlformats.org/drawingml/2006/main">
            <a:off x="1047750" y="2714625"/>
            <a:ext cx="200025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CED9DB"/>
            </a:solidFill>
            <a:prstDash val="solid"/>
          </a:ln>
        </p:spPr>
      </p:sp>
      <p:sp>
        <p:nvSpPr>
          <p:cNvPr id="8" name="">
            <a:extLst xmlns:a="http://schemas.openxmlformats.org/drawingml/2006/main">
              <a:ext uri="{FF2B5EF4-FFF2-40B4-BE49-F238E27FC236}">
                <a16:creationId xmlns:a16="http://schemas.microsoft.com/office/drawing/2014/main" id="{A3411948-89C3-4BBD-B495-21BEF884DDBA}"/>
              </a:ext>
            </a:extLst>
          </p:cNvPr>
          <p:cNvSpPr>
            <a:spLocks xmlns:a="http://schemas.openxmlformats.org/drawingml/2006/main" noGrp="1"/>
          </p:cNvSpPr>
          <p:nvPr/>
        </p:nvSpPr>
        <p:spPr>
          <a:xfrm xmlns:a="http://schemas.openxmlformats.org/drawingml/2006/main">
            <a:off x="1238250" y="29051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B9B91"/>
                </a:solidFill>
              </a:defRPr>
            </a:pPr>
            <a:r>
              <a:rPr sz="1275" b="1">
                <a:solidFill>
                  <a:srgbClr val="0B9B91"/>
                </a:solidFill>
              </a:rPr>
              <a:t>SERVER 1</a:t>
            </a:r>
          </a:p>
        </p:txBody>
      </p:sp>
      <p:sp>
        <p:nvSpPr>
          <p:cNvPr id="9" name="">
            <a:extLst xmlns:a="http://schemas.openxmlformats.org/drawingml/2006/main">
              <a:ext uri="{FF2B5EF4-FFF2-40B4-BE49-F238E27FC236}">
                <a16:creationId xmlns:a16="http://schemas.microsoft.com/office/drawing/2014/main" id="{FD5999D4-4F6F-430F-8634-E3B1527B104A}"/>
              </a:ext>
            </a:extLst>
          </p:cNvPr>
          <p:cNvSpPr>
            <a:spLocks xmlns:a="http://schemas.openxmlformats.org/drawingml/2006/main" noGrp="1"/>
          </p:cNvSpPr>
          <p:nvPr/>
        </p:nvSpPr>
        <p:spPr>
          <a:xfrm xmlns:a="http://schemas.openxmlformats.org/drawingml/2006/main">
            <a:off x="1238250" y="3333750"/>
            <a:ext cx="161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83544"/>
                </a:solidFill>
              </a:defRPr>
            </a:pPr>
            <a:r>
              <a:rPr sz="1425" b="1">
                <a:solidFill>
                  <a:srgbClr val="183544"/>
                </a:solidFill>
              </a:rPr>
              <a:t>fast • costly</a:t>
            </a:r>
          </a:p>
        </p:txBody>
      </p:sp>
      <p:sp>
        <p:nvSpPr>
          <p:cNvPr id="10" name="">
            <a:extLst xmlns:a="http://schemas.openxmlformats.org/drawingml/2006/main">
              <a:ext uri="{FF2B5EF4-FFF2-40B4-BE49-F238E27FC236}">
                <a16:creationId xmlns:a16="http://schemas.microsoft.com/office/drawing/2014/main" id="{640F0D9F-DC07-4E72-BFC8-EC2993A041CA}"/>
              </a:ext>
            </a:extLst>
          </p:cNvPr>
          <p:cNvSpPr>
            <a:spLocks xmlns:a="http://schemas.openxmlformats.org/drawingml/2006/main" noGrp="1"/>
          </p:cNvSpPr>
          <p:nvPr/>
        </p:nvSpPr>
        <p:spPr>
          <a:xfrm xmlns:a="http://schemas.openxmlformats.org/drawingml/2006/main">
            <a:off x="3714750" y="2714625"/>
            <a:ext cx="200025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CED9DB"/>
            </a:solidFill>
            <a:prstDash val="solid"/>
          </a:ln>
        </p:spPr>
      </p:sp>
      <p:sp>
        <p:nvSpPr>
          <p:cNvPr id="11" name="">
            <a:extLst xmlns:a="http://schemas.openxmlformats.org/drawingml/2006/main">
              <a:ext uri="{FF2B5EF4-FFF2-40B4-BE49-F238E27FC236}">
                <a16:creationId xmlns:a16="http://schemas.microsoft.com/office/drawing/2014/main" id="{CABE47C5-1EB9-41BB-92C2-6809778DDB97}"/>
              </a:ext>
            </a:extLst>
          </p:cNvPr>
          <p:cNvSpPr>
            <a:spLocks xmlns:a="http://schemas.openxmlformats.org/drawingml/2006/main" noGrp="1"/>
          </p:cNvSpPr>
          <p:nvPr/>
        </p:nvSpPr>
        <p:spPr>
          <a:xfrm xmlns:a="http://schemas.openxmlformats.org/drawingml/2006/main">
            <a:off x="3905250" y="29051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B9B91"/>
                </a:solidFill>
              </a:defRPr>
            </a:pPr>
            <a:r>
              <a:rPr sz="1275" b="1">
                <a:solidFill>
                  <a:srgbClr val="0B9B91"/>
                </a:solidFill>
              </a:rPr>
              <a:t>SERVER 2</a:t>
            </a:r>
          </a:p>
        </p:txBody>
      </p:sp>
      <p:sp>
        <p:nvSpPr>
          <p:cNvPr id="12" name="">
            <a:extLst xmlns:a="http://schemas.openxmlformats.org/drawingml/2006/main">
              <a:ext uri="{FF2B5EF4-FFF2-40B4-BE49-F238E27FC236}">
                <a16:creationId xmlns:a16="http://schemas.microsoft.com/office/drawing/2014/main" id="{8F016C35-E012-4DD4-B1A0-F087BF1D4A6A}"/>
              </a:ext>
            </a:extLst>
          </p:cNvPr>
          <p:cNvSpPr>
            <a:spLocks xmlns:a="http://schemas.openxmlformats.org/drawingml/2006/main" noGrp="1"/>
          </p:cNvSpPr>
          <p:nvPr/>
        </p:nvSpPr>
        <p:spPr>
          <a:xfrm xmlns:a="http://schemas.openxmlformats.org/drawingml/2006/main">
            <a:off x="3905250" y="3333750"/>
            <a:ext cx="161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83544"/>
                </a:solidFill>
              </a:defRPr>
            </a:pPr>
            <a:r>
              <a:rPr sz="1425" b="1">
                <a:solidFill>
                  <a:srgbClr val="183544"/>
                </a:solidFill>
              </a:rPr>
              <a:t>efficient • limited</a:t>
            </a:r>
          </a:p>
        </p:txBody>
      </p:sp>
      <p:sp>
        <p:nvSpPr>
          <p:cNvPr id="13" name="">
            <a:extLst xmlns:a="http://schemas.openxmlformats.org/drawingml/2006/main">
              <a:ext uri="{FF2B5EF4-FFF2-40B4-BE49-F238E27FC236}">
                <a16:creationId xmlns:a16="http://schemas.microsoft.com/office/drawing/2014/main" id="{15E623DC-8B88-4748-85F3-B3C5208E21F5}"/>
              </a:ext>
            </a:extLst>
          </p:cNvPr>
          <p:cNvSpPr>
            <a:spLocks xmlns:a="http://schemas.openxmlformats.org/drawingml/2006/main" noGrp="1"/>
          </p:cNvSpPr>
          <p:nvPr/>
        </p:nvSpPr>
        <p:spPr>
          <a:xfrm xmlns:a="http://schemas.openxmlformats.org/drawingml/2006/main">
            <a:off x="6381750" y="2714625"/>
            <a:ext cx="2000250" cy="1381125"/>
          </a:xfrm>
          <a:prstGeom xmlns:a="http://schemas.openxmlformats.org/drawingml/2006/main" prst="roundRect">
            <a:avLst>
              <a:gd name="adj" fmla="val 5517"/>
            </a:avLst>
          </a:prstGeom>
          <a:solidFill xmlns:a="http://schemas.openxmlformats.org/drawingml/2006/main">
            <a:srgbClr val="FFF1D8"/>
          </a:solidFill>
          <a:ln xmlns:a="http://schemas.openxmlformats.org/drawingml/2006/main" w="9525">
            <a:solidFill>
              <a:srgbClr val="CED9DB"/>
            </a:solidFill>
            <a:prstDash val="solid"/>
          </a:ln>
        </p:spPr>
      </p:sp>
      <p:sp>
        <p:nvSpPr>
          <p:cNvPr id="14" name="">
            <a:extLst xmlns:a="http://schemas.openxmlformats.org/drawingml/2006/main">
              <a:ext uri="{FF2B5EF4-FFF2-40B4-BE49-F238E27FC236}">
                <a16:creationId xmlns:a16="http://schemas.microsoft.com/office/drawing/2014/main" id="{020F7947-8CCE-4C74-9356-376A9DBC3A80}"/>
              </a:ext>
            </a:extLst>
          </p:cNvPr>
          <p:cNvSpPr>
            <a:spLocks xmlns:a="http://schemas.openxmlformats.org/drawingml/2006/main" noGrp="1"/>
          </p:cNvSpPr>
          <p:nvPr/>
        </p:nvSpPr>
        <p:spPr>
          <a:xfrm xmlns:a="http://schemas.openxmlformats.org/drawingml/2006/main">
            <a:off x="6572250" y="29051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A93B"/>
                </a:solidFill>
              </a:defRPr>
            </a:pPr>
            <a:r>
              <a:rPr sz="1275" b="1">
                <a:solidFill>
                  <a:srgbClr val="F2A93B"/>
                </a:solidFill>
              </a:rPr>
              <a:t>SERVER 3</a:t>
            </a:r>
          </a:p>
        </p:txBody>
      </p:sp>
      <p:sp>
        <p:nvSpPr>
          <p:cNvPr id="15" name="">
            <a:extLst xmlns:a="http://schemas.openxmlformats.org/drawingml/2006/main">
              <a:ext uri="{FF2B5EF4-FFF2-40B4-BE49-F238E27FC236}">
                <a16:creationId xmlns:a16="http://schemas.microsoft.com/office/drawing/2014/main" id="{1287B7B5-B47B-47AF-A8B0-15919548CC9E}"/>
              </a:ext>
            </a:extLst>
          </p:cNvPr>
          <p:cNvSpPr>
            <a:spLocks xmlns:a="http://schemas.openxmlformats.org/drawingml/2006/main" noGrp="1"/>
          </p:cNvSpPr>
          <p:nvPr/>
        </p:nvSpPr>
        <p:spPr>
          <a:xfrm xmlns:a="http://schemas.openxmlformats.org/drawingml/2006/main">
            <a:off x="6572250" y="3333750"/>
            <a:ext cx="161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83544"/>
                </a:solidFill>
              </a:defRPr>
            </a:pPr>
            <a:r>
              <a:rPr sz="1425" b="1">
                <a:solidFill>
                  <a:srgbClr val="183544"/>
                </a:solidFill>
              </a:rPr>
              <a:t>cheap • slower</a:t>
            </a:r>
          </a:p>
        </p:txBody>
      </p:sp>
      <p:sp>
        <p:nvSpPr>
          <p:cNvPr id="16" name="">
            <a:extLst xmlns:a="http://schemas.openxmlformats.org/drawingml/2006/main">
              <a:ext uri="{FF2B5EF4-FFF2-40B4-BE49-F238E27FC236}">
                <a16:creationId xmlns:a16="http://schemas.microsoft.com/office/drawing/2014/main" id="{FF6604AD-DC0D-4CAE-80AE-D577EADB9351}"/>
              </a:ext>
            </a:extLst>
          </p:cNvPr>
          <p:cNvSpPr>
            <a:spLocks xmlns:a="http://schemas.openxmlformats.org/drawingml/2006/main" noGrp="1"/>
          </p:cNvSpPr>
          <p:nvPr/>
        </p:nvSpPr>
        <p:spPr>
          <a:xfrm xmlns:a="http://schemas.openxmlformats.org/drawingml/2006/main">
            <a:off x="9048750" y="2714625"/>
            <a:ext cx="200025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CED9DB"/>
            </a:solidFill>
            <a:prstDash val="solid"/>
          </a:ln>
        </p:spPr>
      </p:sp>
      <p:sp>
        <p:nvSpPr>
          <p:cNvPr id="17" name="">
            <a:extLst xmlns:a="http://schemas.openxmlformats.org/drawingml/2006/main">
              <a:ext uri="{FF2B5EF4-FFF2-40B4-BE49-F238E27FC236}">
                <a16:creationId xmlns:a16="http://schemas.microsoft.com/office/drawing/2014/main" id="{3F204F8F-861B-4968-96AD-657CA1490A9F}"/>
              </a:ext>
            </a:extLst>
          </p:cNvPr>
          <p:cNvSpPr>
            <a:spLocks xmlns:a="http://schemas.openxmlformats.org/drawingml/2006/main" noGrp="1"/>
          </p:cNvSpPr>
          <p:nvPr/>
        </p:nvSpPr>
        <p:spPr>
          <a:xfrm xmlns:a="http://schemas.openxmlformats.org/drawingml/2006/main">
            <a:off x="9239250" y="29051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B9B91"/>
                </a:solidFill>
              </a:defRPr>
            </a:pPr>
            <a:r>
              <a:rPr sz="1275" b="1">
                <a:solidFill>
                  <a:srgbClr val="0B9B91"/>
                </a:solidFill>
              </a:rPr>
              <a:t>SERVER 4</a:t>
            </a:r>
          </a:p>
        </p:txBody>
      </p:sp>
      <p:sp>
        <p:nvSpPr>
          <p:cNvPr id="18" name="">
            <a:extLst xmlns:a="http://schemas.openxmlformats.org/drawingml/2006/main">
              <a:ext uri="{FF2B5EF4-FFF2-40B4-BE49-F238E27FC236}">
                <a16:creationId xmlns:a16="http://schemas.microsoft.com/office/drawing/2014/main" id="{FE27225D-65E4-4312-8AC6-CAEC57C19DD5}"/>
              </a:ext>
            </a:extLst>
          </p:cNvPr>
          <p:cNvSpPr>
            <a:spLocks xmlns:a="http://schemas.openxmlformats.org/drawingml/2006/main" noGrp="1"/>
          </p:cNvSpPr>
          <p:nvPr/>
        </p:nvSpPr>
        <p:spPr>
          <a:xfrm xmlns:a="http://schemas.openxmlformats.org/drawingml/2006/main">
            <a:off x="9239250" y="3333750"/>
            <a:ext cx="161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83544"/>
                </a:solidFill>
              </a:defRPr>
            </a:pPr>
            <a:r>
              <a:rPr sz="1425" b="1">
                <a:solidFill>
                  <a:srgbClr val="183544"/>
                </a:solidFill>
              </a:rPr>
              <a:t>backup capacity</a:t>
            </a:r>
          </a:p>
        </p:txBody>
      </p:sp>
      <p:sp>
        <p:nvSpPr>
          <p:cNvPr id="19" name="">
            <a:extLst xmlns:a="http://schemas.openxmlformats.org/drawingml/2006/main">
              <a:ext uri="{FF2B5EF4-FFF2-40B4-BE49-F238E27FC236}">
                <a16:creationId xmlns:a16="http://schemas.microsoft.com/office/drawing/2014/main" id="{B70E9F67-2166-407D-ACCC-345B24EFC01A}"/>
              </a:ext>
            </a:extLst>
          </p:cNvPr>
          <p:cNvSpPr>
            <a:spLocks xmlns:a="http://schemas.openxmlformats.org/drawingml/2006/main" noGrp="1"/>
          </p:cNvSpPr>
          <p:nvPr/>
        </p:nvSpPr>
        <p:spPr>
          <a:xfrm xmlns:a="http://schemas.openxmlformats.org/drawingml/2006/main">
            <a:off x="1476375" y="4953000"/>
            <a:ext cx="9239250" cy="704850"/>
          </a:xfrm>
          <a:prstGeom xmlns:a="http://schemas.openxmlformats.org/drawingml/2006/main" prst="roundRect">
            <a:avLst>
              <a:gd name="adj" fmla="val 10811"/>
            </a:avLst>
          </a:prstGeom>
          <a:solidFill xmlns:a="http://schemas.openxmlformats.org/drawingml/2006/main">
            <a:srgbClr val="092A3D"/>
          </a:solidFill>
          <a:ln xmlns:a="http://schemas.openxmlformats.org/drawingml/2006/main" w="0">
            <a:solidFill>
              <a:srgbClr val="092A3D"/>
            </a:solidFill>
            <a:prstDash val="solid"/>
          </a:ln>
        </p:spPr>
      </p:sp>
      <p:sp>
        <p:nvSpPr>
          <p:cNvPr id="20" name="">
            <a:extLst xmlns:a="http://schemas.openxmlformats.org/drawingml/2006/main">
              <a:ext uri="{FF2B5EF4-FFF2-40B4-BE49-F238E27FC236}">
                <a16:creationId xmlns:a16="http://schemas.microsoft.com/office/drawing/2014/main" id="{08C60A7C-538A-4FF8-996A-92876E8F157F}"/>
              </a:ext>
            </a:extLst>
          </p:cNvPr>
          <p:cNvSpPr>
            <a:spLocks xmlns:a="http://schemas.openxmlformats.org/drawingml/2006/main" noGrp="1"/>
          </p:cNvSpPr>
          <p:nvPr/>
        </p:nvSpPr>
        <p:spPr>
          <a:xfrm xmlns:a="http://schemas.openxmlformats.org/drawingml/2006/main">
            <a:off x="1685925" y="5048250"/>
            <a:ext cx="8820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FFFFF"/>
                </a:solidFill>
              </a:defRPr>
            </a:pPr>
            <a:r>
              <a:rPr sz="1875" b="1">
                <a:solidFill>
                  <a:srgbClr val="FFFFFF"/>
                </a:solidFill>
              </a:rPr>
              <a:t>Which placement gives low cost, fast response and acceptable reliability?</a:t>
            </a:r>
          </a:p>
        </p:txBody>
      </p:sp>
    </p:spTree>
    <p:extLst>
      <p:ext uri="{BB962C8B-B14F-4D97-AF65-F5344CB8AC3E}">
        <p14:creationId xmlns:p14="http://schemas.microsoft.com/office/powerpoint/2010/main" val="1300194317"/>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E8D59D4-BE8C-4096-A210-72837AD6DAF2}"/>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FOUNDATIONS</a:t>
            </a:r>
          </a:p>
        </p:txBody>
      </p:sp>
      <p:sp>
        <p:nvSpPr>
          <p:cNvPr id="2" name="">
            <a:extLst xmlns:a="http://schemas.openxmlformats.org/drawingml/2006/main">
              <a:ext uri="{FF2B5EF4-FFF2-40B4-BE49-F238E27FC236}">
                <a16:creationId xmlns:a16="http://schemas.microsoft.com/office/drawing/2014/main" id="{4686FAA0-5961-43E9-B39A-4EF6BBB42EA0}"/>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Optimization is disciplined improvement—not guessing</a:t>
            </a:r>
          </a:p>
        </p:txBody>
      </p:sp>
      <p:sp>
        <p:nvSpPr>
          <p:cNvPr id="3" name="">
            <a:extLst xmlns:a="http://schemas.openxmlformats.org/drawingml/2006/main">
              <a:ext uri="{FF2B5EF4-FFF2-40B4-BE49-F238E27FC236}">
                <a16:creationId xmlns:a16="http://schemas.microsoft.com/office/drawing/2014/main" id="{1685878E-A01E-4C35-9179-B51BB29CB51A}"/>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8A49948-7233-4062-8F4F-CAFDEBD13D53}"/>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96EA9694-8E87-49A3-A62E-07A3E6599774}"/>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03</a:t>
            </a:r>
          </a:p>
        </p:txBody>
      </p:sp>
      <p:sp>
        <p:nvSpPr>
          <p:cNvPr id="6" name="">
            <a:extLst xmlns:a="http://schemas.openxmlformats.org/drawingml/2006/main">
              <a:ext uri="{FF2B5EF4-FFF2-40B4-BE49-F238E27FC236}">
                <a16:creationId xmlns:a16="http://schemas.microsoft.com/office/drawing/2014/main" id="{E6A4A64B-0B18-47F5-A642-C6A4C7CFB2F1}"/>
              </a:ext>
            </a:extLst>
          </p:cNvPr>
          <p:cNvSpPr>
            <a:spLocks xmlns:a="http://schemas.openxmlformats.org/drawingml/2006/main" noGrp="1"/>
          </p:cNvSpPr>
          <p:nvPr/>
        </p:nvSpPr>
        <p:spPr>
          <a:xfrm xmlns:a="http://schemas.openxmlformats.org/drawingml/2006/main">
            <a:off x="1143000" y="1666875"/>
            <a:ext cx="9906000" cy="1000125"/>
          </a:xfrm>
          <a:prstGeom xmlns:a="http://schemas.openxmlformats.org/drawingml/2006/main" prst="roundRect">
            <a:avLst>
              <a:gd name="adj" fmla="val 7619"/>
            </a:avLst>
          </a:prstGeom>
          <a:solidFill xmlns:a="http://schemas.openxmlformats.org/drawingml/2006/main">
            <a:srgbClr val="092A3D"/>
          </a:solidFill>
          <a:ln xmlns:a="http://schemas.openxmlformats.org/drawingml/2006/main" w="0">
            <a:solidFill>
              <a:srgbClr val="092A3D"/>
            </a:solidFill>
            <a:prstDash val="solid"/>
          </a:ln>
        </p:spPr>
      </p:sp>
      <p:sp>
        <p:nvSpPr>
          <p:cNvPr id="7" name="">
            <a:extLst xmlns:a="http://schemas.openxmlformats.org/drawingml/2006/main">
              <a:ext uri="{FF2B5EF4-FFF2-40B4-BE49-F238E27FC236}">
                <a16:creationId xmlns:a16="http://schemas.microsoft.com/office/drawing/2014/main" id="{B9F0DD23-C043-4CE0-926A-999FA9A94A74}"/>
              </a:ext>
            </a:extLst>
          </p:cNvPr>
          <p:cNvSpPr>
            <a:spLocks xmlns:a="http://schemas.openxmlformats.org/drawingml/2006/main" noGrp="1"/>
          </p:cNvSpPr>
          <p:nvPr/>
        </p:nvSpPr>
        <p:spPr>
          <a:xfrm xmlns:a="http://schemas.openxmlformats.org/drawingml/2006/main">
            <a:off x="1352550" y="1762125"/>
            <a:ext cx="94869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75" b="1">
                <a:solidFill>
                  <a:srgbClr val="FFFFFF"/>
                </a:solidFill>
              </a:defRPr>
            </a:pPr>
            <a:r>
              <a:rPr sz="2175" b="1">
                <a:solidFill>
                  <a:srgbClr val="FFFFFF"/>
                </a:solidFill>
              </a:rPr>
              <a:t>Choose the best feasible decision according to a stated measure of quality.</a:t>
            </a:r>
          </a:p>
        </p:txBody>
      </p:sp>
      <p:sp>
        <p:nvSpPr>
          <p:cNvPr id="8" name="">
            <a:extLst xmlns:a="http://schemas.openxmlformats.org/drawingml/2006/main">
              <a:ext uri="{FF2B5EF4-FFF2-40B4-BE49-F238E27FC236}">
                <a16:creationId xmlns:a16="http://schemas.microsoft.com/office/drawing/2014/main" id="{AAF7CF1C-8A9A-44BC-ADA5-65D26A0E09E6}"/>
              </a:ext>
            </a:extLst>
          </p:cNvPr>
          <p:cNvSpPr>
            <a:spLocks xmlns:a="http://schemas.openxmlformats.org/drawingml/2006/main" noGrp="1"/>
          </p:cNvSpPr>
          <p:nvPr/>
        </p:nvSpPr>
        <p:spPr>
          <a:xfrm xmlns:a="http://schemas.openxmlformats.org/drawingml/2006/main">
            <a:off x="1095375" y="3286125"/>
            <a:ext cx="300037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ED9DB"/>
            </a:solidFill>
            <a:prstDash val="solid"/>
          </a:ln>
        </p:spPr>
      </p:sp>
      <p:sp>
        <p:nvSpPr>
          <p:cNvPr id="9" name="">
            <a:extLst xmlns:a="http://schemas.openxmlformats.org/drawingml/2006/main">
              <a:ext uri="{FF2B5EF4-FFF2-40B4-BE49-F238E27FC236}">
                <a16:creationId xmlns:a16="http://schemas.microsoft.com/office/drawing/2014/main" id="{0A64BEB4-86ED-4F78-8905-4FAE36D3614C}"/>
              </a:ext>
            </a:extLst>
          </p:cNvPr>
          <p:cNvSpPr>
            <a:spLocks xmlns:a="http://schemas.openxmlformats.org/drawingml/2006/main" noGrp="1"/>
          </p:cNvSpPr>
          <p:nvPr/>
        </p:nvSpPr>
        <p:spPr>
          <a:xfrm xmlns:a="http://schemas.openxmlformats.org/drawingml/2006/main">
            <a:off x="1095375" y="3286125"/>
            <a:ext cx="76200" cy="1428750"/>
          </a:xfrm>
          <a:prstGeom xmlns:a="http://schemas.openxmlformats.org/drawingml/2006/main" prst="rect">
            <a:avLst/>
          </a:prstGeom>
          <a:solidFill xmlns:a="http://schemas.openxmlformats.org/drawingml/2006/main">
            <a:srgbClr val="0B9B91"/>
          </a:solidFill>
          <a:ln xmlns:a="http://schemas.openxmlformats.org/drawingml/2006/main" w="0">
            <a:solidFill>
              <a:srgbClr val="0B9B91"/>
            </a:solidFill>
            <a:prstDash val="solid"/>
          </a:ln>
        </p:spPr>
      </p:sp>
      <p:sp>
        <p:nvSpPr>
          <p:cNvPr id="10" name="">
            <a:extLst xmlns:a="http://schemas.openxmlformats.org/drawingml/2006/main">
              <a:ext uri="{FF2B5EF4-FFF2-40B4-BE49-F238E27FC236}">
                <a16:creationId xmlns:a16="http://schemas.microsoft.com/office/drawing/2014/main" id="{9DEF32C1-1400-47BA-BC2C-4E220DE3CC98}"/>
              </a:ext>
            </a:extLst>
          </p:cNvPr>
          <p:cNvSpPr>
            <a:spLocks xmlns:a="http://schemas.openxmlformats.org/drawingml/2006/main" noGrp="1"/>
          </p:cNvSpPr>
          <p:nvPr/>
        </p:nvSpPr>
        <p:spPr>
          <a:xfrm xmlns:a="http://schemas.openxmlformats.org/drawingml/2006/main">
            <a:off x="1362075" y="34575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0B9B91"/>
                </a:solidFill>
              </a:defRPr>
            </a:pPr>
            <a:r>
              <a:rPr sz="1725" b="1">
                <a:solidFill>
                  <a:srgbClr val="0B9B91"/>
                </a:solidFill>
              </a:rPr>
              <a:t>CHOOSE</a:t>
            </a:r>
          </a:p>
        </p:txBody>
      </p:sp>
      <p:sp>
        <p:nvSpPr>
          <p:cNvPr id="11" name="">
            <a:extLst xmlns:a="http://schemas.openxmlformats.org/drawingml/2006/main">
              <a:ext uri="{FF2B5EF4-FFF2-40B4-BE49-F238E27FC236}">
                <a16:creationId xmlns:a16="http://schemas.microsoft.com/office/drawing/2014/main" id="{498C6663-0BA5-455D-A570-8891F1934C33}"/>
              </a:ext>
            </a:extLst>
          </p:cNvPr>
          <p:cNvSpPr>
            <a:spLocks xmlns:a="http://schemas.openxmlformats.org/drawingml/2006/main" noGrp="1"/>
          </p:cNvSpPr>
          <p:nvPr/>
        </p:nvSpPr>
        <p:spPr>
          <a:xfrm xmlns:a="http://schemas.openxmlformats.org/drawingml/2006/main">
            <a:off x="1362075" y="3876675"/>
            <a:ext cx="2524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There must be alternative decisions.</a:t>
            </a:r>
          </a:p>
        </p:txBody>
      </p:sp>
      <p:sp>
        <p:nvSpPr>
          <p:cNvPr id="12" name="">
            <a:extLst xmlns:a="http://schemas.openxmlformats.org/drawingml/2006/main">
              <a:ext uri="{FF2B5EF4-FFF2-40B4-BE49-F238E27FC236}">
                <a16:creationId xmlns:a16="http://schemas.microsoft.com/office/drawing/2014/main" id="{0C01F74C-A24B-44B7-86C1-133601EE0BFB}"/>
              </a:ext>
            </a:extLst>
          </p:cNvPr>
          <p:cNvSpPr>
            <a:spLocks xmlns:a="http://schemas.openxmlformats.org/drawingml/2006/main" noGrp="1"/>
          </p:cNvSpPr>
          <p:nvPr/>
        </p:nvSpPr>
        <p:spPr>
          <a:xfrm xmlns:a="http://schemas.openxmlformats.org/drawingml/2006/main">
            <a:off x="4600575" y="3286125"/>
            <a:ext cx="300037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ED9DB"/>
            </a:solidFill>
            <a:prstDash val="solid"/>
          </a:ln>
        </p:spPr>
      </p:sp>
      <p:sp>
        <p:nvSpPr>
          <p:cNvPr id="13" name="">
            <a:extLst xmlns:a="http://schemas.openxmlformats.org/drawingml/2006/main">
              <a:ext uri="{FF2B5EF4-FFF2-40B4-BE49-F238E27FC236}">
                <a16:creationId xmlns:a16="http://schemas.microsoft.com/office/drawing/2014/main" id="{784724DC-F29C-4838-B61E-A352BE5618BA}"/>
              </a:ext>
            </a:extLst>
          </p:cNvPr>
          <p:cNvSpPr>
            <a:spLocks xmlns:a="http://schemas.openxmlformats.org/drawingml/2006/main" noGrp="1"/>
          </p:cNvSpPr>
          <p:nvPr/>
        </p:nvSpPr>
        <p:spPr>
          <a:xfrm xmlns:a="http://schemas.openxmlformats.org/drawingml/2006/main">
            <a:off x="4600575" y="3286125"/>
            <a:ext cx="76200" cy="1428750"/>
          </a:xfrm>
          <a:prstGeom xmlns:a="http://schemas.openxmlformats.org/drawingml/2006/main" prst="rect">
            <a:avLst/>
          </a:prstGeom>
          <a:solidFill xmlns:a="http://schemas.openxmlformats.org/drawingml/2006/main">
            <a:srgbClr val="2878B5"/>
          </a:solidFill>
          <a:ln xmlns:a="http://schemas.openxmlformats.org/drawingml/2006/main" w="0">
            <a:solidFill>
              <a:srgbClr val="2878B5"/>
            </a:solidFill>
            <a:prstDash val="solid"/>
          </a:ln>
        </p:spPr>
      </p:sp>
      <p:sp>
        <p:nvSpPr>
          <p:cNvPr id="14" name="">
            <a:extLst xmlns:a="http://schemas.openxmlformats.org/drawingml/2006/main">
              <a:ext uri="{FF2B5EF4-FFF2-40B4-BE49-F238E27FC236}">
                <a16:creationId xmlns:a16="http://schemas.microsoft.com/office/drawing/2014/main" id="{45176A93-E400-4CF0-B289-6ED2A61E2813}"/>
              </a:ext>
            </a:extLst>
          </p:cNvPr>
          <p:cNvSpPr>
            <a:spLocks xmlns:a="http://schemas.openxmlformats.org/drawingml/2006/main" noGrp="1"/>
          </p:cNvSpPr>
          <p:nvPr/>
        </p:nvSpPr>
        <p:spPr>
          <a:xfrm xmlns:a="http://schemas.openxmlformats.org/drawingml/2006/main">
            <a:off x="4867275" y="34575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2878B5"/>
                </a:solidFill>
              </a:defRPr>
            </a:pPr>
            <a:r>
              <a:rPr sz="1725" b="1">
                <a:solidFill>
                  <a:srgbClr val="2878B5"/>
                </a:solidFill>
              </a:rPr>
              <a:t>MEASURE</a:t>
            </a:r>
          </a:p>
        </p:txBody>
      </p:sp>
      <p:sp>
        <p:nvSpPr>
          <p:cNvPr id="15" name="">
            <a:extLst xmlns:a="http://schemas.openxmlformats.org/drawingml/2006/main">
              <a:ext uri="{FF2B5EF4-FFF2-40B4-BE49-F238E27FC236}">
                <a16:creationId xmlns:a16="http://schemas.microsoft.com/office/drawing/2014/main" id="{9617CC8C-4B04-43DF-BBC8-E05D6BC8FBDB}"/>
              </a:ext>
            </a:extLst>
          </p:cNvPr>
          <p:cNvSpPr>
            <a:spLocks xmlns:a="http://schemas.openxmlformats.org/drawingml/2006/main" noGrp="1"/>
          </p:cNvSpPr>
          <p:nvPr/>
        </p:nvSpPr>
        <p:spPr>
          <a:xfrm xmlns:a="http://schemas.openxmlformats.org/drawingml/2006/main">
            <a:off x="4867275" y="3876675"/>
            <a:ext cx="2524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Quality must be evaluated consistently.</a:t>
            </a:r>
          </a:p>
        </p:txBody>
      </p:sp>
      <p:sp>
        <p:nvSpPr>
          <p:cNvPr id="16" name="">
            <a:extLst xmlns:a="http://schemas.openxmlformats.org/drawingml/2006/main">
              <a:ext uri="{FF2B5EF4-FFF2-40B4-BE49-F238E27FC236}">
                <a16:creationId xmlns:a16="http://schemas.microsoft.com/office/drawing/2014/main" id="{A999C7C5-0B04-4D99-AF8D-AD4B3671F951}"/>
              </a:ext>
            </a:extLst>
          </p:cNvPr>
          <p:cNvSpPr>
            <a:spLocks xmlns:a="http://schemas.openxmlformats.org/drawingml/2006/main" noGrp="1"/>
          </p:cNvSpPr>
          <p:nvPr/>
        </p:nvSpPr>
        <p:spPr>
          <a:xfrm xmlns:a="http://schemas.openxmlformats.org/drawingml/2006/main">
            <a:off x="8096250" y="3286125"/>
            <a:ext cx="300037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ED9DB"/>
            </a:solidFill>
            <a:prstDash val="solid"/>
          </a:ln>
        </p:spPr>
      </p:sp>
      <p:sp>
        <p:nvSpPr>
          <p:cNvPr id="17" name="">
            <a:extLst xmlns:a="http://schemas.openxmlformats.org/drawingml/2006/main">
              <a:ext uri="{FF2B5EF4-FFF2-40B4-BE49-F238E27FC236}">
                <a16:creationId xmlns:a16="http://schemas.microsoft.com/office/drawing/2014/main" id="{E7781E36-1A5A-4D16-B225-B4DA905CE45D}"/>
              </a:ext>
            </a:extLst>
          </p:cNvPr>
          <p:cNvSpPr>
            <a:spLocks xmlns:a="http://schemas.openxmlformats.org/drawingml/2006/main" noGrp="1"/>
          </p:cNvSpPr>
          <p:nvPr/>
        </p:nvSpPr>
        <p:spPr>
          <a:xfrm xmlns:a="http://schemas.openxmlformats.org/drawingml/2006/main">
            <a:off x="8096250" y="3286125"/>
            <a:ext cx="76200" cy="1428750"/>
          </a:xfrm>
          <a:prstGeom xmlns:a="http://schemas.openxmlformats.org/drawingml/2006/main" prst="rect">
            <a:avLst/>
          </a:prstGeom>
          <a:solidFill xmlns:a="http://schemas.openxmlformats.org/drawingml/2006/main">
            <a:srgbClr val="F2A93B"/>
          </a:solidFill>
          <a:ln xmlns:a="http://schemas.openxmlformats.org/drawingml/2006/main" w="0">
            <a:solidFill>
              <a:srgbClr val="F2A93B"/>
            </a:solidFill>
            <a:prstDash val="solid"/>
          </a:ln>
        </p:spPr>
      </p:sp>
      <p:sp>
        <p:nvSpPr>
          <p:cNvPr id="18" name="">
            <a:extLst xmlns:a="http://schemas.openxmlformats.org/drawingml/2006/main">
              <a:ext uri="{FF2B5EF4-FFF2-40B4-BE49-F238E27FC236}">
                <a16:creationId xmlns:a16="http://schemas.microsoft.com/office/drawing/2014/main" id="{88372712-B418-40B9-A0EC-2C609A1005DD}"/>
              </a:ext>
            </a:extLst>
          </p:cNvPr>
          <p:cNvSpPr>
            <a:spLocks xmlns:a="http://schemas.openxmlformats.org/drawingml/2006/main" noGrp="1"/>
          </p:cNvSpPr>
          <p:nvPr/>
        </p:nvSpPr>
        <p:spPr>
          <a:xfrm xmlns:a="http://schemas.openxmlformats.org/drawingml/2006/main">
            <a:off x="8362950" y="34575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F2A93B"/>
                </a:solidFill>
              </a:defRPr>
            </a:pPr>
            <a:r>
              <a:rPr sz="1725" b="1">
                <a:solidFill>
                  <a:srgbClr val="F2A93B"/>
                </a:solidFill>
              </a:rPr>
              <a:t>RESPECT LIMITS</a:t>
            </a:r>
          </a:p>
        </p:txBody>
      </p:sp>
      <p:sp>
        <p:nvSpPr>
          <p:cNvPr id="19" name="">
            <a:extLst xmlns:a="http://schemas.openxmlformats.org/drawingml/2006/main">
              <a:ext uri="{FF2B5EF4-FFF2-40B4-BE49-F238E27FC236}">
                <a16:creationId xmlns:a16="http://schemas.microsoft.com/office/drawing/2014/main" id="{AA6016EC-2DE7-4E4C-874A-D763CDAEE283}"/>
              </a:ext>
            </a:extLst>
          </p:cNvPr>
          <p:cNvSpPr>
            <a:spLocks xmlns:a="http://schemas.openxmlformats.org/drawingml/2006/main" noGrp="1"/>
          </p:cNvSpPr>
          <p:nvPr/>
        </p:nvSpPr>
        <p:spPr>
          <a:xfrm xmlns:a="http://schemas.openxmlformats.org/drawingml/2006/main">
            <a:off x="8362950" y="3876675"/>
            <a:ext cx="2524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A useful solution must satisfy requirements.</a:t>
            </a:r>
          </a:p>
        </p:txBody>
      </p:sp>
      <p:sp>
        <p:nvSpPr>
          <p:cNvPr id="20" name="">
            <a:extLst xmlns:a="http://schemas.openxmlformats.org/drawingml/2006/main">
              <a:ext uri="{FF2B5EF4-FFF2-40B4-BE49-F238E27FC236}">
                <a16:creationId xmlns:a16="http://schemas.microsoft.com/office/drawing/2014/main" id="{7EEB378A-772B-44AF-A114-CA2B067BC11E}"/>
              </a:ext>
            </a:extLst>
          </p:cNvPr>
          <p:cNvSpPr>
            <a:spLocks xmlns:a="http://schemas.openxmlformats.org/drawingml/2006/main" noGrp="1"/>
          </p:cNvSpPr>
          <p:nvPr/>
        </p:nvSpPr>
        <p:spPr>
          <a:xfrm xmlns:a="http://schemas.openxmlformats.org/drawingml/2006/main">
            <a:off x="1571625" y="5381625"/>
            <a:ext cx="904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0B9B91"/>
                </a:solidFill>
              </a:defRPr>
            </a:pPr>
            <a:r>
              <a:rPr sz="1800" b="1">
                <a:solidFill>
                  <a:srgbClr val="0B9B91"/>
                </a:solidFill>
              </a:rPr>
              <a:t>The word “best” is meaningless until the model defines it.</a:t>
            </a:r>
          </a:p>
        </p:txBody>
      </p:sp>
    </p:spTree>
    <p:extLst>
      <p:ext uri="{BB962C8B-B14F-4D97-AF65-F5344CB8AC3E}">
        <p14:creationId xmlns:p14="http://schemas.microsoft.com/office/powerpoint/2010/main" val="273841796"/>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14B26DF-6913-4D15-AE3E-78203D527CD2}"/>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FOUNDATIONS</a:t>
            </a:r>
          </a:p>
        </p:txBody>
      </p:sp>
      <p:sp>
        <p:nvSpPr>
          <p:cNvPr id="2" name="">
            <a:extLst xmlns:a="http://schemas.openxmlformats.org/drawingml/2006/main">
              <a:ext uri="{FF2B5EF4-FFF2-40B4-BE49-F238E27FC236}">
                <a16:creationId xmlns:a16="http://schemas.microsoft.com/office/drawing/2014/main" id="{F220E4BE-8081-44B0-BF3A-98986A8BA7E8}"/>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Every optimization model has four essential parts</a:t>
            </a:r>
          </a:p>
        </p:txBody>
      </p:sp>
      <p:sp>
        <p:nvSpPr>
          <p:cNvPr id="3" name="">
            <a:extLst xmlns:a="http://schemas.openxmlformats.org/drawingml/2006/main">
              <a:ext uri="{FF2B5EF4-FFF2-40B4-BE49-F238E27FC236}">
                <a16:creationId xmlns:a16="http://schemas.microsoft.com/office/drawing/2014/main" id="{14F46371-7F9D-492F-BB53-225C84D32BDB}"/>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EA19207-88D0-4940-9D73-C8A6BB46FCD0}"/>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8B0CFF6A-1AC7-41B0-8444-7C6A7AE2AC18}"/>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04</a:t>
            </a:r>
          </a:p>
        </p:txBody>
      </p:sp>
      <p:sp>
        <p:nvSpPr>
          <p:cNvPr id="6" name="">
            <a:extLst xmlns:a="http://schemas.openxmlformats.org/drawingml/2006/main">
              <a:ext uri="{FF2B5EF4-FFF2-40B4-BE49-F238E27FC236}">
                <a16:creationId xmlns:a16="http://schemas.microsoft.com/office/drawing/2014/main" id="{DE41D923-A516-48D1-BD9E-B09EC840FAA0}"/>
              </a:ext>
            </a:extLst>
          </p:cNvPr>
          <p:cNvSpPr>
            <a:spLocks xmlns:a="http://schemas.openxmlformats.org/drawingml/2006/main" noGrp="1"/>
          </p:cNvSpPr>
          <p:nvPr/>
        </p:nvSpPr>
        <p:spPr>
          <a:xfrm xmlns:a="http://schemas.openxmlformats.org/drawingml/2006/main">
            <a:off x="3209925" y="2619375"/>
            <a:ext cx="228600" cy="0"/>
          </a:xfrm>
          <a:prstGeom xmlns:a="http://schemas.openxmlformats.org/drawingml/2006/main" prst="line">
            <a:avLst/>
          </a:prstGeom>
          <a:noFill xmlns:a="http://schemas.openxmlformats.org/drawingml/2006/main"/>
          <a:ln xmlns:a="http://schemas.openxmlformats.org/drawingml/2006/main" w="28575">
            <a:solidFill>
              <a:srgbClr val="0B9B91"/>
            </a:solidFill>
            <a:prstDash val="solid"/>
          </a:ln>
        </p:spPr>
      </p:sp>
      <p:sp>
        <p:nvSpPr>
          <p:cNvPr id="7" name="">
            <a:extLst xmlns:a="http://schemas.openxmlformats.org/drawingml/2006/main">
              <a:ext uri="{FF2B5EF4-FFF2-40B4-BE49-F238E27FC236}">
                <a16:creationId xmlns:a16="http://schemas.microsoft.com/office/drawing/2014/main" id="{DE084017-F04D-4484-AB17-30611B6AB5E3}"/>
              </a:ext>
            </a:extLst>
          </p:cNvPr>
          <p:cNvSpPr>
            <a:spLocks xmlns:a="http://schemas.openxmlformats.org/drawingml/2006/main" noGrp="1"/>
          </p:cNvSpPr>
          <p:nvPr/>
        </p:nvSpPr>
        <p:spPr>
          <a:xfrm xmlns:a="http://schemas.openxmlformats.org/drawingml/2006/main">
            <a:off x="666750" y="2000250"/>
            <a:ext cx="2543175"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CED9DB"/>
            </a:solidFill>
            <a:prstDash val="solid"/>
          </a:ln>
        </p:spPr>
      </p:sp>
      <p:sp>
        <p:nvSpPr>
          <p:cNvPr id="8" name="">
            <a:extLst xmlns:a="http://schemas.openxmlformats.org/drawingml/2006/main">
              <a:ext uri="{FF2B5EF4-FFF2-40B4-BE49-F238E27FC236}">
                <a16:creationId xmlns:a16="http://schemas.microsoft.com/office/drawing/2014/main" id="{337985FD-9D52-41C8-8E5B-39C2C0356EA0}"/>
              </a:ext>
            </a:extLst>
          </p:cNvPr>
          <p:cNvSpPr>
            <a:spLocks xmlns:a="http://schemas.openxmlformats.org/drawingml/2006/main" noGrp="1"/>
          </p:cNvSpPr>
          <p:nvPr/>
        </p:nvSpPr>
        <p:spPr>
          <a:xfrm xmlns:a="http://schemas.openxmlformats.org/drawingml/2006/main">
            <a:off x="809625" y="21145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B9B91"/>
                </a:solidFill>
              </a:defRPr>
            </a:pPr>
            <a:r>
              <a:rPr sz="1275" b="1">
                <a:solidFill>
                  <a:srgbClr val="0B9B91"/>
                </a:solidFill>
              </a:rPr>
              <a:t>1</a:t>
            </a:r>
          </a:p>
        </p:txBody>
      </p:sp>
      <p:sp>
        <p:nvSpPr>
          <p:cNvPr id="9" name="">
            <a:extLst xmlns:a="http://schemas.openxmlformats.org/drawingml/2006/main">
              <a:ext uri="{FF2B5EF4-FFF2-40B4-BE49-F238E27FC236}">
                <a16:creationId xmlns:a16="http://schemas.microsoft.com/office/drawing/2014/main" id="{3E4918B5-527B-40AA-869B-B5C233F68244}"/>
              </a:ext>
            </a:extLst>
          </p:cNvPr>
          <p:cNvSpPr>
            <a:spLocks xmlns:a="http://schemas.openxmlformats.org/drawingml/2006/main" noGrp="1"/>
          </p:cNvSpPr>
          <p:nvPr/>
        </p:nvSpPr>
        <p:spPr>
          <a:xfrm xmlns:a="http://schemas.openxmlformats.org/drawingml/2006/main">
            <a:off x="838200" y="2428875"/>
            <a:ext cx="22002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83544"/>
                </a:solidFill>
              </a:defRPr>
            </a:pPr>
            <a:r>
              <a:rPr sz="1350" b="1">
                <a:solidFill>
                  <a:srgbClr val="183544"/>
                </a:solidFill>
              </a:rPr>
              <a:t>Decision variables</a:t>
            </a:r>
          </a:p>
        </p:txBody>
      </p:sp>
      <p:sp>
        <p:nvSpPr>
          <p:cNvPr id="10" name="">
            <a:extLst xmlns:a="http://schemas.openxmlformats.org/drawingml/2006/main">
              <a:ext uri="{FF2B5EF4-FFF2-40B4-BE49-F238E27FC236}">
                <a16:creationId xmlns:a16="http://schemas.microsoft.com/office/drawing/2014/main" id="{9D0253E6-B263-468F-8999-398AD38060FC}"/>
              </a:ext>
            </a:extLst>
          </p:cNvPr>
          <p:cNvSpPr>
            <a:spLocks xmlns:a="http://schemas.openxmlformats.org/drawingml/2006/main" noGrp="1"/>
          </p:cNvSpPr>
          <p:nvPr/>
        </p:nvSpPr>
        <p:spPr>
          <a:xfrm xmlns:a="http://schemas.openxmlformats.org/drawingml/2006/main">
            <a:off x="5981700" y="2619375"/>
            <a:ext cx="228600" cy="0"/>
          </a:xfrm>
          <a:prstGeom xmlns:a="http://schemas.openxmlformats.org/drawingml/2006/main" prst="line">
            <a:avLst/>
          </a:prstGeom>
          <a:noFill xmlns:a="http://schemas.openxmlformats.org/drawingml/2006/main"/>
          <a:ln xmlns:a="http://schemas.openxmlformats.org/drawingml/2006/main" w="28575">
            <a:solidFill>
              <a:srgbClr val="0B9B91"/>
            </a:solidFill>
            <a:prstDash val="solid"/>
          </a:ln>
        </p:spPr>
      </p:sp>
      <p:sp>
        <p:nvSpPr>
          <p:cNvPr id="11" name="">
            <a:extLst xmlns:a="http://schemas.openxmlformats.org/drawingml/2006/main">
              <a:ext uri="{FF2B5EF4-FFF2-40B4-BE49-F238E27FC236}">
                <a16:creationId xmlns:a16="http://schemas.microsoft.com/office/drawing/2014/main" id="{D4D4D23A-450E-4210-B657-16FCD8E202D8}"/>
              </a:ext>
            </a:extLst>
          </p:cNvPr>
          <p:cNvSpPr>
            <a:spLocks xmlns:a="http://schemas.openxmlformats.org/drawingml/2006/main" noGrp="1"/>
          </p:cNvSpPr>
          <p:nvPr/>
        </p:nvSpPr>
        <p:spPr>
          <a:xfrm xmlns:a="http://schemas.openxmlformats.org/drawingml/2006/main">
            <a:off x="3438525" y="2000250"/>
            <a:ext cx="2543175"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CED9DB"/>
            </a:solidFill>
            <a:prstDash val="solid"/>
          </a:ln>
        </p:spPr>
      </p:sp>
      <p:sp>
        <p:nvSpPr>
          <p:cNvPr id="12" name="">
            <a:extLst xmlns:a="http://schemas.openxmlformats.org/drawingml/2006/main">
              <a:ext uri="{FF2B5EF4-FFF2-40B4-BE49-F238E27FC236}">
                <a16:creationId xmlns:a16="http://schemas.microsoft.com/office/drawing/2014/main" id="{65F0B2F8-9E5F-41FF-86C3-69EE2C6B4DAD}"/>
              </a:ext>
            </a:extLst>
          </p:cNvPr>
          <p:cNvSpPr>
            <a:spLocks xmlns:a="http://schemas.openxmlformats.org/drawingml/2006/main" noGrp="1"/>
          </p:cNvSpPr>
          <p:nvPr/>
        </p:nvSpPr>
        <p:spPr>
          <a:xfrm xmlns:a="http://schemas.openxmlformats.org/drawingml/2006/main">
            <a:off x="3581400" y="21145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B9B91"/>
                </a:solidFill>
              </a:defRPr>
            </a:pPr>
            <a:r>
              <a:rPr sz="1275" b="1">
                <a:solidFill>
                  <a:srgbClr val="0B9B91"/>
                </a:solidFill>
              </a:rPr>
              <a:t>2</a:t>
            </a:r>
          </a:p>
        </p:txBody>
      </p:sp>
      <p:sp>
        <p:nvSpPr>
          <p:cNvPr id="13" name="">
            <a:extLst xmlns:a="http://schemas.openxmlformats.org/drawingml/2006/main">
              <a:ext uri="{FF2B5EF4-FFF2-40B4-BE49-F238E27FC236}">
                <a16:creationId xmlns:a16="http://schemas.microsoft.com/office/drawing/2014/main" id="{C9B089CB-85A1-4CA2-B955-910F613DA282}"/>
              </a:ext>
            </a:extLst>
          </p:cNvPr>
          <p:cNvSpPr>
            <a:spLocks xmlns:a="http://schemas.openxmlformats.org/drawingml/2006/main" noGrp="1"/>
          </p:cNvSpPr>
          <p:nvPr/>
        </p:nvSpPr>
        <p:spPr>
          <a:xfrm xmlns:a="http://schemas.openxmlformats.org/drawingml/2006/main">
            <a:off x="3609975" y="2428875"/>
            <a:ext cx="22002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83544"/>
                </a:solidFill>
              </a:defRPr>
            </a:pPr>
            <a:r>
              <a:rPr sz="1350" b="1">
                <a:solidFill>
                  <a:srgbClr val="183544"/>
                </a:solidFill>
              </a:rPr>
              <a:t>Objective</a:t>
            </a:r>
          </a:p>
        </p:txBody>
      </p:sp>
      <p:sp>
        <p:nvSpPr>
          <p:cNvPr id="14" name="">
            <a:extLst xmlns:a="http://schemas.openxmlformats.org/drawingml/2006/main">
              <a:ext uri="{FF2B5EF4-FFF2-40B4-BE49-F238E27FC236}">
                <a16:creationId xmlns:a16="http://schemas.microsoft.com/office/drawing/2014/main" id="{62E7F32A-145D-4989-AB7C-E4EBA6563035}"/>
              </a:ext>
            </a:extLst>
          </p:cNvPr>
          <p:cNvSpPr>
            <a:spLocks xmlns:a="http://schemas.openxmlformats.org/drawingml/2006/main" noGrp="1"/>
          </p:cNvSpPr>
          <p:nvPr/>
        </p:nvSpPr>
        <p:spPr>
          <a:xfrm xmlns:a="http://schemas.openxmlformats.org/drawingml/2006/main">
            <a:off x="8753475" y="2619375"/>
            <a:ext cx="228600" cy="0"/>
          </a:xfrm>
          <a:prstGeom xmlns:a="http://schemas.openxmlformats.org/drawingml/2006/main" prst="line">
            <a:avLst/>
          </a:prstGeom>
          <a:noFill xmlns:a="http://schemas.openxmlformats.org/drawingml/2006/main"/>
          <a:ln xmlns:a="http://schemas.openxmlformats.org/drawingml/2006/main" w="28575">
            <a:solidFill>
              <a:srgbClr val="0B9B91"/>
            </a:solidFill>
            <a:prstDash val="solid"/>
          </a:ln>
        </p:spPr>
      </p:sp>
      <p:sp>
        <p:nvSpPr>
          <p:cNvPr id="15" name="">
            <a:extLst xmlns:a="http://schemas.openxmlformats.org/drawingml/2006/main">
              <a:ext uri="{FF2B5EF4-FFF2-40B4-BE49-F238E27FC236}">
                <a16:creationId xmlns:a16="http://schemas.microsoft.com/office/drawing/2014/main" id="{0D17146A-E82C-49EA-B7E9-CCD5DD76BEA8}"/>
              </a:ext>
            </a:extLst>
          </p:cNvPr>
          <p:cNvSpPr>
            <a:spLocks xmlns:a="http://schemas.openxmlformats.org/drawingml/2006/main" noGrp="1"/>
          </p:cNvSpPr>
          <p:nvPr/>
        </p:nvSpPr>
        <p:spPr>
          <a:xfrm xmlns:a="http://schemas.openxmlformats.org/drawingml/2006/main">
            <a:off x="6210300" y="2000250"/>
            <a:ext cx="2543175"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CED9DB"/>
            </a:solidFill>
            <a:prstDash val="solid"/>
          </a:ln>
        </p:spPr>
      </p:sp>
      <p:sp>
        <p:nvSpPr>
          <p:cNvPr id="16" name="">
            <a:extLst xmlns:a="http://schemas.openxmlformats.org/drawingml/2006/main">
              <a:ext uri="{FF2B5EF4-FFF2-40B4-BE49-F238E27FC236}">
                <a16:creationId xmlns:a16="http://schemas.microsoft.com/office/drawing/2014/main" id="{F0C85B68-4740-4627-9AA8-4061BA47E5F4}"/>
              </a:ext>
            </a:extLst>
          </p:cNvPr>
          <p:cNvSpPr>
            <a:spLocks xmlns:a="http://schemas.openxmlformats.org/drawingml/2006/main" noGrp="1"/>
          </p:cNvSpPr>
          <p:nvPr/>
        </p:nvSpPr>
        <p:spPr>
          <a:xfrm xmlns:a="http://schemas.openxmlformats.org/drawingml/2006/main">
            <a:off x="6353175" y="21145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B9B91"/>
                </a:solidFill>
              </a:defRPr>
            </a:pPr>
            <a:r>
              <a:rPr sz="1275" b="1">
                <a:solidFill>
                  <a:srgbClr val="0B9B91"/>
                </a:solidFill>
              </a:rPr>
              <a:t>3</a:t>
            </a:r>
          </a:p>
        </p:txBody>
      </p:sp>
      <p:sp>
        <p:nvSpPr>
          <p:cNvPr id="17" name="">
            <a:extLst xmlns:a="http://schemas.openxmlformats.org/drawingml/2006/main">
              <a:ext uri="{FF2B5EF4-FFF2-40B4-BE49-F238E27FC236}">
                <a16:creationId xmlns:a16="http://schemas.microsoft.com/office/drawing/2014/main" id="{D8EFBFE4-A439-4373-9A31-A39CDC5EABA8}"/>
              </a:ext>
            </a:extLst>
          </p:cNvPr>
          <p:cNvSpPr>
            <a:spLocks xmlns:a="http://schemas.openxmlformats.org/drawingml/2006/main" noGrp="1"/>
          </p:cNvSpPr>
          <p:nvPr/>
        </p:nvSpPr>
        <p:spPr>
          <a:xfrm xmlns:a="http://schemas.openxmlformats.org/drawingml/2006/main">
            <a:off x="6381750" y="2428875"/>
            <a:ext cx="22002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83544"/>
                </a:solidFill>
              </a:defRPr>
            </a:pPr>
            <a:r>
              <a:rPr sz="1350" b="1">
                <a:solidFill>
                  <a:srgbClr val="183544"/>
                </a:solidFill>
              </a:rPr>
              <a:t>Constraints</a:t>
            </a:r>
          </a:p>
        </p:txBody>
      </p:sp>
      <p:sp>
        <p:nvSpPr>
          <p:cNvPr id="18" name="">
            <a:extLst xmlns:a="http://schemas.openxmlformats.org/drawingml/2006/main">
              <a:ext uri="{FF2B5EF4-FFF2-40B4-BE49-F238E27FC236}">
                <a16:creationId xmlns:a16="http://schemas.microsoft.com/office/drawing/2014/main" id="{C24764C0-73C9-4FF0-859D-412D641BC67B}"/>
              </a:ext>
            </a:extLst>
          </p:cNvPr>
          <p:cNvSpPr>
            <a:spLocks xmlns:a="http://schemas.openxmlformats.org/drawingml/2006/main" noGrp="1"/>
          </p:cNvSpPr>
          <p:nvPr/>
        </p:nvSpPr>
        <p:spPr>
          <a:xfrm xmlns:a="http://schemas.openxmlformats.org/drawingml/2006/main">
            <a:off x="8982075" y="2000250"/>
            <a:ext cx="2543175" cy="1238250"/>
          </a:xfrm>
          <a:prstGeom xmlns:a="http://schemas.openxmlformats.org/drawingml/2006/main" prst="roundRect">
            <a:avLst>
              <a:gd name="adj" fmla="val 6154"/>
            </a:avLst>
          </a:prstGeom>
          <a:solidFill xmlns:a="http://schemas.openxmlformats.org/drawingml/2006/main">
            <a:srgbClr val="092A3D"/>
          </a:solidFill>
          <a:ln xmlns:a="http://schemas.openxmlformats.org/drawingml/2006/main" w="9525">
            <a:solidFill>
              <a:srgbClr val="092A3D"/>
            </a:solidFill>
            <a:prstDash val="solid"/>
          </a:ln>
        </p:spPr>
      </p:sp>
      <p:sp>
        <p:nvSpPr>
          <p:cNvPr id="19" name="">
            <a:extLst xmlns:a="http://schemas.openxmlformats.org/drawingml/2006/main">
              <a:ext uri="{FF2B5EF4-FFF2-40B4-BE49-F238E27FC236}">
                <a16:creationId xmlns:a16="http://schemas.microsoft.com/office/drawing/2014/main" id="{E1D0C67D-5E4F-482B-A251-E5BF7A17694F}"/>
              </a:ext>
            </a:extLst>
          </p:cNvPr>
          <p:cNvSpPr>
            <a:spLocks xmlns:a="http://schemas.openxmlformats.org/drawingml/2006/main" noGrp="1"/>
          </p:cNvSpPr>
          <p:nvPr/>
        </p:nvSpPr>
        <p:spPr>
          <a:xfrm xmlns:a="http://schemas.openxmlformats.org/drawingml/2006/main">
            <a:off x="9124950" y="21145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A93B"/>
                </a:solidFill>
              </a:defRPr>
            </a:pPr>
            <a:r>
              <a:rPr sz="1275" b="1">
                <a:solidFill>
                  <a:srgbClr val="F2A93B"/>
                </a:solidFill>
              </a:rPr>
              <a:t>4</a:t>
            </a:r>
          </a:p>
        </p:txBody>
      </p:sp>
      <p:sp>
        <p:nvSpPr>
          <p:cNvPr id="20" name="">
            <a:extLst xmlns:a="http://schemas.openxmlformats.org/drawingml/2006/main">
              <a:ext uri="{FF2B5EF4-FFF2-40B4-BE49-F238E27FC236}">
                <a16:creationId xmlns:a16="http://schemas.microsoft.com/office/drawing/2014/main" id="{EB70024D-2E97-4CAD-B280-DE55673CA17D}"/>
              </a:ext>
            </a:extLst>
          </p:cNvPr>
          <p:cNvSpPr>
            <a:spLocks xmlns:a="http://schemas.openxmlformats.org/drawingml/2006/main" noGrp="1"/>
          </p:cNvSpPr>
          <p:nvPr/>
        </p:nvSpPr>
        <p:spPr>
          <a:xfrm xmlns:a="http://schemas.openxmlformats.org/drawingml/2006/main">
            <a:off x="9153525" y="2428875"/>
            <a:ext cx="22002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Problem data</a:t>
            </a:r>
          </a:p>
        </p:txBody>
      </p:sp>
      <p:sp>
        <p:nvSpPr>
          <p:cNvPr id="21" name="">
            <a:extLst xmlns:a="http://schemas.openxmlformats.org/drawingml/2006/main">
              <a:ext uri="{FF2B5EF4-FFF2-40B4-BE49-F238E27FC236}">
                <a16:creationId xmlns:a16="http://schemas.microsoft.com/office/drawing/2014/main" id="{045B522F-49F9-4706-B3E3-D822CAFEDB03}"/>
              </a:ext>
            </a:extLst>
          </p:cNvPr>
          <p:cNvSpPr>
            <a:spLocks xmlns:a="http://schemas.openxmlformats.org/drawingml/2006/main" noGrp="1"/>
          </p:cNvSpPr>
          <p:nvPr/>
        </p:nvSpPr>
        <p:spPr>
          <a:xfrm xmlns:a="http://schemas.openxmlformats.org/drawingml/2006/main">
            <a:off x="762000" y="361950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B9B91"/>
                </a:solidFill>
              </a:defRPr>
            </a:pPr>
            <a:r>
              <a:rPr sz="1500" b="1">
                <a:solidFill>
                  <a:srgbClr val="0B9B91"/>
                </a:solidFill>
              </a:rPr>
              <a:t>What can change?</a:t>
            </a:r>
          </a:p>
        </p:txBody>
      </p:sp>
      <p:sp>
        <p:nvSpPr>
          <p:cNvPr id="22" name="">
            <a:extLst xmlns:a="http://schemas.openxmlformats.org/drawingml/2006/main">
              <a:ext uri="{FF2B5EF4-FFF2-40B4-BE49-F238E27FC236}">
                <a16:creationId xmlns:a16="http://schemas.microsoft.com/office/drawing/2014/main" id="{67B2A4B4-E669-4605-A8C2-6A13A93942ED}"/>
              </a:ext>
            </a:extLst>
          </p:cNvPr>
          <p:cNvSpPr>
            <a:spLocks xmlns:a="http://schemas.openxmlformats.org/drawingml/2006/main" noGrp="1"/>
          </p:cNvSpPr>
          <p:nvPr/>
        </p:nvSpPr>
        <p:spPr>
          <a:xfrm xmlns:a="http://schemas.openxmlformats.org/drawingml/2006/main">
            <a:off x="3571875" y="361950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B9B91"/>
                </a:solidFill>
              </a:defRPr>
            </a:pPr>
            <a:r>
              <a:rPr sz="1500" b="1">
                <a:solidFill>
                  <a:srgbClr val="0B9B91"/>
                </a:solidFill>
              </a:rPr>
              <a:t>What means better?</a:t>
            </a:r>
          </a:p>
        </p:txBody>
      </p:sp>
      <p:sp>
        <p:nvSpPr>
          <p:cNvPr id="23" name="">
            <a:extLst xmlns:a="http://schemas.openxmlformats.org/drawingml/2006/main">
              <a:ext uri="{FF2B5EF4-FFF2-40B4-BE49-F238E27FC236}">
                <a16:creationId xmlns:a16="http://schemas.microsoft.com/office/drawing/2014/main" id="{5A1828F5-2224-4448-AE86-AC7871DE3718}"/>
              </a:ext>
            </a:extLst>
          </p:cNvPr>
          <p:cNvSpPr>
            <a:spLocks xmlns:a="http://schemas.openxmlformats.org/drawingml/2006/main" noGrp="1"/>
          </p:cNvSpPr>
          <p:nvPr/>
        </p:nvSpPr>
        <p:spPr>
          <a:xfrm xmlns:a="http://schemas.openxmlformats.org/drawingml/2006/main">
            <a:off x="6381750" y="361950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B9B91"/>
                </a:solidFill>
              </a:defRPr>
            </a:pPr>
            <a:r>
              <a:rPr sz="1500" b="1">
                <a:solidFill>
                  <a:srgbClr val="0B9B91"/>
                </a:solidFill>
              </a:rPr>
              <a:t>What must be true?</a:t>
            </a:r>
          </a:p>
        </p:txBody>
      </p:sp>
      <p:sp>
        <p:nvSpPr>
          <p:cNvPr id="24" name="">
            <a:extLst xmlns:a="http://schemas.openxmlformats.org/drawingml/2006/main">
              <a:ext uri="{FF2B5EF4-FFF2-40B4-BE49-F238E27FC236}">
                <a16:creationId xmlns:a16="http://schemas.microsoft.com/office/drawing/2014/main" id="{65E006D3-2D22-41DE-882C-F173FCACC698}"/>
              </a:ext>
            </a:extLst>
          </p:cNvPr>
          <p:cNvSpPr>
            <a:spLocks xmlns:a="http://schemas.openxmlformats.org/drawingml/2006/main" noGrp="1"/>
          </p:cNvSpPr>
          <p:nvPr/>
        </p:nvSpPr>
        <p:spPr>
          <a:xfrm xmlns:a="http://schemas.openxmlformats.org/drawingml/2006/main">
            <a:off x="9191625" y="361950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2A93B"/>
                </a:solidFill>
              </a:defRPr>
            </a:pPr>
            <a:r>
              <a:rPr sz="1500" b="1">
                <a:solidFill>
                  <a:srgbClr val="F2A93B"/>
                </a:solidFill>
              </a:rPr>
              <a:t>What is already known?</a:t>
            </a:r>
          </a:p>
        </p:txBody>
      </p:sp>
      <p:sp>
        <p:nvSpPr>
          <p:cNvPr id="25" name="">
            <a:extLst xmlns:a="http://schemas.openxmlformats.org/drawingml/2006/main">
              <a:ext uri="{FF2B5EF4-FFF2-40B4-BE49-F238E27FC236}">
                <a16:creationId xmlns:a16="http://schemas.microsoft.com/office/drawing/2014/main" id="{5712F426-7CDE-466C-B5EA-F4B8AB31F1B3}"/>
              </a:ext>
            </a:extLst>
          </p:cNvPr>
          <p:cNvSpPr>
            <a:spLocks xmlns:a="http://schemas.openxmlformats.org/drawingml/2006/main" noGrp="1"/>
          </p:cNvSpPr>
          <p:nvPr/>
        </p:nvSpPr>
        <p:spPr>
          <a:xfrm xmlns:a="http://schemas.openxmlformats.org/drawingml/2006/main">
            <a:off x="2952750" y="4953000"/>
            <a:ext cx="6286500" cy="647700"/>
          </a:xfrm>
          <a:prstGeom xmlns:a="http://schemas.openxmlformats.org/drawingml/2006/main" prst="roundRect">
            <a:avLst>
              <a:gd name="adj" fmla="val 11765"/>
            </a:avLst>
          </a:prstGeom>
          <a:solidFill xmlns:a="http://schemas.openxmlformats.org/drawingml/2006/main">
            <a:srgbClr val="E6F3F2"/>
          </a:solidFill>
          <a:ln xmlns:a="http://schemas.openxmlformats.org/drawingml/2006/main" w="0">
            <a:solidFill>
              <a:srgbClr val="E6F3F2"/>
            </a:solidFill>
            <a:prstDash val="solid"/>
          </a:ln>
        </p:spPr>
      </p:sp>
      <p:sp>
        <p:nvSpPr>
          <p:cNvPr id="26" name="">
            <a:extLst xmlns:a="http://schemas.openxmlformats.org/drawingml/2006/main">
              <a:ext uri="{FF2B5EF4-FFF2-40B4-BE49-F238E27FC236}">
                <a16:creationId xmlns:a16="http://schemas.microsoft.com/office/drawing/2014/main" id="{A0C1E98B-6E99-4DAA-94A8-A6CB5B98FD1B}"/>
              </a:ext>
            </a:extLst>
          </p:cNvPr>
          <p:cNvSpPr>
            <a:spLocks xmlns:a="http://schemas.openxmlformats.org/drawingml/2006/main" noGrp="1"/>
          </p:cNvSpPr>
          <p:nvPr/>
        </p:nvSpPr>
        <p:spPr>
          <a:xfrm xmlns:a="http://schemas.openxmlformats.org/drawingml/2006/main">
            <a:off x="3162300" y="5048250"/>
            <a:ext cx="5867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092A3D"/>
                </a:solidFill>
              </a:defRPr>
            </a:pPr>
            <a:r>
              <a:rPr sz="2025" b="1">
                <a:solidFill>
                  <a:srgbClr val="092A3D"/>
                </a:solidFill>
              </a:rPr>
              <a:t>Model first. Algorithm second.</a:t>
            </a:r>
          </a:p>
        </p:txBody>
      </p:sp>
    </p:spTree>
    <p:extLst>
      <p:ext uri="{BB962C8B-B14F-4D97-AF65-F5344CB8AC3E}">
        <p14:creationId xmlns:p14="http://schemas.microsoft.com/office/powerpoint/2010/main" val="1173577265"/>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8CB09AD0-21D8-47C3-ADC1-EE3EA64A6DFA}"/>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FOUNDATIONS</a:t>
            </a:r>
          </a:p>
        </p:txBody>
      </p:sp>
      <p:sp>
        <p:nvSpPr>
          <p:cNvPr id="2" name="">
            <a:extLst xmlns:a="http://schemas.openxmlformats.org/drawingml/2006/main">
              <a:ext uri="{FF2B5EF4-FFF2-40B4-BE49-F238E27FC236}">
                <a16:creationId xmlns:a16="http://schemas.microsoft.com/office/drawing/2014/main" id="{12057494-2668-49EA-BA80-A472E1A8F794}"/>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Decision variables describe what the algorithm may change</a:t>
            </a:r>
          </a:p>
        </p:txBody>
      </p:sp>
      <p:sp>
        <p:nvSpPr>
          <p:cNvPr id="3" name="">
            <a:extLst xmlns:a="http://schemas.openxmlformats.org/drawingml/2006/main">
              <a:ext uri="{FF2B5EF4-FFF2-40B4-BE49-F238E27FC236}">
                <a16:creationId xmlns:a16="http://schemas.microsoft.com/office/drawing/2014/main" id="{DCEEEE0E-66D6-4D71-AD78-FE4576A04F15}"/>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5A5AD42-7B35-4608-9F53-9A355633848E}"/>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47ED9327-8AE4-4139-8F2D-70918494A671}"/>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05</a:t>
            </a:r>
          </a:p>
        </p:txBody>
      </p:sp>
      <p:sp>
        <p:nvSpPr>
          <p:cNvPr id="6" name="">
            <a:extLst xmlns:a="http://schemas.openxmlformats.org/drawingml/2006/main">
              <a:ext uri="{FF2B5EF4-FFF2-40B4-BE49-F238E27FC236}">
                <a16:creationId xmlns:a16="http://schemas.microsoft.com/office/drawing/2014/main" id="{A64B5AFF-84FB-4B76-8176-28CE87E41B14}"/>
              </a:ext>
            </a:extLst>
          </p:cNvPr>
          <p:cNvSpPr>
            <a:spLocks xmlns:a="http://schemas.openxmlformats.org/drawingml/2006/main" noGrp="1"/>
          </p:cNvSpPr>
          <p:nvPr/>
        </p:nvSpPr>
        <p:spPr>
          <a:xfrm xmlns:a="http://schemas.openxmlformats.org/drawingml/2006/main">
            <a:off x="876300" y="1571625"/>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092A3D"/>
                </a:solidFill>
              </a:defRPr>
            </a:pPr>
            <a:r>
              <a:rPr sz="2250" b="1">
                <a:solidFill>
                  <a:srgbClr val="092A3D"/>
                </a:solidFill>
              </a:rPr>
              <a:t>For each service, choose one server.</a:t>
            </a:r>
          </a:p>
        </p:txBody>
      </p:sp>
      <p:sp>
        <p:nvSpPr>
          <p:cNvPr id="7" name="">
            <a:extLst xmlns:a="http://schemas.openxmlformats.org/drawingml/2006/main">
              <a:ext uri="{FF2B5EF4-FFF2-40B4-BE49-F238E27FC236}">
                <a16:creationId xmlns:a16="http://schemas.microsoft.com/office/drawing/2014/main" id="{797A3A9A-C5CF-4BEF-869B-B1F664C008C1}"/>
              </a:ext>
            </a:extLst>
          </p:cNvPr>
          <p:cNvSpPr>
            <a:spLocks xmlns:a="http://schemas.openxmlformats.org/drawingml/2006/main" noGrp="1"/>
          </p:cNvSpPr>
          <p:nvPr/>
        </p:nvSpPr>
        <p:spPr>
          <a:xfrm xmlns:a="http://schemas.openxmlformats.org/drawingml/2006/main">
            <a:off x="1047750" y="247650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83544"/>
                </a:solidFill>
              </a:defRPr>
            </a:pPr>
            <a:r>
              <a:rPr sz="1500" b="1">
                <a:solidFill>
                  <a:srgbClr val="183544"/>
                </a:solidFill>
              </a:rPr>
              <a:t>Authentication</a:t>
            </a:r>
          </a:p>
        </p:txBody>
      </p:sp>
      <p:sp>
        <p:nvSpPr>
          <p:cNvPr id="8" name="">
            <a:extLst xmlns:a="http://schemas.openxmlformats.org/drawingml/2006/main">
              <a:ext uri="{FF2B5EF4-FFF2-40B4-BE49-F238E27FC236}">
                <a16:creationId xmlns:a16="http://schemas.microsoft.com/office/drawing/2014/main" id="{B98BCA8E-DF3C-4AA8-8DB2-E12511A943DE}"/>
              </a:ext>
            </a:extLst>
          </p:cNvPr>
          <p:cNvSpPr>
            <a:spLocks xmlns:a="http://schemas.openxmlformats.org/drawingml/2006/main" noGrp="1"/>
          </p:cNvSpPr>
          <p:nvPr/>
        </p:nvSpPr>
        <p:spPr>
          <a:xfrm xmlns:a="http://schemas.openxmlformats.org/drawingml/2006/main">
            <a:off x="3667125" y="2705100"/>
            <a:ext cx="1143000" cy="0"/>
          </a:xfrm>
          <a:prstGeom xmlns:a="http://schemas.openxmlformats.org/drawingml/2006/main" prst="line">
            <a:avLst/>
          </a:prstGeom>
          <a:noFill xmlns:a="http://schemas.openxmlformats.org/drawingml/2006/main"/>
          <a:ln xmlns:a="http://schemas.openxmlformats.org/drawingml/2006/main" w="19050">
            <a:solidFill>
              <a:srgbClr val="CED9DB"/>
            </a:solidFill>
            <a:prstDash val="solid"/>
          </a:ln>
        </p:spPr>
      </p:sp>
      <p:sp>
        <p:nvSpPr>
          <p:cNvPr id="9" name="">
            <a:extLst xmlns:a="http://schemas.openxmlformats.org/drawingml/2006/main">
              <a:ext uri="{FF2B5EF4-FFF2-40B4-BE49-F238E27FC236}">
                <a16:creationId xmlns:a16="http://schemas.microsoft.com/office/drawing/2014/main" id="{33721069-0A0A-4168-847F-38BCC1443CBF}"/>
              </a:ext>
            </a:extLst>
          </p:cNvPr>
          <p:cNvSpPr>
            <a:spLocks xmlns:a="http://schemas.openxmlformats.org/drawingml/2006/main" noGrp="1"/>
          </p:cNvSpPr>
          <p:nvPr/>
        </p:nvSpPr>
        <p:spPr>
          <a:xfrm xmlns:a="http://schemas.openxmlformats.org/drawingml/2006/main">
            <a:off x="5000625" y="2476500"/>
            <a:ext cx="1095375" cy="457200"/>
          </a:xfrm>
          <a:prstGeom xmlns:a="http://schemas.openxmlformats.org/drawingml/2006/main" prst="roundRect">
            <a:avLst>
              <a:gd name="adj" fmla="val 16667"/>
            </a:avLst>
          </a:prstGeom>
          <a:solidFill xmlns:a="http://schemas.openxmlformats.org/drawingml/2006/main">
            <a:srgbClr val="0B9B91"/>
          </a:solidFill>
          <a:ln xmlns:a="http://schemas.openxmlformats.org/drawingml/2006/main" w="0">
            <a:solidFill>
              <a:srgbClr val="0B9B91"/>
            </a:solidFill>
            <a:prstDash val="solid"/>
          </a:ln>
        </p:spPr>
      </p:sp>
      <p:sp>
        <p:nvSpPr>
          <p:cNvPr id="10" name="">
            <a:extLst xmlns:a="http://schemas.openxmlformats.org/drawingml/2006/main">
              <a:ext uri="{FF2B5EF4-FFF2-40B4-BE49-F238E27FC236}">
                <a16:creationId xmlns:a16="http://schemas.microsoft.com/office/drawing/2014/main" id="{437C79DC-0174-4DD9-8540-4406D4766DDC}"/>
              </a:ext>
            </a:extLst>
          </p:cNvPr>
          <p:cNvSpPr>
            <a:spLocks xmlns:a="http://schemas.openxmlformats.org/drawingml/2006/main" noGrp="1"/>
          </p:cNvSpPr>
          <p:nvPr/>
        </p:nvSpPr>
        <p:spPr>
          <a:xfrm xmlns:a="http://schemas.openxmlformats.org/drawingml/2006/main">
            <a:off x="5210175" y="2571750"/>
            <a:ext cx="6762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S1</a:t>
            </a:r>
          </a:p>
        </p:txBody>
      </p:sp>
      <p:sp>
        <p:nvSpPr>
          <p:cNvPr id="11" name="">
            <a:extLst xmlns:a="http://schemas.openxmlformats.org/drawingml/2006/main">
              <a:ext uri="{FF2B5EF4-FFF2-40B4-BE49-F238E27FC236}">
                <a16:creationId xmlns:a16="http://schemas.microsoft.com/office/drawing/2014/main" id="{7C37768D-8EAA-4DAE-A44B-FC1435D54787}"/>
              </a:ext>
            </a:extLst>
          </p:cNvPr>
          <p:cNvSpPr>
            <a:spLocks xmlns:a="http://schemas.openxmlformats.org/drawingml/2006/main" noGrp="1"/>
          </p:cNvSpPr>
          <p:nvPr/>
        </p:nvSpPr>
        <p:spPr>
          <a:xfrm xmlns:a="http://schemas.openxmlformats.org/drawingml/2006/main">
            <a:off x="1047750" y="3190875"/>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83544"/>
                </a:solidFill>
              </a:defRPr>
            </a:pPr>
            <a:r>
              <a:rPr sz="1500" b="1">
                <a:solidFill>
                  <a:srgbClr val="183544"/>
                </a:solidFill>
              </a:rPr>
              <a:t>Payment</a:t>
            </a:r>
          </a:p>
        </p:txBody>
      </p:sp>
      <p:sp>
        <p:nvSpPr>
          <p:cNvPr id="12" name="">
            <a:extLst xmlns:a="http://schemas.openxmlformats.org/drawingml/2006/main">
              <a:ext uri="{FF2B5EF4-FFF2-40B4-BE49-F238E27FC236}">
                <a16:creationId xmlns:a16="http://schemas.microsoft.com/office/drawing/2014/main" id="{8C0ADD1D-D5DC-4A8A-9D10-DED077DE3CAB}"/>
              </a:ext>
            </a:extLst>
          </p:cNvPr>
          <p:cNvSpPr>
            <a:spLocks xmlns:a="http://schemas.openxmlformats.org/drawingml/2006/main" noGrp="1"/>
          </p:cNvSpPr>
          <p:nvPr/>
        </p:nvSpPr>
        <p:spPr>
          <a:xfrm xmlns:a="http://schemas.openxmlformats.org/drawingml/2006/main">
            <a:off x="3667125" y="3419475"/>
            <a:ext cx="1143000" cy="0"/>
          </a:xfrm>
          <a:prstGeom xmlns:a="http://schemas.openxmlformats.org/drawingml/2006/main" prst="line">
            <a:avLst/>
          </a:prstGeom>
          <a:noFill xmlns:a="http://schemas.openxmlformats.org/drawingml/2006/main"/>
          <a:ln xmlns:a="http://schemas.openxmlformats.org/drawingml/2006/main" w="19050">
            <a:solidFill>
              <a:srgbClr val="CED9DB"/>
            </a:solidFill>
            <a:prstDash val="solid"/>
          </a:ln>
        </p:spPr>
      </p:sp>
      <p:sp>
        <p:nvSpPr>
          <p:cNvPr id="13" name="">
            <a:extLst xmlns:a="http://schemas.openxmlformats.org/drawingml/2006/main">
              <a:ext uri="{FF2B5EF4-FFF2-40B4-BE49-F238E27FC236}">
                <a16:creationId xmlns:a16="http://schemas.microsoft.com/office/drawing/2014/main" id="{8BFBCFE1-55D9-4A37-AC62-AFFCF13B0AAF}"/>
              </a:ext>
            </a:extLst>
          </p:cNvPr>
          <p:cNvSpPr>
            <a:spLocks xmlns:a="http://schemas.openxmlformats.org/drawingml/2006/main" noGrp="1"/>
          </p:cNvSpPr>
          <p:nvPr/>
        </p:nvSpPr>
        <p:spPr>
          <a:xfrm xmlns:a="http://schemas.openxmlformats.org/drawingml/2006/main">
            <a:off x="5000625" y="3190875"/>
            <a:ext cx="1095375" cy="457200"/>
          </a:xfrm>
          <a:prstGeom xmlns:a="http://schemas.openxmlformats.org/drawingml/2006/main" prst="roundRect">
            <a:avLst>
              <a:gd name="adj" fmla="val 16667"/>
            </a:avLst>
          </a:prstGeom>
          <a:solidFill xmlns:a="http://schemas.openxmlformats.org/drawingml/2006/main">
            <a:srgbClr val="F2A93B"/>
          </a:solidFill>
          <a:ln xmlns:a="http://schemas.openxmlformats.org/drawingml/2006/main" w="0">
            <a:solidFill>
              <a:srgbClr val="F2A93B"/>
            </a:solidFill>
            <a:prstDash val="solid"/>
          </a:ln>
        </p:spPr>
      </p:sp>
      <p:sp>
        <p:nvSpPr>
          <p:cNvPr id="14" name="">
            <a:extLst xmlns:a="http://schemas.openxmlformats.org/drawingml/2006/main">
              <a:ext uri="{FF2B5EF4-FFF2-40B4-BE49-F238E27FC236}">
                <a16:creationId xmlns:a16="http://schemas.microsoft.com/office/drawing/2014/main" id="{0ED20BFA-38FB-421D-9214-ADBC92822292}"/>
              </a:ext>
            </a:extLst>
          </p:cNvPr>
          <p:cNvSpPr>
            <a:spLocks xmlns:a="http://schemas.openxmlformats.org/drawingml/2006/main" noGrp="1"/>
          </p:cNvSpPr>
          <p:nvPr/>
        </p:nvSpPr>
        <p:spPr>
          <a:xfrm xmlns:a="http://schemas.openxmlformats.org/drawingml/2006/main">
            <a:off x="5210175" y="3286125"/>
            <a:ext cx="6762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S3</a:t>
            </a:r>
          </a:p>
        </p:txBody>
      </p:sp>
      <p:sp>
        <p:nvSpPr>
          <p:cNvPr id="15" name="">
            <a:extLst xmlns:a="http://schemas.openxmlformats.org/drawingml/2006/main">
              <a:ext uri="{FF2B5EF4-FFF2-40B4-BE49-F238E27FC236}">
                <a16:creationId xmlns:a16="http://schemas.microsoft.com/office/drawing/2014/main" id="{64B7B3D6-263D-4FFD-B70D-B1F3B0C23F66}"/>
              </a:ext>
            </a:extLst>
          </p:cNvPr>
          <p:cNvSpPr>
            <a:spLocks xmlns:a="http://schemas.openxmlformats.org/drawingml/2006/main" noGrp="1"/>
          </p:cNvSpPr>
          <p:nvPr/>
        </p:nvSpPr>
        <p:spPr>
          <a:xfrm xmlns:a="http://schemas.openxmlformats.org/drawingml/2006/main">
            <a:off x="1047750" y="390525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83544"/>
                </a:solidFill>
              </a:defRPr>
            </a:pPr>
            <a:r>
              <a:rPr sz="1500" b="1">
                <a:solidFill>
                  <a:srgbClr val="183544"/>
                </a:solidFill>
              </a:rPr>
              <a:t>Search</a:t>
            </a:r>
          </a:p>
        </p:txBody>
      </p:sp>
      <p:sp>
        <p:nvSpPr>
          <p:cNvPr id="16" name="">
            <a:extLst xmlns:a="http://schemas.openxmlformats.org/drawingml/2006/main">
              <a:ext uri="{FF2B5EF4-FFF2-40B4-BE49-F238E27FC236}">
                <a16:creationId xmlns:a16="http://schemas.microsoft.com/office/drawing/2014/main" id="{DA348C7F-0E85-443D-A6A3-6C6D9866E226}"/>
              </a:ext>
            </a:extLst>
          </p:cNvPr>
          <p:cNvSpPr>
            <a:spLocks xmlns:a="http://schemas.openxmlformats.org/drawingml/2006/main" noGrp="1"/>
          </p:cNvSpPr>
          <p:nvPr/>
        </p:nvSpPr>
        <p:spPr>
          <a:xfrm xmlns:a="http://schemas.openxmlformats.org/drawingml/2006/main">
            <a:off x="3667125" y="4133850"/>
            <a:ext cx="1143000" cy="0"/>
          </a:xfrm>
          <a:prstGeom xmlns:a="http://schemas.openxmlformats.org/drawingml/2006/main" prst="line">
            <a:avLst/>
          </a:prstGeom>
          <a:noFill xmlns:a="http://schemas.openxmlformats.org/drawingml/2006/main"/>
          <a:ln xmlns:a="http://schemas.openxmlformats.org/drawingml/2006/main" w="19050">
            <a:solidFill>
              <a:srgbClr val="CED9DB"/>
            </a:solidFill>
            <a:prstDash val="solid"/>
          </a:ln>
        </p:spPr>
      </p:sp>
      <p:sp>
        <p:nvSpPr>
          <p:cNvPr id="17" name="">
            <a:extLst xmlns:a="http://schemas.openxmlformats.org/drawingml/2006/main">
              <a:ext uri="{FF2B5EF4-FFF2-40B4-BE49-F238E27FC236}">
                <a16:creationId xmlns:a16="http://schemas.microsoft.com/office/drawing/2014/main" id="{266AE14F-AB51-466E-AC8C-E477D5C65C1C}"/>
              </a:ext>
            </a:extLst>
          </p:cNvPr>
          <p:cNvSpPr>
            <a:spLocks xmlns:a="http://schemas.openxmlformats.org/drawingml/2006/main" noGrp="1"/>
          </p:cNvSpPr>
          <p:nvPr/>
        </p:nvSpPr>
        <p:spPr>
          <a:xfrm xmlns:a="http://schemas.openxmlformats.org/drawingml/2006/main">
            <a:off x="5000625" y="3905250"/>
            <a:ext cx="1095375" cy="457200"/>
          </a:xfrm>
          <a:prstGeom xmlns:a="http://schemas.openxmlformats.org/drawingml/2006/main" prst="roundRect">
            <a:avLst>
              <a:gd name="adj" fmla="val 16667"/>
            </a:avLst>
          </a:prstGeom>
          <a:solidFill xmlns:a="http://schemas.openxmlformats.org/drawingml/2006/main">
            <a:srgbClr val="0B9B91"/>
          </a:solidFill>
          <a:ln xmlns:a="http://schemas.openxmlformats.org/drawingml/2006/main" w="0">
            <a:solidFill>
              <a:srgbClr val="0B9B91"/>
            </a:solidFill>
            <a:prstDash val="solid"/>
          </a:ln>
        </p:spPr>
      </p:sp>
      <p:sp>
        <p:nvSpPr>
          <p:cNvPr id="18" name="">
            <a:extLst xmlns:a="http://schemas.openxmlformats.org/drawingml/2006/main">
              <a:ext uri="{FF2B5EF4-FFF2-40B4-BE49-F238E27FC236}">
                <a16:creationId xmlns:a16="http://schemas.microsoft.com/office/drawing/2014/main" id="{BAA342D2-D893-45D2-B948-B63E7625E1F5}"/>
              </a:ext>
            </a:extLst>
          </p:cNvPr>
          <p:cNvSpPr>
            <a:spLocks xmlns:a="http://schemas.openxmlformats.org/drawingml/2006/main" noGrp="1"/>
          </p:cNvSpPr>
          <p:nvPr/>
        </p:nvSpPr>
        <p:spPr>
          <a:xfrm xmlns:a="http://schemas.openxmlformats.org/drawingml/2006/main">
            <a:off x="5210175" y="4000500"/>
            <a:ext cx="6762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S2</a:t>
            </a:r>
          </a:p>
        </p:txBody>
      </p:sp>
      <p:sp>
        <p:nvSpPr>
          <p:cNvPr id="19" name="">
            <a:extLst xmlns:a="http://schemas.openxmlformats.org/drawingml/2006/main">
              <a:ext uri="{FF2B5EF4-FFF2-40B4-BE49-F238E27FC236}">
                <a16:creationId xmlns:a16="http://schemas.microsoft.com/office/drawing/2014/main" id="{726CC9EA-C9A9-4692-87F1-8A9F43F0EFA3}"/>
              </a:ext>
            </a:extLst>
          </p:cNvPr>
          <p:cNvSpPr>
            <a:spLocks xmlns:a="http://schemas.openxmlformats.org/drawingml/2006/main" noGrp="1"/>
          </p:cNvSpPr>
          <p:nvPr/>
        </p:nvSpPr>
        <p:spPr>
          <a:xfrm xmlns:a="http://schemas.openxmlformats.org/drawingml/2006/main">
            <a:off x="1047750" y="4619625"/>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83544"/>
                </a:solidFill>
              </a:defRPr>
            </a:pPr>
            <a:r>
              <a:rPr sz="1500" b="1">
                <a:solidFill>
                  <a:srgbClr val="183544"/>
                </a:solidFill>
              </a:rPr>
              <a:t>Notifications</a:t>
            </a:r>
          </a:p>
        </p:txBody>
      </p:sp>
      <p:sp>
        <p:nvSpPr>
          <p:cNvPr id="20" name="">
            <a:extLst xmlns:a="http://schemas.openxmlformats.org/drawingml/2006/main">
              <a:ext uri="{FF2B5EF4-FFF2-40B4-BE49-F238E27FC236}">
                <a16:creationId xmlns:a16="http://schemas.microsoft.com/office/drawing/2014/main" id="{DAA7C550-2595-4920-B971-3651680B0F9E}"/>
              </a:ext>
            </a:extLst>
          </p:cNvPr>
          <p:cNvSpPr>
            <a:spLocks xmlns:a="http://schemas.openxmlformats.org/drawingml/2006/main" noGrp="1"/>
          </p:cNvSpPr>
          <p:nvPr/>
        </p:nvSpPr>
        <p:spPr>
          <a:xfrm xmlns:a="http://schemas.openxmlformats.org/drawingml/2006/main">
            <a:off x="3667125" y="4848225"/>
            <a:ext cx="1143000" cy="0"/>
          </a:xfrm>
          <a:prstGeom xmlns:a="http://schemas.openxmlformats.org/drawingml/2006/main" prst="line">
            <a:avLst/>
          </a:prstGeom>
          <a:noFill xmlns:a="http://schemas.openxmlformats.org/drawingml/2006/main"/>
          <a:ln xmlns:a="http://schemas.openxmlformats.org/drawingml/2006/main" w="19050">
            <a:solidFill>
              <a:srgbClr val="CED9DB"/>
            </a:solidFill>
            <a:prstDash val="solid"/>
          </a:ln>
        </p:spPr>
      </p:sp>
      <p:sp>
        <p:nvSpPr>
          <p:cNvPr id="21" name="">
            <a:extLst xmlns:a="http://schemas.openxmlformats.org/drawingml/2006/main">
              <a:ext uri="{FF2B5EF4-FFF2-40B4-BE49-F238E27FC236}">
                <a16:creationId xmlns:a16="http://schemas.microsoft.com/office/drawing/2014/main" id="{CABBE0C8-5AC9-401C-A093-43AA10A88938}"/>
              </a:ext>
            </a:extLst>
          </p:cNvPr>
          <p:cNvSpPr>
            <a:spLocks xmlns:a="http://schemas.openxmlformats.org/drawingml/2006/main" noGrp="1"/>
          </p:cNvSpPr>
          <p:nvPr/>
        </p:nvSpPr>
        <p:spPr>
          <a:xfrm xmlns:a="http://schemas.openxmlformats.org/drawingml/2006/main">
            <a:off x="5000625" y="4619625"/>
            <a:ext cx="1095375" cy="457200"/>
          </a:xfrm>
          <a:prstGeom xmlns:a="http://schemas.openxmlformats.org/drawingml/2006/main" prst="roundRect">
            <a:avLst>
              <a:gd name="adj" fmla="val 16667"/>
            </a:avLst>
          </a:prstGeom>
          <a:solidFill xmlns:a="http://schemas.openxmlformats.org/drawingml/2006/main">
            <a:srgbClr val="0B9B91"/>
          </a:solidFill>
          <a:ln xmlns:a="http://schemas.openxmlformats.org/drawingml/2006/main" w="0">
            <a:solidFill>
              <a:srgbClr val="0B9B91"/>
            </a:solidFill>
            <a:prstDash val="solid"/>
          </a:ln>
        </p:spPr>
      </p:sp>
      <p:sp>
        <p:nvSpPr>
          <p:cNvPr id="22" name="">
            <a:extLst xmlns:a="http://schemas.openxmlformats.org/drawingml/2006/main">
              <a:ext uri="{FF2B5EF4-FFF2-40B4-BE49-F238E27FC236}">
                <a16:creationId xmlns:a16="http://schemas.microsoft.com/office/drawing/2014/main" id="{418499B7-B1BA-41AD-BAAD-26E0355A5FE1}"/>
              </a:ext>
            </a:extLst>
          </p:cNvPr>
          <p:cNvSpPr>
            <a:spLocks xmlns:a="http://schemas.openxmlformats.org/drawingml/2006/main" noGrp="1"/>
          </p:cNvSpPr>
          <p:nvPr/>
        </p:nvSpPr>
        <p:spPr>
          <a:xfrm xmlns:a="http://schemas.openxmlformats.org/drawingml/2006/main">
            <a:off x="5210175" y="4714875"/>
            <a:ext cx="6762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S4</a:t>
            </a:r>
          </a:p>
        </p:txBody>
      </p:sp>
      <p:sp>
        <p:nvSpPr>
          <p:cNvPr id="23" name="">
            <a:extLst xmlns:a="http://schemas.openxmlformats.org/drawingml/2006/main">
              <a:ext uri="{FF2B5EF4-FFF2-40B4-BE49-F238E27FC236}">
                <a16:creationId xmlns:a16="http://schemas.microsoft.com/office/drawing/2014/main" id="{14845FAD-805A-4B01-941A-C3E3F462FF61}"/>
              </a:ext>
            </a:extLst>
          </p:cNvPr>
          <p:cNvSpPr>
            <a:spLocks xmlns:a="http://schemas.openxmlformats.org/drawingml/2006/main" noGrp="1"/>
          </p:cNvSpPr>
          <p:nvPr/>
        </p:nvSpPr>
        <p:spPr>
          <a:xfrm xmlns:a="http://schemas.openxmlformats.org/drawingml/2006/main">
            <a:off x="7000875" y="1809750"/>
            <a:ext cx="371475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CED9DB"/>
            </a:solidFill>
            <a:prstDash val="solid"/>
          </a:ln>
        </p:spPr>
      </p:sp>
      <p:sp>
        <p:nvSpPr>
          <p:cNvPr id="24" name="">
            <a:extLst xmlns:a="http://schemas.openxmlformats.org/drawingml/2006/main">
              <a:ext uri="{FF2B5EF4-FFF2-40B4-BE49-F238E27FC236}">
                <a16:creationId xmlns:a16="http://schemas.microsoft.com/office/drawing/2014/main" id="{19217C43-C8C1-48DD-B707-D11EA81C8F9E}"/>
              </a:ext>
            </a:extLst>
          </p:cNvPr>
          <p:cNvSpPr>
            <a:spLocks xmlns:a="http://schemas.openxmlformats.org/drawingml/2006/main" noGrp="1"/>
          </p:cNvSpPr>
          <p:nvPr/>
        </p:nvSpPr>
        <p:spPr>
          <a:xfrm xmlns:a="http://schemas.openxmlformats.org/drawingml/2006/main">
            <a:off x="7334250" y="2143125"/>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0B9B91"/>
                </a:solidFill>
              </a:defRPr>
            </a:pPr>
            <a:r>
              <a:rPr sz="1875" b="1">
                <a:solidFill>
                  <a:srgbClr val="0B9B91"/>
                </a:solidFill>
              </a:rPr>
              <a:t>A good representation</a:t>
            </a:r>
          </a:p>
        </p:txBody>
      </p:sp>
      <p:sp>
        <p:nvSpPr>
          <p:cNvPr id="25" name="">
            <a:extLst xmlns:a="http://schemas.openxmlformats.org/drawingml/2006/main">
              <a:ext uri="{FF2B5EF4-FFF2-40B4-BE49-F238E27FC236}">
                <a16:creationId xmlns:a16="http://schemas.microsoft.com/office/drawing/2014/main" id="{A24D1424-BD25-49E3-96B1-B1FA820DD442}"/>
              </a:ext>
            </a:extLst>
          </p:cNvPr>
          <p:cNvSpPr>
            <a:spLocks xmlns:a="http://schemas.openxmlformats.org/drawingml/2006/main" noGrp="1"/>
          </p:cNvSpPr>
          <p:nvPr/>
        </p:nvSpPr>
        <p:spPr>
          <a:xfrm xmlns:a="http://schemas.openxmlformats.org/drawingml/2006/main">
            <a:off x="7381875" y="3048000"/>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26" name="">
            <a:extLst xmlns:a="http://schemas.openxmlformats.org/drawingml/2006/main">
              <a:ext uri="{FF2B5EF4-FFF2-40B4-BE49-F238E27FC236}">
                <a16:creationId xmlns:a16="http://schemas.microsoft.com/office/drawing/2014/main" id="{E720AA9E-112E-4A7B-BC70-503998B72C87}"/>
              </a:ext>
            </a:extLst>
          </p:cNvPr>
          <p:cNvSpPr>
            <a:spLocks xmlns:a="http://schemas.openxmlformats.org/drawingml/2006/main" noGrp="1"/>
          </p:cNvSpPr>
          <p:nvPr/>
        </p:nvSpPr>
        <p:spPr>
          <a:xfrm xmlns:a="http://schemas.openxmlformats.org/drawingml/2006/main">
            <a:off x="7648575" y="2857500"/>
            <a:ext cx="2686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83544"/>
                </a:solidFill>
              </a:defRPr>
            </a:pPr>
            <a:r>
              <a:rPr sz="1425" b="0">
                <a:solidFill>
                  <a:srgbClr val="183544"/>
                </a:solidFill>
              </a:rPr>
              <a:t>contains every valid choice</a:t>
            </a:r>
          </a:p>
        </p:txBody>
      </p:sp>
      <p:sp>
        <p:nvSpPr>
          <p:cNvPr id="27" name="">
            <a:extLst xmlns:a="http://schemas.openxmlformats.org/drawingml/2006/main">
              <a:ext uri="{FF2B5EF4-FFF2-40B4-BE49-F238E27FC236}">
                <a16:creationId xmlns:a16="http://schemas.microsoft.com/office/drawing/2014/main" id="{27A89E7E-06BE-4AA9-816C-E24844A60A54}"/>
              </a:ext>
            </a:extLst>
          </p:cNvPr>
          <p:cNvSpPr>
            <a:spLocks xmlns:a="http://schemas.openxmlformats.org/drawingml/2006/main" noGrp="1"/>
          </p:cNvSpPr>
          <p:nvPr/>
        </p:nvSpPr>
        <p:spPr>
          <a:xfrm xmlns:a="http://schemas.openxmlformats.org/drawingml/2006/main">
            <a:off x="7381875" y="3638550"/>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28" name="">
            <a:extLst xmlns:a="http://schemas.openxmlformats.org/drawingml/2006/main">
              <a:ext uri="{FF2B5EF4-FFF2-40B4-BE49-F238E27FC236}">
                <a16:creationId xmlns:a16="http://schemas.microsoft.com/office/drawing/2014/main" id="{4C3BFB59-2570-4735-9979-FF5A9BD45D88}"/>
              </a:ext>
            </a:extLst>
          </p:cNvPr>
          <p:cNvSpPr>
            <a:spLocks xmlns:a="http://schemas.openxmlformats.org/drawingml/2006/main" noGrp="1"/>
          </p:cNvSpPr>
          <p:nvPr/>
        </p:nvSpPr>
        <p:spPr>
          <a:xfrm xmlns:a="http://schemas.openxmlformats.org/drawingml/2006/main">
            <a:off x="7648575" y="3448050"/>
            <a:ext cx="2686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83544"/>
                </a:solidFill>
              </a:defRPr>
            </a:pPr>
            <a:r>
              <a:rPr sz="1425" b="0">
                <a:solidFill>
                  <a:srgbClr val="183544"/>
                </a:solidFill>
              </a:rPr>
              <a:t>avoids impossible encodings</a:t>
            </a:r>
          </a:p>
        </p:txBody>
      </p:sp>
      <p:sp>
        <p:nvSpPr>
          <p:cNvPr id="29" name="">
            <a:extLst xmlns:a="http://schemas.openxmlformats.org/drawingml/2006/main">
              <a:ext uri="{FF2B5EF4-FFF2-40B4-BE49-F238E27FC236}">
                <a16:creationId xmlns:a16="http://schemas.microsoft.com/office/drawing/2014/main" id="{4AB347D0-5DB8-4A4F-9A6C-12D1333EC6E7}"/>
              </a:ext>
            </a:extLst>
          </p:cNvPr>
          <p:cNvSpPr>
            <a:spLocks xmlns:a="http://schemas.openxmlformats.org/drawingml/2006/main" noGrp="1"/>
          </p:cNvSpPr>
          <p:nvPr/>
        </p:nvSpPr>
        <p:spPr>
          <a:xfrm xmlns:a="http://schemas.openxmlformats.org/drawingml/2006/main">
            <a:off x="7381875" y="4229100"/>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30" name="">
            <a:extLst xmlns:a="http://schemas.openxmlformats.org/drawingml/2006/main">
              <a:ext uri="{FF2B5EF4-FFF2-40B4-BE49-F238E27FC236}">
                <a16:creationId xmlns:a16="http://schemas.microsoft.com/office/drawing/2014/main" id="{CDBCDE46-10A0-4C22-A3F7-6DB595470DA3}"/>
              </a:ext>
            </a:extLst>
          </p:cNvPr>
          <p:cNvSpPr>
            <a:spLocks xmlns:a="http://schemas.openxmlformats.org/drawingml/2006/main" noGrp="1"/>
          </p:cNvSpPr>
          <p:nvPr/>
        </p:nvSpPr>
        <p:spPr>
          <a:xfrm xmlns:a="http://schemas.openxmlformats.org/drawingml/2006/main">
            <a:off x="7648575" y="4038600"/>
            <a:ext cx="2686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83544"/>
                </a:solidFill>
              </a:defRPr>
            </a:pPr>
            <a:r>
              <a:rPr sz="1425" b="0">
                <a:solidFill>
                  <a:srgbClr val="183544"/>
                </a:solidFill>
              </a:rPr>
              <a:t>is easy to evaluate</a:t>
            </a:r>
          </a:p>
        </p:txBody>
      </p:sp>
      <p:sp>
        <p:nvSpPr>
          <p:cNvPr id="31" name="">
            <a:extLst xmlns:a="http://schemas.openxmlformats.org/drawingml/2006/main">
              <a:ext uri="{FF2B5EF4-FFF2-40B4-BE49-F238E27FC236}">
                <a16:creationId xmlns:a16="http://schemas.microsoft.com/office/drawing/2014/main" id="{1087B824-F73C-4EF3-9FEA-C07E39389823}"/>
              </a:ext>
            </a:extLst>
          </p:cNvPr>
          <p:cNvSpPr>
            <a:spLocks xmlns:a="http://schemas.openxmlformats.org/drawingml/2006/main" noGrp="1"/>
          </p:cNvSpPr>
          <p:nvPr/>
        </p:nvSpPr>
        <p:spPr>
          <a:xfrm xmlns:a="http://schemas.openxmlformats.org/drawingml/2006/main">
            <a:off x="7381875" y="4819650"/>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32" name="">
            <a:extLst xmlns:a="http://schemas.openxmlformats.org/drawingml/2006/main">
              <a:ext uri="{FF2B5EF4-FFF2-40B4-BE49-F238E27FC236}">
                <a16:creationId xmlns:a16="http://schemas.microsoft.com/office/drawing/2014/main" id="{837DA18F-FA4B-4225-8020-0BABFDD04537}"/>
              </a:ext>
            </a:extLst>
          </p:cNvPr>
          <p:cNvSpPr>
            <a:spLocks xmlns:a="http://schemas.openxmlformats.org/drawingml/2006/main" noGrp="1"/>
          </p:cNvSpPr>
          <p:nvPr/>
        </p:nvSpPr>
        <p:spPr>
          <a:xfrm xmlns:a="http://schemas.openxmlformats.org/drawingml/2006/main">
            <a:off x="7648575" y="4629150"/>
            <a:ext cx="2686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83544"/>
                </a:solidFill>
              </a:defRPr>
            </a:pPr>
            <a:r>
              <a:rPr sz="1425" b="0">
                <a:solidFill>
                  <a:srgbClr val="183544"/>
                </a:solidFill>
              </a:rPr>
              <a:t>matches the Java data structure</a:t>
            </a:r>
          </a:p>
        </p:txBody>
      </p:sp>
    </p:spTree>
    <p:extLst>
      <p:ext uri="{BB962C8B-B14F-4D97-AF65-F5344CB8AC3E}">
        <p14:creationId xmlns:p14="http://schemas.microsoft.com/office/powerpoint/2010/main" val="1211398202"/>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8310D65-D927-4AD9-ADCD-C245AB0F27A0}"/>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FOUNDATIONS</a:t>
            </a:r>
          </a:p>
        </p:txBody>
      </p:sp>
      <p:sp>
        <p:nvSpPr>
          <p:cNvPr id="2" name="">
            <a:extLst xmlns:a="http://schemas.openxmlformats.org/drawingml/2006/main">
              <a:ext uri="{FF2B5EF4-FFF2-40B4-BE49-F238E27FC236}">
                <a16:creationId xmlns:a16="http://schemas.microsoft.com/office/drawing/2014/main" id="{1D7979C3-2864-4B29-9235-B4D94C41C659}"/>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The objective turns preference into a measurable target</a:t>
            </a:r>
          </a:p>
        </p:txBody>
      </p:sp>
      <p:sp>
        <p:nvSpPr>
          <p:cNvPr id="3" name="">
            <a:extLst xmlns:a="http://schemas.openxmlformats.org/drawingml/2006/main">
              <a:ext uri="{FF2B5EF4-FFF2-40B4-BE49-F238E27FC236}">
                <a16:creationId xmlns:a16="http://schemas.microsoft.com/office/drawing/2014/main" id="{7087F357-4DA5-4EC0-8D7D-4A0792CB70D9}"/>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D0F4AFE-E878-48DA-8D60-3517B57D7C3A}"/>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DD3F4ED7-6F04-4FE0-ABB7-72E1BDAE410A}"/>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06</a:t>
            </a:r>
          </a:p>
        </p:txBody>
      </p:sp>
      <p:sp>
        <p:nvSpPr>
          <p:cNvPr id="6" name="">
            <a:extLst xmlns:a="http://schemas.openxmlformats.org/drawingml/2006/main">
              <a:ext uri="{FF2B5EF4-FFF2-40B4-BE49-F238E27FC236}">
                <a16:creationId xmlns:a16="http://schemas.microsoft.com/office/drawing/2014/main" id="{D9B7E433-BB23-4E96-B90A-9B4BB9CD5C51}"/>
              </a:ext>
            </a:extLst>
          </p:cNvPr>
          <p:cNvSpPr>
            <a:spLocks xmlns:a="http://schemas.openxmlformats.org/drawingml/2006/main" noGrp="1"/>
          </p:cNvSpPr>
          <p:nvPr/>
        </p:nvSpPr>
        <p:spPr>
          <a:xfrm xmlns:a="http://schemas.openxmlformats.org/drawingml/2006/main">
            <a:off x="857250" y="1524000"/>
            <a:ext cx="581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092A3D"/>
                </a:solidFill>
              </a:defRPr>
            </a:pPr>
            <a:r>
              <a:rPr sz="1875" b="1">
                <a:solidFill>
                  <a:srgbClr val="092A3D"/>
                </a:solidFill>
              </a:rPr>
              <a:t>Possible objectives for server placement</a:t>
            </a:r>
          </a:p>
        </p:txBody>
      </p:sp>
      <p:sp>
        <p:nvSpPr>
          <p:cNvPr id="7" name="">
            <a:extLst xmlns:a="http://schemas.openxmlformats.org/drawingml/2006/main">
              <a:ext uri="{FF2B5EF4-FFF2-40B4-BE49-F238E27FC236}">
                <a16:creationId xmlns:a16="http://schemas.microsoft.com/office/drawing/2014/main" id="{A0347065-E221-413E-A9F0-5E1AF722E5A9}"/>
              </a:ext>
            </a:extLst>
          </p:cNvPr>
          <p:cNvSpPr>
            <a:spLocks xmlns:a="http://schemas.openxmlformats.org/drawingml/2006/main" noGrp="1"/>
          </p:cNvSpPr>
          <p:nvPr/>
        </p:nvSpPr>
        <p:spPr>
          <a:xfrm xmlns:a="http://schemas.openxmlformats.org/drawingml/2006/main">
            <a:off x="1047750" y="2286000"/>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8" name="">
            <a:extLst xmlns:a="http://schemas.openxmlformats.org/drawingml/2006/main">
              <a:ext uri="{FF2B5EF4-FFF2-40B4-BE49-F238E27FC236}">
                <a16:creationId xmlns:a16="http://schemas.microsoft.com/office/drawing/2014/main" id="{89CBD346-9D03-4325-A515-B3E44B4A7E94}"/>
              </a:ext>
            </a:extLst>
          </p:cNvPr>
          <p:cNvSpPr>
            <a:spLocks xmlns:a="http://schemas.openxmlformats.org/drawingml/2006/main" noGrp="1"/>
          </p:cNvSpPr>
          <p:nvPr/>
        </p:nvSpPr>
        <p:spPr>
          <a:xfrm xmlns:a="http://schemas.openxmlformats.org/drawingml/2006/main">
            <a:off x="1314450" y="2095500"/>
            <a:ext cx="506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83544"/>
                </a:solidFill>
              </a:defRPr>
            </a:pPr>
            <a:r>
              <a:rPr sz="1650" b="0">
                <a:solidFill>
                  <a:srgbClr val="183544"/>
                </a:solidFill>
              </a:rPr>
              <a:t>minimize total response time</a:t>
            </a:r>
          </a:p>
        </p:txBody>
      </p:sp>
      <p:sp>
        <p:nvSpPr>
          <p:cNvPr id="9" name="">
            <a:extLst xmlns:a="http://schemas.openxmlformats.org/drawingml/2006/main">
              <a:ext uri="{FF2B5EF4-FFF2-40B4-BE49-F238E27FC236}">
                <a16:creationId xmlns:a16="http://schemas.microsoft.com/office/drawing/2014/main" id="{CDEC4A4E-1601-4F0E-95BB-865AEF67118E}"/>
              </a:ext>
            </a:extLst>
          </p:cNvPr>
          <p:cNvSpPr>
            <a:spLocks xmlns:a="http://schemas.openxmlformats.org/drawingml/2006/main" noGrp="1"/>
          </p:cNvSpPr>
          <p:nvPr/>
        </p:nvSpPr>
        <p:spPr>
          <a:xfrm xmlns:a="http://schemas.openxmlformats.org/drawingml/2006/main">
            <a:off x="1047750" y="2952750"/>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0" name="">
            <a:extLst xmlns:a="http://schemas.openxmlformats.org/drawingml/2006/main">
              <a:ext uri="{FF2B5EF4-FFF2-40B4-BE49-F238E27FC236}">
                <a16:creationId xmlns:a16="http://schemas.microsoft.com/office/drawing/2014/main" id="{1AA109D0-A89E-423B-A0FC-0A44D6B0744A}"/>
              </a:ext>
            </a:extLst>
          </p:cNvPr>
          <p:cNvSpPr>
            <a:spLocks xmlns:a="http://schemas.openxmlformats.org/drawingml/2006/main" noGrp="1"/>
          </p:cNvSpPr>
          <p:nvPr/>
        </p:nvSpPr>
        <p:spPr>
          <a:xfrm xmlns:a="http://schemas.openxmlformats.org/drawingml/2006/main">
            <a:off x="1314450" y="2762250"/>
            <a:ext cx="506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83544"/>
                </a:solidFill>
              </a:defRPr>
            </a:pPr>
            <a:r>
              <a:rPr sz="1650" b="0">
                <a:solidFill>
                  <a:srgbClr val="183544"/>
                </a:solidFill>
              </a:rPr>
              <a:t>minimize cloud cost</a:t>
            </a:r>
          </a:p>
        </p:txBody>
      </p:sp>
      <p:sp>
        <p:nvSpPr>
          <p:cNvPr id="11" name="">
            <a:extLst xmlns:a="http://schemas.openxmlformats.org/drawingml/2006/main">
              <a:ext uri="{FF2B5EF4-FFF2-40B4-BE49-F238E27FC236}">
                <a16:creationId xmlns:a16="http://schemas.microsoft.com/office/drawing/2014/main" id="{95CD603B-8E7D-4DA1-9C3F-C5E094F6436C}"/>
              </a:ext>
            </a:extLst>
          </p:cNvPr>
          <p:cNvSpPr>
            <a:spLocks xmlns:a="http://schemas.openxmlformats.org/drawingml/2006/main" noGrp="1"/>
          </p:cNvSpPr>
          <p:nvPr/>
        </p:nvSpPr>
        <p:spPr>
          <a:xfrm xmlns:a="http://schemas.openxmlformats.org/drawingml/2006/main">
            <a:off x="1047750" y="3619500"/>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2" name="">
            <a:extLst xmlns:a="http://schemas.openxmlformats.org/drawingml/2006/main">
              <a:ext uri="{FF2B5EF4-FFF2-40B4-BE49-F238E27FC236}">
                <a16:creationId xmlns:a16="http://schemas.microsoft.com/office/drawing/2014/main" id="{985858F8-32D9-4424-8ADC-B52F8312491F}"/>
              </a:ext>
            </a:extLst>
          </p:cNvPr>
          <p:cNvSpPr>
            <a:spLocks xmlns:a="http://schemas.openxmlformats.org/drawingml/2006/main" noGrp="1"/>
          </p:cNvSpPr>
          <p:nvPr/>
        </p:nvSpPr>
        <p:spPr>
          <a:xfrm xmlns:a="http://schemas.openxmlformats.org/drawingml/2006/main">
            <a:off x="1314450" y="3429000"/>
            <a:ext cx="506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83544"/>
                </a:solidFill>
              </a:defRPr>
            </a:pPr>
            <a:r>
              <a:rPr sz="1650" b="0">
                <a:solidFill>
                  <a:srgbClr val="183544"/>
                </a:solidFill>
              </a:rPr>
              <a:t>minimize energy consumption</a:t>
            </a:r>
          </a:p>
        </p:txBody>
      </p:sp>
      <p:sp>
        <p:nvSpPr>
          <p:cNvPr id="13" name="">
            <a:extLst xmlns:a="http://schemas.openxmlformats.org/drawingml/2006/main">
              <a:ext uri="{FF2B5EF4-FFF2-40B4-BE49-F238E27FC236}">
                <a16:creationId xmlns:a16="http://schemas.microsoft.com/office/drawing/2014/main" id="{2C7D7D44-E63F-4533-982E-793A3C42DA08}"/>
              </a:ext>
            </a:extLst>
          </p:cNvPr>
          <p:cNvSpPr>
            <a:spLocks xmlns:a="http://schemas.openxmlformats.org/drawingml/2006/main" noGrp="1"/>
          </p:cNvSpPr>
          <p:nvPr/>
        </p:nvSpPr>
        <p:spPr>
          <a:xfrm xmlns:a="http://schemas.openxmlformats.org/drawingml/2006/main">
            <a:off x="1047750" y="4286250"/>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4" name="">
            <a:extLst xmlns:a="http://schemas.openxmlformats.org/drawingml/2006/main">
              <a:ext uri="{FF2B5EF4-FFF2-40B4-BE49-F238E27FC236}">
                <a16:creationId xmlns:a16="http://schemas.microsoft.com/office/drawing/2014/main" id="{682711B8-E2C2-4B7F-B77C-880BB9234624}"/>
              </a:ext>
            </a:extLst>
          </p:cNvPr>
          <p:cNvSpPr>
            <a:spLocks xmlns:a="http://schemas.openxmlformats.org/drawingml/2006/main" noGrp="1"/>
          </p:cNvSpPr>
          <p:nvPr/>
        </p:nvSpPr>
        <p:spPr>
          <a:xfrm xmlns:a="http://schemas.openxmlformats.org/drawingml/2006/main">
            <a:off x="1314450" y="4095750"/>
            <a:ext cx="506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83544"/>
                </a:solidFill>
              </a:defRPr>
            </a:pPr>
            <a:r>
              <a:rPr sz="1650" b="0">
                <a:solidFill>
                  <a:srgbClr val="183544"/>
                </a:solidFill>
              </a:rPr>
              <a:t>maximize service reliability</a:t>
            </a:r>
          </a:p>
        </p:txBody>
      </p:sp>
      <p:sp>
        <p:nvSpPr>
          <p:cNvPr id="15" name="">
            <a:extLst xmlns:a="http://schemas.openxmlformats.org/drawingml/2006/main">
              <a:ext uri="{FF2B5EF4-FFF2-40B4-BE49-F238E27FC236}">
                <a16:creationId xmlns:a16="http://schemas.microsoft.com/office/drawing/2014/main" id="{31A73FED-F116-448E-A007-23E3E6EFC661}"/>
              </a:ext>
            </a:extLst>
          </p:cNvPr>
          <p:cNvSpPr>
            <a:spLocks xmlns:a="http://schemas.openxmlformats.org/drawingml/2006/main" noGrp="1"/>
          </p:cNvSpPr>
          <p:nvPr/>
        </p:nvSpPr>
        <p:spPr>
          <a:xfrm xmlns:a="http://schemas.openxmlformats.org/drawingml/2006/main">
            <a:off x="7048500" y="1619250"/>
            <a:ext cx="40005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CED9DB"/>
            </a:solidFill>
            <a:prstDash val="solid"/>
          </a:ln>
        </p:spPr>
      </p:sp>
      <p:sp>
        <p:nvSpPr>
          <p:cNvPr id="16" name="">
            <a:extLst xmlns:a="http://schemas.openxmlformats.org/drawingml/2006/main">
              <a:ext uri="{FF2B5EF4-FFF2-40B4-BE49-F238E27FC236}">
                <a16:creationId xmlns:a16="http://schemas.microsoft.com/office/drawing/2014/main" id="{853F638F-5F1B-4457-82C2-E1598DEB02BA}"/>
              </a:ext>
            </a:extLst>
          </p:cNvPr>
          <p:cNvSpPr>
            <a:spLocks xmlns:a="http://schemas.openxmlformats.org/drawingml/2006/main" noGrp="1"/>
          </p:cNvSpPr>
          <p:nvPr/>
        </p:nvSpPr>
        <p:spPr>
          <a:xfrm xmlns:a="http://schemas.openxmlformats.org/drawingml/2006/main">
            <a:off x="7334250" y="1952625"/>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B9B91"/>
                </a:solidFill>
              </a:defRPr>
            </a:pPr>
            <a:r>
              <a:rPr sz="1650" b="1">
                <a:solidFill>
                  <a:srgbClr val="0B9B91"/>
                </a:solidFill>
              </a:rPr>
              <a:t>One decision, different rankings</a:t>
            </a:r>
          </a:p>
        </p:txBody>
      </p:sp>
      <p:graphicFrame>
        <p:nvGraphicFramePr>
          <p:cNvPr id="36" name="Chart"/>
          <p:cNvGraphicFramePr/>
          <p:nvPr/>
        </p:nvGraphicFramePr>
        <p:xfrm>
          <a:off xmlns:a="http://schemas.openxmlformats.org/drawingml/2006/main" x="7524750" y="2524125"/>
          <a:ext xmlns:a="http://schemas.openxmlformats.org/drawingml/2006/main" cx="3048000" cy="2047875"/>
        </p:xfrm>
        <a:graphic xmlns:a="http://schemas.openxmlformats.org/drawingml/2006/main">
          <a:graphicData uri="http://schemas.openxmlformats.org/drawingml/2006/chart">
            <c:chart xmlns:r="http://schemas.openxmlformats.org/officeDocument/2006/relationships" xmlns:c="http://schemas.openxmlformats.org/drawingml/2006/chart" r:id="Rbd762412efaf4a66"/>
          </a:graphicData>
        </a:graphic>
      </p:graphicFrame>
      <p:sp>
        <p:nvSpPr>
          <p:cNvPr id="18" name="">
            <a:extLst xmlns:a="http://schemas.openxmlformats.org/drawingml/2006/main">
              <a:ext uri="{FF2B5EF4-FFF2-40B4-BE49-F238E27FC236}">
                <a16:creationId xmlns:a16="http://schemas.microsoft.com/office/drawing/2014/main" id="{6A804F66-D482-482C-8BE1-F382CB21ADC5}"/>
              </a:ext>
            </a:extLst>
          </p:cNvPr>
          <p:cNvSpPr>
            <a:spLocks xmlns:a="http://schemas.openxmlformats.org/drawingml/2006/main" noGrp="1"/>
          </p:cNvSpPr>
          <p:nvPr/>
        </p:nvSpPr>
        <p:spPr>
          <a:xfrm xmlns:a="http://schemas.openxmlformats.org/drawingml/2006/main">
            <a:off x="2190750" y="5476875"/>
            <a:ext cx="7810500" cy="552450"/>
          </a:xfrm>
          <a:prstGeom xmlns:a="http://schemas.openxmlformats.org/drawingml/2006/main" prst="roundRect">
            <a:avLst>
              <a:gd name="adj" fmla="val 13793"/>
            </a:avLst>
          </a:prstGeom>
          <a:solidFill xmlns:a="http://schemas.openxmlformats.org/drawingml/2006/main">
            <a:srgbClr val="092A3D"/>
          </a:solidFill>
          <a:ln xmlns:a="http://schemas.openxmlformats.org/drawingml/2006/main" w="0">
            <a:solidFill>
              <a:srgbClr val="092A3D"/>
            </a:solidFill>
            <a:prstDash val="solid"/>
          </a:ln>
        </p:spPr>
      </p:sp>
      <p:sp>
        <p:nvSpPr>
          <p:cNvPr id="19" name="">
            <a:extLst xmlns:a="http://schemas.openxmlformats.org/drawingml/2006/main">
              <a:ext uri="{FF2B5EF4-FFF2-40B4-BE49-F238E27FC236}">
                <a16:creationId xmlns:a16="http://schemas.microsoft.com/office/drawing/2014/main" id="{3C722D46-27E0-472D-98EF-C7AAF9C69B83}"/>
              </a:ext>
            </a:extLst>
          </p:cNvPr>
          <p:cNvSpPr>
            <a:spLocks xmlns:a="http://schemas.openxmlformats.org/drawingml/2006/main" noGrp="1"/>
          </p:cNvSpPr>
          <p:nvPr/>
        </p:nvSpPr>
        <p:spPr>
          <a:xfrm xmlns:a="http://schemas.openxmlformats.org/drawingml/2006/main">
            <a:off x="2400300" y="5572125"/>
            <a:ext cx="7391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FFFFFF"/>
                </a:solidFill>
              </a:defRPr>
            </a:pPr>
            <a:r>
              <a:rPr sz="1725" b="1">
                <a:solidFill>
                  <a:srgbClr val="FFFFFF"/>
                </a:solidFill>
              </a:rPr>
              <a:t>Changing the objective can change the winner.</a:t>
            </a:r>
          </a:p>
        </p:txBody>
      </p:sp>
    </p:spTree>
    <p:extLst>
      <p:ext uri="{BB962C8B-B14F-4D97-AF65-F5344CB8AC3E}">
        <p14:creationId xmlns:p14="http://schemas.microsoft.com/office/powerpoint/2010/main" val="565766488"/>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030563F-A675-4655-B965-FF1C2CA1B16C}"/>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FOUNDATIONS</a:t>
            </a:r>
          </a:p>
        </p:txBody>
      </p:sp>
      <p:sp>
        <p:nvSpPr>
          <p:cNvPr id="2" name="">
            <a:extLst xmlns:a="http://schemas.openxmlformats.org/drawingml/2006/main">
              <a:ext uri="{FF2B5EF4-FFF2-40B4-BE49-F238E27FC236}">
                <a16:creationId xmlns:a16="http://schemas.microsoft.com/office/drawing/2014/main" id="{521E539B-5E2B-4726-99FF-E5855FE4D3AC}"/>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Constraints separate acceptable solutions from unacceptable ones</a:t>
            </a:r>
          </a:p>
        </p:txBody>
      </p:sp>
      <p:sp>
        <p:nvSpPr>
          <p:cNvPr id="3" name="">
            <a:extLst xmlns:a="http://schemas.openxmlformats.org/drawingml/2006/main">
              <a:ext uri="{FF2B5EF4-FFF2-40B4-BE49-F238E27FC236}">
                <a16:creationId xmlns:a16="http://schemas.microsoft.com/office/drawing/2014/main" id="{EB27DCDF-D9C7-42AF-B671-AC2E01903EF5}"/>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92CDCD8-FD90-4D8C-9805-F9A788D053D2}"/>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478D30CD-E11D-4F9E-94ED-A477A3126F7F}"/>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07</a:t>
            </a:r>
          </a:p>
        </p:txBody>
      </p:sp>
      <p:sp>
        <p:nvSpPr>
          <p:cNvPr id="6" name="">
            <a:extLst xmlns:a="http://schemas.openxmlformats.org/drawingml/2006/main">
              <a:ext uri="{FF2B5EF4-FFF2-40B4-BE49-F238E27FC236}">
                <a16:creationId xmlns:a16="http://schemas.microsoft.com/office/drawing/2014/main" id="{86D34A22-FA19-49AF-AE6B-CFE40B102D35}"/>
              </a:ext>
            </a:extLst>
          </p:cNvPr>
          <p:cNvSpPr>
            <a:spLocks xmlns:a="http://schemas.openxmlformats.org/drawingml/2006/main" noGrp="1"/>
          </p:cNvSpPr>
          <p:nvPr/>
        </p:nvSpPr>
        <p:spPr>
          <a:xfrm xmlns:a="http://schemas.openxmlformats.org/drawingml/2006/main">
            <a:off x="1476375" y="1762125"/>
            <a:ext cx="4191000" cy="3429000"/>
          </a:xfrm>
          <a:prstGeom xmlns:a="http://schemas.openxmlformats.org/drawingml/2006/main" prst="ellipse">
            <a:avLst/>
          </a:prstGeom>
          <a:solidFill xmlns:a="http://schemas.openxmlformats.org/drawingml/2006/main">
            <a:srgbClr val="E6F3F2"/>
          </a:solidFill>
          <a:ln xmlns:a="http://schemas.openxmlformats.org/drawingml/2006/main" w="19050">
            <a:solidFill>
              <a:srgbClr val="0B9B91"/>
            </a:solidFill>
            <a:prstDash val="solid"/>
          </a:ln>
        </p:spPr>
      </p:sp>
      <p:sp>
        <p:nvSpPr>
          <p:cNvPr id="7" name="">
            <a:extLst xmlns:a="http://schemas.openxmlformats.org/drawingml/2006/main">
              <a:ext uri="{FF2B5EF4-FFF2-40B4-BE49-F238E27FC236}">
                <a16:creationId xmlns:a16="http://schemas.microsoft.com/office/drawing/2014/main" id="{38088072-4907-4CA4-B842-3A2EC822F94C}"/>
              </a:ext>
            </a:extLst>
          </p:cNvPr>
          <p:cNvSpPr>
            <a:spLocks xmlns:a="http://schemas.openxmlformats.org/drawingml/2006/main" noGrp="1"/>
          </p:cNvSpPr>
          <p:nvPr/>
        </p:nvSpPr>
        <p:spPr>
          <a:xfrm xmlns:a="http://schemas.openxmlformats.org/drawingml/2006/main">
            <a:off x="6524625" y="1762125"/>
            <a:ext cx="4191000" cy="3429000"/>
          </a:xfrm>
          <a:prstGeom xmlns:a="http://schemas.openxmlformats.org/drawingml/2006/main" prst="ellipse">
            <a:avLst/>
          </a:prstGeom>
          <a:solidFill xmlns:a="http://schemas.openxmlformats.org/drawingml/2006/main">
            <a:srgbClr val="F9E8E6"/>
          </a:solidFill>
          <a:ln xmlns:a="http://schemas.openxmlformats.org/drawingml/2006/main" w="19050">
            <a:solidFill>
              <a:srgbClr val="D95D5D"/>
            </a:solidFill>
            <a:prstDash val="solid"/>
          </a:ln>
        </p:spPr>
      </p:sp>
      <p:sp>
        <p:nvSpPr>
          <p:cNvPr id="8" name="">
            <a:extLst xmlns:a="http://schemas.openxmlformats.org/drawingml/2006/main">
              <a:ext uri="{FF2B5EF4-FFF2-40B4-BE49-F238E27FC236}">
                <a16:creationId xmlns:a16="http://schemas.microsoft.com/office/drawing/2014/main" id="{BA235930-2E53-4350-97A3-B4FDE4F17B41}"/>
              </a:ext>
            </a:extLst>
          </p:cNvPr>
          <p:cNvSpPr>
            <a:spLocks xmlns:a="http://schemas.openxmlformats.org/drawingml/2006/main" noGrp="1"/>
          </p:cNvSpPr>
          <p:nvPr/>
        </p:nvSpPr>
        <p:spPr>
          <a:xfrm xmlns:a="http://schemas.openxmlformats.org/drawingml/2006/main">
            <a:off x="2381250" y="204787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0B9B91"/>
                </a:solidFill>
              </a:defRPr>
            </a:pPr>
            <a:r>
              <a:rPr sz="1875" b="1">
                <a:solidFill>
                  <a:srgbClr val="0B9B91"/>
                </a:solidFill>
              </a:rPr>
              <a:t>FEASIBLE</a:t>
            </a:r>
          </a:p>
        </p:txBody>
      </p:sp>
      <p:sp>
        <p:nvSpPr>
          <p:cNvPr id="9" name="">
            <a:extLst xmlns:a="http://schemas.openxmlformats.org/drawingml/2006/main">
              <a:ext uri="{FF2B5EF4-FFF2-40B4-BE49-F238E27FC236}">
                <a16:creationId xmlns:a16="http://schemas.microsoft.com/office/drawing/2014/main" id="{2A3E11A3-667C-47EE-8DB3-6555FCA3022E}"/>
              </a:ext>
            </a:extLst>
          </p:cNvPr>
          <p:cNvSpPr>
            <a:spLocks xmlns:a="http://schemas.openxmlformats.org/drawingml/2006/main" noGrp="1"/>
          </p:cNvSpPr>
          <p:nvPr/>
        </p:nvSpPr>
        <p:spPr>
          <a:xfrm xmlns:a="http://schemas.openxmlformats.org/drawingml/2006/main">
            <a:off x="7429500" y="204787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D95D5D"/>
                </a:solidFill>
              </a:defRPr>
            </a:pPr>
            <a:r>
              <a:rPr sz="1875" b="1">
                <a:solidFill>
                  <a:srgbClr val="D95D5D"/>
                </a:solidFill>
              </a:rPr>
              <a:t>INFEASIBLE</a:t>
            </a:r>
          </a:p>
        </p:txBody>
      </p:sp>
      <p:sp>
        <p:nvSpPr>
          <p:cNvPr id="10" name="">
            <a:extLst xmlns:a="http://schemas.openxmlformats.org/drawingml/2006/main">
              <a:ext uri="{FF2B5EF4-FFF2-40B4-BE49-F238E27FC236}">
                <a16:creationId xmlns:a16="http://schemas.microsoft.com/office/drawing/2014/main" id="{482FC2D5-5AE4-4AF6-97F5-8EF81CCCA22C}"/>
              </a:ext>
            </a:extLst>
          </p:cNvPr>
          <p:cNvSpPr>
            <a:spLocks xmlns:a="http://schemas.openxmlformats.org/drawingml/2006/main" noGrp="1"/>
          </p:cNvSpPr>
          <p:nvPr/>
        </p:nvSpPr>
        <p:spPr>
          <a:xfrm xmlns:a="http://schemas.openxmlformats.org/drawingml/2006/main">
            <a:off x="2095500" y="290512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1" name="">
            <a:extLst xmlns:a="http://schemas.openxmlformats.org/drawingml/2006/main">
              <a:ext uri="{FF2B5EF4-FFF2-40B4-BE49-F238E27FC236}">
                <a16:creationId xmlns:a16="http://schemas.microsoft.com/office/drawing/2014/main" id="{B6337619-605F-4B73-85ED-F6C942470D04}"/>
              </a:ext>
            </a:extLst>
          </p:cNvPr>
          <p:cNvSpPr>
            <a:spLocks xmlns:a="http://schemas.openxmlformats.org/drawingml/2006/main" noGrp="1"/>
          </p:cNvSpPr>
          <p:nvPr/>
        </p:nvSpPr>
        <p:spPr>
          <a:xfrm xmlns:a="http://schemas.openxmlformats.org/drawingml/2006/main">
            <a:off x="2362200" y="2714625"/>
            <a:ext cx="2781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capacity respected</a:t>
            </a:r>
          </a:p>
        </p:txBody>
      </p:sp>
      <p:sp>
        <p:nvSpPr>
          <p:cNvPr id="12" name="">
            <a:extLst xmlns:a="http://schemas.openxmlformats.org/drawingml/2006/main">
              <a:ext uri="{FF2B5EF4-FFF2-40B4-BE49-F238E27FC236}">
                <a16:creationId xmlns:a16="http://schemas.microsoft.com/office/drawing/2014/main" id="{DDB608CB-2E08-4247-ABE6-3A5FE0FCDD74}"/>
              </a:ext>
            </a:extLst>
          </p:cNvPr>
          <p:cNvSpPr>
            <a:spLocks xmlns:a="http://schemas.openxmlformats.org/drawingml/2006/main" noGrp="1"/>
          </p:cNvSpPr>
          <p:nvPr/>
        </p:nvSpPr>
        <p:spPr>
          <a:xfrm xmlns:a="http://schemas.openxmlformats.org/drawingml/2006/main">
            <a:off x="2095500" y="357187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3" name="">
            <a:extLst xmlns:a="http://schemas.openxmlformats.org/drawingml/2006/main">
              <a:ext uri="{FF2B5EF4-FFF2-40B4-BE49-F238E27FC236}">
                <a16:creationId xmlns:a16="http://schemas.microsoft.com/office/drawing/2014/main" id="{EF82AB34-270F-40DE-B0B1-860AF26B8C79}"/>
              </a:ext>
            </a:extLst>
          </p:cNvPr>
          <p:cNvSpPr>
            <a:spLocks xmlns:a="http://schemas.openxmlformats.org/drawingml/2006/main" noGrp="1"/>
          </p:cNvSpPr>
          <p:nvPr/>
        </p:nvSpPr>
        <p:spPr>
          <a:xfrm xmlns:a="http://schemas.openxmlformats.org/drawingml/2006/main">
            <a:off x="2362200" y="3381375"/>
            <a:ext cx="2781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budget respected</a:t>
            </a:r>
          </a:p>
        </p:txBody>
      </p:sp>
      <p:sp>
        <p:nvSpPr>
          <p:cNvPr id="14" name="">
            <a:extLst xmlns:a="http://schemas.openxmlformats.org/drawingml/2006/main">
              <a:ext uri="{FF2B5EF4-FFF2-40B4-BE49-F238E27FC236}">
                <a16:creationId xmlns:a16="http://schemas.microsoft.com/office/drawing/2014/main" id="{C4F5DF6D-A1CD-4A81-9DBB-589DD52BC153}"/>
              </a:ext>
            </a:extLst>
          </p:cNvPr>
          <p:cNvSpPr>
            <a:spLocks xmlns:a="http://schemas.openxmlformats.org/drawingml/2006/main" noGrp="1"/>
          </p:cNvSpPr>
          <p:nvPr/>
        </p:nvSpPr>
        <p:spPr>
          <a:xfrm xmlns:a="http://schemas.openxmlformats.org/drawingml/2006/main">
            <a:off x="2095500" y="423862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5" name="">
            <a:extLst xmlns:a="http://schemas.openxmlformats.org/drawingml/2006/main">
              <a:ext uri="{FF2B5EF4-FFF2-40B4-BE49-F238E27FC236}">
                <a16:creationId xmlns:a16="http://schemas.microsoft.com/office/drawing/2014/main" id="{FC8ACE80-756E-4502-AB49-09D0421C2183}"/>
              </a:ext>
            </a:extLst>
          </p:cNvPr>
          <p:cNvSpPr>
            <a:spLocks xmlns:a="http://schemas.openxmlformats.org/drawingml/2006/main" noGrp="1"/>
          </p:cNvSpPr>
          <p:nvPr/>
        </p:nvSpPr>
        <p:spPr>
          <a:xfrm xmlns:a="http://schemas.openxmlformats.org/drawingml/2006/main">
            <a:off x="2362200" y="4048125"/>
            <a:ext cx="2781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required services active</a:t>
            </a:r>
          </a:p>
        </p:txBody>
      </p:sp>
      <p:sp>
        <p:nvSpPr>
          <p:cNvPr id="16" name="">
            <a:extLst xmlns:a="http://schemas.openxmlformats.org/drawingml/2006/main">
              <a:ext uri="{FF2B5EF4-FFF2-40B4-BE49-F238E27FC236}">
                <a16:creationId xmlns:a16="http://schemas.microsoft.com/office/drawing/2014/main" id="{972E7D2B-C296-47C0-B42A-7E7AA7D71503}"/>
              </a:ext>
            </a:extLst>
          </p:cNvPr>
          <p:cNvSpPr>
            <a:spLocks xmlns:a="http://schemas.openxmlformats.org/drawingml/2006/main" noGrp="1"/>
          </p:cNvSpPr>
          <p:nvPr/>
        </p:nvSpPr>
        <p:spPr>
          <a:xfrm xmlns:a="http://schemas.openxmlformats.org/drawingml/2006/main">
            <a:off x="7143750" y="290512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7" name="">
            <a:extLst xmlns:a="http://schemas.openxmlformats.org/drawingml/2006/main">
              <a:ext uri="{FF2B5EF4-FFF2-40B4-BE49-F238E27FC236}">
                <a16:creationId xmlns:a16="http://schemas.microsoft.com/office/drawing/2014/main" id="{AF393A01-14FB-4682-B8B6-212EDE011772}"/>
              </a:ext>
            </a:extLst>
          </p:cNvPr>
          <p:cNvSpPr>
            <a:spLocks xmlns:a="http://schemas.openxmlformats.org/drawingml/2006/main" noGrp="1"/>
          </p:cNvSpPr>
          <p:nvPr/>
        </p:nvSpPr>
        <p:spPr>
          <a:xfrm xmlns:a="http://schemas.openxmlformats.org/drawingml/2006/main">
            <a:off x="7410450" y="2714625"/>
            <a:ext cx="2781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server overloaded</a:t>
            </a:r>
          </a:p>
        </p:txBody>
      </p:sp>
      <p:sp>
        <p:nvSpPr>
          <p:cNvPr id="18" name="">
            <a:extLst xmlns:a="http://schemas.openxmlformats.org/drawingml/2006/main">
              <a:ext uri="{FF2B5EF4-FFF2-40B4-BE49-F238E27FC236}">
                <a16:creationId xmlns:a16="http://schemas.microsoft.com/office/drawing/2014/main" id="{E0F67ADE-EBD6-41DA-800D-01A31ADD6FEF}"/>
              </a:ext>
            </a:extLst>
          </p:cNvPr>
          <p:cNvSpPr>
            <a:spLocks xmlns:a="http://schemas.openxmlformats.org/drawingml/2006/main" noGrp="1"/>
          </p:cNvSpPr>
          <p:nvPr/>
        </p:nvSpPr>
        <p:spPr>
          <a:xfrm xmlns:a="http://schemas.openxmlformats.org/drawingml/2006/main">
            <a:off x="7143750" y="357187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9" name="">
            <a:extLst xmlns:a="http://schemas.openxmlformats.org/drawingml/2006/main">
              <a:ext uri="{FF2B5EF4-FFF2-40B4-BE49-F238E27FC236}">
                <a16:creationId xmlns:a16="http://schemas.microsoft.com/office/drawing/2014/main" id="{9B9295C6-440E-4092-956A-2C700341C395}"/>
              </a:ext>
            </a:extLst>
          </p:cNvPr>
          <p:cNvSpPr>
            <a:spLocks xmlns:a="http://schemas.openxmlformats.org/drawingml/2006/main" noGrp="1"/>
          </p:cNvSpPr>
          <p:nvPr/>
        </p:nvSpPr>
        <p:spPr>
          <a:xfrm xmlns:a="http://schemas.openxmlformats.org/drawingml/2006/main">
            <a:off x="7410450" y="3381375"/>
            <a:ext cx="2781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budget exceeded</a:t>
            </a:r>
          </a:p>
        </p:txBody>
      </p:sp>
      <p:sp>
        <p:nvSpPr>
          <p:cNvPr id="20" name="">
            <a:extLst xmlns:a="http://schemas.openxmlformats.org/drawingml/2006/main">
              <a:ext uri="{FF2B5EF4-FFF2-40B4-BE49-F238E27FC236}">
                <a16:creationId xmlns:a16="http://schemas.microsoft.com/office/drawing/2014/main" id="{075C100C-2886-4176-ACAA-19C7D91AD6E9}"/>
              </a:ext>
            </a:extLst>
          </p:cNvPr>
          <p:cNvSpPr>
            <a:spLocks xmlns:a="http://schemas.openxmlformats.org/drawingml/2006/main" noGrp="1"/>
          </p:cNvSpPr>
          <p:nvPr/>
        </p:nvSpPr>
        <p:spPr>
          <a:xfrm xmlns:a="http://schemas.openxmlformats.org/drawingml/2006/main">
            <a:off x="7143750" y="423862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21" name="">
            <a:extLst xmlns:a="http://schemas.openxmlformats.org/drawingml/2006/main">
              <a:ext uri="{FF2B5EF4-FFF2-40B4-BE49-F238E27FC236}">
                <a16:creationId xmlns:a16="http://schemas.microsoft.com/office/drawing/2014/main" id="{B3399F74-BEDC-40B6-9A7D-FC562834C581}"/>
              </a:ext>
            </a:extLst>
          </p:cNvPr>
          <p:cNvSpPr>
            <a:spLocks xmlns:a="http://schemas.openxmlformats.org/drawingml/2006/main" noGrp="1"/>
          </p:cNvSpPr>
          <p:nvPr/>
        </p:nvSpPr>
        <p:spPr>
          <a:xfrm xmlns:a="http://schemas.openxmlformats.org/drawingml/2006/main">
            <a:off x="7410450" y="4048125"/>
            <a:ext cx="2781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dependency broken</a:t>
            </a:r>
          </a:p>
        </p:txBody>
      </p:sp>
      <p:sp>
        <p:nvSpPr>
          <p:cNvPr id="22" name="">
            <a:extLst xmlns:a="http://schemas.openxmlformats.org/drawingml/2006/main">
              <a:ext uri="{FF2B5EF4-FFF2-40B4-BE49-F238E27FC236}">
                <a16:creationId xmlns:a16="http://schemas.microsoft.com/office/drawing/2014/main" id="{273D6896-3B85-441E-8C09-855338E3CCE1}"/>
              </a:ext>
            </a:extLst>
          </p:cNvPr>
          <p:cNvSpPr>
            <a:spLocks xmlns:a="http://schemas.openxmlformats.org/drawingml/2006/main" noGrp="1"/>
          </p:cNvSpPr>
          <p:nvPr/>
        </p:nvSpPr>
        <p:spPr>
          <a:xfrm xmlns:a="http://schemas.openxmlformats.org/drawingml/2006/main">
            <a:off x="1381125" y="5667375"/>
            <a:ext cx="942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92A3D"/>
                </a:solidFill>
              </a:defRPr>
            </a:pPr>
            <a:r>
              <a:rPr sz="1725" b="1">
                <a:solidFill>
                  <a:srgbClr val="092A3D"/>
                </a:solidFill>
              </a:rPr>
              <a:t>Optimization compares quality only after feasibility is understood.</a:t>
            </a:r>
          </a:p>
        </p:txBody>
      </p:sp>
      <p:sp>
        <p:nvSpPr>
          <p:cNvPr id="23" name="">
            <a:extLst xmlns:a="http://schemas.openxmlformats.org/drawingml/2006/main">
              <a:ext uri="{FF2B5EF4-FFF2-40B4-BE49-F238E27FC236}">
                <a16:creationId xmlns:a16="http://schemas.microsoft.com/office/drawing/2014/main" id="{98781385-6E9F-40D5-A321-DBAC1ED8ADF4}"/>
              </a:ext>
            </a:extLst>
          </p:cNvPr>
          <p:cNvSpPr>
            <a:spLocks xmlns:a="http://schemas.openxmlformats.org/drawingml/2006/main" noGrp="1"/>
          </p:cNvSpPr>
          <p:nvPr/>
        </p:nvSpPr>
        <p:spPr>
          <a:xfrm xmlns:a="http://schemas.openxmlformats.org/drawingml/2006/main">
            <a:off x="609600" y="1238250"/>
            <a:ext cx="10972800" cy="5067300"/>
          </a:xfrm>
          <a:prstGeom xmlns:a="http://schemas.openxmlformats.org/drawingml/2006/main" prst="rect">
            <a:avLst/>
          </a:prstGeom>
          <a:solidFill xmlns:a="http://schemas.openxmlformats.org/drawingml/2006/main">
            <a:srgbClr val="F7F4EE"/>
          </a:solidFill>
          <a:ln xmlns:a="http://schemas.openxmlformats.org/drawingml/2006/main" w="0">
            <a:solidFill>
              <a:srgbClr val="F7F4EE"/>
            </a:solidFill>
            <a:prstDash val="solid"/>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68a8abca2b2243a7"/>
          <a:stretch xmlns:a="http://schemas.openxmlformats.org/drawingml/2006/main"/>
        </p:blipFill>
        <p:spPr>
          <a:xfrm xmlns:a="http://schemas.openxmlformats.org/drawingml/2006/main">
            <a:off x="1991849" y="1381125"/>
            <a:ext cx="8208303" cy="4619625"/>
          </a:xfrm>
          <a:prstGeom xmlns:a="http://schemas.openxmlformats.org/drawingml/2006/main" prst="rect">
            <a:avLst/>
          </a:prstGeom>
        </p:spPr>
      </p:pic>
    </p:spTree>
    <p:extLst>
      <p:ext uri="{BB962C8B-B14F-4D97-AF65-F5344CB8AC3E}">
        <p14:creationId xmlns:p14="http://schemas.microsoft.com/office/powerpoint/2010/main" val="1639507983"/>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E572628-F165-4679-B651-2E22F037BBF1}"/>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FOUNDATIONS</a:t>
            </a:r>
          </a:p>
        </p:txBody>
      </p:sp>
      <p:sp>
        <p:nvSpPr>
          <p:cNvPr id="2" name="">
            <a:extLst xmlns:a="http://schemas.openxmlformats.org/drawingml/2006/main">
              <a:ext uri="{FF2B5EF4-FFF2-40B4-BE49-F238E27FC236}">
                <a16:creationId xmlns:a16="http://schemas.microsoft.com/office/drawing/2014/main" id="{69ECD3B7-BFE1-4417-A062-79DCC5C3CAAE}"/>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Problem data describe the world the decision acts upon</a:t>
            </a:r>
          </a:p>
        </p:txBody>
      </p:sp>
      <p:sp>
        <p:nvSpPr>
          <p:cNvPr id="3" name="">
            <a:extLst xmlns:a="http://schemas.openxmlformats.org/drawingml/2006/main">
              <a:ext uri="{FF2B5EF4-FFF2-40B4-BE49-F238E27FC236}">
                <a16:creationId xmlns:a16="http://schemas.microsoft.com/office/drawing/2014/main" id="{5D2127FD-591B-40EB-A578-A68318E723F4}"/>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81AD866-E9DC-4AA3-BC7C-A8E176D98B44}"/>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24BAB87C-BD26-4821-A701-1784C0512A6D}"/>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08</a:t>
            </a:r>
          </a:p>
        </p:txBody>
      </p:sp>
      <p:sp>
        <p:nvSpPr>
          <p:cNvPr id="6" name="">
            <a:extLst xmlns:a="http://schemas.openxmlformats.org/drawingml/2006/main">
              <a:ext uri="{FF2B5EF4-FFF2-40B4-BE49-F238E27FC236}">
                <a16:creationId xmlns:a16="http://schemas.microsoft.com/office/drawing/2014/main" id="{70887E61-336B-4ADD-AFFA-1545CE38F502}"/>
              </a:ext>
            </a:extLst>
          </p:cNvPr>
          <p:cNvSpPr>
            <a:spLocks xmlns:a="http://schemas.openxmlformats.org/drawingml/2006/main" noGrp="1"/>
          </p:cNvSpPr>
          <p:nvPr/>
        </p:nvSpPr>
        <p:spPr>
          <a:xfrm xmlns:a="http://schemas.openxmlformats.org/drawingml/2006/main">
            <a:off x="904875" y="1571625"/>
            <a:ext cx="495300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CED9DB"/>
            </a:solidFill>
            <a:prstDash val="solid"/>
          </a:ln>
        </p:spPr>
      </p:sp>
      <p:sp>
        <p:nvSpPr>
          <p:cNvPr id="7" name="">
            <a:extLst xmlns:a="http://schemas.openxmlformats.org/drawingml/2006/main">
              <a:ext uri="{FF2B5EF4-FFF2-40B4-BE49-F238E27FC236}">
                <a16:creationId xmlns:a16="http://schemas.microsoft.com/office/drawing/2014/main" id="{8BE2D109-A2BB-4612-A7EF-5E78CB06F46B}"/>
              </a:ext>
            </a:extLst>
          </p:cNvPr>
          <p:cNvSpPr>
            <a:spLocks xmlns:a="http://schemas.openxmlformats.org/drawingml/2006/main" noGrp="1"/>
          </p:cNvSpPr>
          <p:nvPr/>
        </p:nvSpPr>
        <p:spPr>
          <a:xfrm xmlns:a="http://schemas.openxmlformats.org/drawingml/2006/main">
            <a:off x="904875" y="1571625"/>
            <a:ext cx="76200" cy="1333500"/>
          </a:xfrm>
          <a:prstGeom xmlns:a="http://schemas.openxmlformats.org/drawingml/2006/main" prst="rect">
            <a:avLst/>
          </a:prstGeom>
          <a:solidFill xmlns:a="http://schemas.openxmlformats.org/drawingml/2006/main">
            <a:srgbClr val="0B9B91"/>
          </a:solidFill>
          <a:ln xmlns:a="http://schemas.openxmlformats.org/drawingml/2006/main" w="0">
            <a:solidFill>
              <a:srgbClr val="0B9B91"/>
            </a:solidFill>
            <a:prstDash val="solid"/>
          </a:ln>
        </p:spPr>
      </p:sp>
      <p:sp>
        <p:nvSpPr>
          <p:cNvPr id="8" name="">
            <a:extLst xmlns:a="http://schemas.openxmlformats.org/drawingml/2006/main">
              <a:ext uri="{FF2B5EF4-FFF2-40B4-BE49-F238E27FC236}">
                <a16:creationId xmlns:a16="http://schemas.microsoft.com/office/drawing/2014/main" id="{B0CD8FE3-829C-4202-9746-36735230A57D}"/>
              </a:ext>
            </a:extLst>
          </p:cNvPr>
          <p:cNvSpPr>
            <a:spLocks xmlns:a="http://schemas.openxmlformats.org/drawingml/2006/main" noGrp="1"/>
          </p:cNvSpPr>
          <p:nvPr/>
        </p:nvSpPr>
        <p:spPr>
          <a:xfrm xmlns:a="http://schemas.openxmlformats.org/drawingml/2006/main">
            <a:off x="1171575" y="1743075"/>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0B9B91"/>
                </a:solidFill>
              </a:defRPr>
            </a:pPr>
            <a:r>
              <a:rPr sz="1725" b="1">
                <a:solidFill>
                  <a:srgbClr val="0B9B91"/>
                </a:solidFill>
              </a:rPr>
              <a:t>Service demand</a:t>
            </a:r>
          </a:p>
        </p:txBody>
      </p:sp>
      <p:sp>
        <p:nvSpPr>
          <p:cNvPr id="9" name="">
            <a:extLst xmlns:a="http://schemas.openxmlformats.org/drawingml/2006/main">
              <a:ext uri="{FF2B5EF4-FFF2-40B4-BE49-F238E27FC236}">
                <a16:creationId xmlns:a16="http://schemas.microsoft.com/office/drawing/2014/main" id="{4559CA36-7855-4A86-A205-3C7E9A7A55F2}"/>
              </a:ext>
            </a:extLst>
          </p:cNvPr>
          <p:cNvSpPr>
            <a:spLocks xmlns:a="http://schemas.openxmlformats.org/drawingml/2006/main" noGrp="1"/>
          </p:cNvSpPr>
          <p:nvPr/>
        </p:nvSpPr>
        <p:spPr>
          <a:xfrm xmlns:a="http://schemas.openxmlformats.org/drawingml/2006/main">
            <a:off x="1171575" y="2162175"/>
            <a:ext cx="447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requests per second</a:t>
            </a:r>
          </a:p>
        </p:txBody>
      </p:sp>
      <p:sp>
        <p:nvSpPr>
          <p:cNvPr id="10" name="">
            <a:extLst xmlns:a="http://schemas.openxmlformats.org/drawingml/2006/main">
              <a:ext uri="{FF2B5EF4-FFF2-40B4-BE49-F238E27FC236}">
                <a16:creationId xmlns:a16="http://schemas.microsoft.com/office/drawing/2014/main" id="{BC9D284F-BF1A-4B2B-B348-A16FEBB86837}"/>
              </a:ext>
            </a:extLst>
          </p:cNvPr>
          <p:cNvSpPr>
            <a:spLocks xmlns:a="http://schemas.openxmlformats.org/drawingml/2006/main" noGrp="1"/>
          </p:cNvSpPr>
          <p:nvPr/>
        </p:nvSpPr>
        <p:spPr>
          <a:xfrm xmlns:a="http://schemas.openxmlformats.org/drawingml/2006/main">
            <a:off x="6381750" y="1571625"/>
            <a:ext cx="495300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CED9DB"/>
            </a:solidFill>
            <a:prstDash val="solid"/>
          </a:ln>
        </p:spPr>
      </p:sp>
      <p:sp>
        <p:nvSpPr>
          <p:cNvPr id="11" name="">
            <a:extLst xmlns:a="http://schemas.openxmlformats.org/drawingml/2006/main">
              <a:ext uri="{FF2B5EF4-FFF2-40B4-BE49-F238E27FC236}">
                <a16:creationId xmlns:a16="http://schemas.microsoft.com/office/drawing/2014/main" id="{65AA99EF-30B2-4E10-8B5D-51DD9005E98E}"/>
              </a:ext>
            </a:extLst>
          </p:cNvPr>
          <p:cNvSpPr>
            <a:spLocks xmlns:a="http://schemas.openxmlformats.org/drawingml/2006/main" noGrp="1"/>
          </p:cNvSpPr>
          <p:nvPr/>
        </p:nvSpPr>
        <p:spPr>
          <a:xfrm xmlns:a="http://schemas.openxmlformats.org/drawingml/2006/main">
            <a:off x="6381750" y="1571625"/>
            <a:ext cx="76200" cy="1333500"/>
          </a:xfrm>
          <a:prstGeom xmlns:a="http://schemas.openxmlformats.org/drawingml/2006/main" prst="rect">
            <a:avLst/>
          </a:prstGeom>
          <a:solidFill xmlns:a="http://schemas.openxmlformats.org/drawingml/2006/main">
            <a:srgbClr val="0B9B91"/>
          </a:solidFill>
          <a:ln xmlns:a="http://schemas.openxmlformats.org/drawingml/2006/main" w="0">
            <a:solidFill>
              <a:srgbClr val="0B9B91"/>
            </a:solidFill>
            <a:prstDash val="solid"/>
          </a:ln>
        </p:spPr>
      </p:sp>
      <p:sp>
        <p:nvSpPr>
          <p:cNvPr id="12" name="">
            <a:extLst xmlns:a="http://schemas.openxmlformats.org/drawingml/2006/main">
              <a:ext uri="{FF2B5EF4-FFF2-40B4-BE49-F238E27FC236}">
                <a16:creationId xmlns:a16="http://schemas.microsoft.com/office/drawing/2014/main" id="{6D5CD11B-CD19-41B2-BBA2-3B8F86655382}"/>
              </a:ext>
            </a:extLst>
          </p:cNvPr>
          <p:cNvSpPr>
            <a:spLocks xmlns:a="http://schemas.openxmlformats.org/drawingml/2006/main" noGrp="1"/>
          </p:cNvSpPr>
          <p:nvPr/>
        </p:nvSpPr>
        <p:spPr>
          <a:xfrm xmlns:a="http://schemas.openxmlformats.org/drawingml/2006/main">
            <a:off x="6648450" y="1743075"/>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0B9B91"/>
                </a:solidFill>
              </a:defRPr>
            </a:pPr>
            <a:r>
              <a:rPr sz="1725" b="1">
                <a:solidFill>
                  <a:srgbClr val="0B9B91"/>
                </a:solidFill>
              </a:rPr>
              <a:t>Server capacity</a:t>
            </a:r>
          </a:p>
        </p:txBody>
      </p:sp>
      <p:sp>
        <p:nvSpPr>
          <p:cNvPr id="13" name="">
            <a:extLst xmlns:a="http://schemas.openxmlformats.org/drawingml/2006/main">
              <a:ext uri="{FF2B5EF4-FFF2-40B4-BE49-F238E27FC236}">
                <a16:creationId xmlns:a16="http://schemas.microsoft.com/office/drawing/2014/main" id="{313CEF29-2C29-48CA-89D2-9D8210748E46}"/>
              </a:ext>
            </a:extLst>
          </p:cNvPr>
          <p:cNvSpPr>
            <a:spLocks xmlns:a="http://schemas.openxmlformats.org/drawingml/2006/main" noGrp="1"/>
          </p:cNvSpPr>
          <p:nvPr/>
        </p:nvSpPr>
        <p:spPr>
          <a:xfrm xmlns:a="http://schemas.openxmlformats.org/drawingml/2006/main">
            <a:off x="6648450" y="2162175"/>
            <a:ext cx="447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available CPU and memory</a:t>
            </a:r>
          </a:p>
        </p:txBody>
      </p:sp>
      <p:sp>
        <p:nvSpPr>
          <p:cNvPr id="14" name="">
            <a:extLst xmlns:a="http://schemas.openxmlformats.org/drawingml/2006/main">
              <a:ext uri="{FF2B5EF4-FFF2-40B4-BE49-F238E27FC236}">
                <a16:creationId xmlns:a16="http://schemas.microsoft.com/office/drawing/2014/main" id="{06A75BA4-B1E2-4FCB-AE65-01543B692C81}"/>
              </a:ext>
            </a:extLst>
          </p:cNvPr>
          <p:cNvSpPr>
            <a:spLocks xmlns:a="http://schemas.openxmlformats.org/drawingml/2006/main" noGrp="1"/>
          </p:cNvSpPr>
          <p:nvPr/>
        </p:nvSpPr>
        <p:spPr>
          <a:xfrm xmlns:a="http://schemas.openxmlformats.org/drawingml/2006/main">
            <a:off x="904875" y="3286125"/>
            <a:ext cx="495300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CED9DB"/>
            </a:solidFill>
            <a:prstDash val="solid"/>
          </a:ln>
        </p:spPr>
      </p:sp>
      <p:sp>
        <p:nvSpPr>
          <p:cNvPr id="15" name="">
            <a:extLst xmlns:a="http://schemas.openxmlformats.org/drawingml/2006/main">
              <a:ext uri="{FF2B5EF4-FFF2-40B4-BE49-F238E27FC236}">
                <a16:creationId xmlns:a16="http://schemas.microsoft.com/office/drawing/2014/main" id="{08BFD074-FF8F-433A-B7B2-4B0A4131BA41}"/>
              </a:ext>
            </a:extLst>
          </p:cNvPr>
          <p:cNvSpPr>
            <a:spLocks xmlns:a="http://schemas.openxmlformats.org/drawingml/2006/main" noGrp="1"/>
          </p:cNvSpPr>
          <p:nvPr/>
        </p:nvSpPr>
        <p:spPr>
          <a:xfrm xmlns:a="http://schemas.openxmlformats.org/drawingml/2006/main">
            <a:off x="904875" y="3286125"/>
            <a:ext cx="76200" cy="1333500"/>
          </a:xfrm>
          <a:prstGeom xmlns:a="http://schemas.openxmlformats.org/drawingml/2006/main" prst="rect">
            <a:avLst/>
          </a:prstGeom>
          <a:solidFill xmlns:a="http://schemas.openxmlformats.org/drawingml/2006/main">
            <a:srgbClr val="0B9B91"/>
          </a:solidFill>
          <a:ln xmlns:a="http://schemas.openxmlformats.org/drawingml/2006/main" w="0">
            <a:solidFill>
              <a:srgbClr val="0B9B91"/>
            </a:solidFill>
            <a:prstDash val="solid"/>
          </a:ln>
        </p:spPr>
      </p:sp>
      <p:sp>
        <p:nvSpPr>
          <p:cNvPr id="16" name="">
            <a:extLst xmlns:a="http://schemas.openxmlformats.org/drawingml/2006/main">
              <a:ext uri="{FF2B5EF4-FFF2-40B4-BE49-F238E27FC236}">
                <a16:creationId xmlns:a16="http://schemas.microsoft.com/office/drawing/2014/main" id="{46B3E5D8-5344-41FB-9715-A08F1CEC9D79}"/>
              </a:ext>
            </a:extLst>
          </p:cNvPr>
          <p:cNvSpPr>
            <a:spLocks xmlns:a="http://schemas.openxmlformats.org/drawingml/2006/main" noGrp="1"/>
          </p:cNvSpPr>
          <p:nvPr/>
        </p:nvSpPr>
        <p:spPr>
          <a:xfrm xmlns:a="http://schemas.openxmlformats.org/drawingml/2006/main">
            <a:off x="1171575" y="3457575"/>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0B9B91"/>
                </a:solidFill>
              </a:defRPr>
            </a:pPr>
            <a:r>
              <a:rPr sz="1725" b="1">
                <a:solidFill>
                  <a:srgbClr val="0B9B91"/>
                </a:solidFill>
              </a:rPr>
              <a:t>Network delay</a:t>
            </a:r>
          </a:p>
        </p:txBody>
      </p:sp>
      <p:sp>
        <p:nvSpPr>
          <p:cNvPr id="17" name="">
            <a:extLst xmlns:a="http://schemas.openxmlformats.org/drawingml/2006/main">
              <a:ext uri="{FF2B5EF4-FFF2-40B4-BE49-F238E27FC236}">
                <a16:creationId xmlns:a16="http://schemas.microsoft.com/office/drawing/2014/main" id="{7FE7D506-B242-4F04-BBB8-600B7713E42D}"/>
              </a:ext>
            </a:extLst>
          </p:cNvPr>
          <p:cNvSpPr>
            <a:spLocks xmlns:a="http://schemas.openxmlformats.org/drawingml/2006/main" noGrp="1"/>
          </p:cNvSpPr>
          <p:nvPr/>
        </p:nvSpPr>
        <p:spPr>
          <a:xfrm xmlns:a="http://schemas.openxmlformats.org/drawingml/2006/main">
            <a:off x="1171575" y="3876675"/>
            <a:ext cx="447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milliseconds between nodes</a:t>
            </a:r>
          </a:p>
        </p:txBody>
      </p:sp>
      <p:sp>
        <p:nvSpPr>
          <p:cNvPr id="18" name="">
            <a:extLst xmlns:a="http://schemas.openxmlformats.org/drawingml/2006/main">
              <a:ext uri="{FF2B5EF4-FFF2-40B4-BE49-F238E27FC236}">
                <a16:creationId xmlns:a16="http://schemas.microsoft.com/office/drawing/2014/main" id="{B9D3229B-AC07-4B58-9185-A2ABADAB5034}"/>
              </a:ext>
            </a:extLst>
          </p:cNvPr>
          <p:cNvSpPr>
            <a:spLocks xmlns:a="http://schemas.openxmlformats.org/drawingml/2006/main" noGrp="1"/>
          </p:cNvSpPr>
          <p:nvPr/>
        </p:nvSpPr>
        <p:spPr>
          <a:xfrm xmlns:a="http://schemas.openxmlformats.org/drawingml/2006/main">
            <a:off x="6381750" y="3286125"/>
            <a:ext cx="495300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CED9DB"/>
            </a:solidFill>
            <a:prstDash val="solid"/>
          </a:ln>
        </p:spPr>
      </p:sp>
      <p:sp>
        <p:nvSpPr>
          <p:cNvPr id="19" name="">
            <a:extLst xmlns:a="http://schemas.openxmlformats.org/drawingml/2006/main">
              <a:ext uri="{FF2B5EF4-FFF2-40B4-BE49-F238E27FC236}">
                <a16:creationId xmlns:a16="http://schemas.microsoft.com/office/drawing/2014/main" id="{3A1EC412-BCE6-47B1-8E70-5968E4C6EABD}"/>
              </a:ext>
            </a:extLst>
          </p:cNvPr>
          <p:cNvSpPr>
            <a:spLocks xmlns:a="http://schemas.openxmlformats.org/drawingml/2006/main" noGrp="1"/>
          </p:cNvSpPr>
          <p:nvPr/>
        </p:nvSpPr>
        <p:spPr>
          <a:xfrm xmlns:a="http://schemas.openxmlformats.org/drawingml/2006/main">
            <a:off x="6381750" y="3286125"/>
            <a:ext cx="76200" cy="1333500"/>
          </a:xfrm>
          <a:prstGeom xmlns:a="http://schemas.openxmlformats.org/drawingml/2006/main" prst="rect">
            <a:avLst/>
          </a:prstGeom>
          <a:solidFill xmlns:a="http://schemas.openxmlformats.org/drawingml/2006/main">
            <a:srgbClr val="F2A93B"/>
          </a:solidFill>
          <a:ln xmlns:a="http://schemas.openxmlformats.org/drawingml/2006/main" w="0">
            <a:solidFill>
              <a:srgbClr val="F2A93B"/>
            </a:solidFill>
            <a:prstDash val="solid"/>
          </a:ln>
        </p:spPr>
      </p:sp>
      <p:sp>
        <p:nvSpPr>
          <p:cNvPr id="20" name="">
            <a:extLst xmlns:a="http://schemas.openxmlformats.org/drawingml/2006/main">
              <a:ext uri="{FF2B5EF4-FFF2-40B4-BE49-F238E27FC236}">
                <a16:creationId xmlns:a16="http://schemas.microsoft.com/office/drawing/2014/main" id="{256E949C-26E8-408A-B9C6-1CA459FE4CAF}"/>
              </a:ext>
            </a:extLst>
          </p:cNvPr>
          <p:cNvSpPr>
            <a:spLocks xmlns:a="http://schemas.openxmlformats.org/drawingml/2006/main" noGrp="1"/>
          </p:cNvSpPr>
          <p:nvPr/>
        </p:nvSpPr>
        <p:spPr>
          <a:xfrm xmlns:a="http://schemas.openxmlformats.org/drawingml/2006/main">
            <a:off x="6648450" y="3457575"/>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F2A93B"/>
                </a:solidFill>
              </a:defRPr>
            </a:pPr>
            <a:r>
              <a:rPr sz="1725" b="1">
                <a:solidFill>
                  <a:srgbClr val="F2A93B"/>
                </a:solidFill>
              </a:rPr>
              <a:t>Price</a:t>
            </a:r>
          </a:p>
        </p:txBody>
      </p:sp>
      <p:sp>
        <p:nvSpPr>
          <p:cNvPr id="21" name="">
            <a:extLst xmlns:a="http://schemas.openxmlformats.org/drawingml/2006/main">
              <a:ext uri="{FF2B5EF4-FFF2-40B4-BE49-F238E27FC236}">
                <a16:creationId xmlns:a16="http://schemas.microsoft.com/office/drawing/2014/main" id="{DE24E6E9-F556-4421-A7C8-36B481EE2A1D}"/>
              </a:ext>
            </a:extLst>
          </p:cNvPr>
          <p:cNvSpPr>
            <a:spLocks xmlns:a="http://schemas.openxmlformats.org/drawingml/2006/main" noGrp="1"/>
          </p:cNvSpPr>
          <p:nvPr/>
        </p:nvSpPr>
        <p:spPr>
          <a:xfrm xmlns:a="http://schemas.openxmlformats.org/drawingml/2006/main">
            <a:off x="6648450" y="3876675"/>
            <a:ext cx="447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cost per computing unit</a:t>
            </a:r>
          </a:p>
        </p:txBody>
      </p:sp>
      <p:sp>
        <p:nvSpPr>
          <p:cNvPr id="22" name="">
            <a:extLst xmlns:a="http://schemas.openxmlformats.org/drawingml/2006/main">
              <a:ext uri="{FF2B5EF4-FFF2-40B4-BE49-F238E27FC236}">
                <a16:creationId xmlns:a16="http://schemas.microsoft.com/office/drawing/2014/main" id="{182F2491-98DF-46B9-AEF8-090E83017C96}"/>
              </a:ext>
            </a:extLst>
          </p:cNvPr>
          <p:cNvSpPr>
            <a:spLocks xmlns:a="http://schemas.openxmlformats.org/drawingml/2006/main" noGrp="1"/>
          </p:cNvSpPr>
          <p:nvPr/>
        </p:nvSpPr>
        <p:spPr>
          <a:xfrm xmlns:a="http://schemas.openxmlformats.org/drawingml/2006/main">
            <a:off x="1714500" y="5286375"/>
            <a:ext cx="8763000" cy="647700"/>
          </a:xfrm>
          <a:prstGeom xmlns:a="http://schemas.openxmlformats.org/drawingml/2006/main" prst="roundRect">
            <a:avLst>
              <a:gd name="adj" fmla="val 11765"/>
            </a:avLst>
          </a:prstGeom>
          <a:solidFill xmlns:a="http://schemas.openxmlformats.org/drawingml/2006/main">
            <a:srgbClr val="092A3D"/>
          </a:solidFill>
          <a:ln xmlns:a="http://schemas.openxmlformats.org/drawingml/2006/main" w="0">
            <a:solidFill>
              <a:srgbClr val="092A3D"/>
            </a:solidFill>
            <a:prstDash val="solid"/>
          </a:ln>
        </p:spPr>
      </p:sp>
      <p:sp>
        <p:nvSpPr>
          <p:cNvPr id="23" name="">
            <a:extLst xmlns:a="http://schemas.openxmlformats.org/drawingml/2006/main">
              <a:ext uri="{FF2B5EF4-FFF2-40B4-BE49-F238E27FC236}">
                <a16:creationId xmlns:a16="http://schemas.microsoft.com/office/drawing/2014/main" id="{316F8029-FA45-48A0-B1D6-C9AEA15B6C12}"/>
              </a:ext>
            </a:extLst>
          </p:cNvPr>
          <p:cNvSpPr>
            <a:spLocks xmlns:a="http://schemas.openxmlformats.org/drawingml/2006/main" noGrp="1"/>
          </p:cNvSpPr>
          <p:nvPr/>
        </p:nvSpPr>
        <p:spPr>
          <a:xfrm xmlns:a="http://schemas.openxmlformats.org/drawingml/2006/main">
            <a:off x="1924050" y="5381625"/>
            <a:ext cx="834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FFFFF"/>
                </a:solidFill>
              </a:defRPr>
            </a:pPr>
            <a:r>
              <a:rPr sz="1650" b="1">
                <a:solidFill>
                  <a:srgbClr val="FFFFFF"/>
                </a:solidFill>
              </a:rPr>
              <a:t>Decisions change. Data are treated as known inputs—at least for this model.</a:t>
            </a:r>
          </a:p>
        </p:txBody>
      </p:sp>
    </p:spTree>
    <p:extLst>
      <p:ext uri="{BB962C8B-B14F-4D97-AF65-F5344CB8AC3E}">
        <p14:creationId xmlns:p14="http://schemas.microsoft.com/office/powerpoint/2010/main" val="2071710838"/>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B187D7D-E81E-4CED-B893-8E438D886752}"/>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FORMULATION</a:t>
            </a:r>
          </a:p>
        </p:txBody>
      </p:sp>
      <p:sp>
        <p:nvSpPr>
          <p:cNvPr id="2" name="">
            <a:extLst xmlns:a="http://schemas.openxmlformats.org/drawingml/2006/main">
              <a:ext uri="{FF2B5EF4-FFF2-40B4-BE49-F238E27FC236}">
                <a16:creationId xmlns:a16="http://schemas.microsoft.com/office/drawing/2014/main" id="{E2740EB0-5305-4A4D-BA15-F8DB059AF024}"/>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A vague request becomes a defensible model</a:t>
            </a:r>
          </a:p>
        </p:txBody>
      </p:sp>
      <p:sp>
        <p:nvSpPr>
          <p:cNvPr id="3" name="">
            <a:extLst xmlns:a="http://schemas.openxmlformats.org/drawingml/2006/main">
              <a:ext uri="{FF2B5EF4-FFF2-40B4-BE49-F238E27FC236}">
                <a16:creationId xmlns:a16="http://schemas.microsoft.com/office/drawing/2014/main" id="{EEF6D635-8C84-4162-A7E8-BDD1E7C3115F}"/>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FF3ED07-3661-4E07-948D-AAC3569FD7C1}"/>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BCB382D7-0FDF-4293-90B3-072EFB161178}"/>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09</a:t>
            </a:r>
          </a:p>
        </p:txBody>
      </p:sp>
      <p:sp>
        <p:nvSpPr>
          <p:cNvPr id="6" name="">
            <a:extLst xmlns:a="http://schemas.openxmlformats.org/drawingml/2006/main">
              <a:ext uri="{FF2B5EF4-FFF2-40B4-BE49-F238E27FC236}">
                <a16:creationId xmlns:a16="http://schemas.microsoft.com/office/drawing/2014/main" id="{92348266-A1BD-4D10-9C5E-CCBF8520B63D}"/>
              </a:ext>
            </a:extLst>
          </p:cNvPr>
          <p:cNvSpPr>
            <a:spLocks xmlns:a="http://schemas.openxmlformats.org/drawingml/2006/main" noGrp="1"/>
          </p:cNvSpPr>
          <p:nvPr/>
        </p:nvSpPr>
        <p:spPr>
          <a:xfrm xmlns:a="http://schemas.openxmlformats.org/drawingml/2006/main">
            <a:off x="904875" y="1619250"/>
            <a:ext cx="4381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625" b="1">
                <a:solidFill>
                  <a:srgbClr val="D95D5D"/>
                </a:solidFill>
              </a:defRPr>
            </a:pPr>
            <a:r>
              <a:rPr sz="2625" b="1">
                <a:solidFill>
                  <a:srgbClr val="D95D5D"/>
                </a:solidFill>
              </a:rPr>
              <a:t>“Make the system better.”</a:t>
            </a:r>
          </a:p>
        </p:txBody>
      </p:sp>
      <p:sp>
        <p:nvSpPr>
          <p:cNvPr id="7" name="">
            <a:extLst xmlns:a="http://schemas.openxmlformats.org/drawingml/2006/main">
              <a:ext uri="{FF2B5EF4-FFF2-40B4-BE49-F238E27FC236}">
                <a16:creationId xmlns:a16="http://schemas.microsoft.com/office/drawing/2014/main" id="{DD8A3582-C639-4982-993C-110307E0BB59}"/>
              </a:ext>
            </a:extLst>
          </p:cNvPr>
          <p:cNvSpPr>
            <a:spLocks xmlns:a="http://schemas.openxmlformats.org/drawingml/2006/main" noGrp="1"/>
          </p:cNvSpPr>
          <p:nvPr/>
        </p:nvSpPr>
        <p:spPr>
          <a:xfrm xmlns:a="http://schemas.openxmlformats.org/drawingml/2006/main">
            <a:off x="5572125" y="1933575"/>
            <a:ext cx="1047750" cy="0"/>
          </a:xfrm>
          <a:prstGeom xmlns:a="http://schemas.openxmlformats.org/drawingml/2006/main" prst="line">
            <a:avLst/>
          </a:prstGeom>
          <a:noFill xmlns:a="http://schemas.openxmlformats.org/drawingml/2006/main"/>
          <a:ln xmlns:a="http://schemas.openxmlformats.org/drawingml/2006/main" w="38100">
            <a:solidFill>
              <a:srgbClr val="0B9B91"/>
            </a:solidFill>
            <a:prstDash val="solid"/>
          </a:ln>
        </p:spPr>
      </p:sp>
      <p:sp>
        <p:nvSpPr>
          <p:cNvPr id="8" name="">
            <a:extLst xmlns:a="http://schemas.openxmlformats.org/drawingml/2006/main">
              <a:ext uri="{FF2B5EF4-FFF2-40B4-BE49-F238E27FC236}">
                <a16:creationId xmlns:a16="http://schemas.microsoft.com/office/drawing/2014/main" id="{81E3CECC-DE75-4AC4-90AB-A5D1E1EFA209}"/>
              </a:ext>
            </a:extLst>
          </p:cNvPr>
          <p:cNvSpPr>
            <a:spLocks xmlns:a="http://schemas.openxmlformats.org/drawingml/2006/main" noGrp="1"/>
          </p:cNvSpPr>
          <p:nvPr/>
        </p:nvSpPr>
        <p:spPr>
          <a:xfrm xmlns:a="http://schemas.openxmlformats.org/drawingml/2006/main">
            <a:off x="7000875" y="1428750"/>
            <a:ext cx="4095750" cy="1095375"/>
          </a:xfrm>
          <a:prstGeom xmlns:a="http://schemas.openxmlformats.org/drawingml/2006/main" prst="roundRect">
            <a:avLst>
              <a:gd name="adj" fmla="val 6957"/>
            </a:avLst>
          </a:prstGeom>
          <a:solidFill xmlns:a="http://schemas.openxmlformats.org/drawingml/2006/main">
            <a:srgbClr val="E6F3F2"/>
          </a:solidFill>
          <a:ln xmlns:a="http://schemas.openxmlformats.org/drawingml/2006/main" w="19050">
            <a:solidFill>
              <a:srgbClr val="0B9B91"/>
            </a:solidFill>
            <a:prstDash val="solid"/>
          </a:ln>
        </p:spPr>
      </p:sp>
      <p:sp>
        <p:nvSpPr>
          <p:cNvPr id="9" name="">
            <a:extLst xmlns:a="http://schemas.openxmlformats.org/drawingml/2006/main">
              <a:ext uri="{FF2B5EF4-FFF2-40B4-BE49-F238E27FC236}">
                <a16:creationId xmlns:a16="http://schemas.microsoft.com/office/drawing/2014/main" id="{0809E033-9864-4F59-AB62-2F744CF2056C}"/>
              </a:ext>
            </a:extLst>
          </p:cNvPr>
          <p:cNvSpPr>
            <a:spLocks xmlns:a="http://schemas.openxmlformats.org/drawingml/2006/main" noGrp="1"/>
          </p:cNvSpPr>
          <p:nvPr/>
        </p:nvSpPr>
        <p:spPr>
          <a:xfrm xmlns:a="http://schemas.openxmlformats.org/drawingml/2006/main">
            <a:off x="7286625" y="1666875"/>
            <a:ext cx="3524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092A3D"/>
                </a:solidFill>
              </a:defRPr>
            </a:pPr>
            <a:r>
              <a:rPr sz="2025" b="1">
                <a:solidFill>
                  <a:srgbClr val="092A3D"/>
                </a:solidFill>
              </a:rPr>
              <a:t>Minimize average response time</a:t>
            </a:r>
          </a:p>
        </p:txBody>
      </p:sp>
      <p:sp>
        <p:nvSpPr>
          <p:cNvPr id="10" name="">
            <a:extLst xmlns:a="http://schemas.openxmlformats.org/drawingml/2006/main">
              <a:ext uri="{FF2B5EF4-FFF2-40B4-BE49-F238E27FC236}">
                <a16:creationId xmlns:a16="http://schemas.microsoft.com/office/drawing/2014/main" id="{69F9615C-E52C-4CB3-9EF2-FCD63F1A4327}"/>
              </a:ext>
            </a:extLst>
          </p:cNvPr>
          <p:cNvSpPr>
            <a:spLocks xmlns:a="http://schemas.openxmlformats.org/drawingml/2006/main" noGrp="1"/>
          </p:cNvSpPr>
          <p:nvPr/>
        </p:nvSpPr>
        <p:spPr>
          <a:xfrm xmlns:a="http://schemas.openxmlformats.org/drawingml/2006/main">
            <a:off x="1381125" y="31432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B9B91"/>
                </a:solidFill>
              </a:defRPr>
            </a:pPr>
            <a:r>
              <a:rPr sz="1425" b="1">
                <a:solidFill>
                  <a:srgbClr val="0B9B91"/>
                </a:solidFill>
              </a:rPr>
              <a:t>Decisions</a:t>
            </a:r>
          </a:p>
        </p:txBody>
      </p:sp>
      <p:sp>
        <p:nvSpPr>
          <p:cNvPr id="11" name="">
            <a:extLst xmlns:a="http://schemas.openxmlformats.org/drawingml/2006/main">
              <a:ext uri="{FF2B5EF4-FFF2-40B4-BE49-F238E27FC236}">
                <a16:creationId xmlns:a16="http://schemas.microsoft.com/office/drawing/2014/main" id="{CD26D7C3-8C84-43AF-915C-7265B7B45063}"/>
              </a:ext>
            </a:extLst>
          </p:cNvPr>
          <p:cNvSpPr>
            <a:spLocks xmlns:a="http://schemas.openxmlformats.org/drawingml/2006/main" noGrp="1"/>
          </p:cNvSpPr>
          <p:nvPr/>
        </p:nvSpPr>
        <p:spPr>
          <a:xfrm xmlns:a="http://schemas.openxmlformats.org/drawingml/2006/main">
            <a:off x="3429000" y="31432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83544"/>
                </a:solidFill>
              </a:defRPr>
            </a:pPr>
            <a:r>
              <a:rPr sz="1575" b="1">
                <a:solidFill>
                  <a:srgbClr val="183544"/>
                </a:solidFill>
              </a:rPr>
              <a:t>service → server assignments</a:t>
            </a:r>
          </a:p>
        </p:txBody>
      </p:sp>
      <p:sp>
        <p:nvSpPr>
          <p:cNvPr id="12" name="">
            <a:extLst xmlns:a="http://schemas.openxmlformats.org/drawingml/2006/main">
              <a:ext uri="{FF2B5EF4-FFF2-40B4-BE49-F238E27FC236}">
                <a16:creationId xmlns:a16="http://schemas.microsoft.com/office/drawing/2014/main" id="{AE47EBC8-A109-440D-A733-5024E6EA7721}"/>
              </a:ext>
            </a:extLst>
          </p:cNvPr>
          <p:cNvSpPr>
            <a:spLocks xmlns:a="http://schemas.openxmlformats.org/drawingml/2006/main" noGrp="1"/>
          </p:cNvSpPr>
          <p:nvPr/>
        </p:nvSpPr>
        <p:spPr>
          <a:xfrm xmlns:a="http://schemas.openxmlformats.org/drawingml/2006/main">
            <a:off x="1381125" y="3762375"/>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B9B91"/>
                </a:solidFill>
              </a:defRPr>
            </a:pPr>
            <a:r>
              <a:rPr sz="1425" b="1">
                <a:solidFill>
                  <a:srgbClr val="0B9B91"/>
                </a:solidFill>
              </a:rPr>
              <a:t>Objective</a:t>
            </a:r>
          </a:p>
        </p:txBody>
      </p:sp>
      <p:sp>
        <p:nvSpPr>
          <p:cNvPr id="13" name="">
            <a:extLst xmlns:a="http://schemas.openxmlformats.org/drawingml/2006/main">
              <a:ext uri="{FF2B5EF4-FFF2-40B4-BE49-F238E27FC236}">
                <a16:creationId xmlns:a16="http://schemas.microsoft.com/office/drawing/2014/main" id="{A489AF86-25BD-46D8-AC65-761C42237E79}"/>
              </a:ext>
            </a:extLst>
          </p:cNvPr>
          <p:cNvSpPr>
            <a:spLocks xmlns:a="http://schemas.openxmlformats.org/drawingml/2006/main" noGrp="1"/>
          </p:cNvSpPr>
          <p:nvPr/>
        </p:nvSpPr>
        <p:spPr>
          <a:xfrm xmlns:a="http://schemas.openxmlformats.org/drawingml/2006/main">
            <a:off x="3429000" y="3762375"/>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83544"/>
                </a:solidFill>
              </a:defRPr>
            </a:pPr>
            <a:r>
              <a:rPr sz="1575" b="1">
                <a:solidFill>
                  <a:srgbClr val="183544"/>
                </a:solidFill>
              </a:rPr>
              <a:t>lowest response time</a:t>
            </a:r>
          </a:p>
        </p:txBody>
      </p:sp>
      <p:sp>
        <p:nvSpPr>
          <p:cNvPr id="14" name="">
            <a:extLst xmlns:a="http://schemas.openxmlformats.org/drawingml/2006/main">
              <a:ext uri="{FF2B5EF4-FFF2-40B4-BE49-F238E27FC236}">
                <a16:creationId xmlns:a16="http://schemas.microsoft.com/office/drawing/2014/main" id="{8950D3C6-FE47-4E1B-90AF-634717B8E755}"/>
              </a:ext>
            </a:extLst>
          </p:cNvPr>
          <p:cNvSpPr>
            <a:spLocks xmlns:a="http://schemas.openxmlformats.org/drawingml/2006/main" noGrp="1"/>
          </p:cNvSpPr>
          <p:nvPr/>
        </p:nvSpPr>
        <p:spPr>
          <a:xfrm xmlns:a="http://schemas.openxmlformats.org/drawingml/2006/main">
            <a:off x="1381125" y="438150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B9B91"/>
                </a:solidFill>
              </a:defRPr>
            </a:pPr>
            <a:r>
              <a:rPr sz="1425" b="1">
                <a:solidFill>
                  <a:srgbClr val="0B9B91"/>
                </a:solidFill>
              </a:rPr>
              <a:t>Constraints</a:t>
            </a:r>
          </a:p>
        </p:txBody>
      </p:sp>
      <p:sp>
        <p:nvSpPr>
          <p:cNvPr id="15" name="">
            <a:extLst xmlns:a="http://schemas.openxmlformats.org/drawingml/2006/main">
              <a:ext uri="{FF2B5EF4-FFF2-40B4-BE49-F238E27FC236}">
                <a16:creationId xmlns:a16="http://schemas.microsoft.com/office/drawing/2014/main" id="{82C2E34D-D751-476B-8D4A-C07E6D387A19}"/>
              </a:ext>
            </a:extLst>
          </p:cNvPr>
          <p:cNvSpPr>
            <a:spLocks xmlns:a="http://schemas.openxmlformats.org/drawingml/2006/main" noGrp="1"/>
          </p:cNvSpPr>
          <p:nvPr/>
        </p:nvSpPr>
        <p:spPr>
          <a:xfrm xmlns:a="http://schemas.openxmlformats.org/drawingml/2006/main">
            <a:off x="3429000" y="438150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83544"/>
                </a:solidFill>
              </a:defRPr>
            </a:pPr>
            <a:r>
              <a:rPr sz="1575" b="1">
                <a:solidFill>
                  <a:srgbClr val="183544"/>
                </a:solidFill>
              </a:rPr>
              <a:t>capacity, budget, reliability</a:t>
            </a:r>
          </a:p>
        </p:txBody>
      </p:sp>
      <p:sp>
        <p:nvSpPr>
          <p:cNvPr id="16" name="">
            <a:extLst xmlns:a="http://schemas.openxmlformats.org/drawingml/2006/main">
              <a:ext uri="{FF2B5EF4-FFF2-40B4-BE49-F238E27FC236}">
                <a16:creationId xmlns:a16="http://schemas.microsoft.com/office/drawing/2014/main" id="{C768C400-F410-4B68-AF79-B4D5D1D0541F}"/>
              </a:ext>
            </a:extLst>
          </p:cNvPr>
          <p:cNvSpPr>
            <a:spLocks xmlns:a="http://schemas.openxmlformats.org/drawingml/2006/main" noGrp="1"/>
          </p:cNvSpPr>
          <p:nvPr/>
        </p:nvSpPr>
        <p:spPr>
          <a:xfrm xmlns:a="http://schemas.openxmlformats.org/drawingml/2006/main">
            <a:off x="1381125" y="5000625"/>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B9B91"/>
                </a:solidFill>
              </a:defRPr>
            </a:pPr>
            <a:r>
              <a:rPr sz="1425" b="1">
                <a:solidFill>
                  <a:srgbClr val="0B9B91"/>
                </a:solidFill>
              </a:rPr>
              <a:t>Data</a:t>
            </a:r>
          </a:p>
        </p:txBody>
      </p:sp>
      <p:sp>
        <p:nvSpPr>
          <p:cNvPr id="17" name="">
            <a:extLst xmlns:a="http://schemas.openxmlformats.org/drawingml/2006/main">
              <a:ext uri="{FF2B5EF4-FFF2-40B4-BE49-F238E27FC236}">
                <a16:creationId xmlns:a16="http://schemas.microsoft.com/office/drawing/2014/main" id="{064E2BB6-5F49-437A-ACE8-08AB8C7AB5BC}"/>
              </a:ext>
            </a:extLst>
          </p:cNvPr>
          <p:cNvSpPr>
            <a:spLocks xmlns:a="http://schemas.openxmlformats.org/drawingml/2006/main" noGrp="1"/>
          </p:cNvSpPr>
          <p:nvPr/>
        </p:nvSpPr>
        <p:spPr>
          <a:xfrm xmlns:a="http://schemas.openxmlformats.org/drawingml/2006/main">
            <a:off x="3429000" y="5000625"/>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83544"/>
                </a:solidFill>
              </a:defRPr>
            </a:pPr>
            <a:r>
              <a:rPr sz="1575" b="1">
                <a:solidFill>
                  <a:srgbClr val="183544"/>
                </a:solidFill>
              </a:rPr>
              <a:t>demand, latency, price</a:t>
            </a:r>
          </a:p>
        </p:txBody>
      </p:sp>
    </p:spTree>
    <p:extLst>
      <p:ext uri="{BB962C8B-B14F-4D97-AF65-F5344CB8AC3E}">
        <p14:creationId xmlns:p14="http://schemas.microsoft.com/office/powerpoint/2010/main" val="640595577"/>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4500F64D-BF10-4162-ACBA-A300BA32A43F}"/>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SEARCH SPACE</a:t>
            </a:r>
          </a:p>
        </p:txBody>
      </p:sp>
      <p:sp>
        <p:nvSpPr>
          <p:cNvPr id="2" name="">
            <a:extLst xmlns:a="http://schemas.openxmlformats.org/drawingml/2006/main">
              <a:ext uri="{FF2B5EF4-FFF2-40B4-BE49-F238E27FC236}">
                <a16:creationId xmlns:a16="http://schemas.microsoft.com/office/drawing/2014/main" id="{411D6BF5-3FF5-4F47-99BE-FA4BDDF5AEFE}"/>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The search space contains every candidate solution</a:t>
            </a:r>
          </a:p>
        </p:txBody>
      </p:sp>
      <p:sp>
        <p:nvSpPr>
          <p:cNvPr id="3" name="">
            <a:extLst xmlns:a="http://schemas.openxmlformats.org/drawingml/2006/main">
              <a:ext uri="{FF2B5EF4-FFF2-40B4-BE49-F238E27FC236}">
                <a16:creationId xmlns:a16="http://schemas.microsoft.com/office/drawing/2014/main" id="{F18E500F-02CA-4DB4-A0F1-EC7A6E0F3306}"/>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EDB27D4-66FF-4337-9B60-832D917AC1FF}"/>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079ADA40-48FB-4134-9964-0A488026B0AB}"/>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10</a:t>
            </a:r>
          </a:p>
        </p:txBody>
      </p:sp>
      <p:sp>
        <p:nvSpPr>
          <p:cNvPr id="6" name="">
            <a:extLst xmlns:a="http://schemas.openxmlformats.org/drawingml/2006/main">
              <a:ext uri="{FF2B5EF4-FFF2-40B4-BE49-F238E27FC236}">
                <a16:creationId xmlns:a16="http://schemas.microsoft.com/office/drawing/2014/main" id="{6BB93EFD-C2CB-49A0-A290-608FA40CAC38}"/>
              </a:ext>
            </a:extLst>
          </p:cNvPr>
          <p:cNvSpPr>
            <a:spLocks xmlns:a="http://schemas.openxmlformats.org/drawingml/2006/main" noGrp="1"/>
          </p:cNvSpPr>
          <p:nvPr/>
        </p:nvSpPr>
        <p:spPr>
          <a:xfrm xmlns:a="http://schemas.openxmlformats.org/drawingml/2006/main">
            <a:off x="1143000" y="1666875"/>
            <a:ext cx="228600" cy="228600"/>
          </a:xfrm>
          <a:prstGeom xmlns:a="http://schemas.openxmlformats.org/drawingml/2006/main" prst="ellipse">
            <a:avLst/>
          </a:prstGeom>
          <a:solidFill xmlns:a="http://schemas.openxmlformats.org/drawingml/2006/main">
            <a:srgbClr val="E6B9B4"/>
          </a:solidFill>
          <a:ln xmlns:a="http://schemas.openxmlformats.org/drawingml/2006/main" w="9525">
            <a:solidFill>
              <a:srgbClr val="D95D5D"/>
            </a:solidFill>
            <a:prstDash val="solid"/>
          </a:ln>
        </p:spPr>
      </p:sp>
      <p:sp>
        <p:nvSpPr>
          <p:cNvPr id="7" name="">
            <a:extLst xmlns:a="http://schemas.openxmlformats.org/drawingml/2006/main">
              <a:ext uri="{FF2B5EF4-FFF2-40B4-BE49-F238E27FC236}">
                <a16:creationId xmlns:a16="http://schemas.microsoft.com/office/drawing/2014/main" id="{F4BEF523-038E-49F5-91D3-4819D6431C47}"/>
              </a:ext>
            </a:extLst>
          </p:cNvPr>
          <p:cNvSpPr>
            <a:spLocks xmlns:a="http://schemas.openxmlformats.org/drawingml/2006/main" noGrp="1"/>
          </p:cNvSpPr>
          <p:nvPr/>
        </p:nvSpPr>
        <p:spPr>
          <a:xfrm xmlns:a="http://schemas.openxmlformats.org/drawingml/2006/main">
            <a:off x="2019300" y="16668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8" name="">
            <a:extLst xmlns:a="http://schemas.openxmlformats.org/drawingml/2006/main">
              <a:ext uri="{FF2B5EF4-FFF2-40B4-BE49-F238E27FC236}">
                <a16:creationId xmlns:a16="http://schemas.microsoft.com/office/drawing/2014/main" id="{D9E4E6A0-0F60-461A-943C-0FFD172F9079}"/>
              </a:ext>
            </a:extLst>
          </p:cNvPr>
          <p:cNvSpPr>
            <a:spLocks xmlns:a="http://schemas.openxmlformats.org/drawingml/2006/main" noGrp="1"/>
          </p:cNvSpPr>
          <p:nvPr/>
        </p:nvSpPr>
        <p:spPr>
          <a:xfrm xmlns:a="http://schemas.openxmlformats.org/drawingml/2006/main">
            <a:off x="2895600" y="16668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9" name="">
            <a:extLst xmlns:a="http://schemas.openxmlformats.org/drawingml/2006/main">
              <a:ext uri="{FF2B5EF4-FFF2-40B4-BE49-F238E27FC236}">
                <a16:creationId xmlns:a16="http://schemas.microsoft.com/office/drawing/2014/main" id="{D2EF801E-3FF0-4804-B9D9-324F81C80961}"/>
              </a:ext>
            </a:extLst>
          </p:cNvPr>
          <p:cNvSpPr>
            <a:spLocks xmlns:a="http://schemas.openxmlformats.org/drawingml/2006/main" noGrp="1"/>
          </p:cNvSpPr>
          <p:nvPr/>
        </p:nvSpPr>
        <p:spPr>
          <a:xfrm xmlns:a="http://schemas.openxmlformats.org/drawingml/2006/main">
            <a:off x="3771900" y="16668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10" name="">
            <a:extLst xmlns:a="http://schemas.openxmlformats.org/drawingml/2006/main">
              <a:ext uri="{FF2B5EF4-FFF2-40B4-BE49-F238E27FC236}">
                <a16:creationId xmlns:a16="http://schemas.microsoft.com/office/drawing/2014/main" id="{F72975A0-570E-4270-85D3-E2FFBB5352B8}"/>
              </a:ext>
            </a:extLst>
          </p:cNvPr>
          <p:cNvSpPr>
            <a:spLocks xmlns:a="http://schemas.openxmlformats.org/drawingml/2006/main" noGrp="1"/>
          </p:cNvSpPr>
          <p:nvPr/>
        </p:nvSpPr>
        <p:spPr>
          <a:xfrm xmlns:a="http://schemas.openxmlformats.org/drawingml/2006/main">
            <a:off x="4648200" y="16668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11" name="">
            <a:extLst xmlns:a="http://schemas.openxmlformats.org/drawingml/2006/main">
              <a:ext uri="{FF2B5EF4-FFF2-40B4-BE49-F238E27FC236}">
                <a16:creationId xmlns:a16="http://schemas.microsoft.com/office/drawing/2014/main" id="{436A527E-A527-4918-BD16-99CD48F768F9}"/>
              </a:ext>
            </a:extLst>
          </p:cNvPr>
          <p:cNvSpPr>
            <a:spLocks xmlns:a="http://schemas.openxmlformats.org/drawingml/2006/main" noGrp="1"/>
          </p:cNvSpPr>
          <p:nvPr/>
        </p:nvSpPr>
        <p:spPr>
          <a:xfrm xmlns:a="http://schemas.openxmlformats.org/drawingml/2006/main">
            <a:off x="5524500" y="16668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12" name="">
            <a:extLst xmlns:a="http://schemas.openxmlformats.org/drawingml/2006/main">
              <a:ext uri="{FF2B5EF4-FFF2-40B4-BE49-F238E27FC236}">
                <a16:creationId xmlns:a16="http://schemas.microsoft.com/office/drawing/2014/main" id="{1E1D92C4-3555-4A25-847F-10B3878EEF91}"/>
              </a:ext>
            </a:extLst>
          </p:cNvPr>
          <p:cNvSpPr>
            <a:spLocks xmlns:a="http://schemas.openxmlformats.org/drawingml/2006/main" noGrp="1"/>
          </p:cNvSpPr>
          <p:nvPr/>
        </p:nvSpPr>
        <p:spPr>
          <a:xfrm xmlns:a="http://schemas.openxmlformats.org/drawingml/2006/main">
            <a:off x="6400800" y="16668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13" name="">
            <a:extLst xmlns:a="http://schemas.openxmlformats.org/drawingml/2006/main">
              <a:ext uri="{FF2B5EF4-FFF2-40B4-BE49-F238E27FC236}">
                <a16:creationId xmlns:a16="http://schemas.microsoft.com/office/drawing/2014/main" id="{CC8E05AB-39A3-4B14-A784-4455FCB62C28}"/>
              </a:ext>
            </a:extLst>
          </p:cNvPr>
          <p:cNvSpPr>
            <a:spLocks xmlns:a="http://schemas.openxmlformats.org/drawingml/2006/main" noGrp="1"/>
          </p:cNvSpPr>
          <p:nvPr/>
        </p:nvSpPr>
        <p:spPr>
          <a:xfrm xmlns:a="http://schemas.openxmlformats.org/drawingml/2006/main">
            <a:off x="7277100" y="1666875"/>
            <a:ext cx="228600" cy="228600"/>
          </a:xfrm>
          <a:prstGeom xmlns:a="http://schemas.openxmlformats.org/drawingml/2006/main" prst="ellipse">
            <a:avLst/>
          </a:prstGeom>
          <a:solidFill xmlns:a="http://schemas.openxmlformats.org/drawingml/2006/main">
            <a:srgbClr val="E6B9B4"/>
          </a:solidFill>
          <a:ln xmlns:a="http://schemas.openxmlformats.org/drawingml/2006/main" w="9525">
            <a:solidFill>
              <a:srgbClr val="D95D5D"/>
            </a:solidFill>
            <a:prstDash val="solid"/>
          </a:ln>
        </p:spPr>
      </p:sp>
      <p:sp>
        <p:nvSpPr>
          <p:cNvPr id="14" name="">
            <a:extLst xmlns:a="http://schemas.openxmlformats.org/drawingml/2006/main">
              <a:ext uri="{FF2B5EF4-FFF2-40B4-BE49-F238E27FC236}">
                <a16:creationId xmlns:a16="http://schemas.microsoft.com/office/drawing/2014/main" id="{B70747D3-63A2-47C9-BF8E-119116B82B8A}"/>
              </a:ext>
            </a:extLst>
          </p:cNvPr>
          <p:cNvSpPr>
            <a:spLocks xmlns:a="http://schemas.openxmlformats.org/drawingml/2006/main" noGrp="1"/>
          </p:cNvSpPr>
          <p:nvPr/>
        </p:nvSpPr>
        <p:spPr>
          <a:xfrm xmlns:a="http://schemas.openxmlformats.org/drawingml/2006/main">
            <a:off x="8153400" y="16668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15" name="">
            <a:extLst xmlns:a="http://schemas.openxmlformats.org/drawingml/2006/main">
              <a:ext uri="{FF2B5EF4-FFF2-40B4-BE49-F238E27FC236}">
                <a16:creationId xmlns:a16="http://schemas.microsoft.com/office/drawing/2014/main" id="{721D53A5-616C-44D4-9948-D3DD0354BBE2}"/>
              </a:ext>
            </a:extLst>
          </p:cNvPr>
          <p:cNvSpPr>
            <a:spLocks xmlns:a="http://schemas.openxmlformats.org/drawingml/2006/main" noGrp="1"/>
          </p:cNvSpPr>
          <p:nvPr/>
        </p:nvSpPr>
        <p:spPr>
          <a:xfrm xmlns:a="http://schemas.openxmlformats.org/drawingml/2006/main">
            <a:off x="9029700" y="16668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16" name="">
            <a:extLst xmlns:a="http://schemas.openxmlformats.org/drawingml/2006/main">
              <a:ext uri="{FF2B5EF4-FFF2-40B4-BE49-F238E27FC236}">
                <a16:creationId xmlns:a16="http://schemas.microsoft.com/office/drawing/2014/main" id="{FCC0616D-8E24-4642-88C0-881F7C5A60FD}"/>
              </a:ext>
            </a:extLst>
          </p:cNvPr>
          <p:cNvSpPr>
            <a:spLocks xmlns:a="http://schemas.openxmlformats.org/drawingml/2006/main" noGrp="1"/>
          </p:cNvSpPr>
          <p:nvPr/>
        </p:nvSpPr>
        <p:spPr>
          <a:xfrm xmlns:a="http://schemas.openxmlformats.org/drawingml/2006/main">
            <a:off x="1143000" y="237172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17" name="">
            <a:extLst xmlns:a="http://schemas.openxmlformats.org/drawingml/2006/main">
              <a:ext uri="{FF2B5EF4-FFF2-40B4-BE49-F238E27FC236}">
                <a16:creationId xmlns:a16="http://schemas.microsoft.com/office/drawing/2014/main" id="{C29C8A3B-2263-4A1D-AA87-6790BA3C39C5}"/>
              </a:ext>
            </a:extLst>
          </p:cNvPr>
          <p:cNvSpPr>
            <a:spLocks xmlns:a="http://schemas.openxmlformats.org/drawingml/2006/main" noGrp="1"/>
          </p:cNvSpPr>
          <p:nvPr/>
        </p:nvSpPr>
        <p:spPr>
          <a:xfrm xmlns:a="http://schemas.openxmlformats.org/drawingml/2006/main">
            <a:off x="2019300" y="237172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18" name="">
            <a:extLst xmlns:a="http://schemas.openxmlformats.org/drawingml/2006/main">
              <a:ext uri="{FF2B5EF4-FFF2-40B4-BE49-F238E27FC236}">
                <a16:creationId xmlns:a16="http://schemas.microsoft.com/office/drawing/2014/main" id="{69BEF7A1-43B3-4063-B11F-99E1D63C9817}"/>
              </a:ext>
            </a:extLst>
          </p:cNvPr>
          <p:cNvSpPr>
            <a:spLocks xmlns:a="http://schemas.openxmlformats.org/drawingml/2006/main" noGrp="1"/>
          </p:cNvSpPr>
          <p:nvPr/>
        </p:nvSpPr>
        <p:spPr>
          <a:xfrm xmlns:a="http://schemas.openxmlformats.org/drawingml/2006/main">
            <a:off x="2895600" y="237172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19" name="">
            <a:extLst xmlns:a="http://schemas.openxmlformats.org/drawingml/2006/main">
              <a:ext uri="{FF2B5EF4-FFF2-40B4-BE49-F238E27FC236}">
                <a16:creationId xmlns:a16="http://schemas.microsoft.com/office/drawing/2014/main" id="{DDF8A81D-5CF6-436D-85DA-0DEFFAF52842}"/>
              </a:ext>
            </a:extLst>
          </p:cNvPr>
          <p:cNvSpPr>
            <a:spLocks xmlns:a="http://schemas.openxmlformats.org/drawingml/2006/main" noGrp="1"/>
          </p:cNvSpPr>
          <p:nvPr/>
        </p:nvSpPr>
        <p:spPr>
          <a:xfrm xmlns:a="http://schemas.openxmlformats.org/drawingml/2006/main">
            <a:off x="3771900" y="237172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20" name="">
            <a:extLst xmlns:a="http://schemas.openxmlformats.org/drawingml/2006/main">
              <a:ext uri="{FF2B5EF4-FFF2-40B4-BE49-F238E27FC236}">
                <a16:creationId xmlns:a16="http://schemas.microsoft.com/office/drawing/2014/main" id="{05F6823E-BAA7-43C6-A107-92C4E27FFA0E}"/>
              </a:ext>
            </a:extLst>
          </p:cNvPr>
          <p:cNvSpPr>
            <a:spLocks xmlns:a="http://schemas.openxmlformats.org/drawingml/2006/main" noGrp="1"/>
          </p:cNvSpPr>
          <p:nvPr/>
        </p:nvSpPr>
        <p:spPr>
          <a:xfrm xmlns:a="http://schemas.openxmlformats.org/drawingml/2006/main">
            <a:off x="4648200" y="2371725"/>
            <a:ext cx="228600" cy="228600"/>
          </a:xfrm>
          <a:prstGeom xmlns:a="http://schemas.openxmlformats.org/drawingml/2006/main" prst="ellipse">
            <a:avLst/>
          </a:prstGeom>
          <a:solidFill xmlns:a="http://schemas.openxmlformats.org/drawingml/2006/main">
            <a:srgbClr val="E6B9B4"/>
          </a:solidFill>
          <a:ln xmlns:a="http://schemas.openxmlformats.org/drawingml/2006/main" w="9525">
            <a:solidFill>
              <a:srgbClr val="D95D5D"/>
            </a:solidFill>
            <a:prstDash val="solid"/>
          </a:ln>
        </p:spPr>
      </p:sp>
      <p:sp>
        <p:nvSpPr>
          <p:cNvPr id="21" name="">
            <a:extLst xmlns:a="http://schemas.openxmlformats.org/drawingml/2006/main">
              <a:ext uri="{FF2B5EF4-FFF2-40B4-BE49-F238E27FC236}">
                <a16:creationId xmlns:a16="http://schemas.microsoft.com/office/drawing/2014/main" id="{09FD9A60-3EF6-4A2D-8BD8-8FAEC70C7C00}"/>
              </a:ext>
            </a:extLst>
          </p:cNvPr>
          <p:cNvSpPr>
            <a:spLocks xmlns:a="http://schemas.openxmlformats.org/drawingml/2006/main" noGrp="1"/>
          </p:cNvSpPr>
          <p:nvPr/>
        </p:nvSpPr>
        <p:spPr>
          <a:xfrm xmlns:a="http://schemas.openxmlformats.org/drawingml/2006/main">
            <a:off x="5524500" y="237172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22" name="">
            <a:extLst xmlns:a="http://schemas.openxmlformats.org/drawingml/2006/main">
              <a:ext uri="{FF2B5EF4-FFF2-40B4-BE49-F238E27FC236}">
                <a16:creationId xmlns:a16="http://schemas.microsoft.com/office/drawing/2014/main" id="{302A154C-1507-49FC-A399-B6EC4F0C11AC}"/>
              </a:ext>
            </a:extLst>
          </p:cNvPr>
          <p:cNvSpPr>
            <a:spLocks xmlns:a="http://schemas.openxmlformats.org/drawingml/2006/main" noGrp="1"/>
          </p:cNvSpPr>
          <p:nvPr/>
        </p:nvSpPr>
        <p:spPr>
          <a:xfrm xmlns:a="http://schemas.openxmlformats.org/drawingml/2006/main">
            <a:off x="6400800" y="237172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23" name="">
            <a:extLst xmlns:a="http://schemas.openxmlformats.org/drawingml/2006/main">
              <a:ext uri="{FF2B5EF4-FFF2-40B4-BE49-F238E27FC236}">
                <a16:creationId xmlns:a16="http://schemas.microsoft.com/office/drawing/2014/main" id="{AF9BDA26-8B50-45A0-A553-382B2D6BF611}"/>
              </a:ext>
            </a:extLst>
          </p:cNvPr>
          <p:cNvSpPr>
            <a:spLocks xmlns:a="http://schemas.openxmlformats.org/drawingml/2006/main" noGrp="1"/>
          </p:cNvSpPr>
          <p:nvPr/>
        </p:nvSpPr>
        <p:spPr>
          <a:xfrm xmlns:a="http://schemas.openxmlformats.org/drawingml/2006/main">
            <a:off x="7277100" y="237172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24" name="">
            <a:extLst xmlns:a="http://schemas.openxmlformats.org/drawingml/2006/main">
              <a:ext uri="{FF2B5EF4-FFF2-40B4-BE49-F238E27FC236}">
                <a16:creationId xmlns:a16="http://schemas.microsoft.com/office/drawing/2014/main" id="{0DF83743-7742-4E0E-A049-8527FF523E09}"/>
              </a:ext>
            </a:extLst>
          </p:cNvPr>
          <p:cNvSpPr>
            <a:spLocks xmlns:a="http://schemas.openxmlformats.org/drawingml/2006/main" noGrp="1"/>
          </p:cNvSpPr>
          <p:nvPr/>
        </p:nvSpPr>
        <p:spPr>
          <a:xfrm xmlns:a="http://schemas.openxmlformats.org/drawingml/2006/main">
            <a:off x="8153400" y="237172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25" name="">
            <a:extLst xmlns:a="http://schemas.openxmlformats.org/drawingml/2006/main">
              <a:ext uri="{FF2B5EF4-FFF2-40B4-BE49-F238E27FC236}">
                <a16:creationId xmlns:a16="http://schemas.microsoft.com/office/drawing/2014/main" id="{2DCAAA10-F58C-4D0E-B511-9AAD690370A4}"/>
              </a:ext>
            </a:extLst>
          </p:cNvPr>
          <p:cNvSpPr>
            <a:spLocks xmlns:a="http://schemas.openxmlformats.org/drawingml/2006/main" noGrp="1"/>
          </p:cNvSpPr>
          <p:nvPr/>
        </p:nvSpPr>
        <p:spPr>
          <a:xfrm xmlns:a="http://schemas.openxmlformats.org/drawingml/2006/main">
            <a:off x="9029700" y="237172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26" name="">
            <a:extLst xmlns:a="http://schemas.openxmlformats.org/drawingml/2006/main">
              <a:ext uri="{FF2B5EF4-FFF2-40B4-BE49-F238E27FC236}">
                <a16:creationId xmlns:a16="http://schemas.microsoft.com/office/drawing/2014/main" id="{C1B5C511-8828-45B1-8E51-DF98CC26BD20}"/>
              </a:ext>
            </a:extLst>
          </p:cNvPr>
          <p:cNvSpPr>
            <a:spLocks xmlns:a="http://schemas.openxmlformats.org/drawingml/2006/main" noGrp="1"/>
          </p:cNvSpPr>
          <p:nvPr/>
        </p:nvSpPr>
        <p:spPr>
          <a:xfrm xmlns:a="http://schemas.openxmlformats.org/drawingml/2006/main">
            <a:off x="1143000" y="30765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27" name="">
            <a:extLst xmlns:a="http://schemas.openxmlformats.org/drawingml/2006/main">
              <a:ext uri="{FF2B5EF4-FFF2-40B4-BE49-F238E27FC236}">
                <a16:creationId xmlns:a16="http://schemas.microsoft.com/office/drawing/2014/main" id="{2F514379-1BD6-4AD9-B721-E91A2AE1F923}"/>
              </a:ext>
            </a:extLst>
          </p:cNvPr>
          <p:cNvSpPr>
            <a:spLocks xmlns:a="http://schemas.openxmlformats.org/drawingml/2006/main" noGrp="1"/>
          </p:cNvSpPr>
          <p:nvPr/>
        </p:nvSpPr>
        <p:spPr>
          <a:xfrm xmlns:a="http://schemas.openxmlformats.org/drawingml/2006/main">
            <a:off x="2019300" y="3076575"/>
            <a:ext cx="228600" cy="228600"/>
          </a:xfrm>
          <a:prstGeom xmlns:a="http://schemas.openxmlformats.org/drawingml/2006/main" prst="ellipse">
            <a:avLst/>
          </a:prstGeom>
          <a:solidFill xmlns:a="http://schemas.openxmlformats.org/drawingml/2006/main">
            <a:srgbClr val="E6B9B4"/>
          </a:solidFill>
          <a:ln xmlns:a="http://schemas.openxmlformats.org/drawingml/2006/main" w="9525">
            <a:solidFill>
              <a:srgbClr val="D95D5D"/>
            </a:solidFill>
            <a:prstDash val="solid"/>
          </a:ln>
        </p:spPr>
      </p:sp>
      <p:sp>
        <p:nvSpPr>
          <p:cNvPr id="28" name="">
            <a:extLst xmlns:a="http://schemas.openxmlformats.org/drawingml/2006/main">
              <a:ext uri="{FF2B5EF4-FFF2-40B4-BE49-F238E27FC236}">
                <a16:creationId xmlns:a16="http://schemas.microsoft.com/office/drawing/2014/main" id="{2438EA15-CD15-4C84-8B97-2F7DE13B5C72}"/>
              </a:ext>
            </a:extLst>
          </p:cNvPr>
          <p:cNvSpPr>
            <a:spLocks xmlns:a="http://schemas.openxmlformats.org/drawingml/2006/main" noGrp="1"/>
          </p:cNvSpPr>
          <p:nvPr/>
        </p:nvSpPr>
        <p:spPr>
          <a:xfrm xmlns:a="http://schemas.openxmlformats.org/drawingml/2006/main">
            <a:off x="2895600" y="30765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29" name="">
            <a:extLst xmlns:a="http://schemas.openxmlformats.org/drawingml/2006/main">
              <a:ext uri="{FF2B5EF4-FFF2-40B4-BE49-F238E27FC236}">
                <a16:creationId xmlns:a16="http://schemas.microsoft.com/office/drawing/2014/main" id="{6646C547-535E-4404-AA0D-DB05F9EB3924}"/>
              </a:ext>
            </a:extLst>
          </p:cNvPr>
          <p:cNvSpPr>
            <a:spLocks xmlns:a="http://schemas.openxmlformats.org/drawingml/2006/main" noGrp="1"/>
          </p:cNvSpPr>
          <p:nvPr/>
        </p:nvSpPr>
        <p:spPr>
          <a:xfrm xmlns:a="http://schemas.openxmlformats.org/drawingml/2006/main">
            <a:off x="3771900" y="30765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30" name="">
            <a:extLst xmlns:a="http://schemas.openxmlformats.org/drawingml/2006/main">
              <a:ext uri="{FF2B5EF4-FFF2-40B4-BE49-F238E27FC236}">
                <a16:creationId xmlns:a16="http://schemas.microsoft.com/office/drawing/2014/main" id="{497BA02D-8030-463C-B2DB-36CF1265D4FB}"/>
              </a:ext>
            </a:extLst>
          </p:cNvPr>
          <p:cNvSpPr>
            <a:spLocks xmlns:a="http://schemas.openxmlformats.org/drawingml/2006/main" noGrp="1"/>
          </p:cNvSpPr>
          <p:nvPr/>
        </p:nvSpPr>
        <p:spPr>
          <a:xfrm xmlns:a="http://schemas.openxmlformats.org/drawingml/2006/main">
            <a:off x="4648200" y="30765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31" name="">
            <a:extLst xmlns:a="http://schemas.openxmlformats.org/drawingml/2006/main">
              <a:ext uri="{FF2B5EF4-FFF2-40B4-BE49-F238E27FC236}">
                <a16:creationId xmlns:a16="http://schemas.microsoft.com/office/drawing/2014/main" id="{ADE67F72-60DC-4734-833A-5EE3CC522E19}"/>
              </a:ext>
            </a:extLst>
          </p:cNvPr>
          <p:cNvSpPr>
            <a:spLocks xmlns:a="http://schemas.openxmlformats.org/drawingml/2006/main" noGrp="1"/>
          </p:cNvSpPr>
          <p:nvPr/>
        </p:nvSpPr>
        <p:spPr>
          <a:xfrm xmlns:a="http://schemas.openxmlformats.org/drawingml/2006/main">
            <a:off x="5524500" y="30765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32" name="">
            <a:extLst xmlns:a="http://schemas.openxmlformats.org/drawingml/2006/main">
              <a:ext uri="{FF2B5EF4-FFF2-40B4-BE49-F238E27FC236}">
                <a16:creationId xmlns:a16="http://schemas.microsoft.com/office/drawing/2014/main" id="{737C1E9B-7F5D-42E9-86DB-B6F17AB34C06}"/>
              </a:ext>
            </a:extLst>
          </p:cNvPr>
          <p:cNvSpPr>
            <a:spLocks xmlns:a="http://schemas.openxmlformats.org/drawingml/2006/main" noGrp="1"/>
          </p:cNvSpPr>
          <p:nvPr/>
        </p:nvSpPr>
        <p:spPr>
          <a:xfrm xmlns:a="http://schemas.openxmlformats.org/drawingml/2006/main">
            <a:off x="6400800" y="30765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33" name="">
            <a:extLst xmlns:a="http://schemas.openxmlformats.org/drawingml/2006/main">
              <a:ext uri="{FF2B5EF4-FFF2-40B4-BE49-F238E27FC236}">
                <a16:creationId xmlns:a16="http://schemas.microsoft.com/office/drawing/2014/main" id="{05A3A7F3-0CF2-4FA9-BA0B-2FBF4010BFC2}"/>
              </a:ext>
            </a:extLst>
          </p:cNvPr>
          <p:cNvSpPr>
            <a:spLocks xmlns:a="http://schemas.openxmlformats.org/drawingml/2006/main" noGrp="1"/>
          </p:cNvSpPr>
          <p:nvPr/>
        </p:nvSpPr>
        <p:spPr>
          <a:xfrm xmlns:a="http://schemas.openxmlformats.org/drawingml/2006/main">
            <a:off x="7277100" y="30765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34" name="">
            <a:extLst xmlns:a="http://schemas.openxmlformats.org/drawingml/2006/main">
              <a:ext uri="{FF2B5EF4-FFF2-40B4-BE49-F238E27FC236}">
                <a16:creationId xmlns:a16="http://schemas.microsoft.com/office/drawing/2014/main" id="{F28E3A6D-B2BD-43C4-8D0C-3768C0AB9921}"/>
              </a:ext>
            </a:extLst>
          </p:cNvPr>
          <p:cNvSpPr>
            <a:spLocks xmlns:a="http://schemas.openxmlformats.org/drawingml/2006/main" noGrp="1"/>
          </p:cNvSpPr>
          <p:nvPr/>
        </p:nvSpPr>
        <p:spPr>
          <a:xfrm xmlns:a="http://schemas.openxmlformats.org/drawingml/2006/main">
            <a:off x="8153400" y="3076575"/>
            <a:ext cx="228600" cy="228600"/>
          </a:xfrm>
          <a:prstGeom xmlns:a="http://schemas.openxmlformats.org/drawingml/2006/main" prst="ellipse">
            <a:avLst/>
          </a:prstGeom>
          <a:solidFill xmlns:a="http://schemas.openxmlformats.org/drawingml/2006/main">
            <a:srgbClr val="E6B9B4"/>
          </a:solidFill>
          <a:ln xmlns:a="http://schemas.openxmlformats.org/drawingml/2006/main" w="9525">
            <a:solidFill>
              <a:srgbClr val="D95D5D"/>
            </a:solidFill>
            <a:prstDash val="solid"/>
          </a:ln>
        </p:spPr>
      </p:sp>
      <p:sp>
        <p:nvSpPr>
          <p:cNvPr id="35" name="">
            <a:extLst xmlns:a="http://schemas.openxmlformats.org/drawingml/2006/main">
              <a:ext uri="{FF2B5EF4-FFF2-40B4-BE49-F238E27FC236}">
                <a16:creationId xmlns:a16="http://schemas.microsoft.com/office/drawing/2014/main" id="{1CF2D34C-316B-4152-BA56-B88E849D92B7}"/>
              </a:ext>
            </a:extLst>
          </p:cNvPr>
          <p:cNvSpPr>
            <a:spLocks xmlns:a="http://schemas.openxmlformats.org/drawingml/2006/main" noGrp="1"/>
          </p:cNvSpPr>
          <p:nvPr/>
        </p:nvSpPr>
        <p:spPr>
          <a:xfrm xmlns:a="http://schemas.openxmlformats.org/drawingml/2006/main">
            <a:off x="9029700" y="30765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36" name="">
            <a:extLst xmlns:a="http://schemas.openxmlformats.org/drawingml/2006/main">
              <a:ext uri="{FF2B5EF4-FFF2-40B4-BE49-F238E27FC236}">
                <a16:creationId xmlns:a16="http://schemas.microsoft.com/office/drawing/2014/main" id="{AC0AF57E-B5B9-4606-8F4C-42606D5D0777}"/>
              </a:ext>
            </a:extLst>
          </p:cNvPr>
          <p:cNvSpPr>
            <a:spLocks xmlns:a="http://schemas.openxmlformats.org/drawingml/2006/main" noGrp="1"/>
          </p:cNvSpPr>
          <p:nvPr/>
        </p:nvSpPr>
        <p:spPr>
          <a:xfrm xmlns:a="http://schemas.openxmlformats.org/drawingml/2006/main">
            <a:off x="1143000" y="378142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37" name="">
            <a:extLst xmlns:a="http://schemas.openxmlformats.org/drawingml/2006/main">
              <a:ext uri="{FF2B5EF4-FFF2-40B4-BE49-F238E27FC236}">
                <a16:creationId xmlns:a16="http://schemas.microsoft.com/office/drawing/2014/main" id="{CAED60CB-11DA-404E-A6C7-C7CBAFB5FEAB}"/>
              </a:ext>
            </a:extLst>
          </p:cNvPr>
          <p:cNvSpPr>
            <a:spLocks xmlns:a="http://schemas.openxmlformats.org/drawingml/2006/main" noGrp="1"/>
          </p:cNvSpPr>
          <p:nvPr/>
        </p:nvSpPr>
        <p:spPr>
          <a:xfrm xmlns:a="http://schemas.openxmlformats.org/drawingml/2006/main">
            <a:off x="2019300" y="378142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38" name="">
            <a:extLst xmlns:a="http://schemas.openxmlformats.org/drawingml/2006/main">
              <a:ext uri="{FF2B5EF4-FFF2-40B4-BE49-F238E27FC236}">
                <a16:creationId xmlns:a16="http://schemas.microsoft.com/office/drawing/2014/main" id="{24351E49-EB26-4681-ABC3-243293365565}"/>
              </a:ext>
            </a:extLst>
          </p:cNvPr>
          <p:cNvSpPr>
            <a:spLocks xmlns:a="http://schemas.openxmlformats.org/drawingml/2006/main" noGrp="1"/>
          </p:cNvSpPr>
          <p:nvPr/>
        </p:nvSpPr>
        <p:spPr>
          <a:xfrm xmlns:a="http://schemas.openxmlformats.org/drawingml/2006/main">
            <a:off x="2895600" y="378142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39" name="">
            <a:extLst xmlns:a="http://schemas.openxmlformats.org/drawingml/2006/main">
              <a:ext uri="{FF2B5EF4-FFF2-40B4-BE49-F238E27FC236}">
                <a16:creationId xmlns:a16="http://schemas.microsoft.com/office/drawing/2014/main" id="{03A0E4C7-3A96-43D1-9A03-3A95D5A7CC62}"/>
              </a:ext>
            </a:extLst>
          </p:cNvPr>
          <p:cNvSpPr>
            <a:spLocks xmlns:a="http://schemas.openxmlformats.org/drawingml/2006/main" noGrp="1"/>
          </p:cNvSpPr>
          <p:nvPr/>
        </p:nvSpPr>
        <p:spPr>
          <a:xfrm xmlns:a="http://schemas.openxmlformats.org/drawingml/2006/main">
            <a:off x="3771900" y="378142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40" name="">
            <a:extLst xmlns:a="http://schemas.openxmlformats.org/drawingml/2006/main">
              <a:ext uri="{FF2B5EF4-FFF2-40B4-BE49-F238E27FC236}">
                <a16:creationId xmlns:a16="http://schemas.microsoft.com/office/drawing/2014/main" id="{FC94B71A-CBF8-47A6-ADDA-D9120C736695}"/>
              </a:ext>
            </a:extLst>
          </p:cNvPr>
          <p:cNvSpPr>
            <a:spLocks xmlns:a="http://schemas.openxmlformats.org/drawingml/2006/main" noGrp="1"/>
          </p:cNvSpPr>
          <p:nvPr/>
        </p:nvSpPr>
        <p:spPr>
          <a:xfrm xmlns:a="http://schemas.openxmlformats.org/drawingml/2006/main">
            <a:off x="4648200" y="378142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41" name="">
            <a:extLst xmlns:a="http://schemas.openxmlformats.org/drawingml/2006/main">
              <a:ext uri="{FF2B5EF4-FFF2-40B4-BE49-F238E27FC236}">
                <a16:creationId xmlns:a16="http://schemas.microsoft.com/office/drawing/2014/main" id="{4202AE8D-BD90-4A8D-911F-FA4E5013EFCA}"/>
              </a:ext>
            </a:extLst>
          </p:cNvPr>
          <p:cNvSpPr>
            <a:spLocks xmlns:a="http://schemas.openxmlformats.org/drawingml/2006/main" noGrp="1"/>
          </p:cNvSpPr>
          <p:nvPr/>
        </p:nvSpPr>
        <p:spPr>
          <a:xfrm xmlns:a="http://schemas.openxmlformats.org/drawingml/2006/main">
            <a:off x="5524500" y="3781425"/>
            <a:ext cx="228600" cy="228600"/>
          </a:xfrm>
          <a:prstGeom xmlns:a="http://schemas.openxmlformats.org/drawingml/2006/main" prst="ellipse">
            <a:avLst/>
          </a:prstGeom>
          <a:solidFill xmlns:a="http://schemas.openxmlformats.org/drawingml/2006/main">
            <a:srgbClr val="E6B9B4"/>
          </a:solidFill>
          <a:ln xmlns:a="http://schemas.openxmlformats.org/drawingml/2006/main" w="9525">
            <a:solidFill>
              <a:srgbClr val="D95D5D"/>
            </a:solidFill>
            <a:prstDash val="solid"/>
          </a:ln>
        </p:spPr>
      </p:sp>
      <p:sp>
        <p:nvSpPr>
          <p:cNvPr id="42" name="">
            <a:extLst xmlns:a="http://schemas.openxmlformats.org/drawingml/2006/main">
              <a:ext uri="{FF2B5EF4-FFF2-40B4-BE49-F238E27FC236}">
                <a16:creationId xmlns:a16="http://schemas.microsoft.com/office/drawing/2014/main" id="{0A1A3CED-6D07-42CE-96C3-E149EAE1B061}"/>
              </a:ext>
            </a:extLst>
          </p:cNvPr>
          <p:cNvSpPr>
            <a:spLocks xmlns:a="http://schemas.openxmlformats.org/drawingml/2006/main" noGrp="1"/>
          </p:cNvSpPr>
          <p:nvPr/>
        </p:nvSpPr>
        <p:spPr>
          <a:xfrm xmlns:a="http://schemas.openxmlformats.org/drawingml/2006/main">
            <a:off x="6400800" y="378142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43" name="">
            <a:extLst xmlns:a="http://schemas.openxmlformats.org/drawingml/2006/main">
              <a:ext uri="{FF2B5EF4-FFF2-40B4-BE49-F238E27FC236}">
                <a16:creationId xmlns:a16="http://schemas.microsoft.com/office/drawing/2014/main" id="{4C0021D1-9B7E-4341-889F-D06809112AB7}"/>
              </a:ext>
            </a:extLst>
          </p:cNvPr>
          <p:cNvSpPr>
            <a:spLocks xmlns:a="http://schemas.openxmlformats.org/drawingml/2006/main" noGrp="1"/>
          </p:cNvSpPr>
          <p:nvPr/>
        </p:nvSpPr>
        <p:spPr>
          <a:xfrm xmlns:a="http://schemas.openxmlformats.org/drawingml/2006/main">
            <a:off x="7277100" y="378142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44" name="">
            <a:extLst xmlns:a="http://schemas.openxmlformats.org/drawingml/2006/main">
              <a:ext uri="{FF2B5EF4-FFF2-40B4-BE49-F238E27FC236}">
                <a16:creationId xmlns:a16="http://schemas.microsoft.com/office/drawing/2014/main" id="{569C117E-4F9B-4DD3-9F94-2BB5572B5AEE}"/>
              </a:ext>
            </a:extLst>
          </p:cNvPr>
          <p:cNvSpPr>
            <a:spLocks xmlns:a="http://schemas.openxmlformats.org/drawingml/2006/main" noGrp="1"/>
          </p:cNvSpPr>
          <p:nvPr/>
        </p:nvSpPr>
        <p:spPr>
          <a:xfrm xmlns:a="http://schemas.openxmlformats.org/drawingml/2006/main">
            <a:off x="8153400" y="378142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45" name="">
            <a:extLst xmlns:a="http://schemas.openxmlformats.org/drawingml/2006/main">
              <a:ext uri="{FF2B5EF4-FFF2-40B4-BE49-F238E27FC236}">
                <a16:creationId xmlns:a16="http://schemas.microsoft.com/office/drawing/2014/main" id="{4F433552-D3A7-45C6-AD1D-AEE4FC4A4BBE}"/>
              </a:ext>
            </a:extLst>
          </p:cNvPr>
          <p:cNvSpPr>
            <a:spLocks xmlns:a="http://schemas.openxmlformats.org/drawingml/2006/main" noGrp="1"/>
          </p:cNvSpPr>
          <p:nvPr/>
        </p:nvSpPr>
        <p:spPr>
          <a:xfrm xmlns:a="http://schemas.openxmlformats.org/drawingml/2006/main">
            <a:off x="9029700" y="378142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46" name="">
            <a:extLst xmlns:a="http://schemas.openxmlformats.org/drawingml/2006/main">
              <a:ext uri="{FF2B5EF4-FFF2-40B4-BE49-F238E27FC236}">
                <a16:creationId xmlns:a16="http://schemas.microsoft.com/office/drawing/2014/main" id="{A41962FF-1342-4B28-82E0-2F0388F5E7EC}"/>
              </a:ext>
            </a:extLst>
          </p:cNvPr>
          <p:cNvSpPr>
            <a:spLocks xmlns:a="http://schemas.openxmlformats.org/drawingml/2006/main" noGrp="1"/>
          </p:cNvSpPr>
          <p:nvPr/>
        </p:nvSpPr>
        <p:spPr>
          <a:xfrm xmlns:a="http://schemas.openxmlformats.org/drawingml/2006/main">
            <a:off x="1143000" y="44862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47" name="">
            <a:extLst xmlns:a="http://schemas.openxmlformats.org/drawingml/2006/main">
              <a:ext uri="{FF2B5EF4-FFF2-40B4-BE49-F238E27FC236}">
                <a16:creationId xmlns:a16="http://schemas.microsoft.com/office/drawing/2014/main" id="{C7BDDEB8-291C-4BAD-B2C9-E639F1AF8B85}"/>
              </a:ext>
            </a:extLst>
          </p:cNvPr>
          <p:cNvSpPr>
            <a:spLocks xmlns:a="http://schemas.openxmlformats.org/drawingml/2006/main" noGrp="1"/>
          </p:cNvSpPr>
          <p:nvPr/>
        </p:nvSpPr>
        <p:spPr>
          <a:xfrm xmlns:a="http://schemas.openxmlformats.org/drawingml/2006/main">
            <a:off x="2019300" y="44862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48" name="">
            <a:extLst xmlns:a="http://schemas.openxmlformats.org/drawingml/2006/main">
              <a:ext uri="{FF2B5EF4-FFF2-40B4-BE49-F238E27FC236}">
                <a16:creationId xmlns:a16="http://schemas.microsoft.com/office/drawing/2014/main" id="{B246B0CD-51F8-44F1-81DF-82049AAD81C5}"/>
              </a:ext>
            </a:extLst>
          </p:cNvPr>
          <p:cNvSpPr>
            <a:spLocks xmlns:a="http://schemas.openxmlformats.org/drawingml/2006/main" noGrp="1"/>
          </p:cNvSpPr>
          <p:nvPr/>
        </p:nvSpPr>
        <p:spPr>
          <a:xfrm xmlns:a="http://schemas.openxmlformats.org/drawingml/2006/main">
            <a:off x="2895600" y="4486275"/>
            <a:ext cx="228600" cy="228600"/>
          </a:xfrm>
          <a:prstGeom xmlns:a="http://schemas.openxmlformats.org/drawingml/2006/main" prst="ellipse">
            <a:avLst/>
          </a:prstGeom>
          <a:solidFill xmlns:a="http://schemas.openxmlformats.org/drawingml/2006/main">
            <a:srgbClr val="E6B9B4"/>
          </a:solidFill>
          <a:ln xmlns:a="http://schemas.openxmlformats.org/drawingml/2006/main" w="9525">
            <a:solidFill>
              <a:srgbClr val="D95D5D"/>
            </a:solidFill>
            <a:prstDash val="solid"/>
          </a:ln>
        </p:spPr>
      </p:sp>
      <p:sp>
        <p:nvSpPr>
          <p:cNvPr id="49" name="">
            <a:extLst xmlns:a="http://schemas.openxmlformats.org/drawingml/2006/main">
              <a:ext uri="{FF2B5EF4-FFF2-40B4-BE49-F238E27FC236}">
                <a16:creationId xmlns:a16="http://schemas.microsoft.com/office/drawing/2014/main" id="{1A193A7D-41BA-4E1A-BDE8-FC6EDA158F4F}"/>
              </a:ext>
            </a:extLst>
          </p:cNvPr>
          <p:cNvSpPr>
            <a:spLocks xmlns:a="http://schemas.openxmlformats.org/drawingml/2006/main" noGrp="1"/>
          </p:cNvSpPr>
          <p:nvPr/>
        </p:nvSpPr>
        <p:spPr>
          <a:xfrm xmlns:a="http://schemas.openxmlformats.org/drawingml/2006/main">
            <a:off x="3771900" y="44862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50" name="">
            <a:extLst xmlns:a="http://schemas.openxmlformats.org/drawingml/2006/main">
              <a:ext uri="{FF2B5EF4-FFF2-40B4-BE49-F238E27FC236}">
                <a16:creationId xmlns:a16="http://schemas.microsoft.com/office/drawing/2014/main" id="{C7143343-77F1-4348-815D-354A4ABE64A4}"/>
              </a:ext>
            </a:extLst>
          </p:cNvPr>
          <p:cNvSpPr>
            <a:spLocks xmlns:a="http://schemas.openxmlformats.org/drawingml/2006/main" noGrp="1"/>
          </p:cNvSpPr>
          <p:nvPr/>
        </p:nvSpPr>
        <p:spPr>
          <a:xfrm xmlns:a="http://schemas.openxmlformats.org/drawingml/2006/main">
            <a:off x="4648200" y="44862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51" name="">
            <a:extLst xmlns:a="http://schemas.openxmlformats.org/drawingml/2006/main">
              <a:ext uri="{FF2B5EF4-FFF2-40B4-BE49-F238E27FC236}">
                <a16:creationId xmlns:a16="http://schemas.microsoft.com/office/drawing/2014/main" id="{CE5C5DF9-5E5A-4C3C-A885-EAE547D2006C}"/>
              </a:ext>
            </a:extLst>
          </p:cNvPr>
          <p:cNvSpPr>
            <a:spLocks xmlns:a="http://schemas.openxmlformats.org/drawingml/2006/main" noGrp="1"/>
          </p:cNvSpPr>
          <p:nvPr/>
        </p:nvSpPr>
        <p:spPr>
          <a:xfrm xmlns:a="http://schemas.openxmlformats.org/drawingml/2006/main">
            <a:off x="5524500" y="44862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52" name="">
            <a:extLst xmlns:a="http://schemas.openxmlformats.org/drawingml/2006/main">
              <a:ext uri="{FF2B5EF4-FFF2-40B4-BE49-F238E27FC236}">
                <a16:creationId xmlns:a16="http://schemas.microsoft.com/office/drawing/2014/main" id="{72C564E6-6A34-41DF-B82E-3DE7E260E77C}"/>
              </a:ext>
            </a:extLst>
          </p:cNvPr>
          <p:cNvSpPr>
            <a:spLocks xmlns:a="http://schemas.openxmlformats.org/drawingml/2006/main" noGrp="1"/>
          </p:cNvSpPr>
          <p:nvPr/>
        </p:nvSpPr>
        <p:spPr>
          <a:xfrm xmlns:a="http://schemas.openxmlformats.org/drawingml/2006/main">
            <a:off x="6400800" y="44862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53" name="">
            <a:extLst xmlns:a="http://schemas.openxmlformats.org/drawingml/2006/main">
              <a:ext uri="{FF2B5EF4-FFF2-40B4-BE49-F238E27FC236}">
                <a16:creationId xmlns:a16="http://schemas.microsoft.com/office/drawing/2014/main" id="{A974B476-B309-4196-85F6-5CD6F2F54692}"/>
              </a:ext>
            </a:extLst>
          </p:cNvPr>
          <p:cNvSpPr>
            <a:spLocks xmlns:a="http://schemas.openxmlformats.org/drawingml/2006/main" noGrp="1"/>
          </p:cNvSpPr>
          <p:nvPr/>
        </p:nvSpPr>
        <p:spPr>
          <a:xfrm xmlns:a="http://schemas.openxmlformats.org/drawingml/2006/main">
            <a:off x="7277100" y="44862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54" name="">
            <a:extLst xmlns:a="http://schemas.openxmlformats.org/drawingml/2006/main">
              <a:ext uri="{FF2B5EF4-FFF2-40B4-BE49-F238E27FC236}">
                <a16:creationId xmlns:a16="http://schemas.microsoft.com/office/drawing/2014/main" id="{DAA17CF9-9628-4A02-9F2A-CB097DABB58B}"/>
              </a:ext>
            </a:extLst>
          </p:cNvPr>
          <p:cNvSpPr>
            <a:spLocks xmlns:a="http://schemas.openxmlformats.org/drawingml/2006/main" noGrp="1"/>
          </p:cNvSpPr>
          <p:nvPr/>
        </p:nvSpPr>
        <p:spPr>
          <a:xfrm xmlns:a="http://schemas.openxmlformats.org/drawingml/2006/main">
            <a:off x="8153400" y="4486275"/>
            <a:ext cx="228600" cy="228600"/>
          </a:xfrm>
          <a:prstGeom xmlns:a="http://schemas.openxmlformats.org/drawingml/2006/main" prst="ellipse">
            <a:avLst/>
          </a:prstGeom>
          <a:solidFill xmlns:a="http://schemas.openxmlformats.org/drawingml/2006/main">
            <a:srgbClr val="BBDDD9"/>
          </a:solidFill>
          <a:ln xmlns:a="http://schemas.openxmlformats.org/drawingml/2006/main" w="9525">
            <a:solidFill>
              <a:srgbClr val="0B9B91"/>
            </a:solidFill>
            <a:prstDash val="solid"/>
          </a:ln>
        </p:spPr>
      </p:sp>
      <p:sp>
        <p:nvSpPr>
          <p:cNvPr id="55" name="">
            <a:extLst xmlns:a="http://schemas.openxmlformats.org/drawingml/2006/main">
              <a:ext uri="{FF2B5EF4-FFF2-40B4-BE49-F238E27FC236}">
                <a16:creationId xmlns:a16="http://schemas.microsoft.com/office/drawing/2014/main" id="{36B1C365-40AA-4596-841A-212063DB1EFB}"/>
              </a:ext>
            </a:extLst>
          </p:cNvPr>
          <p:cNvSpPr>
            <a:spLocks xmlns:a="http://schemas.openxmlformats.org/drawingml/2006/main" noGrp="1"/>
          </p:cNvSpPr>
          <p:nvPr/>
        </p:nvSpPr>
        <p:spPr>
          <a:xfrm xmlns:a="http://schemas.openxmlformats.org/drawingml/2006/main">
            <a:off x="9029700" y="4486275"/>
            <a:ext cx="228600" cy="228600"/>
          </a:xfrm>
          <a:prstGeom xmlns:a="http://schemas.openxmlformats.org/drawingml/2006/main" prst="ellipse">
            <a:avLst/>
          </a:prstGeom>
          <a:solidFill xmlns:a="http://schemas.openxmlformats.org/drawingml/2006/main">
            <a:srgbClr val="E6B9B4"/>
          </a:solidFill>
          <a:ln xmlns:a="http://schemas.openxmlformats.org/drawingml/2006/main" w="9525">
            <a:solidFill>
              <a:srgbClr val="D95D5D"/>
            </a:solidFill>
            <a:prstDash val="solid"/>
          </a:ln>
        </p:spPr>
      </p:sp>
      <p:sp>
        <p:nvSpPr>
          <p:cNvPr id="56" name="">
            <a:extLst xmlns:a="http://schemas.openxmlformats.org/drawingml/2006/main">
              <a:ext uri="{FF2B5EF4-FFF2-40B4-BE49-F238E27FC236}">
                <a16:creationId xmlns:a16="http://schemas.microsoft.com/office/drawing/2014/main" id="{2347E309-96D8-458D-8921-509AC5356F66}"/>
              </a:ext>
            </a:extLst>
          </p:cNvPr>
          <p:cNvSpPr>
            <a:spLocks xmlns:a="http://schemas.openxmlformats.org/drawingml/2006/main" noGrp="1"/>
          </p:cNvSpPr>
          <p:nvPr/>
        </p:nvSpPr>
        <p:spPr>
          <a:xfrm xmlns:a="http://schemas.openxmlformats.org/drawingml/2006/main">
            <a:off x="7572375" y="538162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500" b="1">
                <a:solidFill>
                  <a:srgbClr val="58707C"/>
                </a:solidFill>
              </a:defRPr>
            </a:pPr>
            <a:r>
              <a:rPr sz="1500" b="1">
                <a:solidFill>
                  <a:srgbClr val="58707C"/>
                </a:solidFill>
              </a:rPr>
              <a:t>one dot = one complete candidate</a:t>
            </a:r>
          </a:p>
        </p:txBody>
      </p:sp>
      <p:sp>
        <p:nvSpPr>
          <p:cNvPr id="57" name="">
            <a:extLst xmlns:a="http://schemas.openxmlformats.org/drawingml/2006/main">
              <a:ext uri="{FF2B5EF4-FFF2-40B4-BE49-F238E27FC236}">
                <a16:creationId xmlns:a16="http://schemas.microsoft.com/office/drawing/2014/main" id="{92EA6C42-F8E6-4ED7-B790-41FBE162E2B2}"/>
              </a:ext>
            </a:extLst>
          </p:cNvPr>
          <p:cNvSpPr>
            <a:spLocks xmlns:a="http://schemas.openxmlformats.org/drawingml/2006/main" noGrp="1"/>
          </p:cNvSpPr>
          <p:nvPr/>
        </p:nvSpPr>
        <p:spPr>
          <a:xfrm xmlns:a="http://schemas.openxmlformats.org/drawingml/2006/main">
            <a:off x="9096375" y="2857500"/>
            <a:ext cx="400050" cy="400050"/>
          </a:xfrm>
          <a:prstGeom xmlns:a="http://schemas.openxmlformats.org/drawingml/2006/main" prst="ellipse">
            <a:avLst/>
          </a:prstGeom>
          <a:solidFill xmlns:a="http://schemas.openxmlformats.org/drawingml/2006/main">
            <a:srgbClr val="F2A93B"/>
          </a:solidFill>
          <a:ln xmlns:a="http://schemas.openxmlformats.org/drawingml/2006/main" w="19050">
            <a:solidFill>
              <a:srgbClr val="F2A93B"/>
            </a:solidFill>
            <a:prstDash val="solid"/>
          </a:ln>
        </p:spPr>
      </p:sp>
      <p:sp>
        <p:nvSpPr>
          <p:cNvPr id="58" name="">
            <a:extLst xmlns:a="http://schemas.openxmlformats.org/drawingml/2006/main">
              <a:ext uri="{FF2B5EF4-FFF2-40B4-BE49-F238E27FC236}">
                <a16:creationId xmlns:a16="http://schemas.microsoft.com/office/drawing/2014/main" id="{C5FBA1D4-3D66-49BD-B2EC-779A9CF3B48B}"/>
              </a:ext>
            </a:extLst>
          </p:cNvPr>
          <p:cNvSpPr>
            <a:spLocks xmlns:a="http://schemas.openxmlformats.org/drawingml/2006/main" noGrp="1"/>
          </p:cNvSpPr>
          <p:nvPr/>
        </p:nvSpPr>
        <p:spPr>
          <a:xfrm xmlns:a="http://schemas.openxmlformats.org/drawingml/2006/main">
            <a:off x="9620250" y="28575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2A93B"/>
                </a:solidFill>
              </a:defRPr>
            </a:pPr>
            <a:r>
              <a:rPr sz="1425" b="1">
                <a:solidFill>
                  <a:srgbClr val="F2A93B"/>
                </a:solidFill>
              </a:rPr>
              <a:t>current best</a:t>
            </a:r>
          </a:p>
        </p:txBody>
      </p:sp>
      <p:sp>
        <p:nvSpPr>
          <p:cNvPr id="59" name="">
            <a:extLst xmlns:a="http://schemas.openxmlformats.org/drawingml/2006/main">
              <a:ext uri="{FF2B5EF4-FFF2-40B4-BE49-F238E27FC236}">
                <a16:creationId xmlns:a16="http://schemas.microsoft.com/office/drawing/2014/main" id="{5F1294D4-36DB-4C72-B1E1-C34A3072AC38}"/>
              </a:ext>
            </a:extLst>
          </p:cNvPr>
          <p:cNvSpPr>
            <a:spLocks xmlns:a="http://schemas.openxmlformats.org/drawingml/2006/main" noGrp="1"/>
          </p:cNvSpPr>
          <p:nvPr/>
        </p:nvSpPr>
        <p:spPr>
          <a:xfrm xmlns:a="http://schemas.openxmlformats.org/drawingml/2006/main">
            <a:off x="1285875" y="5953125"/>
            <a:ext cx="962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92A3D"/>
                </a:solidFill>
              </a:defRPr>
            </a:pPr>
            <a:r>
              <a:rPr sz="1725" b="1">
                <a:solidFill>
                  <a:srgbClr val="092A3D"/>
                </a:solidFill>
              </a:rPr>
              <a:t>An optimization method decides which candidates to evaluate—and in what order.</a:t>
            </a:r>
          </a:p>
        </p:txBody>
      </p:sp>
      <p:sp>
        <p:nvSpPr>
          <p:cNvPr id="60" name="">
            <a:extLst xmlns:a="http://schemas.openxmlformats.org/drawingml/2006/main">
              <a:ext uri="{FF2B5EF4-FFF2-40B4-BE49-F238E27FC236}">
                <a16:creationId xmlns:a16="http://schemas.microsoft.com/office/drawing/2014/main" id="{2CA71E65-53B0-44F3-BCF6-32062766D8BA}"/>
              </a:ext>
            </a:extLst>
          </p:cNvPr>
          <p:cNvSpPr>
            <a:spLocks xmlns:a="http://schemas.openxmlformats.org/drawingml/2006/main" noGrp="1"/>
          </p:cNvSpPr>
          <p:nvPr/>
        </p:nvSpPr>
        <p:spPr>
          <a:xfrm xmlns:a="http://schemas.openxmlformats.org/drawingml/2006/main">
            <a:off x="609600" y="1238250"/>
            <a:ext cx="10972800" cy="5067300"/>
          </a:xfrm>
          <a:prstGeom xmlns:a="http://schemas.openxmlformats.org/drawingml/2006/main" prst="rect">
            <a:avLst/>
          </a:prstGeom>
          <a:solidFill xmlns:a="http://schemas.openxmlformats.org/drawingml/2006/main">
            <a:srgbClr val="F7F4EE"/>
          </a:solidFill>
          <a:ln xmlns:a="http://schemas.openxmlformats.org/drawingml/2006/main" w="0">
            <a:solidFill>
              <a:srgbClr val="F7F4EE"/>
            </a:solidFill>
            <a:prstDash val="solid"/>
          </a:ln>
        </p:spPr>
      </p:sp>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25adaf3463d4486b"/>
          <a:stretch xmlns:a="http://schemas.openxmlformats.org/drawingml/2006/main"/>
        </p:blipFill>
        <p:spPr>
          <a:xfrm xmlns:a="http://schemas.openxmlformats.org/drawingml/2006/main">
            <a:off x="1991849" y="1381125"/>
            <a:ext cx="8208303" cy="4619625"/>
          </a:xfrm>
          <a:prstGeom xmlns:a="http://schemas.openxmlformats.org/drawingml/2006/main" prst="rect">
            <a:avLst/>
          </a:prstGeom>
        </p:spPr>
      </p:pic>
    </p:spTree>
    <p:extLst>
      <p:ext uri="{BB962C8B-B14F-4D97-AF65-F5344CB8AC3E}">
        <p14:creationId xmlns:p14="http://schemas.microsoft.com/office/powerpoint/2010/main" val="1315289893"/>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12A4ABD-0371-4115-A8CC-8F9E6C7394BA}"/>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PROBLEM TYPES</a:t>
            </a:r>
          </a:p>
        </p:txBody>
      </p:sp>
      <p:sp>
        <p:nvSpPr>
          <p:cNvPr id="2" name="">
            <a:extLst xmlns:a="http://schemas.openxmlformats.org/drawingml/2006/main">
              <a:ext uri="{FF2B5EF4-FFF2-40B4-BE49-F238E27FC236}">
                <a16:creationId xmlns:a16="http://schemas.microsoft.com/office/drawing/2014/main" id="{5E0BFEA7-4D23-499A-B96F-D26286ADD668}"/>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Some decisions are discrete; others are continuous</a:t>
            </a:r>
          </a:p>
        </p:txBody>
      </p:sp>
      <p:sp>
        <p:nvSpPr>
          <p:cNvPr id="3" name="">
            <a:extLst xmlns:a="http://schemas.openxmlformats.org/drawingml/2006/main">
              <a:ext uri="{FF2B5EF4-FFF2-40B4-BE49-F238E27FC236}">
                <a16:creationId xmlns:a16="http://schemas.microsoft.com/office/drawing/2014/main" id="{DED89F08-F699-4798-918D-6FAB1575F40B}"/>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CD6B603-6C77-4916-A70B-29047CEB6BE5}"/>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C8FF7E55-1843-45F3-8525-98DB9E118DCB}"/>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11</a:t>
            </a:r>
          </a:p>
        </p:txBody>
      </p:sp>
      <p:sp>
        <p:nvSpPr>
          <p:cNvPr id="6" name="">
            <a:extLst xmlns:a="http://schemas.openxmlformats.org/drawingml/2006/main">
              <a:ext uri="{FF2B5EF4-FFF2-40B4-BE49-F238E27FC236}">
                <a16:creationId xmlns:a16="http://schemas.microsoft.com/office/drawing/2014/main" id="{73A174D6-718B-40E9-A4DF-ED0097E2C7FF}"/>
              </a:ext>
            </a:extLst>
          </p:cNvPr>
          <p:cNvSpPr>
            <a:spLocks xmlns:a="http://schemas.openxmlformats.org/drawingml/2006/main" noGrp="1"/>
          </p:cNvSpPr>
          <p:nvPr/>
        </p:nvSpPr>
        <p:spPr>
          <a:xfrm xmlns:a="http://schemas.openxmlformats.org/drawingml/2006/main">
            <a:off x="809625" y="1666875"/>
            <a:ext cx="47625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CED9DB"/>
            </a:solidFill>
            <a:prstDash val="solid"/>
          </a:ln>
        </p:spPr>
      </p:sp>
      <p:sp>
        <p:nvSpPr>
          <p:cNvPr id="7" name="">
            <a:extLst xmlns:a="http://schemas.openxmlformats.org/drawingml/2006/main">
              <a:ext uri="{FF2B5EF4-FFF2-40B4-BE49-F238E27FC236}">
                <a16:creationId xmlns:a16="http://schemas.microsoft.com/office/drawing/2014/main" id="{85FDD2DD-4C59-4463-A433-BB6CC1DE9081}"/>
              </a:ext>
            </a:extLst>
          </p:cNvPr>
          <p:cNvSpPr>
            <a:spLocks xmlns:a="http://schemas.openxmlformats.org/drawingml/2006/main" noGrp="1"/>
          </p:cNvSpPr>
          <p:nvPr/>
        </p:nvSpPr>
        <p:spPr>
          <a:xfrm xmlns:a="http://schemas.openxmlformats.org/drawingml/2006/main">
            <a:off x="1190625" y="1952625"/>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0B9B91"/>
                </a:solidFill>
              </a:defRPr>
            </a:pPr>
            <a:r>
              <a:rPr sz="1950" b="1">
                <a:solidFill>
                  <a:srgbClr val="0B9B91"/>
                </a:solidFill>
              </a:rPr>
              <a:t>DISCRETE</a:t>
            </a:r>
          </a:p>
        </p:txBody>
      </p:sp>
      <p:sp>
        <p:nvSpPr>
          <p:cNvPr id="8" name="">
            <a:extLst xmlns:a="http://schemas.openxmlformats.org/drawingml/2006/main">
              <a:ext uri="{FF2B5EF4-FFF2-40B4-BE49-F238E27FC236}">
                <a16:creationId xmlns:a16="http://schemas.microsoft.com/office/drawing/2014/main" id="{C8BA8092-EC49-4ABA-9866-5C5736C99553}"/>
              </a:ext>
            </a:extLst>
          </p:cNvPr>
          <p:cNvSpPr>
            <a:spLocks xmlns:a="http://schemas.openxmlformats.org/drawingml/2006/main" noGrp="1"/>
          </p:cNvSpPr>
          <p:nvPr/>
        </p:nvSpPr>
        <p:spPr>
          <a:xfrm xmlns:a="http://schemas.openxmlformats.org/drawingml/2006/main">
            <a:off x="1190625" y="2667000"/>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092A3D"/>
                </a:solidFill>
              </a:defRPr>
            </a:pPr>
            <a:r>
              <a:rPr sz="1875" b="1">
                <a:solidFill>
                  <a:srgbClr val="092A3D"/>
                </a:solidFill>
              </a:rPr>
              <a:t>server 1 • server 2 • server 3</a:t>
            </a:r>
          </a:p>
        </p:txBody>
      </p:sp>
      <p:sp>
        <p:nvSpPr>
          <p:cNvPr id="9" name="">
            <a:extLst xmlns:a="http://schemas.openxmlformats.org/drawingml/2006/main">
              <a:ext uri="{FF2B5EF4-FFF2-40B4-BE49-F238E27FC236}">
                <a16:creationId xmlns:a16="http://schemas.microsoft.com/office/drawing/2014/main" id="{FE1DCD4A-1055-43BA-94B3-8A4A727E7A2F}"/>
              </a:ext>
            </a:extLst>
          </p:cNvPr>
          <p:cNvSpPr>
            <a:spLocks xmlns:a="http://schemas.openxmlformats.org/drawingml/2006/main" noGrp="1"/>
          </p:cNvSpPr>
          <p:nvPr/>
        </p:nvSpPr>
        <p:spPr>
          <a:xfrm xmlns:a="http://schemas.openxmlformats.org/drawingml/2006/main">
            <a:off x="1285875" y="366712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0" name="">
            <a:extLst xmlns:a="http://schemas.openxmlformats.org/drawingml/2006/main">
              <a:ext uri="{FF2B5EF4-FFF2-40B4-BE49-F238E27FC236}">
                <a16:creationId xmlns:a16="http://schemas.microsoft.com/office/drawing/2014/main" id="{F7367250-7491-480B-B3EA-DF37D4ACC331}"/>
              </a:ext>
            </a:extLst>
          </p:cNvPr>
          <p:cNvSpPr>
            <a:spLocks xmlns:a="http://schemas.openxmlformats.org/drawingml/2006/main" noGrp="1"/>
          </p:cNvSpPr>
          <p:nvPr/>
        </p:nvSpPr>
        <p:spPr>
          <a:xfrm xmlns:a="http://schemas.openxmlformats.org/drawingml/2006/main">
            <a:off x="1552575" y="3476625"/>
            <a:ext cx="3448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feature selected or rejected</a:t>
            </a:r>
          </a:p>
        </p:txBody>
      </p:sp>
      <p:sp>
        <p:nvSpPr>
          <p:cNvPr id="11" name="">
            <a:extLst xmlns:a="http://schemas.openxmlformats.org/drawingml/2006/main">
              <a:ext uri="{FF2B5EF4-FFF2-40B4-BE49-F238E27FC236}">
                <a16:creationId xmlns:a16="http://schemas.microsoft.com/office/drawing/2014/main" id="{E3EB8B42-4DC7-4567-A20E-E7A26F1337FF}"/>
              </a:ext>
            </a:extLst>
          </p:cNvPr>
          <p:cNvSpPr>
            <a:spLocks xmlns:a="http://schemas.openxmlformats.org/drawingml/2006/main" noGrp="1"/>
          </p:cNvSpPr>
          <p:nvPr/>
        </p:nvSpPr>
        <p:spPr>
          <a:xfrm xmlns:a="http://schemas.openxmlformats.org/drawingml/2006/main">
            <a:off x="1285875" y="423862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2" name="">
            <a:extLst xmlns:a="http://schemas.openxmlformats.org/drawingml/2006/main">
              <a:ext uri="{FF2B5EF4-FFF2-40B4-BE49-F238E27FC236}">
                <a16:creationId xmlns:a16="http://schemas.microsoft.com/office/drawing/2014/main" id="{742B3476-2158-4E89-BDE7-3B5B9B7F62D2}"/>
              </a:ext>
            </a:extLst>
          </p:cNvPr>
          <p:cNvSpPr>
            <a:spLocks xmlns:a="http://schemas.openxmlformats.org/drawingml/2006/main" noGrp="1"/>
          </p:cNvSpPr>
          <p:nvPr/>
        </p:nvSpPr>
        <p:spPr>
          <a:xfrm xmlns:a="http://schemas.openxmlformats.org/drawingml/2006/main">
            <a:off x="1552575" y="4048125"/>
            <a:ext cx="3448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task assigned to one developer</a:t>
            </a:r>
          </a:p>
        </p:txBody>
      </p:sp>
      <p:sp>
        <p:nvSpPr>
          <p:cNvPr id="13" name="">
            <a:extLst xmlns:a="http://schemas.openxmlformats.org/drawingml/2006/main">
              <a:ext uri="{FF2B5EF4-FFF2-40B4-BE49-F238E27FC236}">
                <a16:creationId xmlns:a16="http://schemas.microsoft.com/office/drawing/2014/main" id="{33EBB47F-906B-48D4-B6F3-1961B2917A5D}"/>
              </a:ext>
            </a:extLst>
          </p:cNvPr>
          <p:cNvSpPr>
            <a:spLocks xmlns:a="http://schemas.openxmlformats.org/drawingml/2006/main" noGrp="1"/>
          </p:cNvSpPr>
          <p:nvPr/>
        </p:nvSpPr>
        <p:spPr>
          <a:xfrm xmlns:a="http://schemas.openxmlformats.org/drawingml/2006/main">
            <a:off x="1285875" y="481012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4" name="">
            <a:extLst xmlns:a="http://schemas.openxmlformats.org/drawingml/2006/main">
              <a:ext uri="{FF2B5EF4-FFF2-40B4-BE49-F238E27FC236}">
                <a16:creationId xmlns:a16="http://schemas.microsoft.com/office/drawing/2014/main" id="{49BDADA1-5849-437E-B965-66B412D2F69E}"/>
              </a:ext>
            </a:extLst>
          </p:cNvPr>
          <p:cNvSpPr>
            <a:spLocks xmlns:a="http://schemas.openxmlformats.org/drawingml/2006/main" noGrp="1"/>
          </p:cNvSpPr>
          <p:nvPr/>
        </p:nvSpPr>
        <p:spPr>
          <a:xfrm xmlns:a="http://schemas.openxmlformats.org/drawingml/2006/main">
            <a:off x="1552575" y="4619625"/>
            <a:ext cx="3448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route uses a particular edge</a:t>
            </a:r>
          </a:p>
        </p:txBody>
      </p:sp>
      <p:sp>
        <p:nvSpPr>
          <p:cNvPr id="15" name="">
            <a:extLst xmlns:a="http://schemas.openxmlformats.org/drawingml/2006/main">
              <a:ext uri="{FF2B5EF4-FFF2-40B4-BE49-F238E27FC236}">
                <a16:creationId xmlns:a16="http://schemas.microsoft.com/office/drawing/2014/main" id="{A0686358-5078-4938-8115-21CF3907C084}"/>
              </a:ext>
            </a:extLst>
          </p:cNvPr>
          <p:cNvSpPr>
            <a:spLocks xmlns:a="http://schemas.openxmlformats.org/drawingml/2006/main" noGrp="1"/>
          </p:cNvSpPr>
          <p:nvPr/>
        </p:nvSpPr>
        <p:spPr>
          <a:xfrm xmlns:a="http://schemas.openxmlformats.org/drawingml/2006/main">
            <a:off x="6619875" y="1666875"/>
            <a:ext cx="47625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CED9DB"/>
            </a:solidFill>
            <a:prstDash val="solid"/>
          </a:ln>
        </p:spPr>
      </p:sp>
      <p:sp>
        <p:nvSpPr>
          <p:cNvPr id="16" name="">
            <a:extLst xmlns:a="http://schemas.openxmlformats.org/drawingml/2006/main">
              <a:ext uri="{FF2B5EF4-FFF2-40B4-BE49-F238E27FC236}">
                <a16:creationId xmlns:a16="http://schemas.microsoft.com/office/drawing/2014/main" id="{D062A3EB-5565-410C-AC0D-E53050C94FFB}"/>
              </a:ext>
            </a:extLst>
          </p:cNvPr>
          <p:cNvSpPr>
            <a:spLocks xmlns:a="http://schemas.openxmlformats.org/drawingml/2006/main" noGrp="1"/>
          </p:cNvSpPr>
          <p:nvPr/>
        </p:nvSpPr>
        <p:spPr>
          <a:xfrm xmlns:a="http://schemas.openxmlformats.org/drawingml/2006/main">
            <a:off x="7000875" y="1952625"/>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2878B5"/>
                </a:solidFill>
              </a:defRPr>
            </a:pPr>
            <a:r>
              <a:rPr sz="1950" b="1">
                <a:solidFill>
                  <a:srgbClr val="2878B5"/>
                </a:solidFill>
              </a:rPr>
              <a:t>CONTINUOUS</a:t>
            </a:r>
          </a:p>
        </p:txBody>
      </p:sp>
      <p:sp>
        <p:nvSpPr>
          <p:cNvPr id="17" name="">
            <a:extLst xmlns:a="http://schemas.openxmlformats.org/drawingml/2006/main">
              <a:ext uri="{FF2B5EF4-FFF2-40B4-BE49-F238E27FC236}">
                <a16:creationId xmlns:a16="http://schemas.microsoft.com/office/drawing/2014/main" id="{C5747838-EE67-41D0-A9A9-98CD8BFD6551}"/>
              </a:ext>
            </a:extLst>
          </p:cNvPr>
          <p:cNvSpPr>
            <a:spLocks xmlns:a="http://schemas.openxmlformats.org/drawingml/2006/main" noGrp="1"/>
          </p:cNvSpPr>
          <p:nvPr/>
        </p:nvSpPr>
        <p:spPr>
          <a:xfrm xmlns:a="http://schemas.openxmlformats.org/drawingml/2006/main">
            <a:off x="7000875" y="2667000"/>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092A3D"/>
                </a:solidFill>
              </a:defRPr>
            </a:pPr>
            <a:r>
              <a:rPr sz="1875" b="1">
                <a:solidFill>
                  <a:srgbClr val="092A3D"/>
                </a:solidFill>
              </a:rPr>
              <a:t>0.0  ───────────  1.0</a:t>
            </a:r>
          </a:p>
        </p:txBody>
      </p:sp>
      <p:sp>
        <p:nvSpPr>
          <p:cNvPr id="18" name="">
            <a:extLst xmlns:a="http://schemas.openxmlformats.org/drawingml/2006/main">
              <a:ext uri="{FF2B5EF4-FFF2-40B4-BE49-F238E27FC236}">
                <a16:creationId xmlns:a16="http://schemas.microsoft.com/office/drawing/2014/main" id="{B37994B1-1C00-42BC-98F3-5060E6EF87AB}"/>
              </a:ext>
            </a:extLst>
          </p:cNvPr>
          <p:cNvSpPr>
            <a:spLocks xmlns:a="http://schemas.openxmlformats.org/drawingml/2006/main" noGrp="1"/>
          </p:cNvSpPr>
          <p:nvPr/>
        </p:nvSpPr>
        <p:spPr>
          <a:xfrm xmlns:a="http://schemas.openxmlformats.org/drawingml/2006/main">
            <a:off x="7096125" y="366712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9" name="">
            <a:extLst xmlns:a="http://schemas.openxmlformats.org/drawingml/2006/main">
              <a:ext uri="{FF2B5EF4-FFF2-40B4-BE49-F238E27FC236}">
                <a16:creationId xmlns:a16="http://schemas.microsoft.com/office/drawing/2014/main" id="{994FA07C-4B60-4B67-BCAC-DEC3B41C64DD}"/>
              </a:ext>
            </a:extLst>
          </p:cNvPr>
          <p:cNvSpPr>
            <a:spLocks xmlns:a="http://schemas.openxmlformats.org/drawingml/2006/main" noGrp="1"/>
          </p:cNvSpPr>
          <p:nvPr/>
        </p:nvSpPr>
        <p:spPr>
          <a:xfrm xmlns:a="http://schemas.openxmlformats.org/drawingml/2006/main">
            <a:off x="7362825" y="3476625"/>
            <a:ext cx="3448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CPU frequency</a:t>
            </a:r>
          </a:p>
        </p:txBody>
      </p:sp>
      <p:sp>
        <p:nvSpPr>
          <p:cNvPr id="20" name="">
            <a:extLst xmlns:a="http://schemas.openxmlformats.org/drawingml/2006/main">
              <a:ext uri="{FF2B5EF4-FFF2-40B4-BE49-F238E27FC236}">
                <a16:creationId xmlns:a16="http://schemas.microsoft.com/office/drawing/2014/main" id="{874B77FE-81F1-4594-9B35-1FA73BCD6FBB}"/>
              </a:ext>
            </a:extLst>
          </p:cNvPr>
          <p:cNvSpPr>
            <a:spLocks xmlns:a="http://schemas.openxmlformats.org/drawingml/2006/main" noGrp="1"/>
          </p:cNvSpPr>
          <p:nvPr/>
        </p:nvSpPr>
        <p:spPr>
          <a:xfrm xmlns:a="http://schemas.openxmlformats.org/drawingml/2006/main">
            <a:off x="7096125" y="423862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21" name="">
            <a:extLst xmlns:a="http://schemas.openxmlformats.org/drawingml/2006/main">
              <a:ext uri="{FF2B5EF4-FFF2-40B4-BE49-F238E27FC236}">
                <a16:creationId xmlns:a16="http://schemas.microsoft.com/office/drawing/2014/main" id="{CA447781-6969-451F-8EBF-ACEB134FFAB5}"/>
              </a:ext>
            </a:extLst>
          </p:cNvPr>
          <p:cNvSpPr>
            <a:spLocks xmlns:a="http://schemas.openxmlformats.org/drawingml/2006/main" noGrp="1"/>
          </p:cNvSpPr>
          <p:nvPr/>
        </p:nvSpPr>
        <p:spPr>
          <a:xfrm xmlns:a="http://schemas.openxmlformats.org/drawingml/2006/main">
            <a:off x="7362825" y="4048125"/>
            <a:ext cx="3448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model parameter</a:t>
            </a:r>
          </a:p>
        </p:txBody>
      </p:sp>
      <p:sp>
        <p:nvSpPr>
          <p:cNvPr id="22" name="">
            <a:extLst xmlns:a="http://schemas.openxmlformats.org/drawingml/2006/main">
              <a:ext uri="{FF2B5EF4-FFF2-40B4-BE49-F238E27FC236}">
                <a16:creationId xmlns:a16="http://schemas.microsoft.com/office/drawing/2014/main" id="{AF99CDD0-5F5C-49D0-86ED-335AB49846C3}"/>
              </a:ext>
            </a:extLst>
          </p:cNvPr>
          <p:cNvSpPr>
            <a:spLocks xmlns:a="http://schemas.openxmlformats.org/drawingml/2006/main" noGrp="1"/>
          </p:cNvSpPr>
          <p:nvPr/>
        </p:nvSpPr>
        <p:spPr>
          <a:xfrm xmlns:a="http://schemas.openxmlformats.org/drawingml/2006/main">
            <a:off x="7096125" y="481012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23" name="">
            <a:extLst xmlns:a="http://schemas.openxmlformats.org/drawingml/2006/main">
              <a:ext uri="{FF2B5EF4-FFF2-40B4-BE49-F238E27FC236}">
                <a16:creationId xmlns:a16="http://schemas.microsoft.com/office/drawing/2014/main" id="{83371CC3-2B0E-4C43-BE5C-DB01A533DCD0}"/>
              </a:ext>
            </a:extLst>
          </p:cNvPr>
          <p:cNvSpPr>
            <a:spLocks xmlns:a="http://schemas.openxmlformats.org/drawingml/2006/main" noGrp="1"/>
          </p:cNvSpPr>
          <p:nvPr/>
        </p:nvSpPr>
        <p:spPr>
          <a:xfrm xmlns:a="http://schemas.openxmlformats.org/drawingml/2006/main">
            <a:off x="7362825" y="4619625"/>
            <a:ext cx="3448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resource percentage</a:t>
            </a:r>
          </a:p>
        </p:txBody>
      </p:sp>
      <p:sp>
        <p:nvSpPr>
          <p:cNvPr id="24" name="">
            <a:extLst xmlns:a="http://schemas.openxmlformats.org/drawingml/2006/main">
              <a:ext uri="{FF2B5EF4-FFF2-40B4-BE49-F238E27FC236}">
                <a16:creationId xmlns:a16="http://schemas.microsoft.com/office/drawing/2014/main" id="{B77EEFF6-7492-4A46-A114-A5569BC91BDC}"/>
              </a:ext>
            </a:extLst>
          </p:cNvPr>
          <p:cNvSpPr>
            <a:spLocks xmlns:a="http://schemas.openxmlformats.org/drawingml/2006/main" noGrp="1"/>
          </p:cNvSpPr>
          <p:nvPr/>
        </p:nvSpPr>
        <p:spPr>
          <a:xfrm xmlns:a="http://schemas.openxmlformats.org/drawingml/2006/main">
            <a:off x="2381250" y="5524500"/>
            <a:ext cx="7429500" cy="552450"/>
          </a:xfrm>
          <a:prstGeom xmlns:a="http://schemas.openxmlformats.org/drawingml/2006/main" prst="roundRect">
            <a:avLst>
              <a:gd name="adj" fmla="val 13793"/>
            </a:avLst>
          </a:prstGeom>
          <a:solidFill xmlns:a="http://schemas.openxmlformats.org/drawingml/2006/main">
            <a:srgbClr val="E6F3F2"/>
          </a:solidFill>
          <a:ln xmlns:a="http://schemas.openxmlformats.org/drawingml/2006/main" w="0">
            <a:solidFill>
              <a:srgbClr val="E6F3F2"/>
            </a:solidFill>
            <a:prstDash val="solid"/>
          </a:ln>
        </p:spPr>
      </p:sp>
      <p:sp>
        <p:nvSpPr>
          <p:cNvPr id="25" name="">
            <a:extLst xmlns:a="http://schemas.openxmlformats.org/drawingml/2006/main">
              <a:ext uri="{FF2B5EF4-FFF2-40B4-BE49-F238E27FC236}">
                <a16:creationId xmlns:a16="http://schemas.microsoft.com/office/drawing/2014/main" id="{A30CBF7F-EBC5-4AF7-B816-4C646A7FE020}"/>
              </a:ext>
            </a:extLst>
          </p:cNvPr>
          <p:cNvSpPr>
            <a:spLocks xmlns:a="http://schemas.openxmlformats.org/drawingml/2006/main" noGrp="1"/>
          </p:cNvSpPr>
          <p:nvPr/>
        </p:nvSpPr>
        <p:spPr>
          <a:xfrm xmlns:a="http://schemas.openxmlformats.org/drawingml/2006/main">
            <a:off x="2590800" y="5619750"/>
            <a:ext cx="701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92A3D"/>
                </a:solidFill>
              </a:defRPr>
            </a:pPr>
            <a:r>
              <a:rPr sz="1650" b="1">
                <a:solidFill>
                  <a:srgbClr val="092A3D"/>
                </a:solidFill>
              </a:rPr>
              <a:t>Representation influences which methods are appropriate.</a:t>
            </a:r>
          </a:p>
        </p:txBody>
      </p:sp>
    </p:spTree>
    <p:extLst>
      <p:ext uri="{BB962C8B-B14F-4D97-AF65-F5344CB8AC3E}">
        <p14:creationId xmlns:p14="http://schemas.microsoft.com/office/powerpoint/2010/main" val="740598920"/>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AE87D7B-0064-41D6-8621-87BBEFD8C749}"/>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PROBLEM TYPES</a:t>
            </a:r>
          </a:p>
        </p:txBody>
      </p:sp>
      <p:sp>
        <p:nvSpPr>
          <p:cNvPr id="2" name="">
            <a:extLst xmlns:a="http://schemas.openxmlformats.org/drawingml/2006/main">
              <a:ext uri="{FF2B5EF4-FFF2-40B4-BE49-F238E27FC236}">
                <a16:creationId xmlns:a16="http://schemas.microsoft.com/office/drawing/2014/main" id="{226F6232-0620-4CBE-8496-D96049B1F257}"/>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Real systems often have objectives that conflict</a:t>
            </a:r>
          </a:p>
        </p:txBody>
      </p:sp>
      <p:sp>
        <p:nvSpPr>
          <p:cNvPr id="3" name="">
            <a:extLst xmlns:a="http://schemas.openxmlformats.org/drawingml/2006/main">
              <a:ext uri="{FF2B5EF4-FFF2-40B4-BE49-F238E27FC236}">
                <a16:creationId xmlns:a16="http://schemas.microsoft.com/office/drawing/2014/main" id="{0E5DDDC2-2458-4C87-A0F8-1D01F31C76AF}"/>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468B591-FC64-43F8-83C3-D4F6B49B2B1B}"/>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CD16751C-D6DF-499C-80F4-7BAD0B764242}"/>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12</a:t>
            </a:r>
          </a:p>
        </p:txBody>
      </p:sp>
      <p:graphicFrame>
        <p:nvGraphicFramePr>
          <p:cNvPr id="21" name="Chart"/>
          <p:cNvGraphicFramePr/>
          <p:nvPr/>
        </p:nvGraphicFramePr>
        <p:xfrm>
          <a:off xmlns:a="http://schemas.openxmlformats.org/drawingml/2006/main" x="857250" y="1524000"/>
          <a:ext xmlns:a="http://schemas.openxmlformats.org/drawingml/2006/main" cx="6572250" cy="4191000"/>
        </p:xfrm>
        <a:graphic xmlns:a="http://schemas.openxmlformats.org/drawingml/2006/main">
          <a:graphicData uri="http://schemas.openxmlformats.org/drawingml/2006/chart">
            <c:chart xmlns:r="http://schemas.openxmlformats.org/officeDocument/2006/relationships" xmlns:c="http://schemas.openxmlformats.org/drawingml/2006/chart" r:id="Re28b7dce68894212"/>
          </a:graphicData>
        </a:graphic>
      </p:graphicFrame>
      <p:sp>
        <p:nvSpPr>
          <p:cNvPr id="7" name="">
            <a:extLst xmlns:a="http://schemas.openxmlformats.org/drawingml/2006/main">
              <a:ext uri="{FF2B5EF4-FFF2-40B4-BE49-F238E27FC236}">
                <a16:creationId xmlns:a16="http://schemas.microsoft.com/office/drawing/2014/main" id="{8E234518-4BB4-46BD-B916-A3B0CF5D6B82}"/>
              </a:ext>
            </a:extLst>
          </p:cNvPr>
          <p:cNvSpPr>
            <a:spLocks xmlns:a="http://schemas.openxmlformats.org/drawingml/2006/main" noGrp="1"/>
          </p:cNvSpPr>
          <p:nvPr/>
        </p:nvSpPr>
        <p:spPr>
          <a:xfrm xmlns:a="http://schemas.openxmlformats.org/drawingml/2006/main">
            <a:off x="8096250" y="2190750"/>
            <a:ext cx="3143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75" b="1">
                <a:solidFill>
                  <a:srgbClr val="092A3D"/>
                </a:solidFill>
              </a:defRPr>
            </a:pPr>
            <a:r>
              <a:rPr sz="2175" b="1">
                <a:solidFill>
                  <a:srgbClr val="092A3D"/>
                </a:solidFill>
              </a:rPr>
              <a:t>No single candidate is</a:t>
            </a:r>
          </a:p>
          <a:p xmlns:a="http://schemas.openxmlformats.org/drawingml/2006/main">
            <a:pPr algn="ctr">
              <a:defRPr sz="2175" b="1">
                <a:solidFill>
                  <a:srgbClr val="092A3D"/>
                </a:solidFill>
              </a:defRPr>
            </a:pPr>
            <a:r>
              <a:rPr sz="2175" b="1">
                <a:solidFill>
                  <a:srgbClr val="092A3D"/>
                </a:solidFill>
              </a:rPr>
              <a:t>best in every measure.</a:t>
            </a:r>
          </a:p>
        </p:txBody>
      </p:sp>
      <p:sp>
        <p:nvSpPr>
          <p:cNvPr id="8" name="">
            <a:extLst xmlns:a="http://schemas.openxmlformats.org/drawingml/2006/main">
              <a:ext uri="{FF2B5EF4-FFF2-40B4-BE49-F238E27FC236}">
                <a16:creationId xmlns:a16="http://schemas.microsoft.com/office/drawing/2014/main" id="{271F275D-B4BE-4EA8-B5FB-90CF25EDCD0E}"/>
              </a:ext>
            </a:extLst>
          </p:cNvPr>
          <p:cNvSpPr>
            <a:spLocks xmlns:a="http://schemas.openxmlformats.org/drawingml/2006/main" noGrp="1"/>
          </p:cNvSpPr>
          <p:nvPr/>
        </p:nvSpPr>
        <p:spPr>
          <a:xfrm xmlns:a="http://schemas.openxmlformats.org/drawingml/2006/main">
            <a:off x="8048625" y="357187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9" name="">
            <a:extLst xmlns:a="http://schemas.openxmlformats.org/drawingml/2006/main">
              <a:ext uri="{FF2B5EF4-FFF2-40B4-BE49-F238E27FC236}">
                <a16:creationId xmlns:a16="http://schemas.microsoft.com/office/drawing/2014/main" id="{D0F1C98C-1A6B-4932-BDB6-898C6A0A229C}"/>
              </a:ext>
            </a:extLst>
          </p:cNvPr>
          <p:cNvSpPr>
            <a:spLocks xmlns:a="http://schemas.openxmlformats.org/drawingml/2006/main" noGrp="1"/>
          </p:cNvSpPr>
          <p:nvPr/>
        </p:nvSpPr>
        <p:spPr>
          <a:xfrm xmlns:a="http://schemas.openxmlformats.org/drawingml/2006/main">
            <a:off x="8315325" y="3381375"/>
            <a:ext cx="2876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83544"/>
                </a:solidFill>
              </a:defRPr>
            </a:pPr>
            <a:r>
              <a:rPr sz="1425" b="0">
                <a:solidFill>
                  <a:srgbClr val="183544"/>
                </a:solidFill>
              </a:rPr>
              <a:t>single objective: one score</a:t>
            </a:r>
          </a:p>
        </p:txBody>
      </p:sp>
      <p:sp>
        <p:nvSpPr>
          <p:cNvPr id="10" name="">
            <a:extLst xmlns:a="http://schemas.openxmlformats.org/drawingml/2006/main">
              <a:ext uri="{FF2B5EF4-FFF2-40B4-BE49-F238E27FC236}">
                <a16:creationId xmlns:a16="http://schemas.microsoft.com/office/drawing/2014/main" id="{9944DA42-21F8-4570-BA17-268257A76C13}"/>
              </a:ext>
            </a:extLst>
          </p:cNvPr>
          <p:cNvSpPr>
            <a:spLocks xmlns:a="http://schemas.openxmlformats.org/drawingml/2006/main" noGrp="1"/>
          </p:cNvSpPr>
          <p:nvPr/>
        </p:nvSpPr>
        <p:spPr>
          <a:xfrm xmlns:a="http://schemas.openxmlformats.org/drawingml/2006/main">
            <a:off x="8048625" y="423862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1" name="">
            <a:extLst xmlns:a="http://schemas.openxmlformats.org/drawingml/2006/main">
              <a:ext uri="{FF2B5EF4-FFF2-40B4-BE49-F238E27FC236}">
                <a16:creationId xmlns:a16="http://schemas.microsoft.com/office/drawing/2014/main" id="{13C9E3F3-6881-444C-9C7A-7CAF0C989417}"/>
              </a:ext>
            </a:extLst>
          </p:cNvPr>
          <p:cNvSpPr>
            <a:spLocks xmlns:a="http://schemas.openxmlformats.org/drawingml/2006/main" noGrp="1"/>
          </p:cNvSpPr>
          <p:nvPr/>
        </p:nvSpPr>
        <p:spPr>
          <a:xfrm xmlns:a="http://schemas.openxmlformats.org/drawingml/2006/main">
            <a:off x="8315325" y="4048125"/>
            <a:ext cx="2876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83544"/>
                </a:solidFill>
              </a:defRPr>
            </a:pPr>
            <a:r>
              <a:rPr sz="1425" b="0">
                <a:solidFill>
                  <a:srgbClr val="183544"/>
                </a:solidFill>
              </a:rPr>
              <a:t>multi-objective: a set of trade-offs</a:t>
            </a:r>
          </a:p>
        </p:txBody>
      </p:sp>
      <p:sp>
        <p:nvSpPr>
          <p:cNvPr id="12" name="">
            <a:extLst xmlns:a="http://schemas.openxmlformats.org/drawingml/2006/main">
              <a:ext uri="{FF2B5EF4-FFF2-40B4-BE49-F238E27FC236}">
                <a16:creationId xmlns:a16="http://schemas.microsoft.com/office/drawing/2014/main" id="{17EB9B81-632C-4D0B-BB10-A269AC7A7462}"/>
              </a:ext>
            </a:extLst>
          </p:cNvPr>
          <p:cNvSpPr>
            <a:spLocks xmlns:a="http://schemas.openxmlformats.org/drawingml/2006/main" noGrp="1"/>
          </p:cNvSpPr>
          <p:nvPr/>
        </p:nvSpPr>
        <p:spPr>
          <a:xfrm xmlns:a="http://schemas.openxmlformats.org/drawingml/2006/main">
            <a:off x="8048625" y="490537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3" name="">
            <a:extLst xmlns:a="http://schemas.openxmlformats.org/drawingml/2006/main">
              <a:ext uri="{FF2B5EF4-FFF2-40B4-BE49-F238E27FC236}">
                <a16:creationId xmlns:a16="http://schemas.microsoft.com/office/drawing/2014/main" id="{191E0289-28F8-4E88-B74C-5C29EE1E15D7}"/>
              </a:ext>
            </a:extLst>
          </p:cNvPr>
          <p:cNvSpPr>
            <a:spLocks xmlns:a="http://schemas.openxmlformats.org/drawingml/2006/main" noGrp="1"/>
          </p:cNvSpPr>
          <p:nvPr/>
        </p:nvSpPr>
        <p:spPr>
          <a:xfrm xmlns:a="http://schemas.openxmlformats.org/drawingml/2006/main">
            <a:off x="8315325" y="4714875"/>
            <a:ext cx="2876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83544"/>
                </a:solidFill>
              </a:defRPr>
            </a:pPr>
            <a:r>
              <a:rPr sz="1425" b="0">
                <a:solidFill>
                  <a:srgbClr val="183544"/>
                </a:solidFill>
              </a:rPr>
              <a:t>stakeholders choose among trade-offs</a:t>
            </a:r>
          </a:p>
        </p:txBody>
      </p:sp>
      <p:sp>
        <p:nvSpPr>
          <p:cNvPr id="14" name="">
            <a:extLst xmlns:a="http://schemas.openxmlformats.org/drawingml/2006/main">
              <a:ext uri="{FF2B5EF4-FFF2-40B4-BE49-F238E27FC236}">
                <a16:creationId xmlns:a16="http://schemas.microsoft.com/office/drawing/2014/main" id="{DECBD307-0AA9-4D69-A40B-B6A9D6613B3C}"/>
              </a:ext>
            </a:extLst>
          </p:cNvPr>
          <p:cNvSpPr>
            <a:spLocks xmlns:a="http://schemas.openxmlformats.org/drawingml/2006/main" noGrp="1"/>
          </p:cNvSpPr>
          <p:nvPr/>
        </p:nvSpPr>
        <p:spPr>
          <a:xfrm xmlns:a="http://schemas.openxmlformats.org/drawingml/2006/main">
            <a:off x="609600" y="1238250"/>
            <a:ext cx="10972800" cy="5067300"/>
          </a:xfrm>
          <a:prstGeom xmlns:a="http://schemas.openxmlformats.org/drawingml/2006/main" prst="rect">
            <a:avLst/>
          </a:prstGeom>
          <a:solidFill xmlns:a="http://schemas.openxmlformats.org/drawingml/2006/main">
            <a:srgbClr val="F7F4EE"/>
          </a:solidFill>
          <a:ln xmlns:a="http://schemas.openxmlformats.org/drawingml/2006/main" w="0">
            <a:solidFill>
              <a:srgbClr val="F7F4EE"/>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db76d92527e4d23"/>
          <a:stretch xmlns:a="http://schemas.openxmlformats.org/drawingml/2006/main"/>
        </p:blipFill>
        <p:spPr>
          <a:xfrm xmlns:a="http://schemas.openxmlformats.org/drawingml/2006/main">
            <a:off x="1991849" y="1381125"/>
            <a:ext cx="8208303" cy="4619625"/>
          </a:xfrm>
          <a:prstGeom xmlns:a="http://schemas.openxmlformats.org/drawingml/2006/main" prst="rect">
            <a:avLst/>
          </a:prstGeom>
        </p:spPr>
      </p:pic>
    </p:spTree>
    <p:extLst>
      <p:ext uri="{BB962C8B-B14F-4D97-AF65-F5344CB8AC3E}">
        <p14:creationId xmlns:p14="http://schemas.microsoft.com/office/powerpoint/2010/main" val="2043349302"/>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C7876BA-E7E5-4856-9544-92C45C99F77A}"/>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METHOD BEHAVIOUR</a:t>
            </a:r>
          </a:p>
        </p:txBody>
      </p:sp>
      <p:sp>
        <p:nvSpPr>
          <p:cNvPr id="2" name="">
            <a:extLst xmlns:a="http://schemas.openxmlformats.org/drawingml/2006/main">
              <a:ext uri="{FF2B5EF4-FFF2-40B4-BE49-F238E27FC236}">
                <a16:creationId xmlns:a16="http://schemas.microsoft.com/office/drawing/2014/main" id="{6AF20697-B997-4289-9009-1B2615DA9033}"/>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Deterministic and stochastic methods produce different evidence</a:t>
            </a:r>
          </a:p>
        </p:txBody>
      </p:sp>
      <p:sp>
        <p:nvSpPr>
          <p:cNvPr id="3" name="">
            <a:extLst xmlns:a="http://schemas.openxmlformats.org/drawingml/2006/main">
              <a:ext uri="{FF2B5EF4-FFF2-40B4-BE49-F238E27FC236}">
                <a16:creationId xmlns:a16="http://schemas.microsoft.com/office/drawing/2014/main" id="{77CD6ECF-765F-4185-A09F-89B8A87A048E}"/>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1990A5C-3924-4019-9E06-F4C0DC193D6F}"/>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084B2591-385A-4BAA-93CA-76BFCA0D6115}"/>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13</a:t>
            </a:r>
          </a:p>
        </p:txBody>
      </p:sp>
      <p:sp>
        <p:nvSpPr>
          <p:cNvPr id="6" name="">
            <a:extLst xmlns:a="http://schemas.openxmlformats.org/drawingml/2006/main">
              <a:ext uri="{FF2B5EF4-FFF2-40B4-BE49-F238E27FC236}">
                <a16:creationId xmlns:a16="http://schemas.microsoft.com/office/drawing/2014/main" id="{4D2F4553-9F3C-4891-8725-F0555B24E934}"/>
              </a:ext>
            </a:extLst>
          </p:cNvPr>
          <p:cNvSpPr>
            <a:spLocks xmlns:a="http://schemas.openxmlformats.org/drawingml/2006/main" noGrp="1"/>
          </p:cNvSpPr>
          <p:nvPr/>
        </p:nvSpPr>
        <p:spPr>
          <a:xfrm xmlns:a="http://schemas.openxmlformats.org/drawingml/2006/main">
            <a:off x="952500" y="1762125"/>
            <a:ext cx="4762500"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CED9DB"/>
            </a:solidFill>
            <a:prstDash val="solid"/>
          </a:ln>
        </p:spPr>
      </p:sp>
      <p:sp>
        <p:nvSpPr>
          <p:cNvPr id="7" name="">
            <a:extLst xmlns:a="http://schemas.openxmlformats.org/drawingml/2006/main">
              <a:ext uri="{FF2B5EF4-FFF2-40B4-BE49-F238E27FC236}">
                <a16:creationId xmlns:a16="http://schemas.microsoft.com/office/drawing/2014/main" id="{1E5DB539-A265-4C9E-87C7-A791F99CACF6}"/>
              </a:ext>
            </a:extLst>
          </p:cNvPr>
          <p:cNvSpPr>
            <a:spLocks xmlns:a="http://schemas.openxmlformats.org/drawingml/2006/main" noGrp="1"/>
          </p:cNvSpPr>
          <p:nvPr/>
        </p:nvSpPr>
        <p:spPr>
          <a:xfrm xmlns:a="http://schemas.openxmlformats.org/drawingml/2006/main">
            <a:off x="952500" y="1762125"/>
            <a:ext cx="76200" cy="1952625"/>
          </a:xfrm>
          <a:prstGeom xmlns:a="http://schemas.openxmlformats.org/drawingml/2006/main" prst="rect">
            <a:avLst/>
          </a:prstGeom>
          <a:solidFill xmlns:a="http://schemas.openxmlformats.org/drawingml/2006/main">
            <a:srgbClr val="2878B5"/>
          </a:solidFill>
          <a:ln xmlns:a="http://schemas.openxmlformats.org/drawingml/2006/main" w="0">
            <a:solidFill>
              <a:srgbClr val="2878B5"/>
            </a:solidFill>
            <a:prstDash val="solid"/>
          </a:ln>
        </p:spPr>
      </p:sp>
      <p:sp>
        <p:nvSpPr>
          <p:cNvPr id="8" name="">
            <a:extLst xmlns:a="http://schemas.openxmlformats.org/drawingml/2006/main">
              <a:ext uri="{FF2B5EF4-FFF2-40B4-BE49-F238E27FC236}">
                <a16:creationId xmlns:a16="http://schemas.microsoft.com/office/drawing/2014/main" id="{8AD66087-17E1-4CB6-84B6-E3C75A80920E}"/>
              </a:ext>
            </a:extLst>
          </p:cNvPr>
          <p:cNvSpPr>
            <a:spLocks xmlns:a="http://schemas.openxmlformats.org/drawingml/2006/main" noGrp="1"/>
          </p:cNvSpPr>
          <p:nvPr/>
        </p:nvSpPr>
        <p:spPr>
          <a:xfrm xmlns:a="http://schemas.openxmlformats.org/drawingml/2006/main">
            <a:off x="1219200" y="1933575"/>
            <a:ext cx="433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2878B5"/>
                </a:solidFill>
              </a:defRPr>
            </a:pPr>
            <a:r>
              <a:rPr sz="1725" b="1">
                <a:solidFill>
                  <a:srgbClr val="2878B5"/>
                </a:solidFill>
              </a:rPr>
              <a:t>DETERMINISTIC</a:t>
            </a:r>
          </a:p>
        </p:txBody>
      </p:sp>
      <p:sp>
        <p:nvSpPr>
          <p:cNvPr id="9" name="">
            <a:extLst xmlns:a="http://schemas.openxmlformats.org/drawingml/2006/main">
              <a:ext uri="{FF2B5EF4-FFF2-40B4-BE49-F238E27FC236}">
                <a16:creationId xmlns:a16="http://schemas.microsoft.com/office/drawing/2014/main" id="{8AD8B0A7-55C5-4080-BA3C-C24F6E7BDB05}"/>
              </a:ext>
            </a:extLst>
          </p:cNvPr>
          <p:cNvSpPr>
            <a:spLocks xmlns:a="http://schemas.openxmlformats.org/drawingml/2006/main" noGrp="1"/>
          </p:cNvSpPr>
          <p:nvPr/>
        </p:nvSpPr>
        <p:spPr>
          <a:xfrm xmlns:a="http://schemas.openxmlformats.org/drawingml/2006/main">
            <a:off x="1219200" y="2352675"/>
            <a:ext cx="4286250" cy="1209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Same input and settings normally produce the same sequence and result.</a:t>
            </a:r>
          </a:p>
        </p:txBody>
      </p:sp>
      <p:sp>
        <p:nvSpPr>
          <p:cNvPr id="10" name="">
            <a:extLst xmlns:a="http://schemas.openxmlformats.org/drawingml/2006/main">
              <a:ext uri="{FF2B5EF4-FFF2-40B4-BE49-F238E27FC236}">
                <a16:creationId xmlns:a16="http://schemas.microsoft.com/office/drawing/2014/main" id="{5FA4DDF6-3A1D-48B6-8C58-E07E9DBBAD24}"/>
              </a:ext>
            </a:extLst>
          </p:cNvPr>
          <p:cNvSpPr>
            <a:spLocks xmlns:a="http://schemas.openxmlformats.org/drawingml/2006/main" noGrp="1"/>
          </p:cNvSpPr>
          <p:nvPr/>
        </p:nvSpPr>
        <p:spPr>
          <a:xfrm xmlns:a="http://schemas.openxmlformats.org/drawingml/2006/main">
            <a:off x="6477000" y="1762125"/>
            <a:ext cx="4762500"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CED9DB"/>
            </a:solidFill>
            <a:prstDash val="solid"/>
          </a:ln>
        </p:spPr>
      </p:sp>
      <p:sp>
        <p:nvSpPr>
          <p:cNvPr id="11" name="">
            <a:extLst xmlns:a="http://schemas.openxmlformats.org/drawingml/2006/main">
              <a:ext uri="{FF2B5EF4-FFF2-40B4-BE49-F238E27FC236}">
                <a16:creationId xmlns:a16="http://schemas.microsoft.com/office/drawing/2014/main" id="{56B6E878-602C-4857-B648-52A572F596C0}"/>
              </a:ext>
            </a:extLst>
          </p:cNvPr>
          <p:cNvSpPr>
            <a:spLocks xmlns:a="http://schemas.openxmlformats.org/drawingml/2006/main" noGrp="1"/>
          </p:cNvSpPr>
          <p:nvPr/>
        </p:nvSpPr>
        <p:spPr>
          <a:xfrm xmlns:a="http://schemas.openxmlformats.org/drawingml/2006/main">
            <a:off x="6477000" y="1762125"/>
            <a:ext cx="76200" cy="1952625"/>
          </a:xfrm>
          <a:prstGeom xmlns:a="http://schemas.openxmlformats.org/drawingml/2006/main" prst="rect">
            <a:avLst/>
          </a:prstGeom>
          <a:solidFill xmlns:a="http://schemas.openxmlformats.org/drawingml/2006/main">
            <a:srgbClr val="F2A93B"/>
          </a:solidFill>
          <a:ln xmlns:a="http://schemas.openxmlformats.org/drawingml/2006/main" w="0">
            <a:solidFill>
              <a:srgbClr val="F2A93B"/>
            </a:solidFill>
            <a:prstDash val="solid"/>
          </a:ln>
        </p:spPr>
      </p:sp>
      <p:sp>
        <p:nvSpPr>
          <p:cNvPr id="12" name="">
            <a:extLst xmlns:a="http://schemas.openxmlformats.org/drawingml/2006/main">
              <a:ext uri="{FF2B5EF4-FFF2-40B4-BE49-F238E27FC236}">
                <a16:creationId xmlns:a16="http://schemas.microsoft.com/office/drawing/2014/main" id="{720E07BC-0E5A-4A27-8F48-9BAF35E9831E}"/>
              </a:ext>
            </a:extLst>
          </p:cNvPr>
          <p:cNvSpPr>
            <a:spLocks xmlns:a="http://schemas.openxmlformats.org/drawingml/2006/main" noGrp="1"/>
          </p:cNvSpPr>
          <p:nvPr/>
        </p:nvSpPr>
        <p:spPr>
          <a:xfrm xmlns:a="http://schemas.openxmlformats.org/drawingml/2006/main">
            <a:off x="6743700" y="1933575"/>
            <a:ext cx="433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F2A93B"/>
                </a:solidFill>
              </a:defRPr>
            </a:pPr>
            <a:r>
              <a:rPr sz="1725" b="1">
                <a:solidFill>
                  <a:srgbClr val="F2A93B"/>
                </a:solidFill>
              </a:rPr>
              <a:t>STOCHASTIC</a:t>
            </a:r>
          </a:p>
        </p:txBody>
      </p:sp>
      <p:sp>
        <p:nvSpPr>
          <p:cNvPr id="13" name="">
            <a:extLst xmlns:a="http://schemas.openxmlformats.org/drawingml/2006/main">
              <a:ext uri="{FF2B5EF4-FFF2-40B4-BE49-F238E27FC236}">
                <a16:creationId xmlns:a16="http://schemas.microsoft.com/office/drawing/2014/main" id="{1D3301CE-35D1-4D04-A113-380C24840821}"/>
              </a:ext>
            </a:extLst>
          </p:cNvPr>
          <p:cNvSpPr>
            <a:spLocks xmlns:a="http://schemas.openxmlformats.org/drawingml/2006/main" noGrp="1"/>
          </p:cNvSpPr>
          <p:nvPr/>
        </p:nvSpPr>
        <p:spPr>
          <a:xfrm xmlns:a="http://schemas.openxmlformats.org/drawingml/2006/main">
            <a:off x="6743700" y="2352675"/>
            <a:ext cx="4286250" cy="1209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Random choices influence the search; different seeds may produce different results.</a:t>
            </a:r>
          </a:p>
        </p:txBody>
      </p:sp>
      <p:sp>
        <p:nvSpPr>
          <p:cNvPr id="14" name="">
            <a:extLst xmlns:a="http://schemas.openxmlformats.org/drawingml/2006/main">
              <a:ext uri="{FF2B5EF4-FFF2-40B4-BE49-F238E27FC236}">
                <a16:creationId xmlns:a16="http://schemas.microsoft.com/office/drawing/2014/main" id="{2A092DC9-4EEB-4C66-84CF-A0A61654BA8C}"/>
              </a:ext>
            </a:extLst>
          </p:cNvPr>
          <p:cNvSpPr>
            <a:spLocks xmlns:a="http://schemas.openxmlformats.org/drawingml/2006/main" noGrp="1"/>
          </p:cNvSpPr>
          <p:nvPr/>
        </p:nvSpPr>
        <p:spPr>
          <a:xfrm xmlns:a="http://schemas.openxmlformats.org/drawingml/2006/main">
            <a:off x="1476375" y="4333875"/>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D95D5D"/>
                </a:solidFill>
              </a:defRPr>
            </a:pPr>
            <a:r>
              <a:rPr sz="1725" b="1">
                <a:solidFill>
                  <a:srgbClr val="D95D5D"/>
                </a:solidFill>
              </a:rPr>
              <a:t>One run</a:t>
            </a:r>
          </a:p>
        </p:txBody>
      </p:sp>
      <p:sp>
        <p:nvSpPr>
          <p:cNvPr id="15" name="">
            <a:extLst xmlns:a="http://schemas.openxmlformats.org/drawingml/2006/main">
              <a:ext uri="{FF2B5EF4-FFF2-40B4-BE49-F238E27FC236}">
                <a16:creationId xmlns:a16="http://schemas.microsoft.com/office/drawing/2014/main" id="{4FA0643A-F58F-48D6-B7CD-809758F3CFF1}"/>
              </a:ext>
            </a:extLst>
          </p:cNvPr>
          <p:cNvSpPr>
            <a:spLocks xmlns:a="http://schemas.openxmlformats.org/drawingml/2006/main" noGrp="1"/>
          </p:cNvSpPr>
          <p:nvPr/>
        </p:nvSpPr>
        <p:spPr>
          <a:xfrm xmlns:a="http://schemas.openxmlformats.org/drawingml/2006/main">
            <a:off x="8143875" y="4333875"/>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2C9976"/>
                </a:solidFill>
              </a:defRPr>
            </a:pPr>
            <a:r>
              <a:rPr sz="1725" b="1">
                <a:solidFill>
                  <a:srgbClr val="2C9976"/>
                </a:solidFill>
              </a:rPr>
              <a:t>Repeated runs</a:t>
            </a:r>
          </a:p>
        </p:txBody>
      </p:sp>
      <p:sp>
        <p:nvSpPr>
          <p:cNvPr id="16" name="">
            <a:extLst xmlns:a="http://schemas.openxmlformats.org/drawingml/2006/main">
              <a:ext uri="{FF2B5EF4-FFF2-40B4-BE49-F238E27FC236}">
                <a16:creationId xmlns:a16="http://schemas.microsoft.com/office/drawing/2014/main" id="{9664CA99-1B92-477C-B217-C27C2C61DAA8}"/>
              </a:ext>
            </a:extLst>
          </p:cNvPr>
          <p:cNvSpPr>
            <a:spLocks xmlns:a="http://schemas.openxmlformats.org/drawingml/2006/main" noGrp="1"/>
          </p:cNvSpPr>
          <p:nvPr/>
        </p:nvSpPr>
        <p:spPr>
          <a:xfrm xmlns:a="http://schemas.openxmlformats.org/drawingml/2006/main">
            <a:off x="3667125" y="4495800"/>
            <a:ext cx="4476750" cy="0"/>
          </a:xfrm>
          <a:prstGeom xmlns:a="http://schemas.openxmlformats.org/drawingml/2006/main" prst="line">
            <a:avLst/>
          </a:prstGeom>
          <a:noFill xmlns:a="http://schemas.openxmlformats.org/drawingml/2006/main"/>
          <a:ln xmlns:a="http://schemas.openxmlformats.org/drawingml/2006/main" w="19050">
            <a:solidFill>
              <a:srgbClr val="CED9DB"/>
            </a:solidFill>
            <a:prstDash val="solid"/>
          </a:ln>
        </p:spPr>
      </p:sp>
      <p:sp>
        <p:nvSpPr>
          <p:cNvPr id="17" name="">
            <a:extLst xmlns:a="http://schemas.openxmlformats.org/drawingml/2006/main">
              <a:ext uri="{FF2B5EF4-FFF2-40B4-BE49-F238E27FC236}">
                <a16:creationId xmlns:a16="http://schemas.microsoft.com/office/drawing/2014/main" id="{8B454873-430A-4489-B566-361392148334}"/>
              </a:ext>
            </a:extLst>
          </p:cNvPr>
          <p:cNvSpPr>
            <a:spLocks xmlns:a="http://schemas.openxmlformats.org/drawingml/2006/main" noGrp="1"/>
          </p:cNvSpPr>
          <p:nvPr/>
        </p:nvSpPr>
        <p:spPr>
          <a:xfrm xmlns:a="http://schemas.openxmlformats.org/drawingml/2006/main">
            <a:off x="1714500" y="5334000"/>
            <a:ext cx="8763000" cy="619125"/>
          </a:xfrm>
          <a:prstGeom xmlns:a="http://schemas.openxmlformats.org/drawingml/2006/main" prst="roundRect">
            <a:avLst>
              <a:gd name="adj" fmla="val 12308"/>
            </a:avLst>
          </a:prstGeom>
          <a:solidFill xmlns:a="http://schemas.openxmlformats.org/drawingml/2006/main">
            <a:srgbClr val="092A3D"/>
          </a:solidFill>
          <a:ln xmlns:a="http://schemas.openxmlformats.org/drawingml/2006/main" w="0">
            <a:solidFill>
              <a:srgbClr val="092A3D"/>
            </a:solidFill>
            <a:prstDash val="solid"/>
          </a:ln>
        </p:spPr>
      </p:sp>
      <p:sp>
        <p:nvSpPr>
          <p:cNvPr id="18" name="">
            <a:extLst xmlns:a="http://schemas.openxmlformats.org/drawingml/2006/main">
              <a:ext uri="{FF2B5EF4-FFF2-40B4-BE49-F238E27FC236}">
                <a16:creationId xmlns:a16="http://schemas.microsoft.com/office/drawing/2014/main" id="{D0F34781-7437-4F61-BA46-CB72A1A74652}"/>
              </a:ext>
            </a:extLst>
          </p:cNvPr>
          <p:cNvSpPr>
            <a:spLocks xmlns:a="http://schemas.openxmlformats.org/drawingml/2006/main" noGrp="1"/>
          </p:cNvSpPr>
          <p:nvPr/>
        </p:nvSpPr>
        <p:spPr>
          <a:xfrm xmlns:a="http://schemas.openxmlformats.org/drawingml/2006/main">
            <a:off x="1924050" y="5429250"/>
            <a:ext cx="83439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FFFFF"/>
                </a:solidFill>
              </a:defRPr>
            </a:pPr>
            <a:r>
              <a:rPr sz="1650" b="1">
                <a:solidFill>
                  <a:srgbClr val="FFFFFF"/>
                </a:solidFill>
              </a:rPr>
              <a:t>Randomness changes the experimental method—not the need for rigor.</a:t>
            </a:r>
          </a:p>
        </p:txBody>
      </p:sp>
    </p:spTree>
    <p:extLst>
      <p:ext uri="{BB962C8B-B14F-4D97-AF65-F5344CB8AC3E}">
        <p14:creationId xmlns:p14="http://schemas.microsoft.com/office/powerpoint/2010/main" val="189401533"/>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32A1809-61EE-4680-A56D-B07BA1F1954C}"/>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METHOD FAMILIES</a:t>
            </a:r>
          </a:p>
        </p:txBody>
      </p:sp>
      <p:sp>
        <p:nvSpPr>
          <p:cNvPr id="2" name="">
            <a:extLst xmlns:a="http://schemas.openxmlformats.org/drawingml/2006/main">
              <a:ext uri="{FF2B5EF4-FFF2-40B4-BE49-F238E27FC236}">
                <a16:creationId xmlns:a16="http://schemas.microsoft.com/office/drawing/2014/main" id="{7482E92C-F20B-4443-A000-0FA2E68B0FBE}"/>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Exact and approximate methods make different promises</a:t>
            </a:r>
          </a:p>
        </p:txBody>
      </p:sp>
      <p:sp>
        <p:nvSpPr>
          <p:cNvPr id="3" name="">
            <a:extLst xmlns:a="http://schemas.openxmlformats.org/drawingml/2006/main">
              <a:ext uri="{FF2B5EF4-FFF2-40B4-BE49-F238E27FC236}">
                <a16:creationId xmlns:a16="http://schemas.microsoft.com/office/drawing/2014/main" id="{5A319D69-47CD-48A3-8C9B-D57E44A450BA}"/>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8729E2E-8A83-4BD0-B8FD-CDB116061247}"/>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7E159CE2-E0D1-491E-B3D4-AF15E4555EBB}"/>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14</a:t>
            </a:r>
          </a:p>
        </p:txBody>
      </p:sp>
      <p:sp>
        <p:nvSpPr>
          <p:cNvPr id="6" name="">
            <a:extLst xmlns:a="http://schemas.openxmlformats.org/drawingml/2006/main">
              <a:ext uri="{FF2B5EF4-FFF2-40B4-BE49-F238E27FC236}">
                <a16:creationId xmlns:a16="http://schemas.microsoft.com/office/drawing/2014/main" id="{C1B3D4DE-36BC-47DA-A152-D821F1E494AA}"/>
              </a:ext>
            </a:extLst>
          </p:cNvPr>
          <p:cNvSpPr>
            <a:spLocks xmlns:a="http://schemas.openxmlformats.org/drawingml/2006/main" noGrp="1"/>
          </p:cNvSpPr>
          <p:nvPr/>
        </p:nvSpPr>
        <p:spPr>
          <a:xfrm xmlns:a="http://schemas.openxmlformats.org/drawingml/2006/main">
            <a:off x="666750" y="1571625"/>
            <a:ext cx="3333750" cy="37147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9525">
            <a:solidFill>
              <a:srgbClr val="CED9DB"/>
            </a:solidFill>
            <a:prstDash val="solid"/>
          </a:ln>
        </p:spPr>
      </p:sp>
      <p:sp>
        <p:nvSpPr>
          <p:cNvPr id="7" name="">
            <a:extLst xmlns:a="http://schemas.openxmlformats.org/drawingml/2006/main">
              <a:ext uri="{FF2B5EF4-FFF2-40B4-BE49-F238E27FC236}">
                <a16:creationId xmlns:a16="http://schemas.microsoft.com/office/drawing/2014/main" id="{50ECBBD8-4FBD-4ACA-8FBE-5C877554D9FC}"/>
              </a:ext>
            </a:extLst>
          </p:cNvPr>
          <p:cNvSpPr>
            <a:spLocks xmlns:a="http://schemas.openxmlformats.org/drawingml/2006/main" noGrp="1"/>
          </p:cNvSpPr>
          <p:nvPr/>
        </p:nvSpPr>
        <p:spPr>
          <a:xfrm xmlns:a="http://schemas.openxmlformats.org/drawingml/2006/main">
            <a:off x="904875" y="18573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2878B5"/>
                </a:solidFill>
              </a:defRPr>
            </a:pPr>
            <a:r>
              <a:rPr sz="1800" b="1">
                <a:solidFill>
                  <a:srgbClr val="2878B5"/>
                </a:solidFill>
              </a:rPr>
              <a:t>EXACT</a:t>
            </a:r>
          </a:p>
        </p:txBody>
      </p:sp>
      <p:sp>
        <p:nvSpPr>
          <p:cNvPr id="8" name="">
            <a:extLst xmlns:a="http://schemas.openxmlformats.org/drawingml/2006/main">
              <a:ext uri="{FF2B5EF4-FFF2-40B4-BE49-F238E27FC236}">
                <a16:creationId xmlns:a16="http://schemas.microsoft.com/office/drawing/2014/main" id="{C4952640-EBAE-4647-8F7F-E8F4361389CB}"/>
              </a:ext>
            </a:extLst>
          </p:cNvPr>
          <p:cNvSpPr>
            <a:spLocks xmlns:a="http://schemas.openxmlformats.org/drawingml/2006/main" noGrp="1"/>
          </p:cNvSpPr>
          <p:nvPr/>
        </p:nvSpPr>
        <p:spPr>
          <a:xfrm xmlns:a="http://schemas.openxmlformats.org/drawingml/2006/main">
            <a:off x="1000125" y="2571750"/>
            <a:ext cx="2667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092A3D"/>
                </a:solidFill>
              </a:defRPr>
            </a:pPr>
            <a:r>
              <a:rPr sz="1575" b="1">
                <a:solidFill>
                  <a:srgbClr val="092A3D"/>
                </a:solidFill>
              </a:rPr>
              <a:t>Can certify optimality</a:t>
            </a:r>
          </a:p>
          <a:p xmlns:a="http://schemas.openxmlformats.org/drawingml/2006/main">
            <a:pPr algn="ctr">
              <a:defRPr sz="1575" b="1">
                <a:solidFill>
                  <a:srgbClr val="092A3D"/>
                </a:solidFill>
              </a:defRPr>
            </a:pPr>
            <a:r>
              <a:rPr sz="1575" b="1">
                <a:solidFill>
                  <a:srgbClr val="092A3D"/>
                </a:solidFill>
              </a:rPr>
              <a:t>for supported models</a:t>
            </a:r>
          </a:p>
        </p:txBody>
      </p:sp>
      <p:sp>
        <p:nvSpPr>
          <p:cNvPr id="9" name="">
            <a:extLst xmlns:a="http://schemas.openxmlformats.org/drawingml/2006/main">
              <a:ext uri="{FF2B5EF4-FFF2-40B4-BE49-F238E27FC236}">
                <a16:creationId xmlns:a16="http://schemas.microsoft.com/office/drawing/2014/main" id="{323307D3-036E-42F6-ABA8-F671AEE1F1AB}"/>
              </a:ext>
            </a:extLst>
          </p:cNvPr>
          <p:cNvSpPr>
            <a:spLocks xmlns:a="http://schemas.openxmlformats.org/drawingml/2006/main" noGrp="1"/>
          </p:cNvSpPr>
          <p:nvPr/>
        </p:nvSpPr>
        <p:spPr>
          <a:xfrm xmlns:a="http://schemas.openxmlformats.org/drawingml/2006/main">
            <a:off x="1095375" y="3476625"/>
            <a:ext cx="24765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1154E99-FD5C-47B5-8CC5-9C484582C333}"/>
              </a:ext>
            </a:extLst>
          </p:cNvPr>
          <p:cNvSpPr>
            <a:spLocks xmlns:a="http://schemas.openxmlformats.org/drawingml/2006/main" noGrp="1"/>
          </p:cNvSpPr>
          <p:nvPr/>
        </p:nvSpPr>
        <p:spPr>
          <a:xfrm xmlns:a="http://schemas.openxmlformats.org/drawingml/2006/main">
            <a:off x="1000125" y="3810000"/>
            <a:ext cx="266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58707C"/>
                </a:solidFill>
              </a:defRPr>
            </a:pPr>
            <a:r>
              <a:rPr sz="1425" b="0">
                <a:solidFill>
                  <a:srgbClr val="58707C"/>
                </a:solidFill>
              </a:rPr>
              <a:t>Linear programming</a:t>
            </a:r>
          </a:p>
          <a:p xmlns:a="http://schemas.openxmlformats.org/drawingml/2006/main">
            <a:pPr algn="ctr">
              <a:defRPr sz="1425" b="0">
                <a:solidFill>
                  <a:srgbClr val="58707C"/>
                </a:solidFill>
              </a:defRPr>
            </a:pPr>
            <a:r>
              <a:rPr sz="1425" b="0">
                <a:solidFill>
                  <a:srgbClr val="58707C"/>
                </a:solidFill>
              </a:rPr>
              <a:t>dynamic programming</a:t>
            </a:r>
          </a:p>
        </p:txBody>
      </p:sp>
      <p:sp>
        <p:nvSpPr>
          <p:cNvPr id="11" name="">
            <a:extLst xmlns:a="http://schemas.openxmlformats.org/drawingml/2006/main">
              <a:ext uri="{FF2B5EF4-FFF2-40B4-BE49-F238E27FC236}">
                <a16:creationId xmlns:a16="http://schemas.microsoft.com/office/drawing/2014/main" id="{838D9AD7-D3B8-4D67-8274-F663A3A7C3CB}"/>
              </a:ext>
            </a:extLst>
          </p:cNvPr>
          <p:cNvSpPr>
            <a:spLocks xmlns:a="http://schemas.openxmlformats.org/drawingml/2006/main" noGrp="1"/>
          </p:cNvSpPr>
          <p:nvPr/>
        </p:nvSpPr>
        <p:spPr>
          <a:xfrm xmlns:a="http://schemas.openxmlformats.org/drawingml/2006/main">
            <a:off x="4476750" y="1571625"/>
            <a:ext cx="3333750" cy="37147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9525">
            <a:solidFill>
              <a:srgbClr val="CED9DB"/>
            </a:solidFill>
            <a:prstDash val="solid"/>
          </a:ln>
        </p:spPr>
      </p:sp>
      <p:sp>
        <p:nvSpPr>
          <p:cNvPr id="12" name="">
            <a:extLst xmlns:a="http://schemas.openxmlformats.org/drawingml/2006/main">
              <a:ext uri="{FF2B5EF4-FFF2-40B4-BE49-F238E27FC236}">
                <a16:creationId xmlns:a16="http://schemas.microsoft.com/office/drawing/2014/main" id="{C8EA5A8C-8A0D-46A0-ADD2-C70F03B75C3E}"/>
              </a:ext>
            </a:extLst>
          </p:cNvPr>
          <p:cNvSpPr>
            <a:spLocks xmlns:a="http://schemas.openxmlformats.org/drawingml/2006/main" noGrp="1"/>
          </p:cNvSpPr>
          <p:nvPr/>
        </p:nvSpPr>
        <p:spPr>
          <a:xfrm xmlns:a="http://schemas.openxmlformats.org/drawingml/2006/main">
            <a:off x="4714875" y="18573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2C9976"/>
                </a:solidFill>
              </a:defRPr>
            </a:pPr>
            <a:r>
              <a:rPr sz="1800" b="1">
                <a:solidFill>
                  <a:srgbClr val="2C9976"/>
                </a:solidFill>
              </a:rPr>
              <a:t>HEURISTIC</a:t>
            </a:r>
          </a:p>
        </p:txBody>
      </p:sp>
      <p:sp>
        <p:nvSpPr>
          <p:cNvPr id="13" name="">
            <a:extLst xmlns:a="http://schemas.openxmlformats.org/drawingml/2006/main">
              <a:ext uri="{FF2B5EF4-FFF2-40B4-BE49-F238E27FC236}">
                <a16:creationId xmlns:a16="http://schemas.microsoft.com/office/drawing/2014/main" id="{78459EF3-367A-432E-B9D9-122248C46314}"/>
              </a:ext>
            </a:extLst>
          </p:cNvPr>
          <p:cNvSpPr>
            <a:spLocks xmlns:a="http://schemas.openxmlformats.org/drawingml/2006/main" noGrp="1"/>
          </p:cNvSpPr>
          <p:nvPr/>
        </p:nvSpPr>
        <p:spPr>
          <a:xfrm xmlns:a="http://schemas.openxmlformats.org/drawingml/2006/main">
            <a:off x="4810125" y="2571750"/>
            <a:ext cx="2667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092A3D"/>
                </a:solidFill>
              </a:defRPr>
            </a:pPr>
            <a:r>
              <a:rPr sz="1575" b="1">
                <a:solidFill>
                  <a:srgbClr val="092A3D"/>
                </a:solidFill>
              </a:rPr>
              <a:t>Uses problem insight</a:t>
            </a:r>
          </a:p>
          <a:p xmlns:a="http://schemas.openxmlformats.org/drawingml/2006/main">
            <a:pPr algn="ctr">
              <a:defRPr sz="1575" b="1">
                <a:solidFill>
                  <a:srgbClr val="092A3D"/>
                </a:solidFill>
              </a:defRPr>
            </a:pPr>
            <a:r>
              <a:rPr sz="1575" b="1">
                <a:solidFill>
                  <a:srgbClr val="092A3D"/>
                </a:solidFill>
              </a:rPr>
              <a:t>to obtain good solutions</a:t>
            </a:r>
          </a:p>
        </p:txBody>
      </p:sp>
      <p:sp>
        <p:nvSpPr>
          <p:cNvPr id="14" name="">
            <a:extLst xmlns:a="http://schemas.openxmlformats.org/drawingml/2006/main">
              <a:ext uri="{FF2B5EF4-FFF2-40B4-BE49-F238E27FC236}">
                <a16:creationId xmlns:a16="http://schemas.microsoft.com/office/drawing/2014/main" id="{E2A8E123-71E8-46FA-95DC-134C53BDCC87}"/>
              </a:ext>
            </a:extLst>
          </p:cNvPr>
          <p:cNvSpPr>
            <a:spLocks xmlns:a="http://schemas.openxmlformats.org/drawingml/2006/main" noGrp="1"/>
          </p:cNvSpPr>
          <p:nvPr/>
        </p:nvSpPr>
        <p:spPr>
          <a:xfrm xmlns:a="http://schemas.openxmlformats.org/drawingml/2006/main">
            <a:off x="4905375" y="3476625"/>
            <a:ext cx="24765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DD9E15C-D855-441D-8F92-56AC0A2E9E72}"/>
              </a:ext>
            </a:extLst>
          </p:cNvPr>
          <p:cNvSpPr>
            <a:spLocks xmlns:a="http://schemas.openxmlformats.org/drawingml/2006/main" noGrp="1"/>
          </p:cNvSpPr>
          <p:nvPr/>
        </p:nvSpPr>
        <p:spPr>
          <a:xfrm xmlns:a="http://schemas.openxmlformats.org/drawingml/2006/main">
            <a:off x="4810125" y="3810000"/>
            <a:ext cx="266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58707C"/>
                </a:solidFill>
              </a:defRPr>
            </a:pPr>
            <a:r>
              <a:rPr sz="1425" b="0">
                <a:solidFill>
                  <a:srgbClr val="58707C"/>
                </a:solidFill>
              </a:rPr>
              <a:t>Greedy rule</a:t>
            </a:r>
          </a:p>
          <a:p xmlns:a="http://schemas.openxmlformats.org/drawingml/2006/main">
            <a:pPr algn="ctr">
              <a:defRPr sz="1425" b="0">
                <a:solidFill>
                  <a:srgbClr val="58707C"/>
                </a:solidFill>
              </a:defRPr>
            </a:pPr>
            <a:r>
              <a:rPr sz="1425" b="0">
                <a:solidFill>
                  <a:srgbClr val="58707C"/>
                </a:solidFill>
              </a:rPr>
              <a:t>local search</a:t>
            </a:r>
          </a:p>
        </p:txBody>
      </p:sp>
      <p:sp>
        <p:nvSpPr>
          <p:cNvPr id="16" name="">
            <a:extLst xmlns:a="http://schemas.openxmlformats.org/drawingml/2006/main">
              <a:ext uri="{FF2B5EF4-FFF2-40B4-BE49-F238E27FC236}">
                <a16:creationId xmlns:a16="http://schemas.microsoft.com/office/drawing/2014/main" id="{B9D4F88A-8F76-4905-9B3B-9CAC9D0CD4B5}"/>
              </a:ext>
            </a:extLst>
          </p:cNvPr>
          <p:cNvSpPr>
            <a:spLocks xmlns:a="http://schemas.openxmlformats.org/drawingml/2006/main" noGrp="1"/>
          </p:cNvSpPr>
          <p:nvPr/>
        </p:nvSpPr>
        <p:spPr>
          <a:xfrm xmlns:a="http://schemas.openxmlformats.org/drawingml/2006/main">
            <a:off x="8286750" y="1571625"/>
            <a:ext cx="3333750" cy="37147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9525">
            <a:solidFill>
              <a:srgbClr val="CED9DB"/>
            </a:solidFill>
            <a:prstDash val="solid"/>
          </a:ln>
        </p:spPr>
      </p:sp>
      <p:sp>
        <p:nvSpPr>
          <p:cNvPr id="17" name="">
            <a:extLst xmlns:a="http://schemas.openxmlformats.org/drawingml/2006/main">
              <a:ext uri="{FF2B5EF4-FFF2-40B4-BE49-F238E27FC236}">
                <a16:creationId xmlns:a16="http://schemas.microsoft.com/office/drawing/2014/main" id="{1E547C62-E0C2-4CD7-A0DA-8EF384C2C47C}"/>
              </a:ext>
            </a:extLst>
          </p:cNvPr>
          <p:cNvSpPr>
            <a:spLocks xmlns:a="http://schemas.openxmlformats.org/drawingml/2006/main" noGrp="1"/>
          </p:cNvSpPr>
          <p:nvPr/>
        </p:nvSpPr>
        <p:spPr>
          <a:xfrm xmlns:a="http://schemas.openxmlformats.org/drawingml/2006/main">
            <a:off x="8524875" y="18573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2A93B"/>
                </a:solidFill>
              </a:defRPr>
            </a:pPr>
            <a:r>
              <a:rPr sz="1800" b="1">
                <a:solidFill>
                  <a:srgbClr val="F2A93B"/>
                </a:solidFill>
              </a:rPr>
              <a:t>METAHEURISTIC</a:t>
            </a:r>
          </a:p>
        </p:txBody>
      </p:sp>
      <p:sp>
        <p:nvSpPr>
          <p:cNvPr id="18" name="">
            <a:extLst xmlns:a="http://schemas.openxmlformats.org/drawingml/2006/main">
              <a:ext uri="{FF2B5EF4-FFF2-40B4-BE49-F238E27FC236}">
                <a16:creationId xmlns:a16="http://schemas.microsoft.com/office/drawing/2014/main" id="{510E983F-9BCF-446B-ADB8-F8EDA839D76E}"/>
              </a:ext>
            </a:extLst>
          </p:cNvPr>
          <p:cNvSpPr>
            <a:spLocks xmlns:a="http://schemas.openxmlformats.org/drawingml/2006/main" noGrp="1"/>
          </p:cNvSpPr>
          <p:nvPr/>
        </p:nvSpPr>
        <p:spPr>
          <a:xfrm xmlns:a="http://schemas.openxmlformats.org/drawingml/2006/main">
            <a:off x="8620125" y="2571750"/>
            <a:ext cx="2667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092A3D"/>
                </a:solidFill>
              </a:defRPr>
            </a:pPr>
            <a:r>
              <a:rPr sz="1575" b="1">
                <a:solidFill>
                  <a:srgbClr val="092A3D"/>
                </a:solidFill>
              </a:rPr>
              <a:t>General search strategy</a:t>
            </a:r>
          </a:p>
          <a:p xmlns:a="http://schemas.openxmlformats.org/drawingml/2006/main">
            <a:pPr algn="ctr">
              <a:defRPr sz="1575" b="1">
                <a:solidFill>
                  <a:srgbClr val="092A3D"/>
                </a:solidFill>
              </a:defRPr>
            </a:pPr>
            <a:r>
              <a:rPr sz="1575" b="1">
                <a:solidFill>
                  <a:srgbClr val="092A3D"/>
                </a:solidFill>
              </a:rPr>
              <a:t>for difficult spaces</a:t>
            </a:r>
          </a:p>
        </p:txBody>
      </p:sp>
      <p:sp>
        <p:nvSpPr>
          <p:cNvPr id="19" name="">
            <a:extLst xmlns:a="http://schemas.openxmlformats.org/drawingml/2006/main">
              <a:ext uri="{FF2B5EF4-FFF2-40B4-BE49-F238E27FC236}">
                <a16:creationId xmlns:a16="http://schemas.microsoft.com/office/drawing/2014/main" id="{B09AD298-E782-41EE-AB66-55CEBCB84B7B}"/>
              </a:ext>
            </a:extLst>
          </p:cNvPr>
          <p:cNvSpPr>
            <a:spLocks xmlns:a="http://schemas.openxmlformats.org/drawingml/2006/main" noGrp="1"/>
          </p:cNvSpPr>
          <p:nvPr/>
        </p:nvSpPr>
        <p:spPr>
          <a:xfrm xmlns:a="http://schemas.openxmlformats.org/drawingml/2006/main">
            <a:off x="8715375" y="3476625"/>
            <a:ext cx="24765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597F88E-6773-485A-AE3D-7299EC1EBD36}"/>
              </a:ext>
            </a:extLst>
          </p:cNvPr>
          <p:cNvSpPr>
            <a:spLocks xmlns:a="http://schemas.openxmlformats.org/drawingml/2006/main" noGrp="1"/>
          </p:cNvSpPr>
          <p:nvPr/>
        </p:nvSpPr>
        <p:spPr>
          <a:xfrm xmlns:a="http://schemas.openxmlformats.org/drawingml/2006/main">
            <a:off x="8620125" y="3810000"/>
            <a:ext cx="266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58707C"/>
                </a:solidFill>
              </a:defRPr>
            </a:pPr>
            <a:r>
              <a:rPr sz="1425" b="0">
                <a:solidFill>
                  <a:srgbClr val="58707C"/>
                </a:solidFill>
              </a:rPr>
              <a:t>Genetic algorithm</a:t>
            </a:r>
          </a:p>
          <a:p xmlns:a="http://schemas.openxmlformats.org/drawingml/2006/main">
            <a:pPr algn="ctr">
              <a:defRPr sz="1425" b="0">
                <a:solidFill>
                  <a:srgbClr val="58707C"/>
                </a:solidFill>
              </a:defRPr>
            </a:pPr>
            <a:r>
              <a:rPr sz="1425" b="0">
                <a:solidFill>
                  <a:srgbClr val="58707C"/>
                </a:solidFill>
              </a:rPr>
              <a:t>simulated annealing</a:t>
            </a:r>
          </a:p>
        </p:txBody>
      </p:sp>
      <p:sp>
        <p:nvSpPr>
          <p:cNvPr id="21" name="">
            <a:extLst xmlns:a="http://schemas.openxmlformats.org/drawingml/2006/main">
              <a:ext uri="{FF2B5EF4-FFF2-40B4-BE49-F238E27FC236}">
                <a16:creationId xmlns:a16="http://schemas.microsoft.com/office/drawing/2014/main" id="{1C04BA67-1B9A-419B-B332-4B9B05E1F441}"/>
              </a:ext>
            </a:extLst>
          </p:cNvPr>
          <p:cNvSpPr>
            <a:spLocks xmlns:a="http://schemas.openxmlformats.org/drawingml/2006/main" noGrp="1"/>
          </p:cNvSpPr>
          <p:nvPr/>
        </p:nvSpPr>
        <p:spPr>
          <a:xfrm xmlns:a="http://schemas.openxmlformats.org/drawingml/2006/main">
            <a:off x="1095375" y="5810250"/>
            <a:ext cx="1000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0B9B91"/>
                </a:solidFill>
              </a:defRPr>
            </a:pPr>
            <a:r>
              <a:rPr sz="1575" b="1">
                <a:solidFill>
                  <a:srgbClr val="0B9B91"/>
                </a:solidFill>
              </a:rPr>
              <a:t>No family is always superior; suitability depends on the model and evidence required.</a:t>
            </a:r>
          </a:p>
        </p:txBody>
      </p:sp>
    </p:spTree>
    <p:extLst>
      <p:ext uri="{BB962C8B-B14F-4D97-AF65-F5344CB8AC3E}">
        <p14:creationId xmlns:p14="http://schemas.microsoft.com/office/powerpoint/2010/main" val="603546530"/>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402F606-045D-4A6A-8CAC-7A917948AA5C}"/>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WHY METHODS ARE NEEDED</a:t>
            </a:r>
          </a:p>
        </p:txBody>
      </p:sp>
      <p:sp>
        <p:nvSpPr>
          <p:cNvPr id="2" name="">
            <a:extLst xmlns:a="http://schemas.openxmlformats.org/drawingml/2006/main">
              <a:ext uri="{FF2B5EF4-FFF2-40B4-BE49-F238E27FC236}">
                <a16:creationId xmlns:a16="http://schemas.microsoft.com/office/drawing/2014/main" id="{F6114C70-883C-483C-A037-DC59B830AAC9}"/>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Combinations grow faster than intuition</a:t>
            </a:r>
          </a:p>
        </p:txBody>
      </p:sp>
      <p:sp>
        <p:nvSpPr>
          <p:cNvPr id="3" name="">
            <a:extLst xmlns:a="http://schemas.openxmlformats.org/drawingml/2006/main">
              <a:ext uri="{FF2B5EF4-FFF2-40B4-BE49-F238E27FC236}">
                <a16:creationId xmlns:a16="http://schemas.microsoft.com/office/drawing/2014/main" id="{185E7790-1D94-41A0-AC8E-DB29EE4787A0}"/>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53B951F-6BA5-4E71-8516-42B7150AD811}"/>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696B8D31-173F-4FB8-93DE-754838E27873}"/>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15</a:t>
            </a:r>
          </a:p>
        </p:txBody>
      </p:sp>
      <p:sp>
        <p:nvSpPr>
          <p:cNvPr id="6" name="">
            <a:extLst xmlns:a="http://schemas.openxmlformats.org/drawingml/2006/main">
              <a:ext uri="{FF2B5EF4-FFF2-40B4-BE49-F238E27FC236}">
                <a16:creationId xmlns:a16="http://schemas.microsoft.com/office/drawing/2014/main" id="{EEFD042A-9015-4BD5-BBB4-A509F7E4CDED}"/>
              </a:ext>
            </a:extLst>
          </p:cNvPr>
          <p:cNvSpPr>
            <a:spLocks xmlns:a="http://schemas.openxmlformats.org/drawingml/2006/main" noGrp="1"/>
          </p:cNvSpPr>
          <p:nvPr/>
        </p:nvSpPr>
        <p:spPr>
          <a:xfrm xmlns:a="http://schemas.openxmlformats.org/drawingml/2006/main">
            <a:off x="1143000" y="1476375"/>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092A3D"/>
                </a:solidFill>
              </a:defRPr>
            </a:pPr>
            <a:r>
              <a:rPr sz="2025" b="1">
                <a:solidFill>
                  <a:srgbClr val="092A3D"/>
                </a:solidFill>
              </a:rPr>
              <a:t>Assign each service to one of four servers</a:t>
            </a:r>
          </a:p>
        </p:txBody>
      </p:sp>
      <p:graphicFrame>
        <p:nvGraphicFramePr>
          <p:cNvPr id="18" name="Chart"/>
          <p:cNvGraphicFramePr/>
          <p:nvPr/>
        </p:nvGraphicFramePr>
        <p:xfrm>
          <a:off xmlns:a="http://schemas.openxmlformats.org/drawingml/2006/main" x="1047750" y="2190750"/>
          <a:ext xmlns:a="http://schemas.openxmlformats.org/drawingml/2006/main" cx="7239000" cy="3238500"/>
        </p:xfrm>
        <a:graphic xmlns:a="http://schemas.openxmlformats.org/drawingml/2006/main">
          <a:graphicData uri="http://schemas.openxmlformats.org/drawingml/2006/chart">
            <c:chart xmlns:r="http://schemas.openxmlformats.org/officeDocument/2006/relationships" xmlns:c="http://schemas.openxmlformats.org/drawingml/2006/chart" r:id="Rf8bf30ff9fd64d0c"/>
          </a:graphicData>
        </a:graphic>
      </p:graphicFrame>
      <p:sp>
        <p:nvSpPr>
          <p:cNvPr id="8" name="">
            <a:extLst xmlns:a="http://schemas.openxmlformats.org/drawingml/2006/main">
              <a:ext uri="{FF2B5EF4-FFF2-40B4-BE49-F238E27FC236}">
                <a16:creationId xmlns:a16="http://schemas.microsoft.com/office/drawing/2014/main" id="{6C9E853F-18FE-4F92-A88D-4ABBCE85DF96}"/>
              </a:ext>
            </a:extLst>
          </p:cNvPr>
          <p:cNvSpPr>
            <a:spLocks xmlns:a="http://schemas.openxmlformats.org/drawingml/2006/main" noGrp="1"/>
          </p:cNvSpPr>
          <p:nvPr/>
        </p:nvSpPr>
        <p:spPr>
          <a:xfrm xmlns:a="http://schemas.openxmlformats.org/drawingml/2006/main">
            <a:off x="8810625" y="2619375"/>
            <a:ext cx="2190750" cy="571500"/>
          </a:xfrm>
          <a:prstGeom xmlns:a="http://schemas.openxmlformats.org/drawingml/2006/main" prst="roundRect">
            <a:avLst>
              <a:gd name="adj" fmla="val 13333"/>
            </a:avLst>
          </a:prstGeom>
          <a:solidFill xmlns:a="http://schemas.openxmlformats.org/drawingml/2006/main">
            <a:srgbClr val="F2A93B"/>
          </a:solidFill>
          <a:ln xmlns:a="http://schemas.openxmlformats.org/drawingml/2006/main" w="0">
            <a:solidFill>
              <a:srgbClr val="F2A93B"/>
            </a:solidFill>
            <a:prstDash val="solid"/>
          </a:ln>
        </p:spPr>
      </p:sp>
      <p:sp>
        <p:nvSpPr>
          <p:cNvPr id="9" name="">
            <a:extLst xmlns:a="http://schemas.openxmlformats.org/drawingml/2006/main">
              <a:ext uri="{FF2B5EF4-FFF2-40B4-BE49-F238E27FC236}">
                <a16:creationId xmlns:a16="http://schemas.microsoft.com/office/drawing/2014/main" id="{D1FCE56E-FCB1-46E9-8B8E-50B549FE068C}"/>
              </a:ext>
            </a:extLst>
          </p:cNvPr>
          <p:cNvSpPr>
            <a:spLocks xmlns:a="http://schemas.openxmlformats.org/drawingml/2006/main" noGrp="1"/>
          </p:cNvSpPr>
          <p:nvPr/>
        </p:nvSpPr>
        <p:spPr>
          <a:xfrm xmlns:a="http://schemas.openxmlformats.org/drawingml/2006/main">
            <a:off x="9020175" y="2714625"/>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FFFFF"/>
                </a:solidFill>
              </a:defRPr>
            </a:pPr>
            <a:r>
              <a:rPr sz="1650" b="1">
                <a:solidFill>
                  <a:srgbClr val="FFFFFF"/>
                </a:solidFill>
              </a:rPr>
              <a:t>12 services</a:t>
            </a:r>
          </a:p>
        </p:txBody>
      </p:sp>
      <p:sp>
        <p:nvSpPr>
          <p:cNvPr id="10" name="">
            <a:extLst xmlns:a="http://schemas.openxmlformats.org/drawingml/2006/main">
              <a:ext uri="{FF2B5EF4-FFF2-40B4-BE49-F238E27FC236}">
                <a16:creationId xmlns:a16="http://schemas.microsoft.com/office/drawing/2014/main" id="{C4B4629C-529D-457B-82FC-AF64C79F30B2}"/>
              </a:ext>
            </a:extLst>
          </p:cNvPr>
          <p:cNvSpPr>
            <a:spLocks xmlns:a="http://schemas.openxmlformats.org/drawingml/2006/main" noGrp="1"/>
          </p:cNvSpPr>
          <p:nvPr/>
        </p:nvSpPr>
        <p:spPr>
          <a:xfrm xmlns:a="http://schemas.openxmlformats.org/drawingml/2006/main">
            <a:off x="8715375" y="3429000"/>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092A3D"/>
                </a:solidFill>
              </a:defRPr>
            </a:pPr>
            <a:r>
              <a:rPr sz="2325" b="1">
                <a:solidFill>
                  <a:srgbClr val="092A3D"/>
                </a:solidFill>
              </a:rPr>
              <a:t>16,777,216</a:t>
            </a:r>
          </a:p>
          <a:p xmlns:a="http://schemas.openxmlformats.org/drawingml/2006/main">
            <a:pPr algn="ctr">
              <a:defRPr sz="2325" b="1">
                <a:solidFill>
                  <a:srgbClr val="092A3D"/>
                </a:solidFill>
              </a:defRPr>
            </a:pPr>
            <a:r>
              <a:rPr sz="2325" b="1">
                <a:solidFill>
                  <a:srgbClr val="092A3D"/>
                </a:solidFill>
              </a:rPr>
              <a:t>assignments</a:t>
            </a:r>
          </a:p>
        </p:txBody>
      </p:sp>
      <p:sp>
        <p:nvSpPr>
          <p:cNvPr id="11" name="">
            <a:extLst xmlns:a="http://schemas.openxmlformats.org/drawingml/2006/main">
              <a:ext uri="{FF2B5EF4-FFF2-40B4-BE49-F238E27FC236}">
                <a16:creationId xmlns:a16="http://schemas.microsoft.com/office/drawing/2014/main" id="{77C76A5E-3513-4744-900B-DC5333030CF0}"/>
              </a:ext>
            </a:extLst>
          </p:cNvPr>
          <p:cNvSpPr>
            <a:spLocks xmlns:a="http://schemas.openxmlformats.org/drawingml/2006/main" noGrp="1"/>
          </p:cNvSpPr>
          <p:nvPr/>
        </p:nvSpPr>
        <p:spPr>
          <a:xfrm xmlns:a="http://schemas.openxmlformats.org/drawingml/2006/main">
            <a:off x="8477250" y="466725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58707C"/>
                </a:solidFill>
              </a:defRPr>
            </a:pPr>
            <a:r>
              <a:rPr sz="1425" b="1">
                <a:solidFill>
                  <a:srgbClr val="58707C"/>
                </a:solidFill>
              </a:rPr>
              <a:t>Brute force becomes expensive surprisingly quickly.</a:t>
            </a:r>
          </a:p>
        </p:txBody>
      </p:sp>
    </p:spTree>
    <p:extLst>
      <p:ext uri="{BB962C8B-B14F-4D97-AF65-F5344CB8AC3E}">
        <p14:creationId xmlns:p14="http://schemas.microsoft.com/office/powerpoint/2010/main" val="710120709"/>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75E1D31-EAFF-4D8F-8892-B6565466A396}"/>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ENGINEERING JUDGMENT</a:t>
            </a:r>
          </a:p>
        </p:txBody>
      </p:sp>
      <p:sp>
        <p:nvSpPr>
          <p:cNvPr id="2" name="">
            <a:extLst xmlns:a="http://schemas.openxmlformats.org/drawingml/2006/main">
              <a:ext uri="{FF2B5EF4-FFF2-40B4-BE49-F238E27FC236}">
                <a16:creationId xmlns:a16="http://schemas.microsoft.com/office/drawing/2014/main" id="{C1420D4E-B28F-4357-8EAB-F4B0DA3C4B2F}"/>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Optimization is a trade-off between quality, time and confidence</a:t>
            </a:r>
          </a:p>
        </p:txBody>
      </p:sp>
      <p:sp>
        <p:nvSpPr>
          <p:cNvPr id="3" name="">
            <a:extLst xmlns:a="http://schemas.openxmlformats.org/drawingml/2006/main">
              <a:ext uri="{FF2B5EF4-FFF2-40B4-BE49-F238E27FC236}">
                <a16:creationId xmlns:a16="http://schemas.microsoft.com/office/drawing/2014/main" id="{219CB842-FCD1-4355-BF95-9025C38C3617}"/>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57B4E0A-3361-41B8-B8F2-251D86C0F86D}"/>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64BEB486-1626-4196-9582-63760300DD93}"/>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16</a:t>
            </a:r>
          </a:p>
        </p:txBody>
      </p:sp>
      <p:sp>
        <p:nvSpPr>
          <p:cNvPr id="6" name="">
            <a:extLst xmlns:a="http://schemas.openxmlformats.org/drawingml/2006/main">
              <a:ext uri="{FF2B5EF4-FFF2-40B4-BE49-F238E27FC236}">
                <a16:creationId xmlns:a16="http://schemas.microsoft.com/office/drawing/2014/main" id="{90B9EF3C-015B-4E2B-946B-F80E92BE3CFF}"/>
              </a:ext>
            </a:extLst>
          </p:cNvPr>
          <p:cNvSpPr>
            <a:spLocks xmlns:a="http://schemas.openxmlformats.org/drawingml/2006/main" noGrp="1"/>
          </p:cNvSpPr>
          <p:nvPr/>
        </p:nvSpPr>
        <p:spPr>
          <a:xfrm xmlns:a="http://schemas.openxmlformats.org/drawingml/2006/main">
            <a:off x="1666875" y="1952625"/>
            <a:ext cx="2857500" cy="2857500"/>
          </a:xfrm>
          <a:prstGeom xmlns:a="http://schemas.openxmlformats.org/drawingml/2006/main" prst="ellipse">
            <a:avLst/>
          </a:prstGeom>
          <a:solidFill xmlns:a="http://schemas.openxmlformats.org/drawingml/2006/main">
            <a:srgbClr val="E6F3F2"/>
          </a:solidFill>
          <a:ln xmlns:a="http://schemas.openxmlformats.org/drawingml/2006/main" w="19050">
            <a:solidFill>
              <a:srgbClr val="0B9B91"/>
            </a:solidFill>
            <a:prstDash val="solid"/>
          </a:ln>
        </p:spPr>
      </p:sp>
      <p:sp>
        <p:nvSpPr>
          <p:cNvPr id="7" name="">
            <a:extLst xmlns:a="http://schemas.openxmlformats.org/drawingml/2006/main">
              <a:ext uri="{FF2B5EF4-FFF2-40B4-BE49-F238E27FC236}">
                <a16:creationId xmlns:a16="http://schemas.microsoft.com/office/drawing/2014/main" id="{4DFFAEB5-FFE9-4BF5-B619-81149B0032EE}"/>
              </a:ext>
            </a:extLst>
          </p:cNvPr>
          <p:cNvSpPr>
            <a:spLocks xmlns:a="http://schemas.openxmlformats.org/drawingml/2006/main" noGrp="1"/>
          </p:cNvSpPr>
          <p:nvPr/>
        </p:nvSpPr>
        <p:spPr>
          <a:xfrm xmlns:a="http://schemas.openxmlformats.org/drawingml/2006/main">
            <a:off x="4667250" y="1952625"/>
            <a:ext cx="2857500" cy="2857500"/>
          </a:xfrm>
          <a:prstGeom xmlns:a="http://schemas.openxmlformats.org/drawingml/2006/main" prst="ellipse">
            <a:avLst/>
          </a:prstGeom>
          <a:solidFill xmlns:a="http://schemas.openxmlformats.org/drawingml/2006/main">
            <a:srgbClr val="FFF1D8"/>
          </a:solidFill>
          <a:ln xmlns:a="http://schemas.openxmlformats.org/drawingml/2006/main" w="19050">
            <a:solidFill>
              <a:srgbClr val="F2A93B"/>
            </a:solidFill>
            <a:prstDash val="solid"/>
          </a:ln>
        </p:spPr>
      </p:sp>
      <p:sp>
        <p:nvSpPr>
          <p:cNvPr id="8" name="">
            <a:extLst xmlns:a="http://schemas.openxmlformats.org/drawingml/2006/main">
              <a:ext uri="{FF2B5EF4-FFF2-40B4-BE49-F238E27FC236}">
                <a16:creationId xmlns:a16="http://schemas.microsoft.com/office/drawing/2014/main" id="{606A801E-B5A6-459F-AF9F-57CB2A839BE0}"/>
              </a:ext>
            </a:extLst>
          </p:cNvPr>
          <p:cNvSpPr>
            <a:spLocks xmlns:a="http://schemas.openxmlformats.org/drawingml/2006/main" noGrp="1"/>
          </p:cNvSpPr>
          <p:nvPr/>
        </p:nvSpPr>
        <p:spPr>
          <a:xfrm xmlns:a="http://schemas.openxmlformats.org/drawingml/2006/main">
            <a:off x="7667625" y="1952625"/>
            <a:ext cx="2857500" cy="2857500"/>
          </a:xfrm>
          <a:prstGeom xmlns:a="http://schemas.openxmlformats.org/drawingml/2006/main" prst="ellipse">
            <a:avLst/>
          </a:prstGeom>
          <a:solidFill xmlns:a="http://schemas.openxmlformats.org/drawingml/2006/main">
            <a:srgbClr val="E8EEF7"/>
          </a:solidFill>
          <a:ln xmlns:a="http://schemas.openxmlformats.org/drawingml/2006/main" w="19050">
            <a:solidFill>
              <a:srgbClr val="2878B5"/>
            </a:solidFill>
            <a:prstDash val="solid"/>
          </a:ln>
        </p:spPr>
      </p:sp>
      <p:sp>
        <p:nvSpPr>
          <p:cNvPr id="9" name="">
            <a:extLst xmlns:a="http://schemas.openxmlformats.org/drawingml/2006/main">
              <a:ext uri="{FF2B5EF4-FFF2-40B4-BE49-F238E27FC236}">
                <a16:creationId xmlns:a16="http://schemas.microsoft.com/office/drawing/2014/main" id="{5CD51F29-F40F-4917-B538-07D07DF40AE2}"/>
              </a:ext>
            </a:extLst>
          </p:cNvPr>
          <p:cNvSpPr>
            <a:spLocks xmlns:a="http://schemas.openxmlformats.org/drawingml/2006/main" noGrp="1"/>
          </p:cNvSpPr>
          <p:nvPr/>
        </p:nvSpPr>
        <p:spPr>
          <a:xfrm xmlns:a="http://schemas.openxmlformats.org/drawingml/2006/main">
            <a:off x="2238375" y="3000375"/>
            <a:ext cx="1714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0B9B91"/>
                </a:solidFill>
              </a:defRPr>
            </a:pPr>
            <a:r>
              <a:rPr sz="2025" b="1">
                <a:solidFill>
                  <a:srgbClr val="0B9B91"/>
                </a:solidFill>
              </a:rPr>
              <a:t>QUALITY</a:t>
            </a:r>
          </a:p>
        </p:txBody>
      </p:sp>
      <p:sp>
        <p:nvSpPr>
          <p:cNvPr id="10" name="">
            <a:extLst xmlns:a="http://schemas.openxmlformats.org/drawingml/2006/main">
              <a:ext uri="{FF2B5EF4-FFF2-40B4-BE49-F238E27FC236}">
                <a16:creationId xmlns:a16="http://schemas.microsoft.com/office/drawing/2014/main" id="{5C79A932-017B-4434-B4F3-1EA76282B3A4}"/>
              </a:ext>
            </a:extLst>
          </p:cNvPr>
          <p:cNvSpPr>
            <a:spLocks xmlns:a="http://schemas.openxmlformats.org/drawingml/2006/main" noGrp="1"/>
          </p:cNvSpPr>
          <p:nvPr/>
        </p:nvSpPr>
        <p:spPr>
          <a:xfrm xmlns:a="http://schemas.openxmlformats.org/drawingml/2006/main">
            <a:off x="5238750" y="3000375"/>
            <a:ext cx="1714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F2A93B"/>
                </a:solidFill>
              </a:defRPr>
            </a:pPr>
            <a:r>
              <a:rPr sz="2025" b="1">
                <a:solidFill>
                  <a:srgbClr val="F2A93B"/>
                </a:solidFill>
              </a:rPr>
              <a:t>TIME</a:t>
            </a:r>
          </a:p>
        </p:txBody>
      </p:sp>
      <p:sp>
        <p:nvSpPr>
          <p:cNvPr id="11" name="">
            <a:extLst xmlns:a="http://schemas.openxmlformats.org/drawingml/2006/main">
              <a:ext uri="{FF2B5EF4-FFF2-40B4-BE49-F238E27FC236}">
                <a16:creationId xmlns:a16="http://schemas.microsoft.com/office/drawing/2014/main" id="{9C2626E0-B457-49B5-87B4-681DBA7136B1}"/>
              </a:ext>
            </a:extLst>
          </p:cNvPr>
          <p:cNvSpPr>
            <a:spLocks xmlns:a="http://schemas.openxmlformats.org/drawingml/2006/main" noGrp="1"/>
          </p:cNvSpPr>
          <p:nvPr/>
        </p:nvSpPr>
        <p:spPr>
          <a:xfrm xmlns:a="http://schemas.openxmlformats.org/drawingml/2006/main">
            <a:off x="8048625" y="3000375"/>
            <a:ext cx="2095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2878B5"/>
                </a:solidFill>
              </a:defRPr>
            </a:pPr>
            <a:r>
              <a:rPr sz="2025" b="1">
                <a:solidFill>
                  <a:srgbClr val="2878B5"/>
                </a:solidFill>
              </a:rPr>
              <a:t>CONFIDENCE</a:t>
            </a:r>
          </a:p>
        </p:txBody>
      </p:sp>
      <p:sp>
        <p:nvSpPr>
          <p:cNvPr id="12" name="">
            <a:extLst xmlns:a="http://schemas.openxmlformats.org/drawingml/2006/main">
              <a:ext uri="{FF2B5EF4-FFF2-40B4-BE49-F238E27FC236}">
                <a16:creationId xmlns:a16="http://schemas.microsoft.com/office/drawing/2014/main" id="{9231EA34-9AF6-4135-A1BB-A860570F668F}"/>
              </a:ext>
            </a:extLst>
          </p:cNvPr>
          <p:cNvSpPr>
            <a:spLocks xmlns:a="http://schemas.openxmlformats.org/drawingml/2006/main" noGrp="1"/>
          </p:cNvSpPr>
          <p:nvPr/>
        </p:nvSpPr>
        <p:spPr>
          <a:xfrm xmlns:a="http://schemas.openxmlformats.org/drawingml/2006/main">
            <a:off x="2333625" y="35242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58707C"/>
                </a:solidFill>
              </a:defRPr>
            </a:pPr>
            <a:r>
              <a:rPr sz="1350" b="1">
                <a:solidFill>
                  <a:srgbClr val="58707C"/>
                </a:solidFill>
              </a:rPr>
              <a:t>How good?</a:t>
            </a:r>
          </a:p>
        </p:txBody>
      </p:sp>
      <p:sp>
        <p:nvSpPr>
          <p:cNvPr id="13" name="">
            <a:extLst xmlns:a="http://schemas.openxmlformats.org/drawingml/2006/main">
              <a:ext uri="{FF2B5EF4-FFF2-40B4-BE49-F238E27FC236}">
                <a16:creationId xmlns:a16="http://schemas.microsoft.com/office/drawing/2014/main" id="{2A17251F-1375-4E06-8A33-5EC95C8EDD6D}"/>
              </a:ext>
            </a:extLst>
          </p:cNvPr>
          <p:cNvSpPr>
            <a:spLocks xmlns:a="http://schemas.openxmlformats.org/drawingml/2006/main" noGrp="1"/>
          </p:cNvSpPr>
          <p:nvPr/>
        </p:nvSpPr>
        <p:spPr>
          <a:xfrm xmlns:a="http://schemas.openxmlformats.org/drawingml/2006/main">
            <a:off x="5334000" y="35242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58707C"/>
                </a:solidFill>
              </a:defRPr>
            </a:pPr>
            <a:r>
              <a:rPr sz="1350" b="1">
                <a:solidFill>
                  <a:srgbClr val="58707C"/>
                </a:solidFill>
              </a:rPr>
              <a:t>How soon?</a:t>
            </a:r>
          </a:p>
        </p:txBody>
      </p:sp>
      <p:sp>
        <p:nvSpPr>
          <p:cNvPr id="14" name="">
            <a:extLst xmlns:a="http://schemas.openxmlformats.org/drawingml/2006/main">
              <a:ext uri="{FF2B5EF4-FFF2-40B4-BE49-F238E27FC236}">
                <a16:creationId xmlns:a16="http://schemas.microsoft.com/office/drawing/2014/main" id="{A8134BF3-237C-43A6-907D-9A4E27E7CFAF}"/>
              </a:ext>
            </a:extLst>
          </p:cNvPr>
          <p:cNvSpPr>
            <a:spLocks xmlns:a="http://schemas.openxmlformats.org/drawingml/2006/main" noGrp="1"/>
          </p:cNvSpPr>
          <p:nvPr/>
        </p:nvSpPr>
        <p:spPr>
          <a:xfrm xmlns:a="http://schemas.openxmlformats.org/drawingml/2006/main">
            <a:off x="8143875" y="35242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58707C"/>
                </a:solidFill>
              </a:defRPr>
            </a:pPr>
            <a:r>
              <a:rPr sz="1350" b="1">
                <a:solidFill>
                  <a:srgbClr val="58707C"/>
                </a:solidFill>
              </a:rPr>
              <a:t>What evidence?</a:t>
            </a:r>
          </a:p>
        </p:txBody>
      </p:sp>
      <p:sp>
        <p:nvSpPr>
          <p:cNvPr id="15" name="">
            <a:extLst xmlns:a="http://schemas.openxmlformats.org/drawingml/2006/main">
              <a:ext uri="{FF2B5EF4-FFF2-40B4-BE49-F238E27FC236}">
                <a16:creationId xmlns:a16="http://schemas.microsoft.com/office/drawing/2014/main" id="{CC4579C5-E3CE-41BA-8402-76DA0944849E}"/>
              </a:ext>
            </a:extLst>
          </p:cNvPr>
          <p:cNvSpPr>
            <a:spLocks xmlns:a="http://schemas.openxmlformats.org/drawingml/2006/main" noGrp="1"/>
          </p:cNvSpPr>
          <p:nvPr/>
        </p:nvSpPr>
        <p:spPr>
          <a:xfrm xmlns:a="http://schemas.openxmlformats.org/drawingml/2006/main">
            <a:off x="1809750" y="5429250"/>
            <a:ext cx="8572500" cy="590550"/>
          </a:xfrm>
          <a:prstGeom xmlns:a="http://schemas.openxmlformats.org/drawingml/2006/main" prst="roundRect">
            <a:avLst>
              <a:gd name="adj" fmla="val 12903"/>
            </a:avLst>
          </a:prstGeom>
          <a:solidFill xmlns:a="http://schemas.openxmlformats.org/drawingml/2006/main">
            <a:srgbClr val="092A3D"/>
          </a:solidFill>
          <a:ln xmlns:a="http://schemas.openxmlformats.org/drawingml/2006/main" w="0">
            <a:solidFill>
              <a:srgbClr val="092A3D"/>
            </a:solidFill>
            <a:prstDash val="solid"/>
          </a:ln>
        </p:spPr>
      </p:sp>
      <p:sp>
        <p:nvSpPr>
          <p:cNvPr id="16" name="">
            <a:extLst xmlns:a="http://schemas.openxmlformats.org/drawingml/2006/main">
              <a:ext uri="{FF2B5EF4-FFF2-40B4-BE49-F238E27FC236}">
                <a16:creationId xmlns:a16="http://schemas.microsoft.com/office/drawing/2014/main" id="{7390E8AC-EB7D-44DF-AB83-D287D0038763}"/>
              </a:ext>
            </a:extLst>
          </p:cNvPr>
          <p:cNvSpPr>
            <a:spLocks xmlns:a="http://schemas.openxmlformats.org/drawingml/2006/main" noGrp="1"/>
          </p:cNvSpPr>
          <p:nvPr/>
        </p:nvSpPr>
        <p:spPr>
          <a:xfrm xmlns:a="http://schemas.openxmlformats.org/drawingml/2006/main">
            <a:off x="2019300" y="5524500"/>
            <a:ext cx="815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FFFFFF"/>
                </a:solidFill>
              </a:defRPr>
            </a:pPr>
            <a:r>
              <a:rPr sz="1725" b="1">
                <a:solidFill>
                  <a:srgbClr val="FFFFFF"/>
                </a:solidFill>
              </a:rPr>
              <a:t>Engineering optimization is responsible compromise—not magic.</a:t>
            </a:r>
          </a:p>
        </p:txBody>
      </p:sp>
    </p:spTree>
    <p:extLst>
      <p:ext uri="{BB962C8B-B14F-4D97-AF65-F5344CB8AC3E}">
        <p14:creationId xmlns:p14="http://schemas.microsoft.com/office/powerpoint/2010/main" val="445130942"/>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221F1DE-3CA5-4DA1-8F03-1904CA34031F}"/>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APPLICATIONS</a:t>
            </a:r>
          </a:p>
        </p:txBody>
      </p:sp>
      <p:sp>
        <p:nvSpPr>
          <p:cNvPr id="2" name="">
            <a:extLst xmlns:a="http://schemas.openxmlformats.org/drawingml/2006/main">
              <a:ext uri="{FF2B5EF4-FFF2-40B4-BE49-F238E27FC236}">
                <a16:creationId xmlns:a16="http://schemas.microsoft.com/office/drawing/2014/main" id="{44C783B5-BFE2-442C-8C0A-8BBF0FEFA397}"/>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Optimization is already inside modern computing systems</a:t>
            </a:r>
          </a:p>
        </p:txBody>
      </p:sp>
      <p:sp>
        <p:nvSpPr>
          <p:cNvPr id="3" name="">
            <a:extLst xmlns:a="http://schemas.openxmlformats.org/drawingml/2006/main">
              <a:ext uri="{FF2B5EF4-FFF2-40B4-BE49-F238E27FC236}">
                <a16:creationId xmlns:a16="http://schemas.microsoft.com/office/drawing/2014/main" id="{AE69568B-B695-497A-A4FE-439885397826}"/>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55E2B6E-9A32-4CE8-8102-3C3A7476779F}"/>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54EB6EC0-4082-4316-8ED3-F5F8F6C8941C}"/>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17</a:t>
            </a:r>
          </a:p>
        </p:txBody>
      </p:sp>
      <p:sp>
        <p:nvSpPr>
          <p:cNvPr id="6" name="">
            <a:extLst xmlns:a="http://schemas.openxmlformats.org/drawingml/2006/main">
              <a:ext uri="{FF2B5EF4-FFF2-40B4-BE49-F238E27FC236}">
                <a16:creationId xmlns:a16="http://schemas.microsoft.com/office/drawing/2014/main" id="{0E317D04-F1B2-452C-B1AB-04FF4C47395A}"/>
              </a:ext>
            </a:extLst>
          </p:cNvPr>
          <p:cNvSpPr>
            <a:spLocks xmlns:a="http://schemas.openxmlformats.org/drawingml/2006/main" noGrp="1"/>
          </p:cNvSpPr>
          <p:nvPr/>
        </p:nvSpPr>
        <p:spPr>
          <a:xfrm xmlns:a="http://schemas.openxmlformats.org/drawingml/2006/main">
            <a:off x="904875" y="1571625"/>
            <a:ext cx="314325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CED9DB"/>
            </a:solidFill>
            <a:prstDash val="solid"/>
          </a:ln>
        </p:spPr>
      </p:sp>
      <p:sp>
        <p:nvSpPr>
          <p:cNvPr id="7" name="">
            <a:extLst xmlns:a="http://schemas.openxmlformats.org/drawingml/2006/main">
              <a:ext uri="{FF2B5EF4-FFF2-40B4-BE49-F238E27FC236}">
                <a16:creationId xmlns:a16="http://schemas.microsoft.com/office/drawing/2014/main" id="{99F62224-8F34-475D-A12F-15C6BD92C5BB}"/>
              </a:ext>
            </a:extLst>
          </p:cNvPr>
          <p:cNvSpPr>
            <a:spLocks xmlns:a="http://schemas.openxmlformats.org/drawingml/2006/main" noGrp="1"/>
          </p:cNvSpPr>
          <p:nvPr/>
        </p:nvSpPr>
        <p:spPr>
          <a:xfrm xmlns:a="http://schemas.openxmlformats.org/drawingml/2006/main">
            <a:off x="904875" y="1571625"/>
            <a:ext cx="76200" cy="1476375"/>
          </a:xfrm>
          <a:prstGeom xmlns:a="http://schemas.openxmlformats.org/drawingml/2006/main" prst="rect">
            <a:avLst/>
          </a:prstGeom>
          <a:solidFill xmlns:a="http://schemas.openxmlformats.org/drawingml/2006/main">
            <a:srgbClr val="0B9B91"/>
          </a:solidFill>
          <a:ln xmlns:a="http://schemas.openxmlformats.org/drawingml/2006/main" w="0">
            <a:solidFill>
              <a:srgbClr val="0B9B91"/>
            </a:solidFill>
            <a:prstDash val="solid"/>
          </a:ln>
        </p:spPr>
      </p:sp>
      <p:sp>
        <p:nvSpPr>
          <p:cNvPr id="8" name="">
            <a:extLst xmlns:a="http://schemas.openxmlformats.org/drawingml/2006/main">
              <a:ext uri="{FF2B5EF4-FFF2-40B4-BE49-F238E27FC236}">
                <a16:creationId xmlns:a16="http://schemas.microsoft.com/office/drawing/2014/main" id="{11D9DF2D-0E62-4A6D-8856-59212D01EAF9}"/>
              </a:ext>
            </a:extLst>
          </p:cNvPr>
          <p:cNvSpPr>
            <a:spLocks xmlns:a="http://schemas.openxmlformats.org/drawingml/2006/main" noGrp="1"/>
          </p:cNvSpPr>
          <p:nvPr/>
        </p:nvSpPr>
        <p:spPr>
          <a:xfrm xmlns:a="http://schemas.openxmlformats.org/drawingml/2006/main">
            <a:off x="1171575" y="17430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0B9B91"/>
                </a:solidFill>
              </a:defRPr>
            </a:pPr>
            <a:r>
              <a:rPr sz="1725" b="1">
                <a:solidFill>
                  <a:srgbClr val="0B9B91"/>
                </a:solidFill>
              </a:rPr>
              <a:t>NETWORKS</a:t>
            </a:r>
          </a:p>
        </p:txBody>
      </p:sp>
      <p:sp>
        <p:nvSpPr>
          <p:cNvPr id="9" name="">
            <a:extLst xmlns:a="http://schemas.openxmlformats.org/drawingml/2006/main">
              <a:ext uri="{FF2B5EF4-FFF2-40B4-BE49-F238E27FC236}">
                <a16:creationId xmlns:a16="http://schemas.microsoft.com/office/drawing/2014/main" id="{622C0CC8-1872-42C8-A05B-525068B8DB2C}"/>
              </a:ext>
            </a:extLst>
          </p:cNvPr>
          <p:cNvSpPr>
            <a:spLocks xmlns:a="http://schemas.openxmlformats.org/drawingml/2006/main" noGrp="1"/>
          </p:cNvSpPr>
          <p:nvPr/>
        </p:nvSpPr>
        <p:spPr>
          <a:xfrm xmlns:a="http://schemas.openxmlformats.org/drawingml/2006/main">
            <a:off x="1171575" y="2162175"/>
            <a:ext cx="26670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routing • bandwidth</a:t>
            </a:r>
          </a:p>
        </p:txBody>
      </p:sp>
      <p:sp>
        <p:nvSpPr>
          <p:cNvPr id="10" name="">
            <a:extLst xmlns:a="http://schemas.openxmlformats.org/drawingml/2006/main">
              <a:ext uri="{FF2B5EF4-FFF2-40B4-BE49-F238E27FC236}">
                <a16:creationId xmlns:a16="http://schemas.microsoft.com/office/drawing/2014/main" id="{11F4C973-8773-4019-AD23-D7BAD8D9CBB9}"/>
              </a:ext>
            </a:extLst>
          </p:cNvPr>
          <p:cNvSpPr>
            <a:spLocks xmlns:a="http://schemas.openxmlformats.org/drawingml/2006/main" noGrp="1"/>
          </p:cNvSpPr>
          <p:nvPr/>
        </p:nvSpPr>
        <p:spPr>
          <a:xfrm xmlns:a="http://schemas.openxmlformats.org/drawingml/2006/main">
            <a:off x="4524375" y="1571625"/>
            <a:ext cx="314325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CED9DB"/>
            </a:solidFill>
            <a:prstDash val="solid"/>
          </a:ln>
        </p:spPr>
      </p:sp>
      <p:sp>
        <p:nvSpPr>
          <p:cNvPr id="11" name="">
            <a:extLst xmlns:a="http://schemas.openxmlformats.org/drawingml/2006/main">
              <a:ext uri="{FF2B5EF4-FFF2-40B4-BE49-F238E27FC236}">
                <a16:creationId xmlns:a16="http://schemas.microsoft.com/office/drawing/2014/main" id="{6CAA659D-D991-4D31-990F-02CA963025B2}"/>
              </a:ext>
            </a:extLst>
          </p:cNvPr>
          <p:cNvSpPr>
            <a:spLocks xmlns:a="http://schemas.openxmlformats.org/drawingml/2006/main" noGrp="1"/>
          </p:cNvSpPr>
          <p:nvPr/>
        </p:nvSpPr>
        <p:spPr>
          <a:xfrm xmlns:a="http://schemas.openxmlformats.org/drawingml/2006/main">
            <a:off x="4524375" y="1571625"/>
            <a:ext cx="76200" cy="1476375"/>
          </a:xfrm>
          <a:prstGeom xmlns:a="http://schemas.openxmlformats.org/drawingml/2006/main" prst="rect">
            <a:avLst/>
          </a:prstGeom>
          <a:solidFill xmlns:a="http://schemas.openxmlformats.org/drawingml/2006/main">
            <a:srgbClr val="2878B5"/>
          </a:solidFill>
          <a:ln xmlns:a="http://schemas.openxmlformats.org/drawingml/2006/main" w="0">
            <a:solidFill>
              <a:srgbClr val="2878B5"/>
            </a:solidFill>
            <a:prstDash val="solid"/>
          </a:ln>
        </p:spPr>
      </p:sp>
      <p:sp>
        <p:nvSpPr>
          <p:cNvPr id="12" name="">
            <a:extLst xmlns:a="http://schemas.openxmlformats.org/drawingml/2006/main">
              <a:ext uri="{FF2B5EF4-FFF2-40B4-BE49-F238E27FC236}">
                <a16:creationId xmlns:a16="http://schemas.microsoft.com/office/drawing/2014/main" id="{ED12FBCF-FB7C-4107-AD25-A2744DE94BC9}"/>
              </a:ext>
            </a:extLst>
          </p:cNvPr>
          <p:cNvSpPr>
            <a:spLocks xmlns:a="http://schemas.openxmlformats.org/drawingml/2006/main" noGrp="1"/>
          </p:cNvSpPr>
          <p:nvPr/>
        </p:nvSpPr>
        <p:spPr>
          <a:xfrm xmlns:a="http://schemas.openxmlformats.org/drawingml/2006/main">
            <a:off x="4791075" y="17430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2878B5"/>
                </a:solidFill>
              </a:defRPr>
            </a:pPr>
            <a:r>
              <a:rPr sz="1725" b="1">
                <a:solidFill>
                  <a:srgbClr val="2878B5"/>
                </a:solidFill>
              </a:rPr>
              <a:t>CLOUD</a:t>
            </a:r>
          </a:p>
        </p:txBody>
      </p:sp>
      <p:sp>
        <p:nvSpPr>
          <p:cNvPr id="13" name="">
            <a:extLst xmlns:a="http://schemas.openxmlformats.org/drawingml/2006/main">
              <a:ext uri="{FF2B5EF4-FFF2-40B4-BE49-F238E27FC236}">
                <a16:creationId xmlns:a16="http://schemas.microsoft.com/office/drawing/2014/main" id="{C2C1F636-40B7-4396-B15D-65FED0DB55E1}"/>
              </a:ext>
            </a:extLst>
          </p:cNvPr>
          <p:cNvSpPr>
            <a:spLocks xmlns:a="http://schemas.openxmlformats.org/drawingml/2006/main" noGrp="1"/>
          </p:cNvSpPr>
          <p:nvPr/>
        </p:nvSpPr>
        <p:spPr>
          <a:xfrm xmlns:a="http://schemas.openxmlformats.org/drawingml/2006/main">
            <a:off x="4791075" y="2162175"/>
            <a:ext cx="26670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placement • scaling</a:t>
            </a:r>
          </a:p>
        </p:txBody>
      </p:sp>
      <p:sp>
        <p:nvSpPr>
          <p:cNvPr id="14" name="">
            <a:extLst xmlns:a="http://schemas.openxmlformats.org/drawingml/2006/main">
              <a:ext uri="{FF2B5EF4-FFF2-40B4-BE49-F238E27FC236}">
                <a16:creationId xmlns:a16="http://schemas.microsoft.com/office/drawing/2014/main" id="{E90E263A-F537-4436-8C07-00E34064CF8F}"/>
              </a:ext>
            </a:extLst>
          </p:cNvPr>
          <p:cNvSpPr>
            <a:spLocks xmlns:a="http://schemas.openxmlformats.org/drawingml/2006/main" noGrp="1"/>
          </p:cNvSpPr>
          <p:nvPr/>
        </p:nvSpPr>
        <p:spPr>
          <a:xfrm xmlns:a="http://schemas.openxmlformats.org/drawingml/2006/main">
            <a:off x="8143875" y="1571625"/>
            <a:ext cx="314325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CED9DB"/>
            </a:solidFill>
            <a:prstDash val="solid"/>
          </a:ln>
        </p:spPr>
      </p:sp>
      <p:sp>
        <p:nvSpPr>
          <p:cNvPr id="15" name="">
            <a:extLst xmlns:a="http://schemas.openxmlformats.org/drawingml/2006/main">
              <a:ext uri="{FF2B5EF4-FFF2-40B4-BE49-F238E27FC236}">
                <a16:creationId xmlns:a16="http://schemas.microsoft.com/office/drawing/2014/main" id="{C160C648-68CF-4B1F-8700-04B0FDDABE79}"/>
              </a:ext>
            </a:extLst>
          </p:cNvPr>
          <p:cNvSpPr>
            <a:spLocks xmlns:a="http://schemas.openxmlformats.org/drawingml/2006/main" noGrp="1"/>
          </p:cNvSpPr>
          <p:nvPr/>
        </p:nvSpPr>
        <p:spPr>
          <a:xfrm xmlns:a="http://schemas.openxmlformats.org/drawingml/2006/main">
            <a:off x="8143875" y="1571625"/>
            <a:ext cx="76200" cy="1476375"/>
          </a:xfrm>
          <a:prstGeom xmlns:a="http://schemas.openxmlformats.org/drawingml/2006/main" prst="rect">
            <a:avLst/>
          </a:prstGeom>
          <a:solidFill xmlns:a="http://schemas.openxmlformats.org/drawingml/2006/main">
            <a:srgbClr val="F2A93B"/>
          </a:solidFill>
          <a:ln xmlns:a="http://schemas.openxmlformats.org/drawingml/2006/main" w="0">
            <a:solidFill>
              <a:srgbClr val="F2A93B"/>
            </a:solidFill>
            <a:prstDash val="solid"/>
          </a:ln>
        </p:spPr>
      </p:sp>
      <p:sp>
        <p:nvSpPr>
          <p:cNvPr id="16" name="">
            <a:extLst xmlns:a="http://schemas.openxmlformats.org/drawingml/2006/main">
              <a:ext uri="{FF2B5EF4-FFF2-40B4-BE49-F238E27FC236}">
                <a16:creationId xmlns:a16="http://schemas.microsoft.com/office/drawing/2014/main" id="{928C983A-02C6-4F91-BC75-92BD7D7765EB}"/>
              </a:ext>
            </a:extLst>
          </p:cNvPr>
          <p:cNvSpPr>
            <a:spLocks xmlns:a="http://schemas.openxmlformats.org/drawingml/2006/main" noGrp="1"/>
          </p:cNvSpPr>
          <p:nvPr/>
        </p:nvSpPr>
        <p:spPr>
          <a:xfrm xmlns:a="http://schemas.openxmlformats.org/drawingml/2006/main">
            <a:off x="8410575" y="17430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F2A93B"/>
                </a:solidFill>
              </a:defRPr>
            </a:pPr>
            <a:r>
              <a:rPr sz="1725" b="1">
                <a:solidFill>
                  <a:srgbClr val="F2A93B"/>
                </a:solidFill>
              </a:rPr>
              <a:t>AI / ML</a:t>
            </a:r>
          </a:p>
        </p:txBody>
      </p:sp>
      <p:sp>
        <p:nvSpPr>
          <p:cNvPr id="17" name="">
            <a:extLst xmlns:a="http://schemas.openxmlformats.org/drawingml/2006/main">
              <a:ext uri="{FF2B5EF4-FFF2-40B4-BE49-F238E27FC236}">
                <a16:creationId xmlns:a16="http://schemas.microsoft.com/office/drawing/2014/main" id="{AF6A04C6-1AA9-45B7-B7F3-DCFD56835E82}"/>
              </a:ext>
            </a:extLst>
          </p:cNvPr>
          <p:cNvSpPr>
            <a:spLocks xmlns:a="http://schemas.openxmlformats.org/drawingml/2006/main" noGrp="1"/>
          </p:cNvSpPr>
          <p:nvPr/>
        </p:nvSpPr>
        <p:spPr>
          <a:xfrm xmlns:a="http://schemas.openxmlformats.org/drawingml/2006/main">
            <a:off x="8410575" y="2162175"/>
            <a:ext cx="26670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loss minimization</a:t>
            </a:r>
          </a:p>
        </p:txBody>
      </p:sp>
      <p:sp>
        <p:nvSpPr>
          <p:cNvPr id="18" name="">
            <a:extLst xmlns:a="http://schemas.openxmlformats.org/drawingml/2006/main">
              <a:ext uri="{FF2B5EF4-FFF2-40B4-BE49-F238E27FC236}">
                <a16:creationId xmlns:a16="http://schemas.microsoft.com/office/drawing/2014/main" id="{26618CA5-283E-49BF-B538-F9334E6A9BD4}"/>
              </a:ext>
            </a:extLst>
          </p:cNvPr>
          <p:cNvSpPr>
            <a:spLocks xmlns:a="http://schemas.openxmlformats.org/drawingml/2006/main" noGrp="1"/>
          </p:cNvSpPr>
          <p:nvPr/>
        </p:nvSpPr>
        <p:spPr>
          <a:xfrm xmlns:a="http://schemas.openxmlformats.org/drawingml/2006/main">
            <a:off x="904875" y="3524250"/>
            <a:ext cx="314325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CED9DB"/>
            </a:solidFill>
            <a:prstDash val="solid"/>
          </a:ln>
        </p:spPr>
      </p:sp>
      <p:sp>
        <p:nvSpPr>
          <p:cNvPr id="19" name="">
            <a:extLst xmlns:a="http://schemas.openxmlformats.org/drawingml/2006/main">
              <a:ext uri="{FF2B5EF4-FFF2-40B4-BE49-F238E27FC236}">
                <a16:creationId xmlns:a16="http://schemas.microsoft.com/office/drawing/2014/main" id="{45EA4FE0-791A-45C0-A860-B92F4E8E3068}"/>
              </a:ext>
            </a:extLst>
          </p:cNvPr>
          <p:cNvSpPr>
            <a:spLocks xmlns:a="http://schemas.openxmlformats.org/drawingml/2006/main" noGrp="1"/>
          </p:cNvSpPr>
          <p:nvPr/>
        </p:nvSpPr>
        <p:spPr>
          <a:xfrm xmlns:a="http://schemas.openxmlformats.org/drawingml/2006/main">
            <a:off x="904875" y="3524250"/>
            <a:ext cx="76200" cy="1476375"/>
          </a:xfrm>
          <a:prstGeom xmlns:a="http://schemas.openxmlformats.org/drawingml/2006/main" prst="rect">
            <a:avLst/>
          </a:prstGeom>
          <a:solidFill xmlns:a="http://schemas.openxmlformats.org/drawingml/2006/main">
            <a:srgbClr val="0B9B91"/>
          </a:solidFill>
          <a:ln xmlns:a="http://schemas.openxmlformats.org/drawingml/2006/main" w="0">
            <a:solidFill>
              <a:srgbClr val="0B9B91"/>
            </a:solidFill>
            <a:prstDash val="solid"/>
          </a:ln>
        </p:spPr>
      </p:sp>
      <p:sp>
        <p:nvSpPr>
          <p:cNvPr id="20" name="">
            <a:extLst xmlns:a="http://schemas.openxmlformats.org/drawingml/2006/main">
              <a:ext uri="{FF2B5EF4-FFF2-40B4-BE49-F238E27FC236}">
                <a16:creationId xmlns:a16="http://schemas.microsoft.com/office/drawing/2014/main" id="{62FA32BA-664F-4D34-A14E-F5DE3339BCE3}"/>
              </a:ext>
            </a:extLst>
          </p:cNvPr>
          <p:cNvSpPr>
            <a:spLocks xmlns:a="http://schemas.openxmlformats.org/drawingml/2006/main" noGrp="1"/>
          </p:cNvSpPr>
          <p:nvPr/>
        </p:nvSpPr>
        <p:spPr>
          <a:xfrm xmlns:a="http://schemas.openxmlformats.org/drawingml/2006/main">
            <a:off x="1171575" y="369570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0B9B91"/>
                </a:solidFill>
              </a:defRPr>
            </a:pPr>
            <a:r>
              <a:rPr sz="1725" b="1">
                <a:solidFill>
                  <a:srgbClr val="0B9B91"/>
                </a:solidFill>
              </a:rPr>
              <a:t>SOFTWARE</a:t>
            </a:r>
          </a:p>
        </p:txBody>
      </p:sp>
      <p:sp>
        <p:nvSpPr>
          <p:cNvPr id="21" name="">
            <a:extLst xmlns:a="http://schemas.openxmlformats.org/drawingml/2006/main">
              <a:ext uri="{FF2B5EF4-FFF2-40B4-BE49-F238E27FC236}">
                <a16:creationId xmlns:a16="http://schemas.microsoft.com/office/drawing/2014/main" id="{BE536AA7-B3B2-4E3A-A053-0F3EC3B8AC78}"/>
              </a:ext>
            </a:extLst>
          </p:cNvPr>
          <p:cNvSpPr>
            <a:spLocks xmlns:a="http://schemas.openxmlformats.org/drawingml/2006/main" noGrp="1"/>
          </p:cNvSpPr>
          <p:nvPr/>
        </p:nvSpPr>
        <p:spPr>
          <a:xfrm xmlns:a="http://schemas.openxmlformats.org/drawingml/2006/main">
            <a:off x="1171575" y="4114800"/>
            <a:ext cx="26670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testing • scheduling</a:t>
            </a:r>
          </a:p>
        </p:txBody>
      </p:sp>
      <p:sp>
        <p:nvSpPr>
          <p:cNvPr id="22" name="">
            <a:extLst xmlns:a="http://schemas.openxmlformats.org/drawingml/2006/main">
              <a:ext uri="{FF2B5EF4-FFF2-40B4-BE49-F238E27FC236}">
                <a16:creationId xmlns:a16="http://schemas.microsoft.com/office/drawing/2014/main" id="{A0E4CF32-A92B-4F49-ADC6-0DE9433D4819}"/>
              </a:ext>
            </a:extLst>
          </p:cNvPr>
          <p:cNvSpPr>
            <a:spLocks xmlns:a="http://schemas.openxmlformats.org/drawingml/2006/main" noGrp="1"/>
          </p:cNvSpPr>
          <p:nvPr/>
        </p:nvSpPr>
        <p:spPr>
          <a:xfrm xmlns:a="http://schemas.openxmlformats.org/drawingml/2006/main">
            <a:off x="4524375" y="3524250"/>
            <a:ext cx="314325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CED9DB"/>
            </a:solidFill>
            <a:prstDash val="solid"/>
          </a:ln>
        </p:spPr>
      </p:sp>
      <p:sp>
        <p:nvSpPr>
          <p:cNvPr id="23" name="">
            <a:extLst xmlns:a="http://schemas.openxmlformats.org/drawingml/2006/main">
              <a:ext uri="{FF2B5EF4-FFF2-40B4-BE49-F238E27FC236}">
                <a16:creationId xmlns:a16="http://schemas.microsoft.com/office/drawing/2014/main" id="{516C1E46-4D7A-4925-AAEA-8059CA866CEC}"/>
              </a:ext>
            </a:extLst>
          </p:cNvPr>
          <p:cNvSpPr>
            <a:spLocks xmlns:a="http://schemas.openxmlformats.org/drawingml/2006/main" noGrp="1"/>
          </p:cNvSpPr>
          <p:nvPr/>
        </p:nvSpPr>
        <p:spPr>
          <a:xfrm xmlns:a="http://schemas.openxmlformats.org/drawingml/2006/main">
            <a:off x="4524375" y="3524250"/>
            <a:ext cx="76200" cy="1476375"/>
          </a:xfrm>
          <a:prstGeom xmlns:a="http://schemas.openxmlformats.org/drawingml/2006/main" prst="rect">
            <a:avLst/>
          </a:prstGeom>
          <a:solidFill xmlns:a="http://schemas.openxmlformats.org/drawingml/2006/main">
            <a:srgbClr val="2878B5"/>
          </a:solidFill>
          <a:ln xmlns:a="http://schemas.openxmlformats.org/drawingml/2006/main" w="0">
            <a:solidFill>
              <a:srgbClr val="2878B5"/>
            </a:solidFill>
            <a:prstDash val="solid"/>
          </a:ln>
        </p:spPr>
      </p:sp>
      <p:sp>
        <p:nvSpPr>
          <p:cNvPr id="24" name="">
            <a:extLst xmlns:a="http://schemas.openxmlformats.org/drawingml/2006/main">
              <a:ext uri="{FF2B5EF4-FFF2-40B4-BE49-F238E27FC236}">
                <a16:creationId xmlns:a16="http://schemas.microsoft.com/office/drawing/2014/main" id="{3173AD7C-402F-4E59-96FD-98F22314390A}"/>
              </a:ext>
            </a:extLst>
          </p:cNvPr>
          <p:cNvSpPr>
            <a:spLocks xmlns:a="http://schemas.openxmlformats.org/drawingml/2006/main" noGrp="1"/>
          </p:cNvSpPr>
          <p:nvPr/>
        </p:nvSpPr>
        <p:spPr>
          <a:xfrm xmlns:a="http://schemas.openxmlformats.org/drawingml/2006/main">
            <a:off x="4791075" y="369570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2878B5"/>
                </a:solidFill>
              </a:defRPr>
            </a:pPr>
            <a:r>
              <a:rPr sz="1725" b="1">
                <a:solidFill>
                  <a:srgbClr val="2878B5"/>
                </a:solidFill>
              </a:rPr>
              <a:t>SECURITY</a:t>
            </a:r>
          </a:p>
        </p:txBody>
      </p:sp>
      <p:sp>
        <p:nvSpPr>
          <p:cNvPr id="25" name="">
            <a:extLst xmlns:a="http://schemas.openxmlformats.org/drawingml/2006/main">
              <a:ext uri="{FF2B5EF4-FFF2-40B4-BE49-F238E27FC236}">
                <a16:creationId xmlns:a16="http://schemas.microsoft.com/office/drawing/2014/main" id="{8D6A51D2-5168-444C-988F-30DD523C276B}"/>
              </a:ext>
            </a:extLst>
          </p:cNvPr>
          <p:cNvSpPr>
            <a:spLocks xmlns:a="http://schemas.openxmlformats.org/drawingml/2006/main" noGrp="1"/>
          </p:cNvSpPr>
          <p:nvPr/>
        </p:nvSpPr>
        <p:spPr>
          <a:xfrm xmlns:a="http://schemas.openxmlformats.org/drawingml/2006/main">
            <a:off x="4791075" y="4114800"/>
            <a:ext cx="26670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resource allocation</a:t>
            </a:r>
          </a:p>
        </p:txBody>
      </p:sp>
      <p:sp>
        <p:nvSpPr>
          <p:cNvPr id="26" name="">
            <a:extLst xmlns:a="http://schemas.openxmlformats.org/drawingml/2006/main">
              <a:ext uri="{FF2B5EF4-FFF2-40B4-BE49-F238E27FC236}">
                <a16:creationId xmlns:a16="http://schemas.microsoft.com/office/drawing/2014/main" id="{6BE8F705-01F8-42ED-B37C-730BAB9E6FDC}"/>
              </a:ext>
            </a:extLst>
          </p:cNvPr>
          <p:cNvSpPr>
            <a:spLocks xmlns:a="http://schemas.openxmlformats.org/drawingml/2006/main" noGrp="1"/>
          </p:cNvSpPr>
          <p:nvPr/>
        </p:nvSpPr>
        <p:spPr>
          <a:xfrm xmlns:a="http://schemas.openxmlformats.org/drawingml/2006/main">
            <a:off x="8143875" y="3524250"/>
            <a:ext cx="314325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CED9DB"/>
            </a:solidFill>
            <a:prstDash val="solid"/>
          </a:ln>
        </p:spPr>
      </p:sp>
      <p:sp>
        <p:nvSpPr>
          <p:cNvPr id="27" name="">
            <a:extLst xmlns:a="http://schemas.openxmlformats.org/drawingml/2006/main">
              <a:ext uri="{FF2B5EF4-FFF2-40B4-BE49-F238E27FC236}">
                <a16:creationId xmlns:a16="http://schemas.microsoft.com/office/drawing/2014/main" id="{EDBA2C24-C325-4B37-819F-43DFB92BAEAB}"/>
              </a:ext>
            </a:extLst>
          </p:cNvPr>
          <p:cNvSpPr>
            <a:spLocks xmlns:a="http://schemas.openxmlformats.org/drawingml/2006/main" noGrp="1"/>
          </p:cNvSpPr>
          <p:nvPr/>
        </p:nvSpPr>
        <p:spPr>
          <a:xfrm xmlns:a="http://schemas.openxmlformats.org/drawingml/2006/main">
            <a:off x="8143875" y="3524250"/>
            <a:ext cx="76200" cy="1476375"/>
          </a:xfrm>
          <a:prstGeom xmlns:a="http://schemas.openxmlformats.org/drawingml/2006/main" prst="rect">
            <a:avLst/>
          </a:prstGeom>
          <a:solidFill xmlns:a="http://schemas.openxmlformats.org/drawingml/2006/main">
            <a:srgbClr val="F2A93B"/>
          </a:solidFill>
          <a:ln xmlns:a="http://schemas.openxmlformats.org/drawingml/2006/main" w="0">
            <a:solidFill>
              <a:srgbClr val="F2A93B"/>
            </a:solidFill>
            <a:prstDash val="solid"/>
          </a:ln>
        </p:spPr>
      </p:sp>
      <p:sp>
        <p:nvSpPr>
          <p:cNvPr id="28" name="">
            <a:extLst xmlns:a="http://schemas.openxmlformats.org/drawingml/2006/main">
              <a:ext uri="{FF2B5EF4-FFF2-40B4-BE49-F238E27FC236}">
                <a16:creationId xmlns:a16="http://schemas.microsoft.com/office/drawing/2014/main" id="{637A7402-D167-4BDC-BB62-1F6B16357839}"/>
              </a:ext>
            </a:extLst>
          </p:cNvPr>
          <p:cNvSpPr>
            <a:spLocks xmlns:a="http://schemas.openxmlformats.org/drawingml/2006/main" noGrp="1"/>
          </p:cNvSpPr>
          <p:nvPr/>
        </p:nvSpPr>
        <p:spPr>
          <a:xfrm xmlns:a="http://schemas.openxmlformats.org/drawingml/2006/main">
            <a:off x="8410575" y="369570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F2A93B"/>
                </a:solidFill>
              </a:defRPr>
            </a:pPr>
            <a:r>
              <a:rPr sz="1725" b="1">
                <a:solidFill>
                  <a:srgbClr val="F2A93B"/>
                </a:solidFill>
              </a:rPr>
              <a:t>LOGISTICS</a:t>
            </a:r>
          </a:p>
        </p:txBody>
      </p:sp>
      <p:sp>
        <p:nvSpPr>
          <p:cNvPr id="29" name="">
            <a:extLst xmlns:a="http://schemas.openxmlformats.org/drawingml/2006/main">
              <a:ext uri="{FF2B5EF4-FFF2-40B4-BE49-F238E27FC236}">
                <a16:creationId xmlns:a16="http://schemas.microsoft.com/office/drawing/2014/main" id="{1F33CE19-C75C-42C8-AF77-EB56A66B91D7}"/>
              </a:ext>
            </a:extLst>
          </p:cNvPr>
          <p:cNvSpPr>
            <a:spLocks xmlns:a="http://schemas.openxmlformats.org/drawingml/2006/main" noGrp="1"/>
          </p:cNvSpPr>
          <p:nvPr/>
        </p:nvSpPr>
        <p:spPr>
          <a:xfrm xmlns:a="http://schemas.openxmlformats.org/drawingml/2006/main">
            <a:off x="8410575" y="4114800"/>
            <a:ext cx="26670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routes • packing</a:t>
            </a:r>
          </a:p>
        </p:txBody>
      </p:sp>
      <p:sp>
        <p:nvSpPr>
          <p:cNvPr id="30" name="">
            <a:extLst xmlns:a="http://schemas.openxmlformats.org/drawingml/2006/main">
              <a:ext uri="{FF2B5EF4-FFF2-40B4-BE49-F238E27FC236}">
                <a16:creationId xmlns:a16="http://schemas.microsoft.com/office/drawing/2014/main" id="{2D3B8735-198B-4DB6-AC79-87658D3AF8AB}"/>
              </a:ext>
            </a:extLst>
          </p:cNvPr>
          <p:cNvSpPr>
            <a:spLocks xmlns:a="http://schemas.openxmlformats.org/drawingml/2006/main" noGrp="1"/>
          </p:cNvSpPr>
          <p:nvPr/>
        </p:nvSpPr>
        <p:spPr>
          <a:xfrm xmlns:a="http://schemas.openxmlformats.org/drawingml/2006/main">
            <a:off x="1619250" y="5715000"/>
            <a:ext cx="8953500" cy="523875"/>
          </a:xfrm>
          <a:prstGeom xmlns:a="http://schemas.openxmlformats.org/drawingml/2006/main" prst="roundRect">
            <a:avLst>
              <a:gd name="adj" fmla="val 14545"/>
            </a:avLst>
          </a:prstGeom>
          <a:solidFill xmlns:a="http://schemas.openxmlformats.org/drawingml/2006/main">
            <a:srgbClr val="E6F3F2"/>
          </a:solidFill>
          <a:ln xmlns:a="http://schemas.openxmlformats.org/drawingml/2006/main" w="0">
            <a:solidFill>
              <a:srgbClr val="E6F3F2"/>
            </a:solidFill>
            <a:prstDash val="solid"/>
          </a:ln>
        </p:spPr>
      </p:sp>
      <p:sp>
        <p:nvSpPr>
          <p:cNvPr id="31" name="">
            <a:extLst xmlns:a="http://schemas.openxmlformats.org/drawingml/2006/main">
              <a:ext uri="{FF2B5EF4-FFF2-40B4-BE49-F238E27FC236}">
                <a16:creationId xmlns:a16="http://schemas.microsoft.com/office/drawing/2014/main" id="{34B68F0E-FEED-47DC-9148-32C477DA1515}"/>
              </a:ext>
            </a:extLst>
          </p:cNvPr>
          <p:cNvSpPr>
            <a:spLocks xmlns:a="http://schemas.openxmlformats.org/drawingml/2006/main" noGrp="1"/>
          </p:cNvSpPr>
          <p:nvPr/>
        </p:nvSpPr>
        <p:spPr>
          <a:xfrm xmlns:a="http://schemas.openxmlformats.org/drawingml/2006/main">
            <a:off x="1828800" y="5810250"/>
            <a:ext cx="8534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092A3D"/>
                </a:solidFill>
              </a:defRPr>
            </a:pPr>
            <a:r>
              <a:rPr sz="1575" b="1">
                <a:solidFill>
                  <a:srgbClr val="092A3D"/>
                </a:solidFill>
              </a:rPr>
              <a:t>The model changes; the decision–objective–constraint structure remains.</a:t>
            </a:r>
          </a:p>
        </p:txBody>
      </p:sp>
    </p:spTree>
    <p:extLst>
      <p:ext uri="{BB962C8B-B14F-4D97-AF65-F5344CB8AC3E}">
        <p14:creationId xmlns:p14="http://schemas.microsoft.com/office/powerpoint/2010/main" val="1587462435"/>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DD20461-7C76-4F42-A98E-28946F168223}"/>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APPLICATIONS</a:t>
            </a:r>
          </a:p>
        </p:txBody>
      </p:sp>
      <p:sp>
        <p:nvSpPr>
          <p:cNvPr id="2" name="">
            <a:extLst xmlns:a="http://schemas.openxmlformats.org/drawingml/2006/main">
              <a:ext uri="{FF2B5EF4-FFF2-40B4-BE49-F238E27FC236}">
                <a16:creationId xmlns:a16="http://schemas.microsoft.com/office/drawing/2014/main" id="{B4859A27-D020-4FAD-B84D-23841A3A2291}"/>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Software engineering contains optimization decisions</a:t>
            </a:r>
          </a:p>
        </p:txBody>
      </p:sp>
      <p:sp>
        <p:nvSpPr>
          <p:cNvPr id="3" name="">
            <a:extLst xmlns:a="http://schemas.openxmlformats.org/drawingml/2006/main">
              <a:ext uri="{FF2B5EF4-FFF2-40B4-BE49-F238E27FC236}">
                <a16:creationId xmlns:a16="http://schemas.microsoft.com/office/drawing/2014/main" id="{ED337F97-DEE0-4081-8376-950370351D14}"/>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A4227A7-6B38-4CD6-B2E5-C8ECAFA97129}"/>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2D05E0D0-7F68-41A1-B43A-E9C76C08F434}"/>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18</a:t>
            </a:r>
          </a:p>
        </p:txBody>
      </p:sp>
      <p:sp>
        <p:nvSpPr>
          <p:cNvPr id="6" name="">
            <a:extLst xmlns:a="http://schemas.openxmlformats.org/drawingml/2006/main">
              <a:ext uri="{FF2B5EF4-FFF2-40B4-BE49-F238E27FC236}">
                <a16:creationId xmlns:a16="http://schemas.microsoft.com/office/drawing/2014/main" id="{D8DFB543-C0C1-4046-9F61-92E992CEAD91}"/>
              </a:ext>
            </a:extLst>
          </p:cNvPr>
          <p:cNvSpPr>
            <a:spLocks xmlns:a="http://schemas.openxmlformats.org/drawingml/2006/main" noGrp="1"/>
          </p:cNvSpPr>
          <p:nvPr/>
        </p:nvSpPr>
        <p:spPr>
          <a:xfrm xmlns:a="http://schemas.openxmlformats.org/drawingml/2006/main">
            <a:off x="809625" y="1476375"/>
            <a:ext cx="2190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0B9B91"/>
                </a:solidFill>
              </a:defRPr>
            </a:pPr>
            <a:r>
              <a:rPr sz="1500" b="1">
                <a:solidFill>
                  <a:srgbClr val="0B9B91"/>
                </a:solidFill>
              </a:rPr>
              <a:t>Release planning</a:t>
            </a:r>
          </a:p>
        </p:txBody>
      </p:sp>
      <p:sp>
        <p:nvSpPr>
          <p:cNvPr id="7" name="">
            <a:extLst xmlns:a="http://schemas.openxmlformats.org/drawingml/2006/main">
              <a:ext uri="{FF2B5EF4-FFF2-40B4-BE49-F238E27FC236}">
                <a16:creationId xmlns:a16="http://schemas.microsoft.com/office/drawing/2014/main" id="{4A7A5005-3E4B-42E0-B20C-4FE830BDBD69}"/>
              </a:ext>
            </a:extLst>
          </p:cNvPr>
          <p:cNvSpPr>
            <a:spLocks xmlns:a="http://schemas.openxmlformats.org/drawingml/2006/main" noGrp="1"/>
          </p:cNvSpPr>
          <p:nvPr/>
        </p:nvSpPr>
        <p:spPr>
          <a:xfrm xmlns:a="http://schemas.openxmlformats.org/drawingml/2006/main">
            <a:off x="3190875" y="1476375"/>
            <a:ext cx="4191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83544"/>
                </a:solidFill>
              </a:defRPr>
            </a:pPr>
            <a:r>
              <a:rPr sz="1500" b="1">
                <a:solidFill>
                  <a:srgbClr val="183544"/>
                </a:solidFill>
              </a:rPr>
              <a:t>Which features enter the next release?</a:t>
            </a:r>
          </a:p>
        </p:txBody>
      </p:sp>
      <p:sp>
        <p:nvSpPr>
          <p:cNvPr id="8" name="">
            <a:extLst xmlns:a="http://schemas.openxmlformats.org/drawingml/2006/main">
              <a:ext uri="{FF2B5EF4-FFF2-40B4-BE49-F238E27FC236}">
                <a16:creationId xmlns:a16="http://schemas.microsoft.com/office/drawing/2014/main" id="{ADA1BD93-9BF2-40B8-BEE9-C50C3F3D7E16}"/>
              </a:ext>
            </a:extLst>
          </p:cNvPr>
          <p:cNvSpPr>
            <a:spLocks xmlns:a="http://schemas.openxmlformats.org/drawingml/2006/main" noGrp="1"/>
          </p:cNvSpPr>
          <p:nvPr/>
        </p:nvSpPr>
        <p:spPr>
          <a:xfrm xmlns:a="http://schemas.openxmlformats.org/drawingml/2006/main">
            <a:off x="7620000" y="1476375"/>
            <a:ext cx="3714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58707C"/>
                </a:solidFill>
              </a:defRPr>
            </a:pPr>
            <a:r>
              <a:rPr sz="1425" b="0">
                <a:solidFill>
                  <a:srgbClr val="58707C"/>
                </a:solidFill>
              </a:rPr>
              <a:t>maximize value under effort</a:t>
            </a:r>
          </a:p>
        </p:txBody>
      </p:sp>
      <p:sp>
        <p:nvSpPr>
          <p:cNvPr id="9" name="">
            <a:extLst xmlns:a="http://schemas.openxmlformats.org/drawingml/2006/main">
              <a:ext uri="{FF2B5EF4-FFF2-40B4-BE49-F238E27FC236}">
                <a16:creationId xmlns:a16="http://schemas.microsoft.com/office/drawing/2014/main" id="{9EEF2B50-E6C8-4634-B44E-C68F4541B270}"/>
              </a:ext>
            </a:extLst>
          </p:cNvPr>
          <p:cNvSpPr>
            <a:spLocks xmlns:a="http://schemas.openxmlformats.org/drawingml/2006/main" noGrp="1"/>
          </p:cNvSpPr>
          <p:nvPr/>
        </p:nvSpPr>
        <p:spPr>
          <a:xfrm xmlns:a="http://schemas.openxmlformats.org/drawingml/2006/main">
            <a:off x="809625" y="2524125"/>
            <a:ext cx="2190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0B9B91"/>
                </a:solidFill>
              </a:defRPr>
            </a:pPr>
            <a:r>
              <a:rPr sz="1500" b="1">
                <a:solidFill>
                  <a:srgbClr val="0B9B91"/>
                </a:solidFill>
              </a:rPr>
              <a:t>Test selection</a:t>
            </a:r>
          </a:p>
        </p:txBody>
      </p:sp>
      <p:sp>
        <p:nvSpPr>
          <p:cNvPr id="10" name="">
            <a:extLst xmlns:a="http://schemas.openxmlformats.org/drawingml/2006/main">
              <a:ext uri="{FF2B5EF4-FFF2-40B4-BE49-F238E27FC236}">
                <a16:creationId xmlns:a16="http://schemas.microsoft.com/office/drawing/2014/main" id="{C3F17E1C-8F17-4B52-8E1E-DA9BAADEC580}"/>
              </a:ext>
            </a:extLst>
          </p:cNvPr>
          <p:cNvSpPr>
            <a:spLocks xmlns:a="http://schemas.openxmlformats.org/drawingml/2006/main" noGrp="1"/>
          </p:cNvSpPr>
          <p:nvPr/>
        </p:nvSpPr>
        <p:spPr>
          <a:xfrm xmlns:a="http://schemas.openxmlformats.org/drawingml/2006/main">
            <a:off x="3190875" y="2524125"/>
            <a:ext cx="4191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83544"/>
                </a:solidFill>
              </a:defRPr>
            </a:pPr>
            <a:r>
              <a:rPr sz="1500" b="1">
                <a:solidFill>
                  <a:srgbClr val="183544"/>
                </a:solidFill>
              </a:rPr>
              <a:t>Which tests run first?</a:t>
            </a:r>
          </a:p>
        </p:txBody>
      </p:sp>
      <p:sp>
        <p:nvSpPr>
          <p:cNvPr id="11" name="">
            <a:extLst xmlns:a="http://schemas.openxmlformats.org/drawingml/2006/main">
              <a:ext uri="{FF2B5EF4-FFF2-40B4-BE49-F238E27FC236}">
                <a16:creationId xmlns:a16="http://schemas.microsoft.com/office/drawing/2014/main" id="{4CA82A92-41D7-41C2-98ED-1406C4F5F65A}"/>
              </a:ext>
            </a:extLst>
          </p:cNvPr>
          <p:cNvSpPr>
            <a:spLocks xmlns:a="http://schemas.openxmlformats.org/drawingml/2006/main" noGrp="1"/>
          </p:cNvSpPr>
          <p:nvPr/>
        </p:nvSpPr>
        <p:spPr>
          <a:xfrm xmlns:a="http://schemas.openxmlformats.org/drawingml/2006/main">
            <a:off x="7620000" y="2524125"/>
            <a:ext cx="3714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58707C"/>
                </a:solidFill>
              </a:defRPr>
            </a:pPr>
            <a:r>
              <a:rPr sz="1425" b="0">
                <a:solidFill>
                  <a:srgbClr val="58707C"/>
                </a:solidFill>
              </a:rPr>
              <a:t>detect faults within time</a:t>
            </a:r>
          </a:p>
        </p:txBody>
      </p:sp>
      <p:sp>
        <p:nvSpPr>
          <p:cNvPr id="12" name="">
            <a:extLst xmlns:a="http://schemas.openxmlformats.org/drawingml/2006/main">
              <a:ext uri="{FF2B5EF4-FFF2-40B4-BE49-F238E27FC236}">
                <a16:creationId xmlns:a16="http://schemas.microsoft.com/office/drawing/2014/main" id="{24273B62-4829-4BCA-AC4D-E21AC40A4CB0}"/>
              </a:ext>
            </a:extLst>
          </p:cNvPr>
          <p:cNvSpPr>
            <a:spLocks xmlns:a="http://schemas.openxmlformats.org/drawingml/2006/main" noGrp="1"/>
          </p:cNvSpPr>
          <p:nvPr/>
        </p:nvSpPr>
        <p:spPr>
          <a:xfrm xmlns:a="http://schemas.openxmlformats.org/drawingml/2006/main">
            <a:off x="809625" y="3571875"/>
            <a:ext cx="2190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0B9B91"/>
                </a:solidFill>
              </a:defRPr>
            </a:pPr>
            <a:r>
              <a:rPr sz="1500" b="1">
                <a:solidFill>
                  <a:srgbClr val="0B9B91"/>
                </a:solidFill>
              </a:rPr>
              <a:t>Team scheduling</a:t>
            </a:r>
          </a:p>
        </p:txBody>
      </p:sp>
      <p:sp>
        <p:nvSpPr>
          <p:cNvPr id="13" name="">
            <a:extLst xmlns:a="http://schemas.openxmlformats.org/drawingml/2006/main">
              <a:ext uri="{FF2B5EF4-FFF2-40B4-BE49-F238E27FC236}">
                <a16:creationId xmlns:a16="http://schemas.microsoft.com/office/drawing/2014/main" id="{A2291DF9-179F-4D94-B73B-A4617A6DD76D}"/>
              </a:ext>
            </a:extLst>
          </p:cNvPr>
          <p:cNvSpPr>
            <a:spLocks xmlns:a="http://schemas.openxmlformats.org/drawingml/2006/main" noGrp="1"/>
          </p:cNvSpPr>
          <p:nvPr/>
        </p:nvSpPr>
        <p:spPr>
          <a:xfrm xmlns:a="http://schemas.openxmlformats.org/drawingml/2006/main">
            <a:off x="3190875" y="3571875"/>
            <a:ext cx="4191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83544"/>
                </a:solidFill>
              </a:defRPr>
            </a:pPr>
            <a:r>
              <a:rPr sz="1500" b="1">
                <a:solidFill>
                  <a:srgbClr val="183544"/>
                </a:solidFill>
              </a:rPr>
              <a:t>Who performs each task?</a:t>
            </a:r>
          </a:p>
        </p:txBody>
      </p:sp>
      <p:sp>
        <p:nvSpPr>
          <p:cNvPr id="14" name="">
            <a:extLst xmlns:a="http://schemas.openxmlformats.org/drawingml/2006/main">
              <a:ext uri="{FF2B5EF4-FFF2-40B4-BE49-F238E27FC236}">
                <a16:creationId xmlns:a16="http://schemas.microsoft.com/office/drawing/2014/main" id="{C89442D8-8B32-43BC-9E0B-02DE66BD02CE}"/>
              </a:ext>
            </a:extLst>
          </p:cNvPr>
          <p:cNvSpPr>
            <a:spLocks xmlns:a="http://schemas.openxmlformats.org/drawingml/2006/main" noGrp="1"/>
          </p:cNvSpPr>
          <p:nvPr/>
        </p:nvSpPr>
        <p:spPr>
          <a:xfrm xmlns:a="http://schemas.openxmlformats.org/drawingml/2006/main">
            <a:off x="7620000" y="3571875"/>
            <a:ext cx="3714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58707C"/>
                </a:solidFill>
              </a:defRPr>
            </a:pPr>
            <a:r>
              <a:rPr sz="1425" b="0">
                <a:solidFill>
                  <a:srgbClr val="58707C"/>
                </a:solidFill>
              </a:rPr>
              <a:t>finish early without overload</a:t>
            </a:r>
          </a:p>
        </p:txBody>
      </p:sp>
      <p:sp>
        <p:nvSpPr>
          <p:cNvPr id="15" name="">
            <a:extLst xmlns:a="http://schemas.openxmlformats.org/drawingml/2006/main">
              <a:ext uri="{FF2B5EF4-FFF2-40B4-BE49-F238E27FC236}">
                <a16:creationId xmlns:a16="http://schemas.microsoft.com/office/drawing/2014/main" id="{F73503DE-77D9-4CE7-8F0E-7C27D0AA021E}"/>
              </a:ext>
            </a:extLst>
          </p:cNvPr>
          <p:cNvSpPr>
            <a:spLocks xmlns:a="http://schemas.openxmlformats.org/drawingml/2006/main" noGrp="1"/>
          </p:cNvSpPr>
          <p:nvPr/>
        </p:nvSpPr>
        <p:spPr>
          <a:xfrm xmlns:a="http://schemas.openxmlformats.org/drawingml/2006/main">
            <a:off x="809625" y="4619625"/>
            <a:ext cx="2190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0B9B91"/>
                </a:solidFill>
              </a:defRPr>
            </a:pPr>
            <a:r>
              <a:rPr sz="1500" b="1">
                <a:solidFill>
                  <a:srgbClr val="0B9B91"/>
                </a:solidFill>
              </a:rPr>
              <a:t>Architecture</a:t>
            </a:r>
          </a:p>
        </p:txBody>
      </p:sp>
      <p:sp>
        <p:nvSpPr>
          <p:cNvPr id="16" name="">
            <a:extLst xmlns:a="http://schemas.openxmlformats.org/drawingml/2006/main">
              <a:ext uri="{FF2B5EF4-FFF2-40B4-BE49-F238E27FC236}">
                <a16:creationId xmlns:a16="http://schemas.microsoft.com/office/drawing/2014/main" id="{E30E95F3-16B7-4D63-BE5F-38BFB043165D}"/>
              </a:ext>
            </a:extLst>
          </p:cNvPr>
          <p:cNvSpPr>
            <a:spLocks xmlns:a="http://schemas.openxmlformats.org/drawingml/2006/main" noGrp="1"/>
          </p:cNvSpPr>
          <p:nvPr/>
        </p:nvSpPr>
        <p:spPr>
          <a:xfrm xmlns:a="http://schemas.openxmlformats.org/drawingml/2006/main">
            <a:off x="3190875" y="4619625"/>
            <a:ext cx="4191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83544"/>
                </a:solidFill>
              </a:defRPr>
            </a:pPr>
            <a:r>
              <a:rPr sz="1500" b="1">
                <a:solidFill>
                  <a:srgbClr val="183544"/>
                </a:solidFill>
              </a:rPr>
              <a:t>Where should components run?</a:t>
            </a:r>
          </a:p>
        </p:txBody>
      </p:sp>
      <p:sp>
        <p:nvSpPr>
          <p:cNvPr id="17" name="">
            <a:extLst xmlns:a="http://schemas.openxmlformats.org/drawingml/2006/main">
              <a:ext uri="{FF2B5EF4-FFF2-40B4-BE49-F238E27FC236}">
                <a16:creationId xmlns:a16="http://schemas.microsoft.com/office/drawing/2014/main" id="{5D0F4024-DCDD-42A7-87D4-FF3113F7A05F}"/>
              </a:ext>
            </a:extLst>
          </p:cNvPr>
          <p:cNvSpPr>
            <a:spLocks xmlns:a="http://schemas.openxmlformats.org/drawingml/2006/main" noGrp="1"/>
          </p:cNvSpPr>
          <p:nvPr/>
        </p:nvSpPr>
        <p:spPr>
          <a:xfrm xmlns:a="http://schemas.openxmlformats.org/drawingml/2006/main">
            <a:off x="7620000" y="4619625"/>
            <a:ext cx="3714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58707C"/>
                </a:solidFill>
              </a:defRPr>
            </a:pPr>
            <a:r>
              <a:rPr sz="1425" b="0">
                <a:solidFill>
                  <a:srgbClr val="58707C"/>
                </a:solidFill>
              </a:rPr>
              <a:t>balance latency, cost, reliability</a:t>
            </a:r>
          </a:p>
        </p:txBody>
      </p:sp>
      <p:sp>
        <p:nvSpPr>
          <p:cNvPr id="18" name="">
            <a:extLst xmlns:a="http://schemas.openxmlformats.org/drawingml/2006/main">
              <a:ext uri="{FF2B5EF4-FFF2-40B4-BE49-F238E27FC236}">
                <a16:creationId xmlns:a16="http://schemas.microsoft.com/office/drawing/2014/main" id="{57D3DE4C-D309-4454-A12A-438C2523A1AE}"/>
              </a:ext>
            </a:extLst>
          </p:cNvPr>
          <p:cNvSpPr>
            <a:spLocks xmlns:a="http://schemas.openxmlformats.org/drawingml/2006/main" noGrp="1"/>
          </p:cNvSpPr>
          <p:nvPr/>
        </p:nvSpPr>
        <p:spPr>
          <a:xfrm xmlns:a="http://schemas.openxmlformats.org/drawingml/2006/main">
            <a:off x="3000375" y="1381125"/>
            <a:ext cx="19050" cy="419100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DBFC841-5100-4585-9E6B-04727544BD3F}"/>
              </a:ext>
            </a:extLst>
          </p:cNvPr>
          <p:cNvSpPr>
            <a:spLocks xmlns:a="http://schemas.openxmlformats.org/drawingml/2006/main" noGrp="1"/>
          </p:cNvSpPr>
          <p:nvPr/>
        </p:nvSpPr>
        <p:spPr>
          <a:xfrm xmlns:a="http://schemas.openxmlformats.org/drawingml/2006/main">
            <a:off x="7429500" y="1381125"/>
            <a:ext cx="19050" cy="419100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Tree>
    <p:extLst>
      <p:ext uri="{BB962C8B-B14F-4D97-AF65-F5344CB8AC3E}">
        <p14:creationId xmlns:p14="http://schemas.microsoft.com/office/powerpoint/2010/main" val="1125617421"/>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DF5E9DC-8371-4A83-B401-2FA82015A775}"/>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WORKFLOW</a:t>
            </a:r>
          </a:p>
        </p:txBody>
      </p:sp>
      <p:sp>
        <p:nvSpPr>
          <p:cNvPr id="2" name="">
            <a:extLst xmlns:a="http://schemas.openxmlformats.org/drawingml/2006/main">
              <a:ext uri="{FF2B5EF4-FFF2-40B4-BE49-F238E27FC236}">
                <a16:creationId xmlns:a16="http://schemas.microsoft.com/office/drawing/2014/main" id="{3811CD7F-F072-4A1C-AC4E-BB8EA150C105}"/>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A reliable optimization project follows a repeatable workflow</a:t>
            </a:r>
          </a:p>
        </p:txBody>
      </p:sp>
      <p:sp>
        <p:nvSpPr>
          <p:cNvPr id="3" name="">
            <a:extLst xmlns:a="http://schemas.openxmlformats.org/drawingml/2006/main">
              <a:ext uri="{FF2B5EF4-FFF2-40B4-BE49-F238E27FC236}">
                <a16:creationId xmlns:a16="http://schemas.microsoft.com/office/drawing/2014/main" id="{4B32CD30-3A14-49BB-9637-F17DEF2F7D22}"/>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57D2691-7891-4AE0-92F7-FBE5CA8BF593}"/>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D3219D6D-7F67-40A8-B3E0-7F6386C20048}"/>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19</a:t>
            </a:r>
          </a:p>
        </p:txBody>
      </p:sp>
      <p:sp>
        <p:nvSpPr>
          <p:cNvPr id="6" name="">
            <a:extLst xmlns:a="http://schemas.openxmlformats.org/drawingml/2006/main">
              <a:ext uri="{FF2B5EF4-FFF2-40B4-BE49-F238E27FC236}">
                <a16:creationId xmlns:a16="http://schemas.microsoft.com/office/drawing/2014/main" id="{316B3DB4-3D10-47DD-A899-989EF59F8BA9}"/>
              </a:ext>
            </a:extLst>
          </p:cNvPr>
          <p:cNvSpPr>
            <a:spLocks xmlns:a="http://schemas.openxmlformats.org/drawingml/2006/main" noGrp="1"/>
          </p:cNvSpPr>
          <p:nvPr/>
        </p:nvSpPr>
        <p:spPr>
          <a:xfrm xmlns:a="http://schemas.openxmlformats.org/drawingml/2006/main">
            <a:off x="2655570" y="2571750"/>
            <a:ext cx="228600" cy="0"/>
          </a:xfrm>
          <a:prstGeom xmlns:a="http://schemas.openxmlformats.org/drawingml/2006/main" prst="line">
            <a:avLst/>
          </a:prstGeom>
          <a:noFill xmlns:a="http://schemas.openxmlformats.org/drawingml/2006/main"/>
          <a:ln xmlns:a="http://schemas.openxmlformats.org/drawingml/2006/main" w="28575">
            <a:solidFill>
              <a:srgbClr val="0B9B91"/>
            </a:solidFill>
            <a:prstDash val="solid"/>
          </a:ln>
        </p:spPr>
      </p:sp>
      <p:sp>
        <p:nvSpPr>
          <p:cNvPr id="7" name="">
            <a:extLst xmlns:a="http://schemas.openxmlformats.org/drawingml/2006/main">
              <a:ext uri="{FF2B5EF4-FFF2-40B4-BE49-F238E27FC236}">
                <a16:creationId xmlns:a16="http://schemas.microsoft.com/office/drawing/2014/main" id="{47428496-86EA-4B12-A727-2062A99A9AE3}"/>
              </a:ext>
            </a:extLst>
          </p:cNvPr>
          <p:cNvSpPr>
            <a:spLocks xmlns:a="http://schemas.openxmlformats.org/drawingml/2006/main" noGrp="1"/>
          </p:cNvSpPr>
          <p:nvPr/>
        </p:nvSpPr>
        <p:spPr>
          <a:xfrm xmlns:a="http://schemas.openxmlformats.org/drawingml/2006/main">
            <a:off x="666750" y="1952625"/>
            <a:ext cx="198882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CED9DB"/>
            </a:solidFill>
            <a:prstDash val="solid"/>
          </a:ln>
        </p:spPr>
      </p:sp>
      <p:sp>
        <p:nvSpPr>
          <p:cNvPr id="8" name="">
            <a:extLst xmlns:a="http://schemas.openxmlformats.org/drawingml/2006/main">
              <a:ext uri="{FF2B5EF4-FFF2-40B4-BE49-F238E27FC236}">
                <a16:creationId xmlns:a16="http://schemas.microsoft.com/office/drawing/2014/main" id="{D9A1E51B-5256-4248-AC59-23D5E8E2934C}"/>
              </a:ext>
            </a:extLst>
          </p:cNvPr>
          <p:cNvSpPr>
            <a:spLocks xmlns:a="http://schemas.openxmlformats.org/drawingml/2006/main" noGrp="1"/>
          </p:cNvSpPr>
          <p:nvPr/>
        </p:nvSpPr>
        <p:spPr>
          <a:xfrm xmlns:a="http://schemas.openxmlformats.org/drawingml/2006/main">
            <a:off x="809625" y="206692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B9B91"/>
                </a:solidFill>
              </a:defRPr>
            </a:pPr>
            <a:r>
              <a:rPr sz="1275" b="1">
                <a:solidFill>
                  <a:srgbClr val="0B9B91"/>
                </a:solidFill>
              </a:rPr>
              <a:t>1</a:t>
            </a:r>
          </a:p>
        </p:txBody>
      </p:sp>
      <p:sp>
        <p:nvSpPr>
          <p:cNvPr id="9" name="">
            <a:extLst xmlns:a="http://schemas.openxmlformats.org/drawingml/2006/main">
              <a:ext uri="{FF2B5EF4-FFF2-40B4-BE49-F238E27FC236}">
                <a16:creationId xmlns:a16="http://schemas.microsoft.com/office/drawing/2014/main" id="{3843999F-1B57-46AF-9659-A57796678085}"/>
              </a:ext>
            </a:extLst>
          </p:cNvPr>
          <p:cNvSpPr>
            <a:spLocks xmlns:a="http://schemas.openxmlformats.org/drawingml/2006/main" noGrp="1"/>
          </p:cNvSpPr>
          <p:nvPr/>
        </p:nvSpPr>
        <p:spPr>
          <a:xfrm xmlns:a="http://schemas.openxmlformats.org/drawingml/2006/main">
            <a:off x="838200" y="2381250"/>
            <a:ext cx="164592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83544"/>
                </a:solidFill>
              </a:defRPr>
            </a:pPr>
            <a:r>
              <a:rPr sz="1350" b="1">
                <a:solidFill>
                  <a:srgbClr val="183544"/>
                </a:solidFill>
              </a:rPr>
              <a:t>Understand the decision</a:t>
            </a:r>
          </a:p>
        </p:txBody>
      </p:sp>
      <p:sp>
        <p:nvSpPr>
          <p:cNvPr id="10" name="">
            <a:extLst xmlns:a="http://schemas.openxmlformats.org/drawingml/2006/main">
              <a:ext uri="{FF2B5EF4-FFF2-40B4-BE49-F238E27FC236}">
                <a16:creationId xmlns:a16="http://schemas.microsoft.com/office/drawing/2014/main" id="{9AD208C9-BF39-4147-814C-D941A6D128C0}"/>
              </a:ext>
            </a:extLst>
          </p:cNvPr>
          <p:cNvSpPr>
            <a:spLocks xmlns:a="http://schemas.openxmlformats.org/drawingml/2006/main" noGrp="1"/>
          </p:cNvSpPr>
          <p:nvPr/>
        </p:nvSpPr>
        <p:spPr>
          <a:xfrm xmlns:a="http://schemas.openxmlformats.org/drawingml/2006/main">
            <a:off x="4872990" y="2571750"/>
            <a:ext cx="228600" cy="0"/>
          </a:xfrm>
          <a:prstGeom xmlns:a="http://schemas.openxmlformats.org/drawingml/2006/main" prst="line">
            <a:avLst/>
          </a:prstGeom>
          <a:noFill xmlns:a="http://schemas.openxmlformats.org/drawingml/2006/main"/>
          <a:ln xmlns:a="http://schemas.openxmlformats.org/drawingml/2006/main" w="28575">
            <a:solidFill>
              <a:srgbClr val="0B9B91"/>
            </a:solidFill>
            <a:prstDash val="solid"/>
          </a:ln>
        </p:spPr>
      </p:sp>
      <p:sp>
        <p:nvSpPr>
          <p:cNvPr id="11" name="">
            <a:extLst xmlns:a="http://schemas.openxmlformats.org/drawingml/2006/main">
              <a:ext uri="{FF2B5EF4-FFF2-40B4-BE49-F238E27FC236}">
                <a16:creationId xmlns:a16="http://schemas.microsoft.com/office/drawing/2014/main" id="{404E6E79-237E-43F4-BC91-C547B249DBC2}"/>
              </a:ext>
            </a:extLst>
          </p:cNvPr>
          <p:cNvSpPr>
            <a:spLocks xmlns:a="http://schemas.openxmlformats.org/drawingml/2006/main" noGrp="1"/>
          </p:cNvSpPr>
          <p:nvPr/>
        </p:nvSpPr>
        <p:spPr>
          <a:xfrm xmlns:a="http://schemas.openxmlformats.org/drawingml/2006/main">
            <a:off x="2884170" y="1952625"/>
            <a:ext cx="198882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CED9DB"/>
            </a:solidFill>
            <a:prstDash val="solid"/>
          </a:ln>
        </p:spPr>
      </p:sp>
      <p:sp>
        <p:nvSpPr>
          <p:cNvPr id="12" name="">
            <a:extLst xmlns:a="http://schemas.openxmlformats.org/drawingml/2006/main">
              <a:ext uri="{FF2B5EF4-FFF2-40B4-BE49-F238E27FC236}">
                <a16:creationId xmlns:a16="http://schemas.microsoft.com/office/drawing/2014/main" id="{036FE8E7-8AA3-4CAC-990B-37FE24C92D05}"/>
              </a:ext>
            </a:extLst>
          </p:cNvPr>
          <p:cNvSpPr>
            <a:spLocks xmlns:a="http://schemas.openxmlformats.org/drawingml/2006/main" noGrp="1"/>
          </p:cNvSpPr>
          <p:nvPr/>
        </p:nvSpPr>
        <p:spPr>
          <a:xfrm xmlns:a="http://schemas.openxmlformats.org/drawingml/2006/main">
            <a:off x="3027045" y="206692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B9B91"/>
                </a:solidFill>
              </a:defRPr>
            </a:pPr>
            <a:r>
              <a:rPr sz="1275" b="1">
                <a:solidFill>
                  <a:srgbClr val="0B9B91"/>
                </a:solidFill>
              </a:rPr>
              <a:t>2</a:t>
            </a:r>
          </a:p>
        </p:txBody>
      </p:sp>
      <p:sp>
        <p:nvSpPr>
          <p:cNvPr id="13" name="">
            <a:extLst xmlns:a="http://schemas.openxmlformats.org/drawingml/2006/main">
              <a:ext uri="{FF2B5EF4-FFF2-40B4-BE49-F238E27FC236}">
                <a16:creationId xmlns:a16="http://schemas.microsoft.com/office/drawing/2014/main" id="{6B04D2DD-C6A3-41C3-814B-8A4C9C874441}"/>
              </a:ext>
            </a:extLst>
          </p:cNvPr>
          <p:cNvSpPr>
            <a:spLocks xmlns:a="http://schemas.openxmlformats.org/drawingml/2006/main" noGrp="1"/>
          </p:cNvSpPr>
          <p:nvPr/>
        </p:nvSpPr>
        <p:spPr>
          <a:xfrm xmlns:a="http://schemas.openxmlformats.org/drawingml/2006/main">
            <a:off x="3055620" y="2381250"/>
            <a:ext cx="164592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83544"/>
                </a:solidFill>
              </a:defRPr>
            </a:pPr>
            <a:r>
              <a:rPr sz="1350" b="1">
                <a:solidFill>
                  <a:srgbClr val="183544"/>
                </a:solidFill>
              </a:rPr>
              <a:t>Formulate the model</a:t>
            </a:r>
          </a:p>
        </p:txBody>
      </p:sp>
      <p:sp>
        <p:nvSpPr>
          <p:cNvPr id="14" name="">
            <a:extLst xmlns:a="http://schemas.openxmlformats.org/drawingml/2006/main">
              <a:ext uri="{FF2B5EF4-FFF2-40B4-BE49-F238E27FC236}">
                <a16:creationId xmlns:a16="http://schemas.microsoft.com/office/drawing/2014/main" id="{075AEBDE-1A15-4F3E-8D5B-AE90082ED9E5}"/>
              </a:ext>
            </a:extLst>
          </p:cNvPr>
          <p:cNvSpPr>
            <a:spLocks xmlns:a="http://schemas.openxmlformats.org/drawingml/2006/main" noGrp="1"/>
          </p:cNvSpPr>
          <p:nvPr/>
        </p:nvSpPr>
        <p:spPr>
          <a:xfrm xmlns:a="http://schemas.openxmlformats.org/drawingml/2006/main">
            <a:off x="7090410" y="2571750"/>
            <a:ext cx="228600" cy="0"/>
          </a:xfrm>
          <a:prstGeom xmlns:a="http://schemas.openxmlformats.org/drawingml/2006/main" prst="line">
            <a:avLst/>
          </a:prstGeom>
          <a:noFill xmlns:a="http://schemas.openxmlformats.org/drawingml/2006/main"/>
          <a:ln xmlns:a="http://schemas.openxmlformats.org/drawingml/2006/main" w="28575">
            <a:solidFill>
              <a:srgbClr val="0B9B91"/>
            </a:solidFill>
            <a:prstDash val="solid"/>
          </a:ln>
        </p:spPr>
      </p:sp>
      <p:sp>
        <p:nvSpPr>
          <p:cNvPr id="15" name="">
            <a:extLst xmlns:a="http://schemas.openxmlformats.org/drawingml/2006/main">
              <a:ext uri="{FF2B5EF4-FFF2-40B4-BE49-F238E27FC236}">
                <a16:creationId xmlns:a16="http://schemas.microsoft.com/office/drawing/2014/main" id="{22C8C31B-6E35-47E2-AE5B-E443A88C258E}"/>
              </a:ext>
            </a:extLst>
          </p:cNvPr>
          <p:cNvSpPr>
            <a:spLocks xmlns:a="http://schemas.openxmlformats.org/drawingml/2006/main" noGrp="1"/>
          </p:cNvSpPr>
          <p:nvPr/>
        </p:nvSpPr>
        <p:spPr>
          <a:xfrm xmlns:a="http://schemas.openxmlformats.org/drawingml/2006/main">
            <a:off x="5101590" y="1952625"/>
            <a:ext cx="198882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CED9DB"/>
            </a:solidFill>
            <a:prstDash val="solid"/>
          </a:ln>
        </p:spPr>
      </p:sp>
      <p:sp>
        <p:nvSpPr>
          <p:cNvPr id="16" name="">
            <a:extLst xmlns:a="http://schemas.openxmlformats.org/drawingml/2006/main">
              <a:ext uri="{FF2B5EF4-FFF2-40B4-BE49-F238E27FC236}">
                <a16:creationId xmlns:a16="http://schemas.microsoft.com/office/drawing/2014/main" id="{40ADC9C0-5A6A-4859-8856-AF04FF260D90}"/>
              </a:ext>
            </a:extLst>
          </p:cNvPr>
          <p:cNvSpPr>
            <a:spLocks xmlns:a="http://schemas.openxmlformats.org/drawingml/2006/main" noGrp="1"/>
          </p:cNvSpPr>
          <p:nvPr/>
        </p:nvSpPr>
        <p:spPr>
          <a:xfrm xmlns:a="http://schemas.openxmlformats.org/drawingml/2006/main">
            <a:off x="5244465" y="206692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B9B91"/>
                </a:solidFill>
              </a:defRPr>
            </a:pPr>
            <a:r>
              <a:rPr sz="1275" b="1">
                <a:solidFill>
                  <a:srgbClr val="0B9B91"/>
                </a:solidFill>
              </a:rPr>
              <a:t>3</a:t>
            </a:r>
          </a:p>
        </p:txBody>
      </p:sp>
      <p:sp>
        <p:nvSpPr>
          <p:cNvPr id="17" name="">
            <a:extLst xmlns:a="http://schemas.openxmlformats.org/drawingml/2006/main">
              <a:ext uri="{FF2B5EF4-FFF2-40B4-BE49-F238E27FC236}">
                <a16:creationId xmlns:a16="http://schemas.microsoft.com/office/drawing/2014/main" id="{F86040B4-B211-4E7D-AEEE-8D3FF1EBA837}"/>
              </a:ext>
            </a:extLst>
          </p:cNvPr>
          <p:cNvSpPr>
            <a:spLocks xmlns:a="http://schemas.openxmlformats.org/drawingml/2006/main" noGrp="1"/>
          </p:cNvSpPr>
          <p:nvPr/>
        </p:nvSpPr>
        <p:spPr>
          <a:xfrm xmlns:a="http://schemas.openxmlformats.org/drawingml/2006/main">
            <a:off x="5273040" y="2381250"/>
            <a:ext cx="164592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83544"/>
                </a:solidFill>
              </a:defRPr>
            </a:pPr>
            <a:r>
              <a:rPr sz="1350" b="1">
                <a:solidFill>
                  <a:srgbClr val="183544"/>
                </a:solidFill>
              </a:rPr>
              <a:t>Choose a method</a:t>
            </a:r>
          </a:p>
        </p:txBody>
      </p:sp>
      <p:sp>
        <p:nvSpPr>
          <p:cNvPr id="18" name="">
            <a:extLst xmlns:a="http://schemas.openxmlformats.org/drawingml/2006/main">
              <a:ext uri="{FF2B5EF4-FFF2-40B4-BE49-F238E27FC236}">
                <a16:creationId xmlns:a16="http://schemas.microsoft.com/office/drawing/2014/main" id="{C0E406E9-4620-49B6-B4B8-A4394D4C31B5}"/>
              </a:ext>
            </a:extLst>
          </p:cNvPr>
          <p:cNvSpPr>
            <a:spLocks xmlns:a="http://schemas.openxmlformats.org/drawingml/2006/main" noGrp="1"/>
          </p:cNvSpPr>
          <p:nvPr/>
        </p:nvSpPr>
        <p:spPr>
          <a:xfrm xmlns:a="http://schemas.openxmlformats.org/drawingml/2006/main">
            <a:off x="9307830" y="2571750"/>
            <a:ext cx="228600" cy="0"/>
          </a:xfrm>
          <a:prstGeom xmlns:a="http://schemas.openxmlformats.org/drawingml/2006/main" prst="line">
            <a:avLst/>
          </a:prstGeom>
          <a:noFill xmlns:a="http://schemas.openxmlformats.org/drawingml/2006/main"/>
          <a:ln xmlns:a="http://schemas.openxmlformats.org/drawingml/2006/main" w="28575">
            <a:solidFill>
              <a:srgbClr val="0B9B91"/>
            </a:solidFill>
            <a:prstDash val="solid"/>
          </a:ln>
        </p:spPr>
      </p:sp>
      <p:sp>
        <p:nvSpPr>
          <p:cNvPr id="19" name="">
            <a:extLst xmlns:a="http://schemas.openxmlformats.org/drawingml/2006/main">
              <a:ext uri="{FF2B5EF4-FFF2-40B4-BE49-F238E27FC236}">
                <a16:creationId xmlns:a16="http://schemas.microsoft.com/office/drawing/2014/main" id="{DCB8DEEF-D7DE-438A-8F93-EAC99BD94CC1}"/>
              </a:ext>
            </a:extLst>
          </p:cNvPr>
          <p:cNvSpPr>
            <a:spLocks xmlns:a="http://schemas.openxmlformats.org/drawingml/2006/main" noGrp="1"/>
          </p:cNvSpPr>
          <p:nvPr/>
        </p:nvSpPr>
        <p:spPr>
          <a:xfrm xmlns:a="http://schemas.openxmlformats.org/drawingml/2006/main">
            <a:off x="7319010" y="1952625"/>
            <a:ext cx="198882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CED9DB"/>
            </a:solidFill>
            <a:prstDash val="solid"/>
          </a:ln>
        </p:spPr>
      </p:sp>
      <p:sp>
        <p:nvSpPr>
          <p:cNvPr id="20" name="">
            <a:extLst xmlns:a="http://schemas.openxmlformats.org/drawingml/2006/main">
              <a:ext uri="{FF2B5EF4-FFF2-40B4-BE49-F238E27FC236}">
                <a16:creationId xmlns:a16="http://schemas.microsoft.com/office/drawing/2014/main" id="{55D1A509-0884-4299-B57C-70E23229F2DC}"/>
              </a:ext>
            </a:extLst>
          </p:cNvPr>
          <p:cNvSpPr>
            <a:spLocks xmlns:a="http://schemas.openxmlformats.org/drawingml/2006/main" noGrp="1"/>
          </p:cNvSpPr>
          <p:nvPr/>
        </p:nvSpPr>
        <p:spPr>
          <a:xfrm xmlns:a="http://schemas.openxmlformats.org/drawingml/2006/main">
            <a:off x="7461885" y="206692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B9B91"/>
                </a:solidFill>
              </a:defRPr>
            </a:pPr>
            <a:r>
              <a:rPr sz="1275" b="1">
                <a:solidFill>
                  <a:srgbClr val="0B9B91"/>
                </a:solidFill>
              </a:rPr>
              <a:t>4</a:t>
            </a:r>
          </a:p>
        </p:txBody>
      </p:sp>
      <p:sp>
        <p:nvSpPr>
          <p:cNvPr id="21" name="">
            <a:extLst xmlns:a="http://schemas.openxmlformats.org/drawingml/2006/main">
              <a:ext uri="{FF2B5EF4-FFF2-40B4-BE49-F238E27FC236}">
                <a16:creationId xmlns:a16="http://schemas.microsoft.com/office/drawing/2014/main" id="{7B9D46DD-8094-4C84-8A9D-8723C1CD8D46}"/>
              </a:ext>
            </a:extLst>
          </p:cNvPr>
          <p:cNvSpPr>
            <a:spLocks xmlns:a="http://schemas.openxmlformats.org/drawingml/2006/main" noGrp="1"/>
          </p:cNvSpPr>
          <p:nvPr/>
        </p:nvSpPr>
        <p:spPr>
          <a:xfrm xmlns:a="http://schemas.openxmlformats.org/drawingml/2006/main">
            <a:off x="7490460" y="2381250"/>
            <a:ext cx="164592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83544"/>
                </a:solidFill>
              </a:defRPr>
            </a:pPr>
            <a:r>
              <a:rPr sz="1350" b="1">
                <a:solidFill>
                  <a:srgbClr val="183544"/>
                </a:solidFill>
              </a:rPr>
              <a:t>Implement and verify</a:t>
            </a:r>
          </a:p>
        </p:txBody>
      </p:sp>
      <p:sp>
        <p:nvSpPr>
          <p:cNvPr id="22" name="">
            <a:extLst xmlns:a="http://schemas.openxmlformats.org/drawingml/2006/main">
              <a:ext uri="{FF2B5EF4-FFF2-40B4-BE49-F238E27FC236}">
                <a16:creationId xmlns:a16="http://schemas.microsoft.com/office/drawing/2014/main" id="{DF7BA24C-112E-4EDC-8BF6-AFFADC05A4F0}"/>
              </a:ext>
            </a:extLst>
          </p:cNvPr>
          <p:cNvSpPr>
            <a:spLocks xmlns:a="http://schemas.openxmlformats.org/drawingml/2006/main" noGrp="1"/>
          </p:cNvSpPr>
          <p:nvPr/>
        </p:nvSpPr>
        <p:spPr>
          <a:xfrm xmlns:a="http://schemas.openxmlformats.org/drawingml/2006/main">
            <a:off x="9536430" y="1952625"/>
            <a:ext cx="1988820" cy="1238250"/>
          </a:xfrm>
          <a:prstGeom xmlns:a="http://schemas.openxmlformats.org/drawingml/2006/main" prst="roundRect">
            <a:avLst>
              <a:gd name="adj" fmla="val 6154"/>
            </a:avLst>
          </a:prstGeom>
          <a:solidFill xmlns:a="http://schemas.openxmlformats.org/drawingml/2006/main">
            <a:srgbClr val="092A3D"/>
          </a:solidFill>
          <a:ln xmlns:a="http://schemas.openxmlformats.org/drawingml/2006/main" w="9525">
            <a:solidFill>
              <a:srgbClr val="092A3D"/>
            </a:solidFill>
            <a:prstDash val="solid"/>
          </a:ln>
        </p:spPr>
      </p:sp>
      <p:sp>
        <p:nvSpPr>
          <p:cNvPr id="23" name="">
            <a:extLst xmlns:a="http://schemas.openxmlformats.org/drawingml/2006/main">
              <a:ext uri="{FF2B5EF4-FFF2-40B4-BE49-F238E27FC236}">
                <a16:creationId xmlns:a16="http://schemas.microsoft.com/office/drawing/2014/main" id="{01BE6702-0150-460F-9F00-0CB8F1F32F58}"/>
              </a:ext>
            </a:extLst>
          </p:cNvPr>
          <p:cNvSpPr>
            <a:spLocks xmlns:a="http://schemas.openxmlformats.org/drawingml/2006/main" noGrp="1"/>
          </p:cNvSpPr>
          <p:nvPr/>
        </p:nvSpPr>
        <p:spPr>
          <a:xfrm xmlns:a="http://schemas.openxmlformats.org/drawingml/2006/main">
            <a:off x="9679305" y="206692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A93B"/>
                </a:solidFill>
              </a:defRPr>
            </a:pPr>
            <a:r>
              <a:rPr sz="1275" b="1">
                <a:solidFill>
                  <a:srgbClr val="F2A93B"/>
                </a:solidFill>
              </a:rPr>
              <a:t>5</a:t>
            </a:r>
          </a:p>
        </p:txBody>
      </p:sp>
      <p:sp>
        <p:nvSpPr>
          <p:cNvPr id="24" name="">
            <a:extLst xmlns:a="http://schemas.openxmlformats.org/drawingml/2006/main">
              <a:ext uri="{FF2B5EF4-FFF2-40B4-BE49-F238E27FC236}">
                <a16:creationId xmlns:a16="http://schemas.microsoft.com/office/drawing/2014/main" id="{87AE3374-390E-4505-86C2-23E395921D1F}"/>
              </a:ext>
            </a:extLst>
          </p:cNvPr>
          <p:cNvSpPr>
            <a:spLocks xmlns:a="http://schemas.openxmlformats.org/drawingml/2006/main" noGrp="1"/>
          </p:cNvSpPr>
          <p:nvPr/>
        </p:nvSpPr>
        <p:spPr>
          <a:xfrm xmlns:a="http://schemas.openxmlformats.org/drawingml/2006/main">
            <a:off x="9707880" y="2381250"/>
            <a:ext cx="164592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Experiment and explain</a:t>
            </a:r>
          </a:p>
        </p:txBody>
      </p:sp>
      <p:sp>
        <p:nvSpPr>
          <p:cNvPr id="25" name="">
            <a:extLst xmlns:a="http://schemas.openxmlformats.org/drawingml/2006/main">
              <a:ext uri="{FF2B5EF4-FFF2-40B4-BE49-F238E27FC236}">
                <a16:creationId xmlns:a16="http://schemas.microsoft.com/office/drawing/2014/main" id="{7E95CAFB-BE6C-4F3C-95A9-400377DF9866}"/>
              </a:ext>
            </a:extLst>
          </p:cNvPr>
          <p:cNvSpPr>
            <a:spLocks xmlns:a="http://schemas.openxmlformats.org/drawingml/2006/main" noGrp="1"/>
          </p:cNvSpPr>
          <p:nvPr/>
        </p:nvSpPr>
        <p:spPr>
          <a:xfrm xmlns:a="http://schemas.openxmlformats.org/drawingml/2006/main">
            <a:off x="1381125" y="4286250"/>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26" name="">
            <a:extLst xmlns:a="http://schemas.openxmlformats.org/drawingml/2006/main">
              <a:ext uri="{FF2B5EF4-FFF2-40B4-BE49-F238E27FC236}">
                <a16:creationId xmlns:a16="http://schemas.microsoft.com/office/drawing/2014/main" id="{5CA679D6-AFAA-461F-8EA7-BA08DD3CF651}"/>
              </a:ext>
            </a:extLst>
          </p:cNvPr>
          <p:cNvSpPr>
            <a:spLocks xmlns:a="http://schemas.openxmlformats.org/drawingml/2006/main" noGrp="1"/>
          </p:cNvSpPr>
          <p:nvPr/>
        </p:nvSpPr>
        <p:spPr>
          <a:xfrm xmlns:a="http://schemas.openxmlformats.org/drawingml/2006/main">
            <a:off x="1647825" y="4095750"/>
            <a:ext cx="91630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Do not select an algorithm before understanding the problem.</a:t>
            </a:r>
          </a:p>
        </p:txBody>
      </p:sp>
      <p:sp>
        <p:nvSpPr>
          <p:cNvPr id="27" name="">
            <a:extLst xmlns:a="http://schemas.openxmlformats.org/drawingml/2006/main">
              <a:ext uri="{FF2B5EF4-FFF2-40B4-BE49-F238E27FC236}">
                <a16:creationId xmlns:a16="http://schemas.microsoft.com/office/drawing/2014/main" id="{5CE94E82-EC80-4DE7-9C48-1F39C9881153}"/>
              </a:ext>
            </a:extLst>
          </p:cNvPr>
          <p:cNvSpPr>
            <a:spLocks xmlns:a="http://schemas.openxmlformats.org/drawingml/2006/main" noGrp="1"/>
          </p:cNvSpPr>
          <p:nvPr/>
        </p:nvSpPr>
        <p:spPr>
          <a:xfrm xmlns:a="http://schemas.openxmlformats.org/drawingml/2006/main">
            <a:off x="1381125" y="490537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28" name="">
            <a:extLst xmlns:a="http://schemas.openxmlformats.org/drawingml/2006/main">
              <a:ext uri="{FF2B5EF4-FFF2-40B4-BE49-F238E27FC236}">
                <a16:creationId xmlns:a16="http://schemas.microsoft.com/office/drawing/2014/main" id="{15CB7AEE-A42F-4AEB-AAD1-81C4E141F7D5}"/>
              </a:ext>
            </a:extLst>
          </p:cNvPr>
          <p:cNvSpPr>
            <a:spLocks xmlns:a="http://schemas.openxmlformats.org/drawingml/2006/main" noGrp="1"/>
          </p:cNvSpPr>
          <p:nvPr/>
        </p:nvSpPr>
        <p:spPr>
          <a:xfrm xmlns:a="http://schemas.openxmlformats.org/drawingml/2006/main">
            <a:off x="1647825" y="4714875"/>
            <a:ext cx="91630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Verification asks whether the code implements the model.</a:t>
            </a:r>
          </a:p>
        </p:txBody>
      </p:sp>
      <p:sp>
        <p:nvSpPr>
          <p:cNvPr id="29" name="">
            <a:extLst xmlns:a="http://schemas.openxmlformats.org/drawingml/2006/main">
              <a:ext uri="{FF2B5EF4-FFF2-40B4-BE49-F238E27FC236}">
                <a16:creationId xmlns:a16="http://schemas.microsoft.com/office/drawing/2014/main" id="{8E0AB758-7A8E-4143-8013-0989B1B50723}"/>
              </a:ext>
            </a:extLst>
          </p:cNvPr>
          <p:cNvSpPr>
            <a:spLocks xmlns:a="http://schemas.openxmlformats.org/drawingml/2006/main" noGrp="1"/>
          </p:cNvSpPr>
          <p:nvPr/>
        </p:nvSpPr>
        <p:spPr>
          <a:xfrm xmlns:a="http://schemas.openxmlformats.org/drawingml/2006/main">
            <a:off x="1381125" y="5524500"/>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30" name="">
            <a:extLst xmlns:a="http://schemas.openxmlformats.org/drawingml/2006/main">
              <a:ext uri="{FF2B5EF4-FFF2-40B4-BE49-F238E27FC236}">
                <a16:creationId xmlns:a16="http://schemas.microsoft.com/office/drawing/2014/main" id="{25A3CBF9-41B4-4779-9693-4235AE5E4404}"/>
              </a:ext>
            </a:extLst>
          </p:cNvPr>
          <p:cNvSpPr>
            <a:spLocks xmlns:a="http://schemas.openxmlformats.org/drawingml/2006/main" noGrp="1"/>
          </p:cNvSpPr>
          <p:nvPr/>
        </p:nvSpPr>
        <p:spPr>
          <a:xfrm xmlns:a="http://schemas.openxmlformats.org/drawingml/2006/main">
            <a:off x="1647825" y="5334000"/>
            <a:ext cx="91630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Validation asks whether the model represents the real need.</a:t>
            </a:r>
          </a:p>
        </p:txBody>
      </p:sp>
    </p:spTree>
    <p:extLst>
      <p:ext uri="{BB962C8B-B14F-4D97-AF65-F5344CB8AC3E}">
        <p14:creationId xmlns:p14="http://schemas.microsoft.com/office/powerpoint/2010/main" val="1812268770"/>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3135D2F-7D1C-4075-ACF3-A52FAC3AB397}"/>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IMPLEMENTATION</a:t>
            </a:r>
          </a:p>
        </p:txBody>
      </p:sp>
      <p:sp>
        <p:nvSpPr>
          <p:cNvPr id="2" name="">
            <a:extLst xmlns:a="http://schemas.openxmlformats.org/drawingml/2006/main">
              <a:ext uri="{FF2B5EF4-FFF2-40B4-BE49-F238E27FC236}">
                <a16:creationId xmlns:a16="http://schemas.microsoft.com/office/drawing/2014/main" id="{69A6F2D7-FF68-42D4-B94A-AC640B014ED7}"/>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Evaluation is the contract between the model and the algorithm</a:t>
            </a:r>
          </a:p>
        </p:txBody>
      </p:sp>
      <p:sp>
        <p:nvSpPr>
          <p:cNvPr id="3" name="">
            <a:extLst xmlns:a="http://schemas.openxmlformats.org/drawingml/2006/main">
              <a:ext uri="{FF2B5EF4-FFF2-40B4-BE49-F238E27FC236}">
                <a16:creationId xmlns:a16="http://schemas.microsoft.com/office/drawing/2014/main" id="{A7B2C144-A891-4D88-9399-D02087A061D6}"/>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F2DB9B0-EF9D-4D65-8D50-42008E7DFB64}"/>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C4B58DBB-FF68-4FC9-BFF1-C946C5365D74}"/>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20</a:t>
            </a:r>
          </a:p>
        </p:txBody>
      </p:sp>
      <p:sp>
        <p:nvSpPr>
          <p:cNvPr id="6" name="">
            <a:extLst xmlns:a="http://schemas.openxmlformats.org/drawingml/2006/main">
              <a:ext uri="{FF2B5EF4-FFF2-40B4-BE49-F238E27FC236}">
                <a16:creationId xmlns:a16="http://schemas.microsoft.com/office/drawing/2014/main" id="{1AC1F772-4B9F-4F68-9BD7-D0FC1EB6A23A}"/>
              </a:ext>
            </a:extLst>
          </p:cNvPr>
          <p:cNvSpPr>
            <a:spLocks xmlns:a="http://schemas.openxmlformats.org/drawingml/2006/main" noGrp="1"/>
          </p:cNvSpPr>
          <p:nvPr/>
        </p:nvSpPr>
        <p:spPr>
          <a:xfrm xmlns:a="http://schemas.openxmlformats.org/drawingml/2006/main">
            <a:off x="809625" y="1666875"/>
            <a:ext cx="4572000" cy="3714750"/>
          </a:xfrm>
          <a:prstGeom xmlns:a="http://schemas.openxmlformats.org/drawingml/2006/main" prst="roundRect">
            <a:avLst>
              <a:gd name="adj" fmla="val 2051"/>
            </a:avLst>
          </a:prstGeom>
          <a:solidFill xmlns:a="http://schemas.openxmlformats.org/drawingml/2006/main">
            <a:srgbClr val="071C28"/>
          </a:solidFill>
          <a:ln xmlns:a="http://schemas.openxmlformats.org/drawingml/2006/main" w="0">
            <a:solidFill>
              <a:srgbClr val="071C28"/>
            </a:solidFill>
            <a:prstDash val="solid"/>
          </a:ln>
        </p:spPr>
      </p:sp>
      <p:sp>
        <p:nvSpPr>
          <p:cNvPr id="7" name="">
            <a:extLst xmlns:a="http://schemas.openxmlformats.org/drawingml/2006/main">
              <a:ext uri="{FF2B5EF4-FFF2-40B4-BE49-F238E27FC236}">
                <a16:creationId xmlns:a16="http://schemas.microsoft.com/office/drawing/2014/main" id="{0E476D16-32B0-43B0-8F1C-9AB30753FE67}"/>
              </a:ext>
            </a:extLst>
          </p:cNvPr>
          <p:cNvSpPr>
            <a:spLocks xmlns:a="http://schemas.openxmlformats.org/drawingml/2006/main" noGrp="1"/>
          </p:cNvSpPr>
          <p:nvPr/>
        </p:nvSpPr>
        <p:spPr>
          <a:xfrm xmlns:a="http://schemas.openxmlformats.org/drawingml/2006/main">
            <a:off x="1143000" y="1952625"/>
            <a:ext cx="390525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E5F1F4"/>
                </a:solidFill>
              </a:defRPr>
            </a:pPr>
            <a:r>
              <a:rPr sz="1650" b="0">
                <a:solidFill>
                  <a:srgbClr val="E5F1F4"/>
                </a:solidFill>
              </a:rPr>
              <a:t>Candidate evaluate(Candidate x) {</a:t>
            </a:r>
          </a:p>
          <a:p xmlns:a="http://schemas.openxmlformats.org/drawingml/2006/main">
            <a:pPr algn="l">
              <a:defRPr sz="1650" b="0">
                <a:solidFill>
                  <a:srgbClr val="E5F1F4"/>
                </a:solidFill>
              </a:defRPr>
            </a:pPr>
            <a:r>
              <a:rPr sz="1650" b="0">
                <a:solidFill>
                  <a:srgbClr val="E5F1F4"/>
                </a:solidFill>
              </a:rPr>
              <a:t>  if (!isFeasible(x))</a:t>
            </a:r>
          </a:p>
          <a:p xmlns:a="http://schemas.openxmlformats.org/drawingml/2006/main">
            <a:pPr algn="l">
              <a:defRPr sz="1650" b="0">
                <a:solidFill>
                  <a:srgbClr val="E5F1F4"/>
                </a:solidFill>
              </a:defRPr>
            </a:pPr>
            <a:r>
              <a:rPr sz="1650" b="0">
                <a:solidFill>
                  <a:srgbClr val="E5F1F4"/>
                </a:solidFill>
              </a:rPr>
              <a:t>      return INVALID;</a:t>
            </a:r>
          </a:p>
          <a:p xmlns:a="http://schemas.openxmlformats.org/drawingml/2006/main">
            <a:r>
              <a:t/>
            </a:r>
          </a:p>
          <a:p xmlns:a="http://schemas.openxmlformats.org/drawingml/2006/main">
            <a:pPr algn="l">
              <a:defRPr sz="1650" b="0">
                <a:solidFill>
                  <a:srgbClr val="E5F1F4"/>
                </a:solidFill>
              </a:defRPr>
            </a:pPr>
            <a:r>
              <a:rPr sz="1650" b="0">
                <a:solidFill>
                  <a:srgbClr val="E5F1F4"/>
                </a:solidFill>
              </a:rPr>
              <a:t>  double quality = objective(x);</a:t>
            </a:r>
          </a:p>
          <a:p xmlns:a="http://schemas.openxmlformats.org/drawingml/2006/main">
            <a:pPr algn="l">
              <a:defRPr sz="1650" b="0">
                <a:solidFill>
                  <a:srgbClr val="E5F1F4"/>
                </a:solidFill>
              </a:defRPr>
            </a:pPr>
            <a:r>
              <a:rPr sz="1650" b="0">
                <a:solidFill>
                  <a:srgbClr val="E5F1F4"/>
                </a:solidFill>
              </a:rPr>
              <a:t>  return new Evaluation(quality);</a:t>
            </a:r>
          </a:p>
          <a:p xmlns:a="http://schemas.openxmlformats.org/drawingml/2006/main">
            <a:pPr algn="l">
              <a:defRPr sz="1650" b="0">
                <a:solidFill>
                  <a:srgbClr val="E5F1F4"/>
                </a:solidFill>
              </a:defRPr>
            </a:pPr>
            <a:r>
              <a:rPr sz="1650" b="0">
                <a:solidFill>
                  <a:srgbClr val="E5F1F4"/>
                </a:solidFill>
              </a:rPr>
              <a:t>}</a:t>
            </a:r>
          </a:p>
        </p:txBody>
      </p:sp>
      <p:sp>
        <p:nvSpPr>
          <p:cNvPr id="8" name="">
            <a:extLst xmlns:a="http://schemas.openxmlformats.org/drawingml/2006/main">
              <a:ext uri="{FF2B5EF4-FFF2-40B4-BE49-F238E27FC236}">
                <a16:creationId xmlns:a16="http://schemas.microsoft.com/office/drawing/2014/main" id="{D2EDE312-9F4C-4871-B55B-095856A99D41}"/>
              </a:ext>
            </a:extLst>
          </p:cNvPr>
          <p:cNvSpPr>
            <a:spLocks xmlns:a="http://schemas.openxmlformats.org/drawingml/2006/main" noGrp="1"/>
          </p:cNvSpPr>
          <p:nvPr/>
        </p:nvSpPr>
        <p:spPr>
          <a:xfrm xmlns:a="http://schemas.openxmlformats.org/drawingml/2006/main">
            <a:off x="6238875" y="2000250"/>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9" name="">
            <a:extLst xmlns:a="http://schemas.openxmlformats.org/drawingml/2006/main">
              <a:ext uri="{FF2B5EF4-FFF2-40B4-BE49-F238E27FC236}">
                <a16:creationId xmlns:a16="http://schemas.microsoft.com/office/drawing/2014/main" id="{C20E1862-64BC-4B49-B921-B3755E3585CD}"/>
              </a:ext>
            </a:extLst>
          </p:cNvPr>
          <p:cNvSpPr>
            <a:spLocks xmlns:a="http://schemas.openxmlformats.org/drawingml/2006/main" noGrp="1"/>
          </p:cNvSpPr>
          <p:nvPr/>
        </p:nvSpPr>
        <p:spPr>
          <a:xfrm xmlns:a="http://schemas.openxmlformats.org/drawingml/2006/main">
            <a:off x="6505575" y="1809750"/>
            <a:ext cx="449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same candidate → same evaluation</a:t>
            </a:r>
          </a:p>
        </p:txBody>
      </p:sp>
      <p:sp>
        <p:nvSpPr>
          <p:cNvPr id="10" name="">
            <a:extLst xmlns:a="http://schemas.openxmlformats.org/drawingml/2006/main">
              <a:ext uri="{FF2B5EF4-FFF2-40B4-BE49-F238E27FC236}">
                <a16:creationId xmlns:a16="http://schemas.microsoft.com/office/drawing/2014/main" id="{7E256BDF-BAD6-49E9-BF22-952D5D6680C5}"/>
              </a:ext>
            </a:extLst>
          </p:cNvPr>
          <p:cNvSpPr>
            <a:spLocks xmlns:a="http://schemas.openxmlformats.org/drawingml/2006/main" noGrp="1"/>
          </p:cNvSpPr>
          <p:nvPr/>
        </p:nvSpPr>
        <p:spPr>
          <a:xfrm xmlns:a="http://schemas.openxmlformats.org/drawingml/2006/main">
            <a:off x="6238875" y="2686050"/>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1" name="">
            <a:extLst xmlns:a="http://schemas.openxmlformats.org/drawingml/2006/main">
              <a:ext uri="{FF2B5EF4-FFF2-40B4-BE49-F238E27FC236}">
                <a16:creationId xmlns:a16="http://schemas.microsoft.com/office/drawing/2014/main" id="{8FEC2C81-E234-4228-AA69-8074F61915E1}"/>
              </a:ext>
            </a:extLst>
          </p:cNvPr>
          <p:cNvSpPr>
            <a:spLocks xmlns:a="http://schemas.openxmlformats.org/drawingml/2006/main" noGrp="1"/>
          </p:cNvSpPr>
          <p:nvPr/>
        </p:nvSpPr>
        <p:spPr>
          <a:xfrm xmlns:a="http://schemas.openxmlformats.org/drawingml/2006/main">
            <a:off x="6505575" y="2495550"/>
            <a:ext cx="449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check constraints explicitly</a:t>
            </a:r>
          </a:p>
        </p:txBody>
      </p:sp>
      <p:sp>
        <p:nvSpPr>
          <p:cNvPr id="12" name="">
            <a:extLst xmlns:a="http://schemas.openxmlformats.org/drawingml/2006/main">
              <a:ext uri="{FF2B5EF4-FFF2-40B4-BE49-F238E27FC236}">
                <a16:creationId xmlns:a16="http://schemas.microsoft.com/office/drawing/2014/main" id="{43A98E96-6F9C-4A56-AB71-338926E3E975}"/>
              </a:ext>
            </a:extLst>
          </p:cNvPr>
          <p:cNvSpPr>
            <a:spLocks xmlns:a="http://schemas.openxmlformats.org/drawingml/2006/main" noGrp="1"/>
          </p:cNvSpPr>
          <p:nvPr/>
        </p:nvSpPr>
        <p:spPr>
          <a:xfrm xmlns:a="http://schemas.openxmlformats.org/drawingml/2006/main">
            <a:off x="6238875" y="3371850"/>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3" name="">
            <a:extLst xmlns:a="http://schemas.openxmlformats.org/drawingml/2006/main">
              <a:ext uri="{FF2B5EF4-FFF2-40B4-BE49-F238E27FC236}">
                <a16:creationId xmlns:a16="http://schemas.microsoft.com/office/drawing/2014/main" id="{135E99B5-4AE7-4BBF-8A7D-1124C9AF811B}"/>
              </a:ext>
            </a:extLst>
          </p:cNvPr>
          <p:cNvSpPr>
            <a:spLocks xmlns:a="http://schemas.openxmlformats.org/drawingml/2006/main" noGrp="1"/>
          </p:cNvSpPr>
          <p:nvPr/>
        </p:nvSpPr>
        <p:spPr>
          <a:xfrm xmlns:a="http://schemas.openxmlformats.org/drawingml/2006/main">
            <a:off x="6505575" y="3181350"/>
            <a:ext cx="449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keep units consistent</a:t>
            </a:r>
          </a:p>
        </p:txBody>
      </p:sp>
      <p:sp>
        <p:nvSpPr>
          <p:cNvPr id="14" name="">
            <a:extLst xmlns:a="http://schemas.openxmlformats.org/drawingml/2006/main">
              <a:ext uri="{FF2B5EF4-FFF2-40B4-BE49-F238E27FC236}">
                <a16:creationId xmlns:a16="http://schemas.microsoft.com/office/drawing/2014/main" id="{2F778003-CBFD-4A6F-9DE6-648B3A37616B}"/>
              </a:ext>
            </a:extLst>
          </p:cNvPr>
          <p:cNvSpPr>
            <a:spLocks xmlns:a="http://schemas.openxmlformats.org/drawingml/2006/main" noGrp="1"/>
          </p:cNvSpPr>
          <p:nvPr/>
        </p:nvSpPr>
        <p:spPr>
          <a:xfrm xmlns:a="http://schemas.openxmlformats.org/drawingml/2006/main">
            <a:off x="6238875" y="4057650"/>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5" name="">
            <a:extLst xmlns:a="http://schemas.openxmlformats.org/drawingml/2006/main">
              <a:ext uri="{FF2B5EF4-FFF2-40B4-BE49-F238E27FC236}">
                <a16:creationId xmlns:a16="http://schemas.microsoft.com/office/drawing/2014/main" id="{497A45B4-7669-41E0-9371-26E93465F050}"/>
              </a:ext>
            </a:extLst>
          </p:cNvPr>
          <p:cNvSpPr>
            <a:spLocks xmlns:a="http://schemas.openxmlformats.org/drawingml/2006/main" noGrp="1"/>
          </p:cNvSpPr>
          <p:nvPr/>
        </p:nvSpPr>
        <p:spPr>
          <a:xfrm xmlns:a="http://schemas.openxmlformats.org/drawingml/2006/main">
            <a:off x="6505575" y="3867150"/>
            <a:ext cx="449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test with a manual case</a:t>
            </a:r>
          </a:p>
        </p:txBody>
      </p:sp>
      <p:sp>
        <p:nvSpPr>
          <p:cNvPr id="16" name="">
            <a:extLst xmlns:a="http://schemas.openxmlformats.org/drawingml/2006/main">
              <a:ext uri="{FF2B5EF4-FFF2-40B4-BE49-F238E27FC236}">
                <a16:creationId xmlns:a16="http://schemas.microsoft.com/office/drawing/2014/main" id="{2DA13E62-61C6-491B-8A11-46032792E6C4}"/>
              </a:ext>
            </a:extLst>
          </p:cNvPr>
          <p:cNvSpPr>
            <a:spLocks xmlns:a="http://schemas.openxmlformats.org/drawingml/2006/main" noGrp="1"/>
          </p:cNvSpPr>
          <p:nvPr/>
        </p:nvSpPr>
        <p:spPr>
          <a:xfrm xmlns:a="http://schemas.openxmlformats.org/drawingml/2006/main">
            <a:off x="6238875" y="4743450"/>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7" name="">
            <a:extLst xmlns:a="http://schemas.openxmlformats.org/drawingml/2006/main">
              <a:ext uri="{FF2B5EF4-FFF2-40B4-BE49-F238E27FC236}">
                <a16:creationId xmlns:a16="http://schemas.microsoft.com/office/drawing/2014/main" id="{9CB2C9C7-2CEB-45EA-AAE8-BF7B8CFE5464}"/>
              </a:ext>
            </a:extLst>
          </p:cNvPr>
          <p:cNvSpPr>
            <a:spLocks xmlns:a="http://schemas.openxmlformats.org/drawingml/2006/main" noGrp="1"/>
          </p:cNvSpPr>
          <p:nvPr/>
        </p:nvSpPr>
        <p:spPr>
          <a:xfrm xmlns:a="http://schemas.openxmlformats.org/drawingml/2006/main">
            <a:off x="6505575" y="4552950"/>
            <a:ext cx="449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log enough information to explain</a:t>
            </a:r>
          </a:p>
        </p:txBody>
      </p:sp>
      <p:sp>
        <p:nvSpPr>
          <p:cNvPr id="18" name="">
            <a:extLst xmlns:a="http://schemas.openxmlformats.org/drawingml/2006/main">
              <a:ext uri="{FF2B5EF4-FFF2-40B4-BE49-F238E27FC236}">
                <a16:creationId xmlns:a16="http://schemas.microsoft.com/office/drawing/2014/main" id="{87905623-E5DF-43C5-9BD7-4035F24E7841}"/>
              </a:ext>
            </a:extLst>
          </p:cNvPr>
          <p:cNvSpPr>
            <a:spLocks xmlns:a="http://schemas.openxmlformats.org/drawingml/2006/main" noGrp="1"/>
          </p:cNvSpPr>
          <p:nvPr/>
        </p:nvSpPr>
        <p:spPr>
          <a:xfrm xmlns:a="http://schemas.openxmlformats.org/drawingml/2006/main">
            <a:off x="6096000" y="5476875"/>
            <a:ext cx="5048250" cy="552450"/>
          </a:xfrm>
          <a:prstGeom xmlns:a="http://schemas.openxmlformats.org/drawingml/2006/main" prst="roundRect">
            <a:avLst>
              <a:gd name="adj" fmla="val 13793"/>
            </a:avLst>
          </a:prstGeom>
          <a:solidFill xmlns:a="http://schemas.openxmlformats.org/drawingml/2006/main">
            <a:srgbClr val="F9E8E6"/>
          </a:solidFill>
          <a:ln xmlns:a="http://schemas.openxmlformats.org/drawingml/2006/main" w="0">
            <a:solidFill>
              <a:srgbClr val="F9E8E6"/>
            </a:solidFill>
            <a:prstDash val="solid"/>
          </a:ln>
        </p:spPr>
      </p:sp>
      <p:sp>
        <p:nvSpPr>
          <p:cNvPr id="19" name="">
            <a:extLst xmlns:a="http://schemas.openxmlformats.org/drawingml/2006/main">
              <a:ext uri="{FF2B5EF4-FFF2-40B4-BE49-F238E27FC236}">
                <a16:creationId xmlns:a16="http://schemas.microsoft.com/office/drawing/2014/main" id="{1C0DFCCA-3969-46BA-A3BA-322912A9C82A}"/>
              </a:ext>
            </a:extLst>
          </p:cNvPr>
          <p:cNvSpPr>
            <a:spLocks xmlns:a="http://schemas.openxmlformats.org/drawingml/2006/main" noGrp="1"/>
          </p:cNvSpPr>
          <p:nvPr/>
        </p:nvSpPr>
        <p:spPr>
          <a:xfrm xmlns:a="http://schemas.openxmlformats.org/drawingml/2006/main">
            <a:off x="6305550" y="5572125"/>
            <a:ext cx="4629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D95D5D"/>
                </a:solidFill>
              </a:defRPr>
            </a:pPr>
            <a:r>
              <a:rPr sz="1500" b="1">
                <a:solidFill>
                  <a:srgbClr val="D95D5D"/>
                </a:solidFill>
              </a:rPr>
              <a:t>If evaluation is wrong, the search optimizes the wrong problem.</a:t>
            </a:r>
          </a:p>
        </p:txBody>
      </p:sp>
    </p:spTree>
    <p:extLst>
      <p:ext uri="{BB962C8B-B14F-4D97-AF65-F5344CB8AC3E}">
        <p14:creationId xmlns:p14="http://schemas.microsoft.com/office/powerpoint/2010/main" val="1591919587"/>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C9B6A36-9F7C-40DF-BAA3-73F57AB27565}"/>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JAVA LAB</a:t>
            </a:r>
          </a:p>
        </p:txBody>
      </p:sp>
      <p:sp>
        <p:nvSpPr>
          <p:cNvPr id="2" name="">
            <a:extLst xmlns:a="http://schemas.openxmlformats.org/drawingml/2006/main">
              <a:ext uri="{FF2B5EF4-FFF2-40B4-BE49-F238E27FC236}">
                <a16:creationId xmlns:a16="http://schemas.microsoft.com/office/drawing/2014/main" id="{980A0D22-BD80-490B-8663-64DAECA46E35}"/>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Week 1 laboratory: evaluate server assignments</a:t>
            </a:r>
          </a:p>
        </p:txBody>
      </p:sp>
      <p:sp>
        <p:nvSpPr>
          <p:cNvPr id="3" name="">
            <a:extLst xmlns:a="http://schemas.openxmlformats.org/drawingml/2006/main">
              <a:ext uri="{FF2B5EF4-FFF2-40B4-BE49-F238E27FC236}">
                <a16:creationId xmlns:a16="http://schemas.microsoft.com/office/drawing/2014/main" id="{1ADB3200-F89E-4D5A-9AC5-DCD727C32FC9}"/>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9C1139D-7C1F-4167-95B2-0F0199C65C10}"/>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02B0BA22-B19B-4BD5-AB7E-085C50708A59}"/>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21</a:t>
            </a:r>
          </a:p>
        </p:txBody>
      </p:sp>
      <p:sp>
        <p:nvSpPr>
          <p:cNvPr id="6" name="">
            <a:extLst xmlns:a="http://schemas.openxmlformats.org/drawingml/2006/main">
              <a:ext uri="{FF2B5EF4-FFF2-40B4-BE49-F238E27FC236}">
                <a16:creationId xmlns:a16="http://schemas.microsoft.com/office/drawing/2014/main" id="{9DDC0983-0366-4A68-A7FB-E468732DEC34}"/>
              </a:ext>
            </a:extLst>
          </p:cNvPr>
          <p:cNvSpPr>
            <a:spLocks xmlns:a="http://schemas.openxmlformats.org/drawingml/2006/main" noGrp="1"/>
          </p:cNvSpPr>
          <p:nvPr/>
        </p:nvSpPr>
        <p:spPr>
          <a:xfrm xmlns:a="http://schemas.openxmlformats.org/drawingml/2006/main">
            <a:off x="857250" y="157162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9B91"/>
                </a:solidFill>
              </a:defRPr>
            </a:pPr>
            <a:r>
              <a:rPr sz="1800" b="1">
                <a:solidFill>
                  <a:srgbClr val="0B9B91"/>
                </a:solidFill>
              </a:rPr>
              <a:t>Goal</a:t>
            </a:r>
          </a:p>
        </p:txBody>
      </p:sp>
      <p:sp>
        <p:nvSpPr>
          <p:cNvPr id="7" name="">
            <a:extLst xmlns:a="http://schemas.openxmlformats.org/drawingml/2006/main">
              <a:ext uri="{FF2B5EF4-FFF2-40B4-BE49-F238E27FC236}">
                <a16:creationId xmlns:a16="http://schemas.microsoft.com/office/drawing/2014/main" id="{12CA2D40-69F5-4B55-A3B9-9F77CC6F1E3D}"/>
              </a:ext>
            </a:extLst>
          </p:cNvPr>
          <p:cNvSpPr>
            <a:spLocks xmlns:a="http://schemas.openxmlformats.org/drawingml/2006/main" noGrp="1"/>
          </p:cNvSpPr>
          <p:nvPr/>
        </p:nvSpPr>
        <p:spPr>
          <a:xfrm xmlns:a="http://schemas.openxmlformats.org/drawingml/2006/main">
            <a:off x="2571750" y="1524000"/>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092A3D"/>
                </a:solidFill>
              </a:defRPr>
            </a:pPr>
            <a:r>
              <a:rPr sz="2025" b="1">
                <a:solidFill>
                  <a:srgbClr val="092A3D"/>
                </a:solidFill>
              </a:rPr>
              <a:t>Build a Java evaluator—not an optimizer yet.</a:t>
            </a:r>
          </a:p>
        </p:txBody>
      </p:sp>
      <p:sp>
        <p:nvSpPr>
          <p:cNvPr id="8" name="">
            <a:extLst xmlns:a="http://schemas.openxmlformats.org/drawingml/2006/main">
              <a:ext uri="{FF2B5EF4-FFF2-40B4-BE49-F238E27FC236}">
                <a16:creationId xmlns:a16="http://schemas.microsoft.com/office/drawing/2014/main" id="{FE03C68E-40C9-4085-BD7B-14E38721FB80}"/>
              </a:ext>
            </a:extLst>
          </p:cNvPr>
          <p:cNvSpPr>
            <a:spLocks xmlns:a="http://schemas.openxmlformats.org/drawingml/2006/main" noGrp="1"/>
          </p:cNvSpPr>
          <p:nvPr/>
        </p:nvSpPr>
        <p:spPr>
          <a:xfrm xmlns:a="http://schemas.openxmlformats.org/drawingml/2006/main">
            <a:off x="1000125" y="2333625"/>
            <a:ext cx="523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2A93B"/>
                </a:solidFill>
              </a:defRPr>
            </a:pPr>
            <a:r>
              <a:rPr sz="1500" b="1">
                <a:solidFill>
                  <a:srgbClr val="F2A93B"/>
                </a:solidFill>
              </a:rPr>
              <a:t>1</a:t>
            </a:r>
          </a:p>
        </p:txBody>
      </p:sp>
      <p:sp>
        <p:nvSpPr>
          <p:cNvPr id="9" name="">
            <a:extLst xmlns:a="http://schemas.openxmlformats.org/drawingml/2006/main">
              <a:ext uri="{FF2B5EF4-FFF2-40B4-BE49-F238E27FC236}">
                <a16:creationId xmlns:a16="http://schemas.microsoft.com/office/drawing/2014/main" id="{A24736F2-B0DA-4A71-9BF2-3E7AF0EF3088}"/>
              </a:ext>
            </a:extLst>
          </p:cNvPr>
          <p:cNvSpPr>
            <a:spLocks xmlns:a="http://schemas.openxmlformats.org/drawingml/2006/main" noGrp="1"/>
          </p:cNvSpPr>
          <p:nvPr/>
        </p:nvSpPr>
        <p:spPr>
          <a:xfrm xmlns:a="http://schemas.openxmlformats.org/drawingml/2006/main">
            <a:off x="1762125" y="233362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0B9B91"/>
                </a:solidFill>
              </a:defRPr>
            </a:pPr>
            <a:r>
              <a:rPr sz="1500" b="1">
                <a:solidFill>
                  <a:srgbClr val="0B9B91"/>
                </a:solidFill>
              </a:rPr>
              <a:t>Represent</a:t>
            </a:r>
          </a:p>
        </p:txBody>
      </p:sp>
      <p:sp>
        <p:nvSpPr>
          <p:cNvPr id="10" name="">
            <a:extLst xmlns:a="http://schemas.openxmlformats.org/drawingml/2006/main">
              <a:ext uri="{FF2B5EF4-FFF2-40B4-BE49-F238E27FC236}">
                <a16:creationId xmlns:a16="http://schemas.microsoft.com/office/drawing/2014/main" id="{CC1C5DC0-53B4-4051-BA91-2ADD4B98ABA2}"/>
              </a:ext>
            </a:extLst>
          </p:cNvPr>
          <p:cNvSpPr>
            <a:spLocks xmlns:a="http://schemas.openxmlformats.org/drawingml/2006/main" noGrp="1"/>
          </p:cNvSpPr>
          <p:nvPr/>
        </p:nvSpPr>
        <p:spPr>
          <a:xfrm xmlns:a="http://schemas.openxmlformats.org/drawingml/2006/main">
            <a:off x="3619500" y="2333625"/>
            <a:ext cx="695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service-to-server assignments</a:t>
            </a:r>
          </a:p>
        </p:txBody>
      </p:sp>
      <p:sp>
        <p:nvSpPr>
          <p:cNvPr id="11" name="">
            <a:extLst xmlns:a="http://schemas.openxmlformats.org/drawingml/2006/main">
              <a:ext uri="{FF2B5EF4-FFF2-40B4-BE49-F238E27FC236}">
                <a16:creationId xmlns:a16="http://schemas.microsoft.com/office/drawing/2014/main" id="{313E1803-A649-4591-89E4-11EFD5A7C280}"/>
              </a:ext>
            </a:extLst>
          </p:cNvPr>
          <p:cNvSpPr>
            <a:spLocks xmlns:a="http://schemas.openxmlformats.org/drawingml/2006/main" noGrp="1"/>
          </p:cNvSpPr>
          <p:nvPr/>
        </p:nvSpPr>
        <p:spPr>
          <a:xfrm xmlns:a="http://schemas.openxmlformats.org/drawingml/2006/main">
            <a:off x="1000125" y="2981325"/>
            <a:ext cx="523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2A93B"/>
                </a:solidFill>
              </a:defRPr>
            </a:pPr>
            <a:r>
              <a:rPr sz="1500" b="1">
                <a:solidFill>
                  <a:srgbClr val="F2A93B"/>
                </a:solidFill>
              </a:rPr>
              <a:t>2</a:t>
            </a:r>
          </a:p>
        </p:txBody>
      </p:sp>
      <p:sp>
        <p:nvSpPr>
          <p:cNvPr id="12" name="">
            <a:extLst xmlns:a="http://schemas.openxmlformats.org/drawingml/2006/main">
              <a:ext uri="{FF2B5EF4-FFF2-40B4-BE49-F238E27FC236}">
                <a16:creationId xmlns:a16="http://schemas.microsoft.com/office/drawing/2014/main" id="{A13B732B-9CC1-4C15-8095-B87197600BDA}"/>
              </a:ext>
            </a:extLst>
          </p:cNvPr>
          <p:cNvSpPr>
            <a:spLocks xmlns:a="http://schemas.openxmlformats.org/drawingml/2006/main" noGrp="1"/>
          </p:cNvSpPr>
          <p:nvPr/>
        </p:nvSpPr>
        <p:spPr>
          <a:xfrm xmlns:a="http://schemas.openxmlformats.org/drawingml/2006/main">
            <a:off x="1762125" y="298132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0B9B91"/>
                </a:solidFill>
              </a:defRPr>
            </a:pPr>
            <a:r>
              <a:rPr sz="1500" b="1">
                <a:solidFill>
                  <a:srgbClr val="0B9B91"/>
                </a:solidFill>
              </a:rPr>
              <a:t>Check</a:t>
            </a:r>
          </a:p>
        </p:txBody>
      </p:sp>
      <p:sp>
        <p:nvSpPr>
          <p:cNvPr id="13" name="">
            <a:extLst xmlns:a="http://schemas.openxmlformats.org/drawingml/2006/main">
              <a:ext uri="{FF2B5EF4-FFF2-40B4-BE49-F238E27FC236}">
                <a16:creationId xmlns:a16="http://schemas.microsoft.com/office/drawing/2014/main" id="{388D94D3-75CD-4053-87E5-BB7008AB2EA0}"/>
              </a:ext>
            </a:extLst>
          </p:cNvPr>
          <p:cNvSpPr>
            <a:spLocks xmlns:a="http://schemas.openxmlformats.org/drawingml/2006/main" noGrp="1"/>
          </p:cNvSpPr>
          <p:nvPr/>
        </p:nvSpPr>
        <p:spPr>
          <a:xfrm xmlns:a="http://schemas.openxmlformats.org/drawingml/2006/main">
            <a:off x="3619500" y="2981325"/>
            <a:ext cx="695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server capacity constraints</a:t>
            </a:r>
          </a:p>
        </p:txBody>
      </p:sp>
      <p:sp>
        <p:nvSpPr>
          <p:cNvPr id="14" name="">
            <a:extLst xmlns:a="http://schemas.openxmlformats.org/drawingml/2006/main">
              <a:ext uri="{FF2B5EF4-FFF2-40B4-BE49-F238E27FC236}">
                <a16:creationId xmlns:a16="http://schemas.microsoft.com/office/drawing/2014/main" id="{ECBDD1B0-32A8-4358-A4ED-0B00B0DB77FF}"/>
              </a:ext>
            </a:extLst>
          </p:cNvPr>
          <p:cNvSpPr>
            <a:spLocks xmlns:a="http://schemas.openxmlformats.org/drawingml/2006/main" noGrp="1"/>
          </p:cNvSpPr>
          <p:nvPr/>
        </p:nvSpPr>
        <p:spPr>
          <a:xfrm xmlns:a="http://schemas.openxmlformats.org/drawingml/2006/main">
            <a:off x="1000125" y="3629025"/>
            <a:ext cx="523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2A93B"/>
                </a:solidFill>
              </a:defRPr>
            </a:pPr>
            <a:r>
              <a:rPr sz="1500" b="1">
                <a:solidFill>
                  <a:srgbClr val="F2A93B"/>
                </a:solidFill>
              </a:rPr>
              <a:t>3</a:t>
            </a:r>
          </a:p>
        </p:txBody>
      </p:sp>
      <p:sp>
        <p:nvSpPr>
          <p:cNvPr id="15" name="">
            <a:extLst xmlns:a="http://schemas.openxmlformats.org/drawingml/2006/main">
              <a:ext uri="{FF2B5EF4-FFF2-40B4-BE49-F238E27FC236}">
                <a16:creationId xmlns:a16="http://schemas.microsoft.com/office/drawing/2014/main" id="{C58F36C0-3189-48E6-A492-C4B347911785}"/>
              </a:ext>
            </a:extLst>
          </p:cNvPr>
          <p:cNvSpPr>
            <a:spLocks xmlns:a="http://schemas.openxmlformats.org/drawingml/2006/main" noGrp="1"/>
          </p:cNvSpPr>
          <p:nvPr/>
        </p:nvSpPr>
        <p:spPr>
          <a:xfrm xmlns:a="http://schemas.openxmlformats.org/drawingml/2006/main">
            <a:off x="1762125" y="362902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0B9B91"/>
                </a:solidFill>
              </a:defRPr>
            </a:pPr>
            <a:r>
              <a:rPr sz="1500" b="1">
                <a:solidFill>
                  <a:srgbClr val="0B9B91"/>
                </a:solidFill>
              </a:rPr>
              <a:t>Calculate</a:t>
            </a:r>
          </a:p>
        </p:txBody>
      </p:sp>
      <p:sp>
        <p:nvSpPr>
          <p:cNvPr id="16" name="">
            <a:extLst xmlns:a="http://schemas.openxmlformats.org/drawingml/2006/main">
              <a:ext uri="{FF2B5EF4-FFF2-40B4-BE49-F238E27FC236}">
                <a16:creationId xmlns:a16="http://schemas.microsoft.com/office/drawing/2014/main" id="{3E62BA32-E56B-4FF4-9A72-3A88CC73A018}"/>
              </a:ext>
            </a:extLst>
          </p:cNvPr>
          <p:cNvSpPr>
            <a:spLocks xmlns:a="http://schemas.openxmlformats.org/drawingml/2006/main" noGrp="1"/>
          </p:cNvSpPr>
          <p:nvPr/>
        </p:nvSpPr>
        <p:spPr>
          <a:xfrm xmlns:a="http://schemas.openxmlformats.org/drawingml/2006/main">
            <a:off x="3619500" y="3629025"/>
            <a:ext cx="695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cost and average delay</a:t>
            </a:r>
          </a:p>
        </p:txBody>
      </p:sp>
      <p:sp>
        <p:nvSpPr>
          <p:cNvPr id="17" name="">
            <a:extLst xmlns:a="http://schemas.openxmlformats.org/drawingml/2006/main">
              <a:ext uri="{FF2B5EF4-FFF2-40B4-BE49-F238E27FC236}">
                <a16:creationId xmlns:a16="http://schemas.microsoft.com/office/drawing/2014/main" id="{D1A63C11-5978-4908-AB82-0A4A80176AAC}"/>
              </a:ext>
            </a:extLst>
          </p:cNvPr>
          <p:cNvSpPr>
            <a:spLocks xmlns:a="http://schemas.openxmlformats.org/drawingml/2006/main" noGrp="1"/>
          </p:cNvSpPr>
          <p:nvPr/>
        </p:nvSpPr>
        <p:spPr>
          <a:xfrm xmlns:a="http://schemas.openxmlformats.org/drawingml/2006/main">
            <a:off x="1000125" y="4276725"/>
            <a:ext cx="523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2A93B"/>
                </a:solidFill>
              </a:defRPr>
            </a:pPr>
            <a:r>
              <a:rPr sz="1500" b="1">
                <a:solidFill>
                  <a:srgbClr val="F2A93B"/>
                </a:solidFill>
              </a:rPr>
              <a:t>4</a:t>
            </a:r>
          </a:p>
        </p:txBody>
      </p:sp>
      <p:sp>
        <p:nvSpPr>
          <p:cNvPr id="18" name="">
            <a:extLst xmlns:a="http://schemas.openxmlformats.org/drawingml/2006/main">
              <a:ext uri="{FF2B5EF4-FFF2-40B4-BE49-F238E27FC236}">
                <a16:creationId xmlns:a16="http://schemas.microsoft.com/office/drawing/2014/main" id="{1BE57AC8-87ED-45F2-9313-C333E721498D}"/>
              </a:ext>
            </a:extLst>
          </p:cNvPr>
          <p:cNvSpPr>
            <a:spLocks xmlns:a="http://schemas.openxmlformats.org/drawingml/2006/main" noGrp="1"/>
          </p:cNvSpPr>
          <p:nvPr/>
        </p:nvSpPr>
        <p:spPr>
          <a:xfrm xmlns:a="http://schemas.openxmlformats.org/drawingml/2006/main">
            <a:off x="1762125" y="427672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0B9B91"/>
                </a:solidFill>
              </a:defRPr>
            </a:pPr>
            <a:r>
              <a:rPr sz="1500" b="1">
                <a:solidFill>
                  <a:srgbClr val="0B9B91"/>
                </a:solidFill>
              </a:rPr>
              <a:t>Compare</a:t>
            </a:r>
          </a:p>
        </p:txBody>
      </p:sp>
      <p:sp>
        <p:nvSpPr>
          <p:cNvPr id="19" name="">
            <a:extLst xmlns:a="http://schemas.openxmlformats.org/drawingml/2006/main">
              <a:ext uri="{FF2B5EF4-FFF2-40B4-BE49-F238E27FC236}">
                <a16:creationId xmlns:a16="http://schemas.microsoft.com/office/drawing/2014/main" id="{9140F0DB-FF27-4345-8FD8-B14CBE2E461F}"/>
              </a:ext>
            </a:extLst>
          </p:cNvPr>
          <p:cNvSpPr>
            <a:spLocks xmlns:a="http://schemas.openxmlformats.org/drawingml/2006/main" noGrp="1"/>
          </p:cNvSpPr>
          <p:nvPr/>
        </p:nvSpPr>
        <p:spPr>
          <a:xfrm xmlns:a="http://schemas.openxmlformats.org/drawingml/2006/main">
            <a:off x="3619500" y="4276725"/>
            <a:ext cx="695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three supplied candidates</a:t>
            </a:r>
          </a:p>
        </p:txBody>
      </p:sp>
      <p:sp>
        <p:nvSpPr>
          <p:cNvPr id="20" name="">
            <a:extLst xmlns:a="http://schemas.openxmlformats.org/drawingml/2006/main">
              <a:ext uri="{FF2B5EF4-FFF2-40B4-BE49-F238E27FC236}">
                <a16:creationId xmlns:a16="http://schemas.microsoft.com/office/drawing/2014/main" id="{7253F906-56A3-4C57-B002-F5EAC87781BE}"/>
              </a:ext>
            </a:extLst>
          </p:cNvPr>
          <p:cNvSpPr>
            <a:spLocks xmlns:a="http://schemas.openxmlformats.org/drawingml/2006/main" noGrp="1"/>
          </p:cNvSpPr>
          <p:nvPr/>
        </p:nvSpPr>
        <p:spPr>
          <a:xfrm xmlns:a="http://schemas.openxmlformats.org/drawingml/2006/main">
            <a:off x="1000125" y="4924425"/>
            <a:ext cx="523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2A93B"/>
                </a:solidFill>
              </a:defRPr>
            </a:pPr>
            <a:r>
              <a:rPr sz="1500" b="1">
                <a:solidFill>
                  <a:srgbClr val="F2A93B"/>
                </a:solidFill>
              </a:rPr>
              <a:t>5</a:t>
            </a:r>
          </a:p>
        </p:txBody>
      </p:sp>
      <p:sp>
        <p:nvSpPr>
          <p:cNvPr id="21" name="">
            <a:extLst xmlns:a="http://schemas.openxmlformats.org/drawingml/2006/main">
              <a:ext uri="{FF2B5EF4-FFF2-40B4-BE49-F238E27FC236}">
                <a16:creationId xmlns:a16="http://schemas.microsoft.com/office/drawing/2014/main" id="{119FABB3-A841-43D2-BBBC-DC80F64166DF}"/>
              </a:ext>
            </a:extLst>
          </p:cNvPr>
          <p:cNvSpPr>
            <a:spLocks xmlns:a="http://schemas.openxmlformats.org/drawingml/2006/main" noGrp="1"/>
          </p:cNvSpPr>
          <p:nvPr/>
        </p:nvSpPr>
        <p:spPr>
          <a:xfrm xmlns:a="http://schemas.openxmlformats.org/drawingml/2006/main">
            <a:off x="1762125" y="492442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0B9B91"/>
                </a:solidFill>
              </a:defRPr>
            </a:pPr>
            <a:r>
              <a:rPr sz="1500" b="1">
                <a:solidFill>
                  <a:srgbClr val="0B9B91"/>
                </a:solidFill>
              </a:rPr>
              <a:t>Explain</a:t>
            </a:r>
          </a:p>
        </p:txBody>
      </p:sp>
      <p:sp>
        <p:nvSpPr>
          <p:cNvPr id="22" name="">
            <a:extLst xmlns:a="http://schemas.openxmlformats.org/drawingml/2006/main">
              <a:ext uri="{FF2B5EF4-FFF2-40B4-BE49-F238E27FC236}">
                <a16:creationId xmlns:a16="http://schemas.microsoft.com/office/drawing/2014/main" id="{D7E37B4B-3941-416E-A340-CE78C6717679}"/>
              </a:ext>
            </a:extLst>
          </p:cNvPr>
          <p:cNvSpPr>
            <a:spLocks xmlns:a="http://schemas.openxmlformats.org/drawingml/2006/main" noGrp="1"/>
          </p:cNvSpPr>
          <p:nvPr/>
        </p:nvSpPr>
        <p:spPr>
          <a:xfrm xmlns:a="http://schemas.openxmlformats.org/drawingml/2006/main">
            <a:off x="3619500" y="4924425"/>
            <a:ext cx="695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which candidate is best and why</a:t>
            </a:r>
          </a:p>
        </p:txBody>
      </p:sp>
    </p:spTree>
    <p:extLst>
      <p:ext uri="{BB962C8B-B14F-4D97-AF65-F5344CB8AC3E}">
        <p14:creationId xmlns:p14="http://schemas.microsoft.com/office/powerpoint/2010/main" val="1805911729"/>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C70D41A-1EAF-4DB4-9FAC-2F40E34197D6}"/>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JAVA LAB</a:t>
            </a:r>
          </a:p>
        </p:txBody>
      </p:sp>
      <p:sp>
        <p:nvSpPr>
          <p:cNvPr id="2" name="">
            <a:extLst xmlns:a="http://schemas.openxmlformats.org/drawingml/2006/main">
              <a:ext uri="{FF2B5EF4-FFF2-40B4-BE49-F238E27FC236}">
                <a16:creationId xmlns:a16="http://schemas.microsoft.com/office/drawing/2014/main" id="{D0FD950A-2878-426C-AB5C-DE18C7660F08}"/>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A small Java design keeps concepts visible</a:t>
            </a:r>
          </a:p>
        </p:txBody>
      </p:sp>
      <p:sp>
        <p:nvSpPr>
          <p:cNvPr id="3" name="">
            <a:extLst xmlns:a="http://schemas.openxmlformats.org/drawingml/2006/main">
              <a:ext uri="{FF2B5EF4-FFF2-40B4-BE49-F238E27FC236}">
                <a16:creationId xmlns:a16="http://schemas.microsoft.com/office/drawing/2014/main" id="{25968761-D9E8-43F0-BDB0-89667608FED0}"/>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AA7DF91-5C89-4CD6-98E5-3A14B78DD492}"/>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2514D2D9-09BA-4924-885D-97D2E3B57C21}"/>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22</a:t>
            </a:r>
          </a:p>
        </p:txBody>
      </p:sp>
      <p:sp>
        <p:nvSpPr>
          <p:cNvPr id="6" name="">
            <a:extLst xmlns:a="http://schemas.openxmlformats.org/drawingml/2006/main">
              <a:ext uri="{FF2B5EF4-FFF2-40B4-BE49-F238E27FC236}">
                <a16:creationId xmlns:a16="http://schemas.microsoft.com/office/drawing/2014/main" id="{5EBED320-354D-4A99-8D00-051C18ED21F2}"/>
              </a:ext>
            </a:extLst>
          </p:cNvPr>
          <p:cNvSpPr>
            <a:spLocks xmlns:a="http://schemas.openxmlformats.org/drawingml/2006/main" noGrp="1"/>
          </p:cNvSpPr>
          <p:nvPr/>
        </p:nvSpPr>
        <p:spPr>
          <a:xfrm xmlns:a="http://schemas.openxmlformats.org/drawingml/2006/main">
            <a:off x="952500" y="1381125"/>
            <a:ext cx="23812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CED9DB"/>
            </a:solidFill>
            <a:prstDash val="solid"/>
          </a:ln>
        </p:spPr>
      </p:sp>
      <p:sp>
        <p:nvSpPr>
          <p:cNvPr id="7" name="">
            <a:extLst xmlns:a="http://schemas.openxmlformats.org/drawingml/2006/main">
              <a:ext uri="{FF2B5EF4-FFF2-40B4-BE49-F238E27FC236}">
                <a16:creationId xmlns:a16="http://schemas.microsoft.com/office/drawing/2014/main" id="{DC266699-E586-409E-8C6D-DE3BE85E6999}"/>
              </a:ext>
            </a:extLst>
          </p:cNvPr>
          <p:cNvSpPr>
            <a:spLocks xmlns:a="http://schemas.openxmlformats.org/drawingml/2006/main" noGrp="1"/>
          </p:cNvSpPr>
          <p:nvPr/>
        </p:nvSpPr>
        <p:spPr>
          <a:xfrm xmlns:a="http://schemas.openxmlformats.org/drawingml/2006/main">
            <a:off x="1143000" y="1476375"/>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B9B91"/>
                </a:solidFill>
              </a:defRPr>
            </a:pPr>
            <a:r>
              <a:rPr sz="1500" b="1">
                <a:solidFill>
                  <a:srgbClr val="0B9B91"/>
                </a:solidFill>
              </a:rPr>
              <a:t>ProblemData</a:t>
            </a:r>
          </a:p>
        </p:txBody>
      </p:sp>
      <p:sp>
        <p:nvSpPr>
          <p:cNvPr id="8" name="">
            <a:extLst xmlns:a="http://schemas.openxmlformats.org/drawingml/2006/main">
              <a:ext uri="{FF2B5EF4-FFF2-40B4-BE49-F238E27FC236}">
                <a16:creationId xmlns:a16="http://schemas.microsoft.com/office/drawing/2014/main" id="{FDE2AF01-9D5E-4F3B-AEEB-A55EFBD3A4D1}"/>
              </a:ext>
            </a:extLst>
          </p:cNvPr>
          <p:cNvSpPr>
            <a:spLocks xmlns:a="http://schemas.openxmlformats.org/drawingml/2006/main" noGrp="1"/>
          </p:cNvSpPr>
          <p:nvPr/>
        </p:nvSpPr>
        <p:spPr>
          <a:xfrm xmlns:a="http://schemas.openxmlformats.org/drawingml/2006/main">
            <a:off x="3762375" y="1381125"/>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known capacities, demands and delays</a:t>
            </a:r>
          </a:p>
        </p:txBody>
      </p:sp>
      <p:sp>
        <p:nvSpPr>
          <p:cNvPr id="9" name="">
            <a:extLst xmlns:a="http://schemas.openxmlformats.org/drawingml/2006/main">
              <a:ext uri="{FF2B5EF4-FFF2-40B4-BE49-F238E27FC236}">
                <a16:creationId xmlns:a16="http://schemas.microsoft.com/office/drawing/2014/main" id="{B1A588F9-EDE3-411B-86F1-08D684F0C2EC}"/>
              </a:ext>
            </a:extLst>
          </p:cNvPr>
          <p:cNvSpPr>
            <a:spLocks xmlns:a="http://schemas.openxmlformats.org/drawingml/2006/main" noGrp="1"/>
          </p:cNvSpPr>
          <p:nvPr/>
        </p:nvSpPr>
        <p:spPr>
          <a:xfrm xmlns:a="http://schemas.openxmlformats.org/drawingml/2006/main">
            <a:off x="952500" y="2286000"/>
            <a:ext cx="23812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CED9DB"/>
            </a:solidFill>
            <a:prstDash val="solid"/>
          </a:ln>
        </p:spPr>
      </p:sp>
      <p:sp>
        <p:nvSpPr>
          <p:cNvPr id="10" name="">
            <a:extLst xmlns:a="http://schemas.openxmlformats.org/drawingml/2006/main">
              <a:ext uri="{FF2B5EF4-FFF2-40B4-BE49-F238E27FC236}">
                <a16:creationId xmlns:a16="http://schemas.microsoft.com/office/drawing/2014/main" id="{F1F8787B-6C15-4969-BFFC-F81E701A4F1D}"/>
              </a:ext>
            </a:extLst>
          </p:cNvPr>
          <p:cNvSpPr>
            <a:spLocks xmlns:a="http://schemas.openxmlformats.org/drawingml/2006/main" noGrp="1"/>
          </p:cNvSpPr>
          <p:nvPr/>
        </p:nvSpPr>
        <p:spPr>
          <a:xfrm xmlns:a="http://schemas.openxmlformats.org/drawingml/2006/main">
            <a:off x="1143000" y="23812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B9B91"/>
                </a:solidFill>
              </a:defRPr>
            </a:pPr>
            <a:r>
              <a:rPr sz="1500" b="1">
                <a:solidFill>
                  <a:srgbClr val="0B9B91"/>
                </a:solidFill>
              </a:rPr>
              <a:t>Candidate</a:t>
            </a:r>
          </a:p>
        </p:txBody>
      </p:sp>
      <p:sp>
        <p:nvSpPr>
          <p:cNvPr id="11" name="">
            <a:extLst xmlns:a="http://schemas.openxmlformats.org/drawingml/2006/main">
              <a:ext uri="{FF2B5EF4-FFF2-40B4-BE49-F238E27FC236}">
                <a16:creationId xmlns:a16="http://schemas.microsoft.com/office/drawing/2014/main" id="{D6101CC7-18A4-4A1C-BCD0-68B273C72B19}"/>
              </a:ext>
            </a:extLst>
          </p:cNvPr>
          <p:cNvSpPr>
            <a:spLocks xmlns:a="http://schemas.openxmlformats.org/drawingml/2006/main" noGrp="1"/>
          </p:cNvSpPr>
          <p:nvPr/>
        </p:nvSpPr>
        <p:spPr>
          <a:xfrm xmlns:a="http://schemas.openxmlformats.org/drawingml/2006/main">
            <a:off x="3762375" y="22860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one server choice per service</a:t>
            </a:r>
          </a:p>
        </p:txBody>
      </p:sp>
      <p:sp>
        <p:nvSpPr>
          <p:cNvPr id="12" name="">
            <a:extLst xmlns:a="http://schemas.openxmlformats.org/drawingml/2006/main">
              <a:ext uri="{FF2B5EF4-FFF2-40B4-BE49-F238E27FC236}">
                <a16:creationId xmlns:a16="http://schemas.microsoft.com/office/drawing/2014/main" id="{31D78C31-9319-4D1B-BF9F-AA5B78CCAF48}"/>
              </a:ext>
            </a:extLst>
          </p:cNvPr>
          <p:cNvSpPr>
            <a:spLocks xmlns:a="http://schemas.openxmlformats.org/drawingml/2006/main" noGrp="1"/>
          </p:cNvSpPr>
          <p:nvPr/>
        </p:nvSpPr>
        <p:spPr>
          <a:xfrm xmlns:a="http://schemas.openxmlformats.org/drawingml/2006/main">
            <a:off x="952500" y="3190875"/>
            <a:ext cx="23812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CED9DB"/>
            </a:solidFill>
            <a:prstDash val="solid"/>
          </a:ln>
        </p:spPr>
      </p:sp>
      <p:sp>
        <p:nvSpPr>
          <p:cNvPr id="13" name="">
            <a:extLst xmlns:a="http://schemas.openxmlformats.org/drawingml/2006/main">
              <a:ext uri="{FF2B5EF4-FFF2-40B4-BE49-F238E27FC236}">
                <a16:creationId xmlns:a16="http://schemas.microsoft.com/office/drawing/2014/main" id="{CCBEA00A-5729-4FE6-9A4B-7CA3C4E6F78D}"/>
              </a:ext>
            </a:extLst>
          </p:cNvPr>
          <p:cNvSpPr>
            <a:spLocks xmlns:a="http://schemas.openxmlformats.org/drawingml/2006/main" noGrp="1"/>
          </p:cNvSpPr>
          <p:nvPr/>
        </p:nvSpPr>
        <p:spPr>
          <a:xfrm xmlns:a="http://schemas.openxmlformats.org/drawingml/2006/main">
            <a:off x="1143000" y="3286125"/>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B9B91"/>
                </a:solidFill>
              </a:defRPr>
            </a:pPr>
            <a:r>
              <a:rPr sz="1500" b="1">
                <a:solidFill>
                  <a:srgbClr val="0B9B91"/>
                </a:solidFill>
              </a:rPr>
              <a:t>Evaluation</a:t>
            </a:r>
          </a:p>
        </p:txBody>
      </p:sp>
      <p:sp>
        <p:nvSpPr>
          <p:cNvPr id="14" name="">
            <a:extLst xmlns:a="http://schemas.openxmlformats.org/drawingml/2006/main">
              <a:ext uri="{FF2B5EF4-FFF2-40B4-BE49-F238E27FC236}">
                <a16:creationId xmlns:a16="http://schemas.microsoft.com/office/drawing/2014/main" id="{166020B1-4F60-427D-969E-4012FB0C1696}"/>
              </a:ext>
            </a:extLst>
          </p:cNvPr>
          <p:cNvSpPr>
            <a:spLocks xmlns:a="http://schemas.openxmlformats.org/drawingml/2006/main" noGrp="1"/>
          </p:cNvSpPr>
          <p:nvPr/>
        </p:nvSpPr>
        <p:spPr>
          <a:xfrm xmlns:a="http://schemas.openxmlformats.org/drawingml/2006/main">
            <a:off x="3762375" y="3190875"/>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feasible? cost? delay?</a:t>
            </a:r>
          </a:p>
        </p:txBody>
      </p:sp>
      <p:sp>
        <p:nvSpPr>
          <p:cNvPr id="15" name="">
            <a:extLst xmlns:a="http://schemas.openxmlformats.org/drawingml/2006/main">
              <a:ext uri="{FF2B5EF4-FFF2-40B4-BE49-F238E27FC236}">
                <a16:creationId xmlns:a16="http://schemas.microsoft.com/office/drawing/2014/main" id="{70762D35-B09E-4F88-A504-61704244A65A}"/>
              </a:ext>
            </a:extLst>
          </p:cNvPr>
          <p:cNvSpPr>
            <a:spLocks xmlns:a="http://schemas.openxmlformats.org/drawingml/2006/main" noGrp="1"/>
          </p:cNvSpPr>
          <p:nvPr/>
        </p:nvSpPr>
        <p:spPr>
          <a:xfrm xmlns:a="http://schemas.openxmlformats.org/drawingml/2006/main">
            <a:off x="952500" y="4095750"/>
            <a:ext cx="2381250" cy="628650"/>
          </a:xfrm>
          <a:prstGeom xmlns:a="http://schemas.openxmlformats.org/drawingml/2006/main" prst="roundRect">
            <a:avLst>
              <a:gd name="adj" fmla="val 12121"/>
            </a:avLst>
          </a:prstGeom>
          <a:solidFill xmlns:a="http://schemas.openxmlformats.org/drawingml/2006/main">
            <a:srgbClr val="FFF1D8"/>
          </a:solidFill>
          <a:ln xmlns:a="http://schemas.openxmlformats.org/drawingml/2006/main" w="9525">
            <a:solidFill>
              <a:srgbClr val="F2A93B"/>
            </a:solidFill>
            <a:prstDash val="solid"/>
          </a:ln>
        </p:spPr>
      </p:sp>
      <p:sp>
        <p:nvSpPr>
          <p:cNvPr id="16" name="">
            <a:extLst xmlns:a="http://schemas.openxmlformats.org/drawingml/2006/main">
              <a:ext uri="{FF2B5EF4-FFF2-40B4-BE49-F238E27FC236}">
                <a16:creationId xmlns:a16="http://schemas.microsoft.com/office/drawing/2014/main" id="{0798B665-9B36-4154-B95C-CDBDC7CE8DDB}"/>
              </a:ext>
            </a:extLst>
          </p:cNvPr>
          <p:cNvSpPr>
            <a:spLocks xmlns:a="http://schemas.openxmlformats.org/drawingml/2006/main" noGrp="1"/>
          </p:cNvSpPr>
          <p:nvPr/>
        </p:nvSpPr>
        <p:spPr>
          <a:xfrm xmlns:a="http://schemas.openxmlformats.org/drawingml/2006/main">
            <a:off x="1143000" y="419100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2A93B"/>
                </a:solidFill>
              </a:defRPr>
            </a:pPr>
            <a:r>
              <a:rPr sz="1500" b="1">
                <a:solidFill>
                  <a:srgbClr val="F2A93B"/>
                </a:solidFill>
              </a:rPr>
              <a:t>Evaluator</a:t>
            </a:r>
          </a:p>
        </p:txBody>
      </p:sp>
      <p:sp>
        <p:nvSpPr>
          <p:cNvPr id="17" name="">
            <a:extLst xmlns:a="http://schemas.openxmlformats.org/drawingml/2006/main">
              <a:ext uri="{FF2B5EF4-FFF2-40B4-BE49-F238E27FC236}">
                <a16:creationId xmlns:a16="http://schemas.microsoft.com/office/drawing/2014/main" id="{002FCAD6-5EDE-484C-B4FC-2C180ECF3727}"/>
              </a:ext>
            </a:extLst>
          </p:cNvPr>
          <p:cNvSpPr>
            <a:spLocks xmlns:a="http://schemas.openxmlformats.org/drawingml/2006/main" noGrp="1"/>
          </p:cNvSpPr>
          <p:nvPr/>
        </p:nvSpPr>
        <p:spPr>
          <a:xfrm xmlns:a="http://schemas.openxmlformats.org/drawingml/2006/main">
            <a:off x="3762375" y="40957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checks constraints and calculates quality</a:t>
            </a:r>
          </a:p>
        </p:txBody>
      </p:sp>
      <p:sp>
        <p:nvSpPr>
          <p:cNvPr id="18" name="">
            <a:extLst xmlns:a="http://schemas.openxmlformats.org/drawingml/2006/main">
              <a:ext uri="{FF2B5EF4-FFF2-40B4-BE49-F238E27FC236}">
                <a16:creationId xmlns:a16="http://schemas.microsoft.com/office/drawing/2014/main" id="{1FC47515-6C8C-48D3-9B1C-A82C233388C6}"/>
              </a:ext>
            </a:extLst>
          </p:cNvPr>
          <p:cNvSpPr>
            <a:spLocks xmlns:a="http://schemas.openxmlformats.org/drawingml/2006/main" noGrp="1"/>
          </p:cNvSpPr>
          <p:nvPr/>
        </p:nvSpPr>
        <p:spPr>
          <a:xfrm xmlns:a="http://schemas.openxmlformats.org/drawingml/2006/main">
            <a:off x="952500" y="5000625"/>
            <a:ext cx="23812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CED9DB"/>
            </a:solidFill>
            <a:prstDash val="solid"/>
          </a:ln>
        </p:spPr>
      </p:sp>
      <p:sp>
        <p:nvSpPr>
          <p:cNvPr id="19" name="">
            <a:extLst xmlns:a="http://schemas.openxmlformats.org/drawingml/2006/main">
              <a:ext uri="{FF2B5EF4-FFF2-40B4-BE49-F238E27FC236}">
                <a16:creationId xmlns:a16="http://schemas.microsoft.com/office/drawing/2014/main" id="{51DCD67C-0B75-4926-AE73-7DAEE5BB6B9F}"/>
              </a:ext>
            </a:extLst>
          </p:cNvPr>
          <p:cNvSpPr>
            <a:spLocks xmlns:a="http://schemas.openxmlformats.org/drawingml/2006/main" noGrp="1"/>
          </p:cNvSpPr>
          <p:nvPr/>
        </p:nvSpPr>
        <p:spPr>
          <a:xfrm xmlns:a="http://schemas.openxmlformats.org/drawingml/2006/main">
            <a:off x="1143000" y="5095875"/>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B9B91"/>
                </a:solidFill>
              </a:defRPr>
            </a:pPr>
            <a:r>
              <a:rPr sz="1500" b="1">
                <a:solidFill>
                  <a:srgbClr val="0B9B91"/>
                </a:solidFill>
              </a:rPr>
              <a:t>Main</a:t>
            </a:r>
          </a:p>
        </p:txBody>
      </p:sp>
      <p:sp>
        <p:nvSpPr>
          <p:cNvPr id="20" name="">
            <a:extLst xmlns:a="http://schemas.openxmlformats.org/drawingml/2006/main">
              <a:ext uri="{FF2B5EF4-FFF2-40B4-BE49-F238E27FC236}">
                <a16:creationId xmlns:a16="http://schemas.microsoft.com/office/drawing/2014/main" id="{1B48BEFB-0DD3-40D0-9949-12F4D81CB9A4}"/>
              </a:ext>
            </a:extLst>
          </p:cNvPr>
          <p:cNvSpPr>
            <a:spLocks xmlns:a="http://schemas.openxmlformats.org/drawingml/2006/main" noGrp="1"/>
          </p:cNvSpPr>
          <p:nvPr/>
        </p:nvSpPr>
        <p:spPr>
          <a:xfrm xmlns:a="http://schemas.openxmlformats.org/drawingml/2006/main">
            <a:off x="3762375" y="5000625"/>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83544"/>
                </a:solidFill>
              </a:defRPr>
            </a:pPr>
            <a:r>
              <a:rPr sz="1500" b="0">
                <a:solidFill>
                  <a:srgbClr val="183544"/>
                </a:solidFill>
              </a:rPr>
              <a:t>constructs examples and prints comparison</a:t>
            </a:r>
          </a:p>
        </p:txBody>
      </p:sp>
    </p:spTree>
    <p:extLst>
      <p:ext uri="{BB962C8B-B14F-4D97-AF65-F5344CB8AC3E}">
        <p14:creationId xmlns:p14="http://schemas.microsoft.com/office/powerpoint/2010/main" val="326091340"/>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AA46728-5E1A-481C-BA17-0C0246C414B2}"/>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EXPERIMENTAL PRACTICE</a:t>
            </a:r>
          </a:p>
        </p:txBody>
      </p:sp>
      <p:sp>
        <p:nvSpPr>
          <p:cNvPr id="2" name="">
            <a:extLst xmlns:a="http://schemas.openxmlformats.org/drawingml/2006/main">
              <a:ext uri="{FF2B5EF4-FFF2-40B4-BE49-F238E27FC236}">
                <a16:creationId xmlns:a16="http://schemas.microsoft.com/office/drawing/2014/main" id="{3A246850-5C76-4F2B-AC53-0046A896332A}"/>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A fair experiment starts with reproducibility</a:t>
            </a:r>
          </a:p>
        </p:txBody>
      </p:sp>
      <p:sp>
        <p:nvSpPr>
          <p:cNvPr id="3" name="">
            <a:extLst xmlns:a="http://schemas.openxmlformats.org/drawingml/2006/main">
              <a:ext uri="{FF2B5EF4-FFF2-40B4-BE49-F238E27FC236}">
                <a16:creationId xmlns:a16="http://schemas.microsoft.com/office/drawing/2014/main" id="{F14D46B5-347B-44F3-B827-AAFDB5D2B89C}"/>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FC500F0-C770-4B54-AE7B-D7D70C85DAE0}"/>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3C04AAE6-BCAF-4EE7-A3ED-41663B2FFBC1}"/>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23</a:t>
            </a:r>
          </a:p>
        </p:txBody>
      </p:sp>
      <p:sp>
        <p:nvSpPr>
          <p:cNvPr id="6" name="">
            <a:extLst xmlns:a="http://schemas.openxmlformats.org/drawingml/2006/main">
              <a:ext uri="{FF2B5EF4-FFF2-40B4-BE49-F238E27FC236}">
                <a16:creationId xmlns:a16="http://schemas.microsoft.com/office/drawing/2014/main" id="{73639DD5-E160-44A0-9D40-8F7613C0C4E7}"/>
              </a:ext>
            </a:extLst>
          </p:cNvPr>
          <p:cNvSpPr>
            <a:spLocks xmlns:a="http://schemas.openxmlformats.org/drawingml/2006/main" noGrp="1"/>
          </p:cNvSpPr>
          <p:nvPr/>
        </p:nvSpPr>
        <p:spPr>
          <a:xfrm xmlns:a="http://schemas.openxmlformats.org/drawingml/2006/main">
            <a:off x="1047750" y="176212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7" name="">
            <a:extLst xmlns:a="http://schemas.openxmlformats.org/drawingml/2006/main">
              <a:ext uri="{FF2B5EF4-FFF2-40B4-BE49-F238E27FC236}">
                <a16:creationId xmlns:a16="http://schemas.microsoft.com/office/drawing/2014/main" id="{9EED8416-0AC3-42D0-8593-C0D4EA1CD7D7}"/>
              </a:ext>
            </a:extLst>
          </p:cNvPr>
          <p:cNvSpPr>
            <a:spLocks xmlns:a="http://schemas.openxmlformats.org/drawingml/2006/main" noGrp="1"/>
          </p:cNvSpPr>
          <p:nvPr/>
        </p:nvSpPr>
        <p:spPr>
          <a:xfrm xmlns:a="http://schemas.openxmlformats.org/drawingml/2006/main">
            <a:off x="1314450" y="1571625"/>
            <a:ext cx="4210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83544"/>
                </a:solidFill>
              </a:defRPr>
            </a:pPr>
            <a:r>
              <a:rPr sz="1575" b="0">
                <a:solidFill>
                  <a:srgbClr val="183544"/>
                </a:solidFill>
              </a:rPr>
              <a:t>Problem instance</a:t>
            </a:r>
          </a:p>
        </p:txBody>
      </p:sp>
      <p:sp>
        <p:nvSpPr>
          <p:cNvPr id="8" name="">
            <a:extLst xmlns:a="http://schemas.openxmlformats.org/drawingml/2006/main">
              <a:ext uri="{FF2B5EF4-FFF2-40B4-BE49-F238E27FC236}">
                <a16:creationId xmlns:a16="http://schemas.microsoft.com/office/drawing/2014/main" id="{2327BC48-167B-4AB9-A927-6183C8D03E47}"/>
              </a:ext>
            </a:extLst>
          </p:cNvPr>
          <p:cNvSpPr>
            <a:spLocks xmlns:a="http://schemas.openxmlformats.org/drawingml/2006/main" noGrp="1"/>
          </p:cNvSpPr>
          <p:nvPr/>
        </p:nvSpPr>
        <p:spPr>
          <a:xfrm xmlns:a="http://schemas.openxmlformats.org/drawingml/2006/main">
            <a:off x="1047750" y="239077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9" name="">
            <a:extLst xmlns:a="http://schemas.openxmlformats.org/drawingml/2006/main">
              <a:ext uri="{FF2B5EF4-FFF2-40B4-BE49-F238E27FC236}">
                <a16:creationId xmlns:a16="http://schemas.microsoft.com/office/drawing/2014/main" id="{53E7CD91-4F27-4447-BF60-CC42820747FB}"/>
              </a:ext>
            </a:extLst>
          </p:cNvPr>
          <p:cNvSpPr>
            <a:spLocks xmlns:a="http://schemas.openxmlformats.org/drawingml/2006/main" noGrp="1"/>
          </p:cNvSpPr>
          <p:nvPr/>
        </p:nvSpPr>
        <p:spPr>
          <a:xfrm xmlns:a="http://schemas.openxmlformats.org/drawingml/2006/main">
            <a:off x="1314450" y="2200275"/>
            <a:ext cx="4210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83544"/>
                </a:solidFill>
              </a:defRPr>
            </a:pPr>
            <a:r>
              <a:rPr sz="1575" b="0">
                <a:solidFill>
                  <a:srgbClr val="183544"/>
                </a:solidFill>
              </a:rPr>
              <a:t>Algorithm version</a:t>
            </a:r>
          </a:p>
        </p:txBody>
      </p:sp>
      <p:sp>
        <p:nvSpPr>
          <p:cNvPr id="10" name="">
            <a:extLst xmlns:a="http://schemas.openxmlformats.org/drawingml/2006/main">
              <a:ext uri="{FF2B5EF4-FFF2-40B4-BE49-F238E27FC236}">
                <a16:creationId xmlns:a16="http://schemas.microsoft.com/office/drawing/2014/main" id="{632D386E-0480-44E6-AF17-F487851ACEC7}"/>
              </a:ext>
            </a:extLst>
          </p:cNvPr>
          <p:cNvSpPr>
            <a:spLocks xmlns:a="http://schemas.openxmlformats.org/drawingml/2006/main" noGrp="1"/>
          </p:cNvSpPr>
          <p:nvPr/>
        </p:nvSpPr>
        <p:spPr>
          <a:xfrm xmlns:a="http://schemas.openxmlformats.org/drawingml/2006/main">
            <a:off x="1047750" y="301942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1" name="">
            <a:extLst xmlns:a="http://schemas.openxmlformats.org/drawingml/2006/main">
              <a:ext uri="{FF2B5EF4-FFF2-40B4-BE49-F238E27FC236}">
                <a16:creationId xmlns:a16="http://schemas.microsoft.com/office/drawing/2014/main" id="{6BFD5102-E60F-454C-ABE0-6B8B369BA6FD}"/>
              </a:ext>
            </a:extLst>
          </p:cNvPr>
          <p:cNvSpPr>
            <a:spLocks xmlns:a="http://schemas.openxmlformats.org/drawingml/2006/main" noGrp="1"/>
          </p:cNvSpPr>
          <p:nvPr/>
        </p:nvSpPr>
        <p:spPr>
          <a:xfrm xmlns:a="http://schemas.openxmlformats.org/drawingml/2006/main">
            <a:off x="1314450" y="2828925"/>
            <a:ext cx="4210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83544"/>
                </a:solidFill>
              </a:defRPr>
            </a:pPr>
            <a:r>
              <a:rPr sz="1575" b="0">
                <a:solidFill>
                  <a:srgbClr val="183544"/>
                </a:solidFill>
              </a:rPr>
              <a:t>Parameter settings</a:t>
            </a:r>
          </a:p>
        </p:txBody>
      </p:sp>
      <p:sp>
        <p:nvSpPr>
          <p:cNvPr id="12" name="">
            <a:extLst xmlns:a="http://schemas.openxmlformats.org/drawingml/2006/main">
              <a:ext uri="{FF2B5EF4-FFF2-40B4-BE49-F238E27FC236}">
                <a16:creationId xmlns:a16="http://schemas.microsoft.com/office/drawing/2014/main" id="{67A66847-766A-4210-8CA5-D48ABF81843A}"/>
              </a:ext>
            </a:extLst>
          </p:cNvPr>
          <p:cNvSpPr>
            <a:spLocks xmlns:a="http://schemas.openxmlformats.org/drawingml/2006/main" noGrp="1"/>
          </p:cNvSpPr>
          <p:nvPr/>
        </p:nvSpPr>
        <p:spPr>
          <a:xfrm xmlns:a="http://schemas.openxmlformats.org/drawingml/2006/main">
            <a:off x="1047750" y="364807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3" name="">
            <a:extLst xmlns:a="http://schemas.openxmlformats.org/drawingml/2006/main">
              <a:ext uri="{FF2B5EF4-FFF2-40B4-BE49-F238E27FC236}">
                <a16:creationId xmlns:a16="http://schemas.microsoft.com/office/drawing/2014/main" id="{B8E6308A-E283-4ABD-BA8F-0A4C09F5EC93}"/>
              </a:ext>
            </a:extLst>
          </p:cNvPr>
          <p:cNvSpPr>
            <a:spLocks xmlns:a="http://schemas.openxmlformats.org/drawingml/2006/main" noGrp="1"/>
          </p:cNvSpPr>
          <p:nvPr/>
        </p:nvSpPr>
        <p:spPr>
          <a:xfrm xmlns:a="http://schemas.openxmlformats.org/drawingml/2006/main">
            <a:off x="1314450" y="3457575"/>
            <a:ext cx="4210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83544"/>
                </a:solidFill>
              </a:defRPr>
            </a:pPr>
            <a:r>
              <a:rPr sz="1575" b="0">
                <a:solidFill>
                  <a:srgbClr val="183544"/>
                </a:solidFill>
              </a:rPr>
              <a:t>Stopping condition</a:t>
            </a:r>
          </a:p>
        </p:txBody>
      </p:sp>
      <p:sp>
        <p:nvSpPr>
          <p:cNvPr id="14" name="">
            <a:extLst xmlns:a="http://schemas.openxmlformats.org/drawingml/2006/main">
              <a:ext uri="{FF2B5EF4-FFF2-40B4-BE49-F238E27FC236}">
                <a16:creationId xmlns:a16="http://schemas.microsoft.com/office/drawing/2014/main" id="{0A8D050E-CFEC-49B8-8C4E-8191FC872256}"/>
              </a:ext>
            </a:extLst>
          </p:cNvPr>
          <p:cNvSpPr>
            <a:spLocks xmlns:a="http://schemas.openxmlformats.org/drawingml/2006/main" noGrp="1"/>
          </p:cNvSpPr>
          <p:nvPr/>
        </p:nvSpPr>
        <p:spPr>
          <a:xfrm xmlns:a="http://schemas.openxmlformats.org/drawingml/2006/main">
            <a:off x="1047750" y="427672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5" name="">
            <a:extLst xmlns:a="http://schemas.openxmlformats.org/drawingml/2006/main">
              <a:ext uri="{FF2B5EF4-FFF2-40B4-BE49-F238E27FC236}">
                <a16:creationId xmlns:a16="http://schemas.microsoft.com/office/drawing/2014/main" id="{960FD727-72D3-43AA-A97C-7B0D5FD92E78}"/>
              </a:ext>
            </a:extLst>
          </p:cNvPr>
          <p:cNvSpPr>
            <a:spLocks xmlns:a="http://schemas.openxmlformats.org/drawingml/2006/main" noGrp="1"/>
          </p:cNvSpPr>
          <p:nvPr/>
        </p:nvSpPr>
        <p:spPr>
          <a:xfrm xmlns:a="http://schemas.openxmlformats.org/drawingml/2006/main">
            <a:off x="1314450" y="4086225"/>
            <a:ext cx="4210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83544"/>
                </a:solidFill>
              </a:defRPr>
            </a:pPr>
            <a:r>
              <a:rPr sz="1575" b="0">
                <a:solidFill>
                  <a:srgbClr val="183544"/>
                </a:solidFill>
              </a:rPr>
              <a:t>Random seed</a:t>
            </a:r>
          </a:p>
        </p:txBody>
      </p:sp>
      <p:sp>
        <p:nvSpPr>
          <p:cNvPr id="16" name="">
            <a:extLst xmlns:a="http://schemas.openxmlformats.org/drawingml/2006/main">
              <a:ext uri="{FF2B5EF4-FFF2-40B4-BE49-F238E27FC236}">
                <a16:creationId xmlns:a16="http://schemas.microsoft.com/office/drawing/2014/main" id="{E1E4C796-4582-4193-B4A3-C1CCF2358013}"/>
              </a:ext>
            </a:extLst>
          </p:cNvPr>
          <p:cNvSpPr>
            <a:spLocks xmlns:a="http://schemas.openxmlformats.org/drawingml/2006/main" noGrp="1"/>
          </p:cNvSpPr>
          <p:nvPr/>
        </p:nvSpPr>
        <p:spPr>
          <a:xfrm xmlns:a="http://schemas.openxmlformats.org/drawingml/2006/main">
            <a:off x="1047750" y="490537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7" name="">
            <a:extLst xmlns:a="http://schemas.openxmlformats.org/drawingml/2006/main">
              <a:ext uri="{FF2B5EF4-FFF2-40B4-BE49-F238E27FC236}">
                <a16:creationId xmlns:a16="http://schemas.microsoft.com/office/drawing/2014/main" id="{936DD930-EAD9-48D9-A808-FF0F65F9BB38}"/>
              </a:ext>
            </a:extLst>
          </p:cNvPr>
          <p:cNvSpPr>
            <a:spLocks xmlns:a="http://schemas.openxmlformats.org/drawingml/2006/main" noGrp="1"/>
          </p:cNvSpPr>
          <p:nvPr/>
        </p:nvSpPr>
        <p:spPr>
          <a:xfrm xmlns:a="http://schemas.openxmlformats.org/drawingml/2006/main">
            <a:off x="1314450" y="4714875"/>
            <a:ext cx="4210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83544"/>
                </a:solidFill>
              </a:defRPr>
            </a:pPr>
            <a:r>
              <a:rPr sz="1575" b="0">
                <a:solidFill>
                  <a:srgbClr val="183544"/>
                </a:solidFill>
              </a:rPr>
              <a:t>Hardware / runtime context</a:t>
            </a:r>
          </a:p>
        </p:txBody>
      </p:sp>
      <p:sp>
        <p:nvSpPr>
          <p:cNvPr id="18" name="">
            <a:extLst xmlns:a="http://schemas.openxmlformats.org/drawingml/2006/main">
              <a:ext uri="{FF2B5EF4-FFF2-40B4-BE49-F238E27FC236}">
                <a16:creationId xmlns:a16="http://schemas.microsoft.com/office/drawing/2014/main" id="{3CE7BE81-B437-403B-B1D0-4F84F3CCE7CD}"/>
              </a:ext>
            </a:extLst>
          </p:cNvPr>
          <p:cNvSpPr>
            <a:spLocks xmlns:a="http://schemas.openxmlformats.org/drawingml/2006/main" noGrp="1"/>
          </p:cNvSpPr>
          <p:nvPr/>
        </p:nvSpPr>
        <p:spPr>
          <a:xfrm xmlns:a="http://schemas.openxmlformats.org/drawingml/2006/main">
            <a:off x="6477000" y="1619250"/>
            <a:ext cx="4191000" cy="3381375"/>
          </a:xfrm>
          <a:prstGeom xmlns:a="http://schemas.openxmlformats.org/drawingml/2006/main" prst="roundRect">
            <a:avLst>
              <a:gd name="adj" fmla="val 2254"/>
            </a:avLst>
          </a:prstGeom>
          <a:solidFill xmlns:a="http://schemas.openxmlformats.org/drawingml/2006/main">
            <a:srgbClr val="FFFFFF"/>
          </a:solidFill>
          <a:ln xmlns:a="http://schemas.openxmlformats.org/drawingml/2006/main" w="9525">
            <a:solidFill>
              <a:srgbClr val="CED9DB"/>
            </a:solidFill>
            <a:prstDash val="solid"/>
          </a:ln>
        </p:spPr>
      </p:sp>
      <p:sp>
        <p:nvSpPr>
          <p:cNvPr id="19" name="">
            <a:extLst xmlns:a="http://schemas.openxmlformats.org/drawingml/2006/main">
              <a:ext uri="{FF2B5EF4-FFF2-40B4-BE49-F238E27FC236}">
                <a16:creationId xmlns:a16="http://schemas.microsoft.com/office/drawing/2014/main" id="{84A9AB49-DE09-4B9C-AA9B-042DE7BA015F}"/>
              </a:ext>
            </a:extLst>
          </p:cNvPr>
          <p:cNvSpPr>
            <a:spLocks xmlns:a="http://schemas.openxmlformats.org/drawingml/2006/main" noGrp="1"/>
          </p:cNvSpPr>
          <p:nvPr/>
        </p:nvSpPr>
        <p:spPr>
          <a:xfrm xmlns:a="http://schemas.openxmlformats.org/drawingml/2006/main">
            <a:off x="6858000" y="195262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0B9B91"/>
                </a:solidFill>
              </a:defRPr>
            </a:pPr>
            <a:r>
              <a:rPr sz="1800" b="1">
                <a:solidFill>
                  <a:srgbClr val="0B9B91"/>
                </a:solidFill>
              </a:rPr>
              <a:t>Minimum experiment record</a:t>
            </a:r>
          </a:p>
        </p:txBody>
      </p:sp>
      <p:sp>
        <p:nvSpPr>
          <p:cNvPr id="20" name="">
            <a:extLst xmlns:a="http://schemas.openxmlformats.org/drawingml/2006/main">
              <a:ext uri="{FF2B5EF4-FFF2-40B4-BE49-F238E27FC236}">
                <a16:creationId xmlns:a16="http://schemas.microsoft.com/office/drawing/2014/main" id="{E735C041-04E4-4FFF-8C5E-072D7CC2B310}"/>
              </a:ext>
            </a:extLst>
          </p:cNvPr>
          <p:cNvSpPr>
            <a:spLocks xmlns:a="http://schemas.openxmlformats.org/drawingml/2006/main" noGrp="1"/>
          </p:cNvSpPr>
          <p:nvPr/>
        </p:nvSpPr>
        <p:spPr>
          <a:xfrm xmlns:a="http://schemas.openxmlformats.org/drawingml/2006/main">
            <a:off x="7000875" y="2619375"/>
            <a:ext cx="3143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092A3D"/>
                </a:solidFill>
              </a:defRPr>
            </a:pPr>
            <a:r>
              <a:rPr sz="1575" b="0">
                <a:solidFill>
                  <a:srgbClr val="092A3D"/>
                </a:solidFill>
              </a:rPr>
              <a:t>instance: small-01</a:t>
            </a:r>
          </a:p>
          <a:p xmlns:a="http://schemas.openxmlformats.org/drawingml/2006/main">
            <a:pPr algn="l">
              <a:defRPr sz="1575" b="0">
                <a:solidFill>
                  <a:srgbClr val="092A3D"/>
                </a:solidFill>
              </a:defRPr>
            </a:pPr>
            <a:r>
              <a:rPr sz="1575" b="0">
                <a:solidFill>
                  <a:srgbClr val="092A3D"/>
                </a:solidFill>
              </a:rPr>
              <a:t>method: evaluator-v1</a:t>
            </a:r>
          </a:p>
          <a:p xmlns:a="http://schemas.openxmlformats.org/drawingml/2006/main">
            <a:pPr algn="l">
              <a:defRPr sz="1575" b="0">
                <a:solidFill>
                  <a:srgbClr val="092A3D"/>
                </a:solidFill>
              </a:defRPr>
            </a:pPr>
            <a:r>
              <a:rPr sz="1575" b="0">
                <a:solidFill>
                  <a:srgbClr val="092A3D"/>
                </a:solidFill>
              </a:rPr>
              <a:t>budget: 1,000 evaluations</a:t>
            </a:r>
          </a:p>
          <a:p xmlns:a="http://schemas.openxmlformats.org/drawingml/2006/main">
            <a:pPr algn="l">
              <a:defRPr sz="1575" b="0">
                <a:solidFill>
                  <a:srgbClr val="092A3D"/>
                </a:solidFill>
              </a:defRPr>
            </a:pPr>
            <a:r>
              <a:rPr sz="1575" b="0">
                <a:solidFill>
                  <a:srgbClr val="092A3D"/>
                </a:solidFill>
              </a:rPr>
              <a:t>seed: 2026</a:t>
            </a:r>
          </a:p>
          <a:p xmlns:a="http://schemas.openxmlformats.org/drawingml/2006/main">
            <a:pPr algn="l">
              <a:defRPr sz="1575" b="0">
                <a:solidFill>
                  <a:srgbClr val="092A3D"/>
                </a:solidFill>
              </a:defRPr>
            </a:pPr>
            <a:r>
              <a:rPr sz="1575" b="0">
                <a:solidFill>
                  <a:srgbClr val="092A3D"/>
                </a:solidFill>
              </a:rPr>
              <a:t>result: feasible</a:t>
            </a:r>
          </a:p>
          <a:p xmlns:a="http://schemas.openxmlformats.org/drawingml/2006/main">
            <a:pPr algn="l">
              <a:defRPr sz="1575" b="0">
                <a:solidFill>
                  <a:srgbClr val="092A3D"/>
                </a:solidFill>
              </a:defRPr>
            </a:pPr>
            <a:r>
              <a:rPr sz="1575" b="0">
                <a:solidFill>
                  <a:srgbClr val="092A3D"/>
                </a:solidFill>
              </a:rPr>
              <a:t>objective: 18.42</a:t>
            </a:r>
          </a:p>
          <a:p xmlns:a="http://schemas.openxmlformats.org/drawingml/2006/main">
            <a:pPr algn="l">
              <a:defRPr sz="1575" b="0">
                <a:solidFill>
                  <a:srgbClr val="092A3D"/>
                </a:solidFill>
              </a:defRPr>
            </a:pPr>
            <a:r>
              <a:rPr sz="1575" b="0">
                <a:solidFill>
                  <a:srgbClr val="092A3D"/>
                </a:solidFill>
              </a:rPr>
              <a:t>runtime: 36 ms</a:t>
            </a:r>
          </a:p>
        </p:txBody>
      </p:sp>
      <p:sp>
        <p:nvSpPr>
          <p:cNvPr id="21" name="">
            <a:extLst xmlns:a="http://schemas.openxmlformats.org/drawingml/2006/main">
              <a:ext uri="{FF2B5EF4-FFF2-40B4-BE49-F238E27FC236}">
                <a16:creationId xmlns:a16="http://schemas.microsoft.com/office/drawing/2014/main" id="{79CFC73F-C83F-4DF6-BB8F-3DE5CF56CACE}"/>
              </a:ext>
            </a:extLst>
          </p:cNvPr>
          <p:cNvSpPr>
            <a:spLocks xmlns:a="http://schemas.openxmlformats.org/drawingml/2006/main" noGrp="1"/>
          </p:cNvSpPr>
          <p:nvPr/>
        </p:nvSpPr>
        <p:spPr>
          <a:xfrm xmlns:a="http://schemas.openxmlformats.org/drawingml/2006/main">
            <a:off x="2143125" y="5476875"/>
            <a:ext cx="7905750" cy="571500"/>
          </a:xfrm>
          <a:prstGeom xmlns:a="http://schemas.openxmlformats.org/drawingml/2006/main" prst="roundRect">
            <a:avLst>
              <a:gd name="adj" fmla="val 13333"/>
            </a:avLst>
          </a:prstGeom>
          <a:solidFill xmlns:a="http://schemas.openxmlformats.org/drawingml/2006/main">
            <a:srgbClr val="092A3D"/>
          </a:solidFill>
          <a:ln xmlns:a="http://schemas.openxmlformats.org/drawingml/2006/main" w="0">
            <a:solidFill>
              <a:srgbClr val="092A3D"/>
            </a:solidFill>
            <a:prstDash val="solid"/>
          </a:ln>
        </p:spPr>
      </p:sp>
      <p:sp>
        <p:nvSpPr>
          <p:cNvPr id="22" name="">
            <a:extLst xmlns:a="http://schemas.openxmlformats.org/drawingml/2006/main">
              <a:ext uri="{FF2B5EF4-FFF2-40B4-BE49-F238E27FC236}">
                <a16:creationId xmlns:a16="http://schemas.microsoft.com/office/drawing/2014/main" id="{5335D282-64C7-4A44-B98E-86E55D5947BF}"/>
              </a:ext>
            </a:extLst>
          </p:cNvPr>
          <p:cNvSpPr>
            <a:spLocks xmlns:a="http://schemas.openxmlformats.org/drawingml/2006/main" noGrp="1"/>
          </p:cNvSpPr>
          <p:nvPr/>
        </p:nvSpPr>
        <p:spPr>
          <a:xfrm xmlns:a="http://schemas.openxmlformats.org/drawingml/2006/main">
            <a:off x="2352675" y="5572125"/>
            <a:ext cx="7486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FFFFF"/>
                </a:solidFill>
              </a:defRPr>
            </a:pPr>
            <a:r>
              <a:rPr sz="1650" b="1">
                <a:solidFill>
                  <a:srgbClr val="FFFFFF"/>
                </a:solidFill>
              </a:rPr>
              <a:t>Someone else should be able to reproduce your result.</a:t>
            </a:r>
          </a:p>
        </p:txBody>
      </p:sp>
    </p:spTree>
    <p:extLst>
      <p:ext uri="{BB962C8B-B14F-4D97-AF65-F5344CB8AC3E}">
        <p14:creationId xmlns:p14="http://schemas.microsoft.com/office/powerpoint/2010/main" val="1425834071"/>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8A86A66-AB69-4DBB-A0C6-78276A1D9CB5}"/>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DIAGNOSIS</a:t>
            </a:r>
          </a:p>
        </p:txBody>
      </p:sp>
      <p:sp>
        <p:nvSpPr>
          <p:cNvPr id="2" name="">
            <a:extLst xmlns:a="http://schemas.openxmlformats.org/drawingml/2006/main">
              <a:ext uri="{FF2B5EF4-FFF2-40B4-BE49-F238E27FC236}">
                <a16:creationId xmlns:a16="http://schemas.microsoft.com/office/drawing/2014/main" id="{C54C391A-D8A7-4CC2-8D22-D2D4BA1412B4}"/>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Common mistakes happen before the algorithm runs</a:t>
            </a:r>
          </a:p>
        </p:txBody>
      </p:sp>
      <p:sp>
        <p:nvSpPr>
          <p:cNvPr id="3" name="">
            <a:extLst xmlns:a="http://schemas.openxmlformats.org/drawingml/2006/main">
              <a:ext uri="{FF2B5EF4-FFF2-40B4-BE49-F238E27FC236}">
                <a16:creationId xmlns:a16="http://schemas.microsoft.com/office/drawing/2014/main" id="{A450EDF6-7496-4A74-9EF5-FEB3504969B9}"/>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BD1814E-CD04-47DE-9225-6D7E1FE2F6BE}"/>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4380A7C9-374A-4353-9D62-9CA3D4936D72}"/>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24</a:t>
            </a:r>
          </a:p>
        </p:txBody>
      </p:sp>
      <p:sp>
        <p:nvSpPr>
          <p:cNvPr id="6" name="">
            <a:extLst xmlns:a="http://schemas.openxmlformats.org/drawingml/2006/main">
              <a:ext uri="{FF2B5EF4-FFF2-40B4-BE49-F238E27FC236}">
                <a16:creationId xmlns:a16="http://schemas.microsoft.com/office/drawing/2014/main" id="{7E2F0A67-1245-4FD8-A853-CCCA5FDDC0D3}"/>
              </a:ext>
            </a:extLst>
          </p:cNvPr>
          <p:cNvSpPr>
            <a:spLocks xmlns:a="http://schemas.openxmlformats.org/drawingml/2006/main" noGrp="1"/>
          </p:cNvSpPr>
          <p:nvPr/>
        </p:nvSpPr>
        <p:spPr>
          <a:xfrm xmlns:a="http://schemas.openxmlformats.org/drawingml/2006/main">
            <a:off x="809625" y="1476375"/>
            <a:ext cx="333375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CED9DB"/>
            </a:solidFill>
            <a:prstDash val="solid"/>
          </a:ln>
        </p:spPr>
      </p:sp>
      <p:sp>
        <p:nvSpPr>
          <p:cNvPr id="7" name="">
            <a:extLst xmlns:a="http://schemas.openxmlformats.org/drawingml/2006/main">
              <a:ext uri="{FF2B5EF4-FFF2-40B4-BE49-F238E27FC236}">
                <a16:creationId xmlns:a16="http://schemas.microsoft.com/office/drawing/2014/main" id="{2FE77DDD-2379-40AF-9BAA-C8DA7A8955D8}"/>
              </a:ext>
            </a:extLst>
          </p:cNvPr>
          <p:cNvSpPr>
            <a:spLocks xmlns:a="http://schemas.openxmlformats.org/drawingml/2006/main" noGrp="1"/>
          </p:cNvSpPr>
          <p:nvPr/>
        </p:nvSpPr>
        <p:spPr>
          <a:xfrm xmlns:a="http://schemas.openxmlformats.org/drawingml/2006/main">
            <a:off x="809625" y="1476375"/>
            <a:ext cx="76200" cy="1476375"/>
          </a:xfrm>
          <a:prstGeom xmlns:a="http://schemas.openxmlformats.org/drawingml/2006/main" prst="rect">
            <a:avLst/>
          </a:prstGeom>
          <a:solidFill xmlns:a="http://schemas.openxmlformats.org/drawingml/2006/main">
            <a:srgbClr val="0B9B91"/>
          </a:solidFill>
          <a:ln xmlns:a="http://schemas.openxmlformats.org/drawingml/2006/main" w="0">
            <a:solidFill>
              <a:srgbClr val="0B9B91"/>
            </a:solidFill>
            <a:prstDash val="solid"/>
          </a:ln>
        </p:spPr>
      </p:sp>
      <p:sp>
        <p:nvSpPr>
          <p:cNvPr id="8" name="">
            <a:extLst xmlns:a="http://schemas.openxmlformats.org/drawingml/2006/main">
              <a:ext uri="{FF2B5EF4-FFF2-40B4-BE49-F238E27FC236}">
                <a16:creationId xmlns:a16="http://schemas.microsoft.com/office/drawing/2014/main" id="{EB305999-4C12-495F-9AF6-F7BDA7E94865}"/>
              </a:ext>
            </a:extLst>
          </p:cNvPr>
          <p:cNvSpPr>
            <a:spLocks xmlns:a="http://schemas.openxmlformats.org/drawingml/2006/main" noGrp="1"/>
          </p:cNvSpPr>
          <p:nvPr/>
        </p:nvSpPr>
        <p:spPr>
          <a:xfrm xmlns:a="http://schemas.openxmlformats.org/drawingml/2006/main">
            <a:off x="1076325" y="1647825"/>
            <a:ext cx="2905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0B9B91"/>
                </a:solidFill>
              </a:defRPr>
            </a:pPr>
            <a:r>
              <a:rPr sz="1725" b="1">
                <a:solidFill>
                  <a:srgbClr val="0B9B91"/>
                </a:solidFill>
              </a:rPr>
              <a:t>Vague objective</a:t>
            </a:r>
          </a:p>
        </p:txBody>
      </p:sp>
      <p:sp>
        <p:nvSpPr>
          <p:cNvPr id="9" name="">
            <a:extLst xmlns:a="http://schemas.openxmlformats.org/drawingml/2006/main">
              <a:ext uri="{FF2B5EF4-FFF2-40B4-BE49-F238E27FC236}">
                <a16:creationId xmlns:a16="http://schemas.microsoft.com/office/drawing/2014/main" id="{2FA7116F-8CC5-4047-A1D7-72C3C4E7372B}"/>
              </a:ext>
            </a:extLst>
          </p:cNvPr>
          <p:cNvSpPr>
            <a:spLocks xmlns:a="http://schemas.openxmlformats.org/drawingml/2006/main" noGrp="1"/>
          </p:cNvSpPr>
          <p:nvPr/>
        </p:nvSpPr>
        <p:spPr>
          <a:xfrm xmlns:a="http://schemas.openxmlformats.org/drawingml/2006/main">
            <a:off x="1076325" y="2066925"/>
            <a:ext cx="2857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‘make it efficient’</a:t>
            </a:r>
          </a:p>
        </p:txBody>
      </p:sp>
      <p:sp>
        <p:nvSpPr>
          <p:cNvPr id="10" name="">
            <a:extLst xmlns:a="http://schemas.openxmlformats.org/drawingml/2006/main">
              <a:ext uri="{FF2B5EF4-FFF2-40B4-BE49-F238E27FC236}">
                <a16:creationId xmlns:a16="http://schemas.microsoft.com/office/drawing/2014/main" id="{828A904E-3232-49F2-A5D0-84E9BD465A2D}"/>
              </a:ext>
            </a:extLst>
          </p:cNvPr>
          <p:cNvSpPr>
            <a:spLocks xmlns:a="http://schemas.openxmlformats.org/drawingml/2006/main" noGrp="1"/>
          </p:cNvSpPr>
          <p:nvPr/>
        </p:nvSpPr>
        <p:spPr>
          <a:xfrm xmlns:a="http://schemas.openxmlformats.org/drawingml/2006/main">
            <a:off x="4524375" y="1476375"/>
            <a:ext cx="333375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CED9DB"/>
            </a:solidFill>
            <a:prstDash val="solid"/>
          </a:ln>
        </p:spPr>
      </p:sp>
      <p:sp>
        <p:nvSpPr>
          <p:cNvPr id="11" name="">
            <a:extLst xmlns:a="http://schemas.openxmlformats.org/drawingml/2006/main">
              <a:ext uri="{FF2B5EF4-FFF2-40B4-BE49-F238E27FC236}">
                <a16:creationId xmlns:a16="http://schemas.microsoft.com/office/drawing/2014/main" id="{2D8EDA7D-E3CB-4C43-9DD0-FE681A8EEBD6}"/>
              </a:ext>
            </a:extLst>
          </p:cNvPr>
          <p:cNvSpPr>
            <a:spLocks xmlns:a="http://schemas.openxmlformats.org/drawingml/2006/main" noGrp="1"/>
          </p:cNvSpPr>
          <p:nvPr/>
        </p:nvSpPr>
        <p:spPr>
          <a:xfrm xmlns:a="http://schemas.openxmlformats.org/drawingml/2006/main">
            <a:off x="4524375" y="1476375"/>
            <a:ext cx="76200" cy="1476375"/>
          </a:xfrm>
          <a:prstGeom xmlns:a="http://schemas.openxmlformats.org/drawingml/2006/main" prst="rect">
            <a:avLst/>
          </a:prstGeom>
          <a:solidFill xmlns:a="http://schemas.openxmlformats.org/drawingml/2006/main">
            <a:srgbClr val="2878B5"/>
          </a:solidFill>
          <a:ln xmlns:a="http://schemas.openxmlformats.org/drawingml/2006/main" w="0">
            <a:solidFill>
              <a:srgbClr val="2878B5"/>
            </a:solidFill>
            <a:prstDash val="solid"/>
          </a:ln>
        </p:spPr>
      </p:sp>
      <p:sp>
        <p:nvSpPr>
          <p:cNvPr id="12" name="">
            <a:extLst xmlns:a="http://schemas.openxmlformats.org/drawingml/2006/main">
              <a:ext uri="{FF2B5EF4-FFF2-40B4-BE49-F238E27FC236}">
                <a16:creationId xmlns:a16="http://schemas.microsoft.com/office/drawing/2014/main" id="{478352EB-E86D-49E3-8ECA-10A60E8C9185}"/>
              </a:ext>
            </a:extLst>
          </p:cNvPr>
          <p:cNvSpPr>
            <a:spLocks xmlns:a="http://schemas.openxmlformats.org/drawingml/2006/main" noGrp="1"/>
          </p:cNvSpPr>
          <p:nvPr/>
        </p:nvSpPr>
        <p:spPr>
          <a:xfrm xmlns:a="http://schemas.openxmlformats.org/drawingml/2006/main">
            <a:off x="4791075" y="1647825"/>
            <a:ext cx="2905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2878B5"/>
                </a:solidFill>
              </a:defRPr>
            </a:pPr>
            <a:r>
              <a:rPr sz="1725" b="1">
                <a:solidFill>
                  <a:srgbClr val="2878B5"/>
                </a:solidFill>
              </a:rPr>
              <a:t>Hidden constraint</a:t>
            </a:r>
          </a:p>
        </p:txBody>
      </p:sp>
      <p:sp>
        <p:nvSpPr>
          <p:cNvPr id="13" name="">
            <a:extLst xmlns:a="http://schemas.openxmlformats.org/drawingml/2006/main">
              <a:ext uri="{FF2B5EF4-FFF2-40B4-BE49-F238E27FC236}">
                <a16:creationId xmlns:a16="http://schemas.microsoft.com/office/drawing/2014/main" id="{5C4F598A-0FA3-45CE-B21E-8580B961AEDC}"/>
              </a:ext>
            </a:extLst>
          </p:cNvPr>
          <p:cNvSpPr>
            <a:spLocks xmlns:a="http://schemas.openxmlformats.org/drawingml/2006/main" noGrp="1"/>
          </p:cNvSpPr>
          <p:nvPr/>
        </p:nvSpPr>
        <p:spPr>
          <a:xfrm xmlns:a="http://schemas.openxmlformats.org/drawingml/2006/main">
            <a:off x="4791075" y="2066925"/>
            <a:ext cx="2857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invalid solutions look attractive</a:t>
            </a:r>
          </a:p>
        </p:txBody>
      </p:sp>
      <p:sp>
        <p:nvSpPr>
          <p:cNvPr id="14" name="">
            <a:extLst xmlns:a="http://schemas.openxmlformats.org/drawingml/2006/main">
              <a:ext uri="{FF2B5EF4-FFF2-40B4-BE49-F238E27FC236}">
                <a16:creationId xmlns:a16="http://schemas.microsoft.com/office/drawing/2014/main" id="{838471E4-19FE-43C0-9E58-6DFCCBA552D8}"/>
              </a:ext>
            </a:extLst>
          </p:cNvPr>
          <p:cNvSpPr>
            <a:spLocks xmlns:a="http://schemas.openxmlformats.org/drawingml/2006/main" noGrp="1"/>
          </p:cNvSpPr>
          <p:nvPr/>
        </p:nvSpPr>
        <p:spPr>
          <a:xfrm xmlns:a="http://schemas.openxmlformats.org/drawingml/2006/main">
            <a:off x="8239125" y="1476375"/>
            <a:ext cx="333375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CED9DB"/>
            </a:solidFill>
            <a:prstDash val="solid"/>
          </a:ln>
        </p:spPr>
      </p:sp>
      <p:sp>
        <p:nvSpPr>
          <p:cNvPr id="15" name="">
            <a:extLst xmlns:a="http://schemas.openxmlformats.org/drawingml/2006/main">
              <a:ext uri="{FF2B5EF4-FFF2-40B4-BE49-F238E27FC236}">
                <a16:creationId xmlns:a16="http://schemas.microsoft.com/office/drawing/2014/main" id="{59A7E655-93AA-4C10-A0B9-587C933F856B}"/>
              </a:ext>
            </a:extLst>
          </p:cNvPr>
          <p:cNvSpPr>
            <a:spLocks xmlns:a="http://schemas.openxmlformats.org/drawingml/2006/main" noGrp="1"/>
          </p:cNvSpPr>
          <p:nvPr/>
        </p:nvSpPr>
        <p:spPr>
          <a:xfrm xmlns:a="http://schemas.openxmlformats.org/drawingml/2006/main">
            <a:off x="8239125" y="1476375"/>
            <a:ext cx="76200" cy="1476375"/>
          </a:xfrm>
          <a:prstGeom xmlns:a="http://schemas.openxmlformats.org/drawingml/2006/main" prst="rect">
            <a:avLst/>
          </a:prstGeom>
          <a:solidFill xmlns:a="http://schemas.openxmlformats.org/drawingml/2006/main">
            <a:srgbClr val="F2A93B"/>
          </a:solidFill>
          <a:ln xmlns:a="http://schemas.openxmlformats.org/drawingml/2006/main" w="0">
            <a:solidFill>
              <a:srgbClr val="F2A93B"/>
            </a:solidFill>
            <a:prstDash val="solid"/>
          </a:ln>
        </p:spPr>
      </p:sp>
      <p:sp>
        <p:nvSpPr>
          <p:cNvPr id="16" name="">
            <a:extLst xmlns:a="http://schemas.openxmlformats.org/drawingml/2006/main">
              <a:ext uri="{FF2B5EF4-FFF2-40B4-BE49-F238E27FC236}">
                <a16:creationId xmlns:a16="http://schemas.microsoft.com/office/drawing/2014/main" id="{0AAB36A3-9BF1-4A97-B7DF-4450D1D646CC}"/>
              </a:ext>
            </a:extLst>
          </p:cNvPr>
          <p:cNvSpPr>
            <a:spLocks xmlns:a="http://schemas.openxmlformats.org/drawingml/2006/main" noGrp="1"/>
          </p:cNvSpPr>
          <p:nvPr/>
        </p:nvSpPr>
        <p:spPr>
          <a:xfrm xmlns:a="http://schemas.openxmlformats.org/drawingml/2006/main">
            <a:off x="8505825" y="1647825"/>
            <a:ext cx="2905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F2A93B"/>
                </a:solidFill>
              </a:defRPr>
            </a:pPr>
            <a:r>
              <a:rPr sz="1725" b="1">
                <a:solidFill>
                  <a:srgbClr val="F2A93B"/>
                </a:solidFill>
              </a:rPr>
              <a:t>Wrong units</a:t>
            </a:r>
          </a:p>
        </p:txBody>
      </p:sp>
      <p:sp>
        <p:nvSpPr>
          <p:cNvPr id="17" name="">
            <a:extLst xmlns:a="http://schemas.openxmlformats.org/drawingml/2006/main">
              <a:ext uri="{FF2B5EF4-FFF2-40B4-BE49-F238E27FC236}">
                <a16:creationId xmlns:a16="http://schemas.microsoft.com/office/drawing/2014/main" id="{2E8B2C5F-85BF-480C-A67E-7B5C571408C2}"/>
              </a:ext>
            </a:extLst>
          </p:cNvPr>
          <p:cNvSpPr>
            <a:spLocks xmlns:a="http://schemas.openxmlformats.org/drawingml/2006/main" noGrp="1"/>
          </p:cNvSpPr>
          <p:nvPr/>
        </p:nvSpPr>
        <p:spPr>
          <a:xfrm xmlns:a="http://schemas.openxmlformats.org/drawingml/2006/main">
            <a:off x="8505825" y="2066925"/>
            <a:ext cx="2857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milliseconds mixed with seconds</a:t>
            </a:r>
          </a:p>
        </p:txBody>
      </p:sp>
      <p:sp>
        <p:nvSpPr>
          <p:cNvPr id="18" name="">
            <a:extLst xmlns:a="http://schemas.openxmlformats.org/drawingml/2006/main">
              <a:ext uri="{FF2B5EF4-FFF2-40B4-BE49-F238E27FC236}">
                <a16:creationId xmlns:a16="http://schemas.microsoft.com/office/drawing/2014/main" id="{CBD602A6-6505-4142-9700-254E389841F6}"/>
              </a:ext>
            </a:extLst>
          </p:cNvPr>
          <p:cNvSpPr>
            <a:spLocks xmlns:a="http://schemas.openxmlformats.org/drawingml/2006/main" noGrp="1"/>
          </p:cNvSpPr>
          <p:nvPr/>
        </p:nvSpPr>
        <p:spPr>
          <a:xfrm xmlns:a="http://schemas.openxmlformats.org/drawingml/2006/main">
            <a:off x="809625" y="3429000"/>
            <a:ext cx="333375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CED9DB"/>
            </a:solidFill>
            <a:prstDash val="solid"/>
          </a:ln>
        </p:spPr>
      </p:sp>
      <p:sp>
        <p:nvSpPr>
          <p:cNvPr id="19" name="">
            <a:extLst xmlns:a="http://schemas.openxmlformats.org/drawingml/2006/main">
              <a:ext uri="{FF2B5EF4-FFF2-40B4-BE49-F238E27FC236}">
                <a16:creationId xmlns:a16="http://schemas.microsoft.com/office/drawing/2014/main" id="{71FE38F9-2E14-4ADE-AD65-FF4B724A2044}"/>
              </a:ext>
            </a:extLst>
          </p:cNvPr>
          <p:cNvSpPr>
            <a:spLocks xmlns:a="http://schemas.openxmlformats.org/drawingml/2006/main" noGrp="1"/>
          </p:cNvSpPr>
          <p:nvPr/>
        </p:nvSpPr>
        <p:spPr>
          <a:xfrm xmlns:a="http://schemas.openxmlformats.org/drawingml/2006/main">
            <a:off x="809625" y="3429000"/>
            <a:ext cx="76200" cy="1476375"/>
          </a:xfrm>
          <a:prstGeom xmlns:a="http://schemas.openxmlformats.org/drawingml/2006/main" prst="rect">
            <a:avLst/>
          </a:prstGeom>
          <a:solidFill xmlns:a="http://schemas.openxmlformats.org/drawingml/2006/main">
            <a:srgbClr val="D95D5D"/>
          </a:solidFill>
          <a:ln xmlns:a="http://schemas.openxmlformats.org/drawingml/2006/main" w="0">
            <a:solidFill>
              <a:srgbClr val="D95D5D"/>
            </a:solidFill>
            <a:prstDash val="solid"/>
          </a:ln>
        </p:spPr>
      </p:sp>
      <p:sp>
        <p:nvSpPr>
          <p:cNvPr id="20" name="">
            <a:extLst xmlns:a="http://schemas.openxmlformats.org/drawingml/2006/main">
              <a:ext uri="{FF2B5EF4-FFF2-40B4-BE49-F238E27FC236}">
                <a16:creationId xmlns:a16="http://schemas.microsoft.com/office/drawing/2014/main" id="{99D4B79B-9F03-41FB-AAAC-0FC120D2FF7F}"/>
              </a:ext>
            </a:extLst>
          </p:cNvPr>
          <p:cNvSpPr>
            <a:spLocks xmlns:a="http://schemas.openxmlformats.org/drawingml/2006/main" noGrp="1"/>
          </p:cNvSpPr>
          <p:nvPr/>
        </p:nvSpPr>
        <p:spPr>
          <a:xfrm xmlns:a="http://schemas.openxmlformats.org/drawingml/2006/main">
            <a:off x="1076325" y="3600450"/>
            <a:ext cx="2905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D95D5D"/>
                </a:solidFill>
              </a:defRPr>
            </a:pPr>
            <a:r>
              <a:rPr sz="1725" b="1">
                <a:solidFill>
                  <a:srgbClr val="D95D5D"/>
                </a:solidFill>
              </a:rPr>
              <a:t>Model–code mismatch</a:t>
            </a:r>
          </a:p>
        </p:txBody>
      </p:sp>
      <p:sp>
        <p:nvSpPr>
          <p:cNvPr id="21" name="">
            <a:extLst xmlns:a="http://schemas.openxmlformats.org/drawingml/2006/main">
              <a:ext uri="{FF2B5EF4-FFF2-40B4-BE49-F238E27FC236}">
                <a16:creationId xmlns:a16="http://schemas.microsoft.com/office/drawing/2014/main" id="{3CF4899E-35BD-4A8F-9B0E-7B128A061942}"/>
              </a:ext>
            </a:extLst>
          </p:cNvPr>
          <p:cNvSpPr>
            <a:spLocks xmlns:a="http://schemas.openxmlformats.org/drawingml/2006/main" noGrp="1"/>
          </p:cNvSpPr>
          <p:nvPr/>
        </p:nvSpPr>
        <p:spPr>
          <a:xfrm xmlns:a="http://schemas.openxmlformats.org/drawingml/2006/main">
            <a:off x="1076325" y="4019550"/>
            <a:ext cx="2857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implementation solves another problem</a:t>
            </a:r>
          </a:p>
        </p:txBody>
      </p:sp>
      <p:sp>
        <p:nvSpPr>
          <p:cNvPr id="22" name="">
            <a:extLst xmlns:a="http://schemas.openxmlformats.org/drawingml/2006/main">
              <a:ext uri="{FF2B5EF4-FFF2-40B4-BE49-F238E27FC236}">
                <a16:creationId xmlns:a16="http://schemas.microsoft.com/office/drawing/2014/main" id="{77F07D5B-9AF5-43B7-B402-5DC68D6BED50}"/>
              </a:ext>
            </a:extLst>
          </p:cNvPr>
          <p:cNvSpPr>
            <a:spLocks xmlns:a="http://schemas.openxmlformats.org/drawingml/2006/main" noGrp="1"/>
          </p:cNvSpPr>
          <p:nvPr/>
        </p:nvSpPr>
        <p:spPr>
          <a:xfrm xmlns:a="http://schemas.openxmlformats.org/drawingml/2006/main">
            <a:off x="4524375" y="3429000"/>
            <a:ext cx="333375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CED9DB"/>
            </a:solidFill>
            <a:prstDash val="solid"/>
          </a:ln>
        </p:spPr>
      </p:sp>
      <p:sp>
        <p:nvSpPr>
          <p:cNvPr id="23" name="">
            <a:extLst xmlns:a="http://schemas.openxmlformats.org/drawingml/2006/main">
              <a:ext uri="{FF2B5EF4-FFF2-40B4-BE49-F238E27FC236}">
                <a16:creationId xmlns:a16="http://schemas.microsoft.com/office/drawing/2014/main" id="{3462A2DE-1067-41D0-80FC-1EFB0DFE5791}"/>
              </a:ext>
            </a:extLst>
          </p:cNvPr>
          <p:cNvSpPr>
            <a:spLocks xmlns:a="http://schemas.openxmlformats.org/drawingml/2006/main" noGrp="1"/>
          </p:cNvSpPr>
          <p:nvPr/>
        </p:nvSpPr>
        <p:spPr>
          <a:xfrm xmlns:a="http://schemas.openxmlformats.org/drawingml/2006/main">
            <a:off x="4524375" y="3429000"/>
            <a:ext cx="76200" cy="1476375"/>
          </a:xfrm>
          <a:prstGeom xmlns:a="http://schemas.openxmlformats.org/drawingml/2006/main" prst="rect">
            <a:avLst/>
          </a:prstGeom>
          <a:solidFill xmlns:a="http://schemas.openxmlformats.org/drawingml/2006/main">
            <a:srgbClr val="2878B5"/>
          </a:solidFill>
          <a:ln xmlns:a="http://schemas.openxmlformats.org/drawingml/2006/main" w="0">
            <a:solidFill>
              <a:srgbClr val="2878B5"/>
            </a:solidFill>
            <a:prstDash val="solid"/>
          </a:ln>
        </p:spPr>
      </p:sp>
      <p:sp>
        <p:nvSpPr>
          <p:cNvPr id="24" name="">
            <a:extLst xmlns:a="http://schemas.openxmlformats.org/drawingml/2006/main">
              <a:ext uri="{FF2B5EF4-FFF2-40B4-BE49-F238E27FC236}">
                <a16:creationId xmlns:a16="http://schemas.microsoft.com/office/drawing/2014/main" id="{B06F0065-60C2-492D-82BD-7E29CCA6195B}"/>
              </a:ext>
            </a:extLst>
          </p:cNvPr>
          <p:cNvSpPr>
            <a:spLocks xmlns:a="http://schemas.openxmlformats.org/drawingml/2006/main" noGrp="1"/>
          </p:cNvSpPr>
          <p:nvPr/>
        </p:nvSpPr>
        <p:spPr>
          <a:xfrm xmlns:a="http://schemas.openxmlformats.org/drawingml/2006/main">
            <a:off x="4791075" y="3600450"/>
            <a:ext cx="2905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2878B5"/>
                </a:solidFill>
              </a:defRPr>
            </a:pPr>
            <a:r>
              <a:rPr sz="1725" b="1">
                <a:solidFill>
                  <a:srgbClr val="2878B5"/>
                </a:solidFill>
              </a:rPr>
              <a:t>One lucky run</a:t>
            </a:r>
          </a:p>
        </p:txBody>
      </p:sp>
      <p:sp>
        <p:nvSpPr>
          <p:cNvPr id="25" name="">
            <a:extLst xmlns:a="http://schemas.openxmlformats.org/drawingml/2006/main">
              <a:ext uri="{FF2B5EF4-FFF2-40B4-BE49-F238E27FC236}">
                <a16:creationId xmlns:a16="http://schemas.microsoft.com/office/drawing/2014/main" id="{503B3D74-72F7-410F-8F9C-236A9F8AF1D3}"/>
              </a:ext>
            </a:extLst>
          </p:cNvPr>
          <p:cNvSpPr>
            <a:spLocks xmlns:a="http://schemas.openxmlformats.org/drawingml/2006/main" noGrp="1"/>
          </p:cNvSpPr>
          <p:nvPr/>
        </p:nvSpPr>
        <p:spPr>
          <a:xfrm xmlns:a="http://schemas.openxmlformats.org/drawingml/2006/main">
            <a:off x="4791075" y="4019550"/>
            <a:ext cx="2857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stochastic evidence is overstated</a:t>
            </a:r>
          </a:p>
        </p:txBody>
      </p:sp>
      <p:sp>
        <p:nvSpPr>
          <p:cNvPr id="26" name="">
            <a:extLst xmlns:a="http://schemas.openxmlformats.org/drawingml/2006/main">
              <a:ext uri="{FF2B5EF4-FFF2-40B4-BE49-F238E27FC236}">
                <a16:creationId xmlns:a16="http://schemas.microsoft.com/office/drawing/2014/main" id="{60F84184-6164-4069-AEA5-0D6A879D18DD}"/>
              </a:ext>
            </a:extLst>
          </p:cNvPr>
          <p:cNvSpPr>
            <a:spLocks xmlns:a="http://schemas.openxmlformats.org/drawingml/2006/main" noGrp="1"/>
          </p:cNvSpPr>
          <p:nvPr/>
        </p:nvSpPr>
        <p:spPr>
          <a:xfrm xmlns:a="http://schemas.openxmlformats.org/drawingml/2006/main">
            <a:off x="8239125" y="3429000"/>
            <a:ext cx="333375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CED9DB"/>
            </a:solidFill>
            <a:prstDash val="solid"/>
          </a:ln>
        </p:spPr>
      </p:sp>
      <p:sp>
        <p:nvSpPr>
          <p:cNvPr id="27" name="">
            <a:extLst xmlns:a="http://schemas.openxmlformats.org/drawingml/2006/main">
              <a:ext uri="{FF2B5EF4-FFF2-40B4-BE49-F238E27FC236}">
                <a16:creationId xmlns:a16="http://schemas.microsoft.com/office/drawing/2014/main" id="{9F182362-B56D-495E-804E-052CE8CFA75A}"/>
              </a:ext>
            </a:extLst>
          </p:cNvPr>
          <p:cNvSpPr>
            <a:spLocks xmlns:a="http://schemas.openxmlformats.org/drawingml/2006/main" noGrp="1"/>
          </p:cNvSpPr>
          <p:nvPr/>
        </p:nvSpPr>
        <p:spPr>
          <a:xfrm xmlns:a="http://schemas.openxmlformats.org/drawingml/2006/main">
            <a:off x="8239125" y="3429000"/>
            <a:ext cx="76200" cy="1476375"/>
          </a:xfrm>
          <a:prstGeom xmlns:a="http://schemas.openxmlformats.org/drawingml/2006/main" prst="rect">
            <a:avLst/>
          </a:prstGeom>
          <a:solidFill xmlns:a="http://schemas.openxmlformats.org/drawingml/2006/main">
            <a:srgbClr val="F2A93B"/>
          </a:solidFill>
          <a:ln xmlns:a="http://schemas.openxmlformats.org/drawingml/2006/main" w="0">
            <a:solidFill>
              <a:srgbClr val="F2A93B"/>
            </a:solidFill>
            <a:prstDash val="solid"/>
          </a:ln>
        </p:spPr>
      </p:sp>
      <p:sp>
        <p:nvSpPr>
          <p:cNvPr id="28" name="">
            <a:extLst xmlns:a="http://schemas.openxmlformats.org/drawingml/2006/main">
              <a:ext uri="{FF2B5EF4-FFF2-40B4-BE49-F238E27FC236}">
                <a16:creationId xmlns:a16="http://schemas.microsoft.com/office/drawing/2014/main" id="{59FDEF71-D2B0-4EFF-ADF1-4112DA26695A}"/>
              </a:ext>
            </a:extLst>
          </p:cNvPr>
          <p:cNvSpPr>
            <a:spLocks xmlns:a="http://schemas.openxmlformats.org/drawingml/2006/main" noGrp="1"/>
          </p:cNvSpPr>
          <p:nvPr/>
        </p:nvSpPr>
        <p:spPr>
          <a:xfrm xmlns:a="http://schemas.openxmlformats.org/drawingml/2006/main">
            <a:off x="8505825" y="3600450"/>
            <a:ext cx="2905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F2A93B"/>
                </a:solidFill>
              </a:defRPr>
            </a:pPr>
            <a:r>
              <a:rPr sz="1725" b="1">
                <a:solidFill>
                  <a:srgbClr val="F2A93B"/>
                </a:solidFill>
              </a:rPr>
              <a:t>No baseline</a:t>
            </a:r>
          </a:p>
        </p:txBody>
      </p:sp>
      <p:sp>
        <p:nvSpPr>
          <p:cNvPr id="29" name="">
            <a:extLst xmlns:a="http://schemas.openxmlformats.org/drawingml/2006/main">
              <a:ext uri="{FF2B5EF4-FFF2-40B4-BE49-F238E27FC236}">
                <a16:creationId xmlns:a16="http://schemas.microsoft.com/office/drawing/2014/main" id="{E036C5A3-333F-4438-A259-F77C58C9052C}"/>
              </a:ext>
            </a:extLst>
          </p:cNvPr>
          <p:cNvSpPr>
            <a:spLocks xmlns:a="http://schemas.openxmlformats.org/drawingml/2006/main" noGrp="1"/>
          </p:cNvSpPr>
          <p:nvPr/>
        </p:nvSpPr>
        <p:spPr>
          <a:xfrm xmlns:a="http://schemas.openxmlformats.org/drawingml/2006/main">
            <a:off x="8505825" y="4019550"/>
            <a:ext cx="2857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83544"/>
                </a:solidFill>
              </a:defRPr>
            </a:pPr>
            <a:r>
              <a:rPr sz="1350" b="0">
                <a:solidFill>
                  <a:srgbClr val="183544"/>
                </a:solidFill>
              </a:rPr>
              <a:t>quality has no context</a:t>
            </a:r>
          </a:p>
        </p:txBody>
      </p:sp>
    </p:spTree>
    <p:extLst>
      <p:ext uri="{BB962C8B-B14F-4D97-AF65-F5344CB8AC3E}">
        <p14:creationId xmlns:p14="http://schemas.microsoft.com/office/powerpoint/2010/main" val="28984972"/>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581B744-332D-454B-9AB8-11B3BD92B91D}"/>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CONCEPT CHECK</a:t>
            </a:r>
          </a:p>
        </p:txBody>
      </p:sp>
      <p:sp>
        <p:nvSpPr>
          <p:cNvPr id="2" name="">
            <a:extLst xmlns:a="http://schemas.openxmlformats.org/drawingml/2006/main">
              <a:ext uri="{FF2B5EF4-FFF2-40B4-BE49-F238E27FC236}">
                <a16:creationId xmlns:a16="http://schemas.microsoft.com/office/drawing/2014/main" id="{CF8E511B-73F5-4E62-A291-D33A3F5F9EB6}"/>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Can you identify the model?</a:t>
            </a:r>
          </a:p>
        </p:txBody>
      </p:sp>
      <p:sp>
        <p:nvSpPr>
          <p:cNvPr id="3" name="">
            <a:extLst xmlns:a="http://schemas.openxmlformats.org/drawingml/2006/main">
              <a:ext uri="{FF2B5EF4-FFF2-40B4-BE49-F238E27FC236}">
                <a16:creationId xmlns:a16="http://schemas.microsoft.com/office/drawing/2014/main" id="{017634D0-6740-40BE-AB55-CBEFA2264638}"/>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E68AFD8-0FDA-49A6-956B-E4B057CB2E2C}"/>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81F6CF0D-178A-4973-90F2-8C6F19B88966}"/>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25</a:t>
            </a:r>
          </a:p>
        </p:txBody>
      </p:sp>
      <p:sp>
        <p:nvSpPr>
          <p:cNvPr id="6" name="">
            <a:extLst xmlns:a="http://schemas.openxmlformats.org/drawingml/2006/main">
              <a:ext uri="{FF2B5EF4-FFF2-40B4-BE49-F238E27FC236}">
                <a16:creationId xmlns:a16="http://schemas.microsoft.com/office/drawing/2014/main" id="{FDB206E1-1242-45FB-8CF1-3014C8D2CD49}"/>
              </a:ext>
            </a:extLst>
          </p:cNvPr>
          <p:cNvSpPr>
            <a:spLocks xmlns:a="http://schemas.openxmlformats.org/drawingml/2006/main" noGrp="1"/>
          </p:cNvSpPr>
          <p:nvPr/>
        </p:nvSpPr>
        <p:spPr>
          <a:xfrm xmlns:a="http://schemas.openxmlformats.org/drawingml/2006/main">
            <a:off x="952500" y="1428750"/>
            <a:ext cx="10287000" cy="619125"/>
          </a:xfrm>
          <a:prstGeom xmlns:a="http://schemas.openxmlformats.org/drawingml/2006/main" prst="roundRect">
            <a:avLst>
              <a:gd name="adj" fmla="val 12308"/>
            </a:avLst>
          </a:prstGeom>
          <a:solidFill xmlns:a="http://schemas.openxmlformats.org/drawingml/2006/main">
            <a:srgbClr val="092A3D"/>
          </a:solidFill>
          <a:ln xmlns:a="http://schemas.openxmlformats.org/drawingml/2006/main" w="0">
            <a:solidFill>
              <a:srgbClr val="092A3D"/>
            </a:solidFill>
            <a:prstDash val="solid"/>
          </a:ln>
        </p:spPr>
      </p:sp>
      <p:sp>
        <p:nvSpPr>
          <p:cNvPr id="7" name="">
            <a:extLst xmlns:a="http://schemas.openxmlformats.org/drawingml/2006/main">
              <a:ext uri="{FF2B5EF4-FFF2-40B4-BE49-F238E27FC236}">
                <a16:creationId xmlns:a16="http://schemas.microsoft.com/office/drawing/2014/main" id="{98E4BD47-7677-4479-828F-44E4057814C5}"/>
              </a:ext>
            </a:extLst>
          </p:cNvPr>
          <p:cNvSpPr>
            <a:spLocks xmlns:a="http://schemas.openxmlformats.org/drawingml/2006/main" noGrp="1"/>
          </p:cNvSpPr>
          <p:nvPr/>
        </p:nvSpPr>
        <p:spPr>
          <a:xfrm xmlns:a="http://schemas.openxmlformats.org/drawingml/2006/main">
            <a:off x="1162050" y="1524000"/>
            <a:ext cx="98679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defRPr>
            </a:pPr>
            <a:r>
              <a:rPr sz="1950" b="1">
                <a:solidFill>
                  <a:srgbClr val="FFFFFF"/>
                </a:solidFill>
              </a:rPr>
              <a:t>Campus timetable</a:t>
            </a:r>
          </a:p>
        </p:txBody>
      </p:sp>
      <p:sp>
        <p:nvSpPr>
          <p:cNvPr id="8" name="">
            <a:extLst xmlns:a="http://schemas.openxmlformats.org/drawingml/2006/main">
              <a:ext uri="{FF2B5EF4-FFF2-40B4-BE49-F238E27FC236}">
                <a16:creationId xmlns:a16="http://schemas.microsoft.com/office/drawing/2014/main" id="{70C78C20-70B3-4366-956A-CD4290564A15}"/>
              </a:ext>
            </a:extLst>
          </p:cNvPr>
          <p:cNvSpPr>
            <a:spLocks xmlns:a="http://schemas.openxmlformats.org/drawingml/2006/main" noGrp="1"/>
          </p:cNvSpPr>
          <p:nvPr/>
        </p:nvSpPr>
        <p:spPr>
          <a:xfrm xmlns:a="http://schemas.openxmlformats.org/drawingml/2006/main">
            <a:off x="1190625" y="2333625"/>
            <a:ext cx="4953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2A93B"/>
                </a:solidFill>
              </a:defRPr>
            </a:pPr>
            <a:r>
              <a:rPr sz="1425" b="1">
                <a:solidFill>
                  <a:srgbClr val="F2A93B"/>
                </a:solidFill>
              </a:rPr>
              <a:t>1</a:t>
            </a:r>
          </a:p>
        </p:txBody>
      </p:sp>
      <p:sp>
        <p:nvSpPr>
          <p:cNvPr id="9" name="">
            <a:extLst xmlns:a="http://schemas.openxmlformats.org/drawingml/2006/main">
              <a:ext uri="{FF2B5EF4-FFF2-40B4-BE49-F238E27FC236}">
                <a16:creationId xmlns:a16="http://schemas.microsoft.com/office/drawing/2014/main" id="{37674585-CDDF-4247-B2D0-FEA138F29E21}"/>
              </a:ext>
            </a:extLst>
          </p:cNvPr>
          <p:cNvSpPr>
            <a:spLocks xmlns:a="http://schemas.openxmlformats.org/drawingml/2006/main" noGrp="1"/>
          </p:cNvSpPr>
          <p:nvPr/>
        </p:nvSpPr>
        <p:spPr>
          <a:xfrm xmlns:a="http://schemas.openxmlformats.org/drawingml/2006/main">
            <a:off x="1952625" y="2333625"/>
            <a:ext cx="857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83544"/>
                </a:solidFill>
              </a:defRPr>
            </a:pPr>
            <a:r>
              <a:rPr sz="1650" b="1">
                <a:solidFill>
                  <a:srgbClr val="183544"/>
                </a:solidFill>
              </a:rPr>
              <a:t>What decisions are being made?</a:t>
            </a:r>
          </a:p>
        </p:txBody>
      </p:sp>
      <p:sp>
        <p:nvSpPr>
          <p:cNvPr id="10" name="">
            <a:extLst xmlns:a="http://schemas.openxmlformats.org/drawingml/2006/main">
              <a:ext uri="{FF2B5EF4-FFF2-40B4-BE49-F238E27FC236}">
                <a16:creationId xmlns:a16="http://schemas.microsoft.com/office/drawing/2014/main" id="{512CF625-C705-4FF0-8C0D-23CD96BCBE27}"/>
              </a:ext>
            </a:extLst>
          </p:cNvPr>
          <p:cNvSpPr>
            <a:spLocks xmlns:a="http://schemas.openxmlformats.org/drawingml/2006/main" noGrp="1"/>
          </p:cNvSpPr>
          <p:nvPr/>
        </p:nvSpPr>
        <p:spPr>
          <a:xfrm xmlns:a="http://schemas.openxmlformats.org/drawingml/2006/main">
            <a:off x="1190625" y="2971800"/>
            <a:ext cx="4953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2A93B"/>
                </a:solidFill>
              </a:defRPr>
            </a:pPr>
            <a:r>
              <a:rPr sz="1425" b="1">
                <a:solidFill>
                  <a:srgbClr val="F2A93B"/>
                </a:solidFill>
              </a:rPr>
              <a:t>2</a:t>
            </a:r>
          </a:p>
        </p:txBody>
      </p:sp>
      <p:sp>
        <p:nvSpPr>
          <p:cNvPr id="11" name="">
            <a:extLst xmlns:a="http://schemas.openxmlformats.org/drawingml/2006/main">
              <a:ext uri="{FF2B5EF4-FFF2-40B4-BE49-F238E27FC236}">
                <a16:creationId xmlns:a16="http://schemas.microsoft.com/office/drawing/2014/main" id="{85744C29-D9F7-4DB4-87A2-C127128BE3A7}"/>
              </a:ext>
            </a:extLst>
          </p:cNvPr>
          <p:cNvSpPr>
            <a:spLocks xmlns:a="http://schemas.openxmlformats.org/drawingml/2006/main" noGrp="1"/>
          </p:cNvSpPr>
          <p:nvPr/>
        </p:nvSpPr>
        <p:spPr>
          <a:xfrm xmlns:a="http://schemas.openxmlformats.org/drawingml/2006/main">
            <a:off x="1952625" y="2971800"/>
            <a:ext cx="857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83544"/>
                </a:solidFill>
              </a:defRPr>
            </a:pPr>
            <a:r>
              <a:rPr sz="1650" b="1">
                <a:solidFill>
                  <a:srgbClr val="183544"/>
                </a:solidFill>
              </a:rPr>
              <a:t>Suggest one objective.</a:t>
            </a:r>
          </a:p>
        </p:txBody>
      </p:sp>
      <p:sp>
        <p:nvSpPr>
          <p:cNvPr id="12" name="">
            <a:extLst xmlns:a="http://schemas.openxmlformats.org/drawingml/2006/main">
              <a:ext uri="{FF2B5EF4-FFF2-40B4-BE49-F238E27FC236}">
                <a16:creationId xmlns:a16="http://schemas.microsoft.com/office/drawing/2014/main" id="{88370938-7DE2-4651-B06E-1DF5E72A7622}"/>
              </a:ext>
            </a:extLst>
          </p:cNvPr>
          <p:cNvSpPr>
            <a:spLocks xmlns:a="http://schemas.openxmlformats.org/drawingml/2006/main" noGrp="1"/>
          </p:cNvSpPr>
          <p:nvPr/>
        </p:nvSpPr>
        <p:spPr>
          <a:xfrm xmlns:a="http://schemas.openxmlformats.org/drawingml/2006/main">
            <a:off x="1190625" y="3609975"/>
            <a:ext cx="4953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2A93B"/>
                </a:solidFill>
              </a:defRPr>
            </a:pPr>
            <a:r>
              <a:rPr sz="1425" b="1">
                <a:solidFill>
                  <a:srgbClr val="F2A93B"/>
                </a:solidFill>
              </a:rPr>
              <a:t>3</a:t>
            </a:r>
          </a:p>
        </p:txBody>
      </p:sp>
      <p:sp>
        <p:nvSpPr>
          <p:cNvPr id="13" name="">
            <a:extLst xmlns:a="http://schemas.openxmlformats.org/drawingml/2006/main">
              <a:ext uri="{FF2B5EF4-FFF2-40B4-BE49-F238E27FC236}">
                <a16:creationId xmlns:a16="http://schemas.microsoft.com/office/drawing/2014/main" id="{8FC9E94A-2702-43CE-BD90-033D1F480ED4}"/>
              </a:ext>
            </a:extLst>
          </p:cNvPr>
          <p:cNvSpPr>
            <a:spLocks xmlns:a="http://schemas.openxmlformats.org/drawingml/2006/main" noGrp="1"/>
          </p:cNvSpPr>
          <p:nvPr/>
        </p:nvSpPr>
        <p:spPr>
          <a:xfrm xmlns:a="http://schemas.openxmlformats.org/drawingml/2006/main">
            <a:off x="1952625" y="3609975"/>
            <a:ext cx="857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83544"/>
                </a:solidFill>
              </a:defRPr>
            </a:pPr>
            <a:r>
              <a:rPr sz="1650" b="1">
                <a:solidFill>
                  <a:srgbClr val="183544"/>
                </a:solidFill>
              </a:rPr>
              <a:t>Name two constraints.</a:t>
            </a:r>
          </a:p>
        </p:txBody>
      </p:sp>
      <p:sp>
        <p:nvSpPr>
          <p:cNvPr id="14" name="">
            <a:extLst xmlns:a="http://schemas.openxmlformats.org/drawingml/2006/main">
              <a:ext uri="{FF2B5EF4-FFF2-40B4-BE49-F238E27FC236}">
                <a16:creationId xmlns:a16="http://schemas.microsoft.com/office/drawing/2014/main" id="{0C060CD1-AC53-48CF-AD31-EE344DF517D7}"/>
              </a:ext>
            </a:extLst>
          </p:cNvPr>
          <p:cNvSpPr>
            <a:spLocks xmlns:a="http://schemas.openxmlformats.org/drawingml/2006/main" noGrp="1"/>
          </p:cNvSpPr>
          <p:nvPr/>
        </p:nvSpPr>
        <p:spPr>
          <a:xfrm xmlns:a="http://schemas.openxmlformats.org/drawingml/2006/main">
            <a:off x="1190625" y="4248150"/>
            <a:ext cx="4953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2A93B"/>
                </a:solidFill>
              </a:defRPr>
            </a:pPr>
            <a:r>
              <a:rPr sz="1425" b="1">
                <a:solidFill>
                  <a:srgbClr val="F2A93B"/>
                </a:solidFill>
              </a:rPr>
              <a:t>4</a:t>
            </a:r>
          </a:p>
        </p:txBody>
      </p:sp>
      <p:sp>
        <p:nvSpPr>
          <p:cNvPr id="15" name="">
            <a:extLst xmlns:a="http://schemas.openxmlformats.org/drawingml/2006/main">
              <a:ext uri="{FF2B5EF4-FFF2-40B4-BE49-F238E27FC236}">
                <a16:creationId xmlns:a16="http://schemas.microsoft.com/office/drawing/2014/main" id="{B6715DAD-ED9F-472F-9F02-5C2B8B9EF07F}"/>
              </a:ext>
            </a:extLst>
          </p:cNvPr>
          <p:cNvSpPr>
            <a:spLocks xmlns:a="http://schemas.openxmlformats.org/drawingml/2006/main" noGrp="1"/>
          </p:cNvSpPr>
          <p:nvPr/>
        </p:nvSpPr>
        <p:spPr>
          <a:xfrm xmlns:a="http://schemas.openxmlformats.org/drawingml/2006/main">
            <a:off x="1952625" y="4248150"/>
            <a:ext cx="857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83544"/>
                </a:solidFill>
              </a:defRPr>
            </a:pPr>
            <a:r>
              <a:rPr sz="1650" b="1">
                <a:solidFill>
                  <a:srgbClr val="183544"/>
                </a:solidFill>
              </a:rPr>
              <a:t>What information is problem data?</a:t>
            </a:r>
          </a:p>
        </p:txBody>
      </p:sp>
      <p:sp>
        <p:nvSpPr>
          <p:cNvPr id="16" name="">
            <a:extLst xmlns:a="http://schemas.openxmlformats.org/drawingml/2006/main">
              <a:ext uri="{FF2B5EF4-FFF2-40B4-BE49-F238E27FC236}">
                <a16:creationId xmlns:a16="http://schemas.microsoft.com/office/drawing/2014/main" id="{8F0D04FA-E241-4D6E-B5EA-B63436B20E4A}"/>
              </a:ext>
            </a:extLst>
          </p:cNvPr>
          <p:cNvSpPr>
            <a:spLocks xmlns:a="http://schemas.openxmlformats.org/drawingml/2006/main" noGrp="1"/>
          </p:cNvSpPr>
          <p:nvPr/>
        </p:nvSpPr>
        <p:spPr>
          <a:xfrm xmlns:a="http://schemas.openxmlformats.org/drawingml/2006/main">
            <a:off x="1190625" y="4886325"/>
            <a:ext cx="4953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2A93B"/>
                </a:solidFill>
              </a:defRPr>
            </a:pPr>
            <a:r>
              <a:rPr sz="1425" b="1">
                <a:solidFill>
                  <a:srgbClr val="F2A93B"/>
                </a:solidFill>
              </a:rPr>
              <a:t>5</a:t>
            </a:r>
          </a:p>
        </p:txBody>
      </p:sp>
      <p:sp>
        <p:nvSpPr>
          <p:cNvPr id="17" name="">
            <a:extLst xmlns:a="http://schemas.openxmlformats.org/drawingml/2006/main">
              <a:ext uri="{FF2B5EF4-FFF2-40B4-BE49-F238E27FC236}">
                <a16:creationId xmlns:a16="http://schemas.microsoft.com/office/drawing/2014/main" id="{4C118CFF-8927-41FE-A86D-47D04FDE85E4}"/>
              </a:ext>
            </a:extLst>
          </p:cNvPr>
          <p:cNvSpPr>
            <a:spLocks xmlns:a="http://schemas.openxmlformats.org/drawingml/2006/main" noGrp="1"/>
          </p:cNvSpPr>
          <p:nvPr/>
        </p:nvSpPr>
        <p:spPr>
          <a:xfrm xmlns:a="http://schemas.openxmlformats.org/drawingml/2006/main">
            <a:off x="1952625" y="4886325"/>
            <a:ext cx="857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83544"/>
                </a:solidFill>
              </a:defRPr>
            </a:pPr>
            <a:r>
              <a:rPr sz="1650" b="1">
                <a:solidFill>
                  <a:srgbClr val="183544"/>
                </a:solidFill>
              </a:rPr>
              <a:t>Is the search space discrete or continuous?</a:t>
            </a:r>
          </a:p>
        </p:txBody>
      </p:sp>
    </p:spTree>
    <p:extLst>
      <p:ext uri="{BB962C8B-B14F-4D97-AF65-F5344CB8AC3E}">
        <p14:creationId xmlns:p14="http://schemas.microsoft.com/office/powerpoint/2010/main" val="590194412"/>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A530C35-A02F-4AB6-9C43-7F8C7682894E}"/>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COURSE MAP</a:t>
            </a:r>
          </a:p>
        </p:txBody>
      </p:sp>
      <p:sp>
        <p:nvSpPr>
          <p:cNvPr id="2" name="">
            <a:extLst xmlns:a="http://schemas.openxmlformats.org/drawingml/2006/main">
              <a:ext uri="{FF2B5EF4-FFF2-40B4-BE49-F238E27FC236}">
                <a16:creationId xmlns:a16="http://schemas.microsoft.com/office/drawing/2014/main" id="{80AE5673-283E-434D-A8FA-D28A80089E94}"/>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The semester moves from models to increasingly difficult searches</a:t>
            </a:r>
          </a:p>
        </p:txBody>
      </p:sp>
      <p:sp>
        <p:nvSpPr>
          <p:cNvPr id="3" name="">
            <a:extLst xmlns:a="http://schemas.openxmlformats.org/drawingml/2006/main">
              <a:ext uri="{FF2B5EF4-FFF2-40B4-BE49-F238E27FC236}">
                <a16:creationId xmlns:a16="http://schemas.microsoft.com/office/drawing/2014/main" id="{8BB6590F-7B10-4052-80C0-58E931192D51}"/>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3705FC0-13E5-4663-A8E5-DD932A9DFFE7}"/>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90E689F6-80C5-41B6-BBB8-E29B5AEFD6B1}"/>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26</a:t>
            </a:r>
          </a:p>
        </p:txBody>
      </p:sp>
      <p:sp>
        <p:nvSpPr>
          <p:cNvPr id="6" name="">
            <a:extLst xmlns:a="http://schemas.openxmlformats.org/drawingml/2006/main">
              <a:ext uri="{FF2B5EF4-FFF2-40B4-BE49-F238E27FC236}">
                <a16:creationId xmlns:a16="http://schemas.microsoft.com/office/drawing/2014/main" id="{8140D96D-0D78-45F8-AF59-0340CCC6FC0A}"/>
              </a:ext>
            </a:extLst>
          </p:cNvPr>
          <p:cNvSpPr>
            <a:spLocks xmlns:a="http://schemas.openxmlformats.org/drawingml/2006/main" noGrp="1"/>
          </p:cNvSpPr>
          <p:nvPr/>
        </p:nvSpPr>
        <p:spPr>
          <a:xfrm xmlns:a="http://schemas.openxmlformats.org/drawingml/2006/main">
            <a:off x="523875" y="2047875"/>
            <a:ext cx="2047875" cy="2286000"/>
          </a:xfrm>
          <a:prstGeom xmlns:a="http://schemas.openxmlformats.org/drawingml/2006/main" prst="roundRect">
            <a:avLst>
              <a:gd name="adj" fmla="val 3721"/>
            </a:avLst>
          </a:prstGeom>
          <a:solidFill xmlns:a="http://schemas.openxmlformats.org/drawingml/2006/main">
            <a:srgbClr val="092A3D"/>
          </a:solidFill>
          <a:ln xmlns:a="http://schemas.openxmlformats.org/drawingml/2006/main" w="9525">
            <a:solidFill>
              <a:srgbClr val="092A3D"/>
            </a:solidFill>
            <a:prstDash val="solid"/>
          </a:ln>
        </p:spPr>
      </p:sp>
      <p:sp>
        <p:nvSpPr>
          <p:cNvPr id="7" name="">
            <a:extLst xmlns:a="http://schemas.openxmlformats.org/drawingml/2006/main">
              <a:ext uri="{FF2B5EF4-FFF2-40B4-BE49-F238E27FC236}">
                <a16:creationId xmlns:a16="http://schemas.microsoft.com/office/drawing/2014/main" id="{D3D93CCB-0AEF-43CB-BFEB-2D15FBF33458}"/>
              </a:ext>
            </a:extLst>
          </p:cNvPr>
          <p:cNvSpPr>
            <a:spLocks xmlns:a="http://schemas.openxmlformats.org/drawingml/2006/main" noGrp="1"/>
          </p:cNvSpPr>
          <p:nvPr/>
        </p:nvSpPr>
        <p:spPr>
          <a:xfrm xmlns:a="http://schemas.openxmlformats.org/drawingml/2006/main">
            <a:off x="714375" y="2333625"/>
            <a:ext cx="1666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2A93B"/>
                </a:solidFill>
              </a:defRPr>
            </a:pPr>
            <a:r>
              <a:rPr sz="1425" b="1">
                <a:solidFill>
                  <a:srgbClr val="F2A93B"/>
                </a:solidFill>
              </a:rPr>
              <a:t>1. FOUNDATIONS</a:t>
            </a:r>
          </a:p>
        </p:txBody>
      </p:sp>
      <p:sp>
        <p:nvSpPr>
          <p:cNvPr id="8" name="">
            <a:extLst xmlns:a="http://schemas.openxmlformats.org/drawingml/2006/main">
              <a:ext uri="{FF2B5EF4-FFF2-40B4-BE49-F238E27FC236}">
                <a16:creationId xmlns:a16="http://schemas.microsoft.com/office/drawing/2014/main" id="{5DC4E58C-510C-4479-BF18-A8C47A6B90F5}"/>
              </a:ext>
            </a:extLst>
          </p:cNvPr>
          <p:cNvSpPr>
            <a:spLocks xmlns:a="http://schemas.openxmlformats.org/drawingml/2006/main" noGrp="1"/>
          </p:cNvSpPr>
          <p:nvPr/>
        </p:nvSpPr>
        <p:spPr>
          <a:xfrm xmlns:a="http://schemas.openxmlformats.org/drawingml/2006/main">
            <a:off x="714375" y="3190875"/>
            <a:ext cx="1666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model • search space</a:t>
            </a:r>
          </a:p>
        </p:txBody>
      </p:sp>
      <p:sp>
        <p:nvSpPr>
          <p:cNvPr id="9" name="">
            <a:extLst xmlns:a="http://schemas.openxmlformats.org/drawingml/2006/main">
              <a:ext uri="{FF2B5EF4-FFF2-40B4-BE49-F238E27FC236}">
                <a16:creationId xmlns:a16="http://schemas.microsoft.com/office/drawing/2014/main" id="{7D39DD1B-29EC-436E-AA69-6BE5A1E48530}"/>
              </a:ext>
            </a:extLst>
          </p:cNvPr>
          <p:cNvSpPr>
            <a:spLocks xmlns:a="http://schemas.openxmlformats.org/drawingml/2006/main" noGrp="1"/>
          </p:cNvSpPr>
          <p:nvPr/>
        </p:nvSpPr>
        <p:spPr>
          <a:xfrm xmlns:a="http://schemas.openxmlformats.org/drawingml/2006/main">
            <a:off x="2857500" y="2047875"/>
            <a:ext cx="2047875" cy="2286000"/>
          </a:xfrm>
          <a:prstGeom xmlns:a="http://schemas.openxmlformats.org/drawingml/2006/main" prst="roundRect">
            <a:avLst>
              <a:gd name="adj" fmla="val 3721"/>
            </a:avLst>
          </a:prstGeom>
          <a:solidFill xmlns:a="http://schemas.openxmlformats.org/drawingml/2006/main">
            <a:srgbClr val="FFFFFF"/>
          </a:solidFill>
          <a:ln xmlns:a="http://schemas.openxmlformats.org/drawingml/2006/main" w="9525">
            <a:solidFill>
              <a:srgbClr val="CED9DB"/>
            </a:solidFill>
            <a:prstDash val="solid"/>
          </a:ln>
        </p:spPr>
      </p:sp>
      <p:sp>
        <p:nvSpPr>
          <p:cNvPr id="10" name="">
            <a:extLst xmlns:a="http://schemas.openxmlformats.org/drawingml/2006/main">
              <a:ext uri="{FF2B5EF4-FFF2-40B4-BE49-F238E27FC236}">
                <a16:creationId xmlns:a16="http://schemas.microsoft.com/office/drawing/2014/main" id="{B6733354-B121-4344-880D-BAA8B8F3CFA7}"/>
              </a:ext>
            </a:extLst>
          </p:cNvPr>
          <p:cNvSpPr>
            <a:spLocks xmlns:a="http://schemas.openxmlformats.org/drawingml/2006/main" noGrp="1"/>
          </p:cNvSpPr>
          <p:nvPr/>
        </p:nvSpPr>
        <p:spPr>
          <a:xfrm xmlns:a="http://schemas.openxmlformats.org/drawingml/2006/main">
            <a:off x="3048000" y="2333625"/>
            <a:ext cx="1666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0B9B91"/>
                </a:solidFill>
              </a:defRPr>
            </a:pPr>
            <a:r>
              <a:rPr sz="1425" b="1">
                <a:solidFill>
                  <a:srgbClr val="0B9B91"/>
                </a:solidFill>
              </a:rPr>
              <a:t>2. CLASSICAL METHODS</a:t>
            </a:r>
          </a:p>
        </p:txBody>
      </p:sp>
      <p:sp>
        <p:nvSpPr>
          <p:cNvPr id="11" name="">
            <a:extLst xmlns:a="http://schemas.openxmlformats.org/drawingml/2006/main">
              <a:ext uri="{FF2B5EF4-FFF2-40B4-BE49-F238E27FC236}">
                <a16:creationId xmlns:a16="http://schemas.microsoft.com/office/drawing/2014/main" id="{692320DD-313D-4864-ADEC-4FF553510EB8}"/>
              </a:ext>
            </a:extLst>
          </p:cNvPr>
          <p:cNvSpPr>
            <a:spLocks xmlns:a="http://schemas.openxmlformats.org/drawingml/2006/main" noGrp="1"/>
          </p:cNvSpPr>
          <p:nvPr/>
        </p:nvSpPr>
        <p:spPr>
          <a:xfrm xmlns:a="http://schemas.openxmlformats.org/drawingml/2006/main">
            <a:off x="3048000" y="3190875"/>
            <a:ext cx="1666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83544"/>
                </a:solidFill>
              </a:defRPr>
            </a:pPr>
            <a:r>
              <a:rPr sz="1350" b="1">
                <a:solidFill>
                  <a:srgbClr val="183544"/>
                </a:solidFill>
              </a:rPr>
              <a:t>1D • gradient • LP</a:t>
            </a:r>
          </a:p>
        </p:txBody>
      </p:sp>
      <p:sp>
        <p:nvSpPr>
          <p:cNvPr id="12" name="">
            <a:extLst xmlns:a="http://schemas.openxmlformats.org/drawingml/2006/main">
              <a:ext uri="{FF2B5EF4-FFF2-40B4-BE49-F238E27FC236}">
                <a16:creationId xmlns:a16="http://schemas.microsoft.com/office/drawing/2014/main" id="{2D8AFD4E-3743-4C86-BC22-B76D00788D08}"/>
              </a:ext>
            </a:extLst>
          </p:cNvPr>
          <p:cNvSpPr>
            <a:spLocks xmlns:a="http://schemas.openxmlformats.org/drawingml/2006/main" noGrp="1"/>
          </p:cNvSpPr>
          <p:nvPr/>
        </p:nvSpPr>
        <p:spPr>
          <a:xfrm xmlns:a="http://schemas.openxmlformats.org/drawingml/2006/main">
            <a:off x="5191125" y="2047875"/>
            <a:ext cx="2047875" cy="2286000"/>
          </a:xfrm>
          <a:prstGeom xmlns:a="http://schemas.openxmlformats.org/drawingml/2006/main" prst="roundRect">
            <a:avLst>
              <a:gd name="adj" fmla="val 3721"/>
            </a:avLst>
          </a:prstGeom>
          <a:solidFill xmlns:a="http://schemas.openxmlformats.org/drawingml/2006/main">
            <a:srgbClr val="FFFFFF"/>
          </a:solidFill>
          <a:ln xmlns:a="http://schemas.openxmlformats.org/drawingml/2006/main" w="9525">
            <a:solidFill>
              <a:srgbClr val="CED9DB"/>
            </a:solidFill>
            <a:prstDash val="solid"/>
          </a:ln>
        </p:spPr>
      </p:sp>
      <p:sp>
        <p:nvSpPr>
          <p:cNvPr id="13" name="">
            <a:extLst xmlns:a="http://schemas.openxmlformats.org/drawingml/2006/main">
              <a:ext uri="{FF2B5EF4-FFF2-40B4-BE49-F238E27FC236}">
                <a16:creationId xmlns:a16="http://schemas.microsoft.com/office/drawing/2014/main" id="{8A3CE68A-296C-4D41-B847-D6F13B71E10F}"/>
              </a:ext>
            </a:extLst>
          </p:cNvPr>
          <p:cNvSpPr>
            <a:spLocks xmlns:a="http://schemas.openxmlformats.org/drawingml/2006/main" noGrp="1"/>
          </p:cNvSpPr>
          <p:nvPr/>
        </p:nvSpPr>
        <p:spPr>
          <a:xfrm xmlns:a="http://schemas.openxmlformats.org/drawingml/2006/main">
            <a:off x="5381625" y="2333625"/>
            <a:ext cx="1666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0B9B91"/>
                </a:solidFill>
              </a:defRPr>
            </a:pPr>
            <a:r>
              <a:rPr sz="1425" b="1">
                <a:solidFill>
                  <a:srgbClr val="0B9B91"/>
                </a:solidFill>
              </a:rPr>
              <a:t>3. DISCRETE METHODS</a:t>
            </a:r>
          </a:p>
        </p:txBody>
      </p:sp>
      <p:sp>
        <p:nvSpPr>
          <p:cNvPr id="14" name="">
            <a:extLst xmlns:a="http://schemas.openxmlformats.org/drawingml/2006/main">
              <a:ext uri="{FF2B5EF4-FFF2-40B4-BE49-F238E27FC236}">
                <a16:creationId xmlns:a16="http://schemas.microsoft.com/office/drawing/2014/main" id="{3A254003-3E9B-4228-8308-2B1D899A5A63}"/>
              </a:ext>
            </a:extLst>
          </p:cNvPr>
          <p:cNvSpPr>
            <a:spLocks xmlns:a="http://schemas.openxmlformats.org/drawingml/2006/main" noGrp="1"/>
          </p:cNvSpPr>
          <p:nvPr/>
        </p:nvSpPr>
        <p:spPr>
          <a:xfrm xmlns:a="http://schemas.openxmlformats.org/drawingml/2006/main">
            <a:off x="5381625" y="3190875"/>
            <a:ext cx="1666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83544"/>
                </a:solidFill>
              </a:defRPr>
            </a:pPr>
            <a:r>
              <a:rPr sz="1350" b="1">
                <a:solidFill>
                  <a:srgbClr val="183544"/>
                </a:solidFill>
              </a:rPr>
              <a:t>integer • dynamic programming</a:t>
            </a:r>
          </a:p>
        </p:txBody>
      </p:sp>
      <p:sp>
        <p:nvSpPr>
          <p:cNvPr id="15" name="">
            <a:extLst xmlns:a="http://schemas.openxmlformats.org/drawingml/2006/main">
              <a:ext uri="{FF2B5EF4-FFF2-40B4-BE49-F238E27FC236}">
                <a16:creationId xmlns:a16="http://schemas.microsoft.com/office/drawing/2014/main" id="{5D5E50B3-9D6D-471A-9C4E-64DD5483EC32}"/>
              </a:ext>
            </a:extLst>
          </p:cNvPr>
          <p:cNvSpPr>
            <a:spLocks xmlns:a="http://schemas.openxmlformats.org/drawingml/2006/main" noGrp="1"/>
          </p:cNvSpPr>
          <p:nvPr/>
        </p:nvSpPr>
        <p:spPr>
          <a:xfrm xmlns:a="http://schemas.openxmlformats.org/drawingml/2006/main">
            <a:off x="7524750" y="2047875"/>
            <a:ext cx="2047875" cy="2286000"/>
          </a:xfrm>
          <a:prstGeom xmlns:a="http://schemas.openxmlformats.org/drawingml/2006/main" prst="roundRect">
            <a:avLst>
              <a:gd name="adj" fmla="val 3721"/>
            </a:avLst>
          </a:prstGeom>
          <a:solidFill xmlns:a="http://schemas.openxmlformats.org/drawingml/2006/main">
            <a:srgbClr val="FFFFFF"/>
          </a:solidFill>
          <a:ln xmlns:a="http://schemas.openxmlformats.org/drawingml/2006/main" w="9525">
            <a:solidFill>
              <a:srgbClr val="CED9DB"/>
            </a:solidFill>
            <a:prstDash val="solid"/>
          </a:ln>
        </p:spPr>
      </p:sp>
      <p:sp>
        <p:nvSpPr>
          <p:cNvPr id="16" name="">
            <a:extLst xmlns:a="http://schemas.openxmlformats.org/drawingml/2006/main">
              <a:ext uri="{FF2B5EF4-FFF2-40B4-BE49-F238E27FC236}">
                <a16:creationId xmlns:a16="http://schemas.microsoft.com/office/drawing/2014/main" id="{1254D787-C511-478D-BB75-E036C189A767}"/>
              </a:ext>
            </a:extLst>
          </p:cNvPr>
          <p:cNvSpPr>
            <a:spLocks xmlns:a="http://schemas.openxmlformats.org/drawingml/2006/main" noGrp="1"/>
          </p:cNvSpPr>
          <p:nvPr/>
        </p:nvSpPr>
        <p:spPr>
          <a:xfrm xmlns:a="http://schemas.openxmlformats.org/drawingml/2006/main">
            <a:off x="7715250" y="2333625"/>
            <a:ext cx="1666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0B9B91"/>
                </a:solidFill>
              </a:defRPr>
            </a:pPr>
            <a:r>
              <a:rPr sz="1425" b="1">
                <a:solidFill>
                  <a:srgbClr val="0B9B91"/>
                </a:solidFill>
              </a:rPr>
              <a:t>4. METAHEURISTICS</a:t>
            </a:r>
          </a:p>
        </p:txBody>
      </p:sp>
      <p:sp>
        <p:nvSpPr>
          <p:cNvPr id="17" name="">
            <a:extLst xmlns:a="http://schemas.openxmlformats.org/drawingml/2006/main">
              <a:ext uri="{FF2B5EF4-FFF2-40B4-BE49-F238E27FC236}">
                <a16:creationId xmlns:a16="http://schemas.microsoft.com/office/drawing/2014/main" id="{90045F20-ACA2-4253-BF88-81E6CB39BAE6}"/>
              </a:ext>
            </a:extLst>
          </p:cNvPr>
          <p:cNvSpPr>
            <a:spLocks xmlns:a="http://schemas.openxmlformats.org/drawingml/2006/main" noGrp="1"/>
          </p:cNvSpPr>
          <p:nvPr/>
        </p:nvSpPr>
        <p:spPr>
          <a:xfrm xmlns:a="http://schemas.openxmlformats.org/drawingml/2006/main">
            <a:off x="7715250" y="3190875"/>
            <a:ext cx="1666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83544"/>
                </a:solidFill>
              </a:defRPr>
            </a:pPr>
            <a:r>
              <a:rPr sz="1350" b="1">
                <a:solidFill>
                  <a:srgbClr val="183544"/>
                </a:solidFill>
              </a:rPr>
              <a:t>GA • SA • PSO</a:t>
            </a:r>
          </a:p>
        </p:txBody>
      </p:sp>
      <p:sp>
        <p:nvSpPr>
          <p:cNvPr id="18" name="">
            <a:extLst xmlns:a="http://schemas.openxmlformats.org/drawingml/2006/main">
              <a:ext uri="{FF2B5EF4-FFF2-40B4-BE49-F238E27FC236}">
                <a16:creationId xmlns:a16="http://schemas.microsoft.com/office/drawing/2014/main" id="{1C00504C-683D-4719-8D4F-468081F29225}"/>
              </a:ext>
            </a:extLst>
          </p:cNvPr>
          <p:cNvSpPr>
            <a:spLocks xmlns:a="http://schemas.openxmlformats.org/drawingml/2006/main" noGrp="1"/>
          </p:cNvSpPr>
          <p:nvPr/>
        </p:nvSpPr>
        <p:spPr>
          <a:xfrm xmlns:a="http://schemas.openxmlformats.org/drawingml/2006/main">
            <a:off x="9858375" y="2047875"/>
            <a:ext cx="2047875" cy="2286000"/>
          </a:xfrm>
          <a:prstGeom xmlns:a="http://schemas.openxmlformats.org/drawingml/2006/main" prst="roundRect">
            <a:avLst>
              <a:gd name="adj" fmla="val 3721"/>
            </a:avLst>
          </a:prstGeom>
          <a:solidFill xmlns:a="http://schemas.openxmlformats.org/drawingml/2006/main">
            <a:srgbClr val="FFFFFF"/>
          </a:solidFill>
          <a:ln xmlns:a="http://schemas.openxmlformats.org/drawingml/2006/main" w="9525">
            <a:solidFill>
              <a:srgbClr val="CED9DB"/>
            </a:solidFill>
            <a:prstDash val="solid"/>
          </a:ln>
        </p:spPr>
      </p:sp>
      <p:sp>
        <p:nvSpPr>
          <p:cNvPr id="19" name="">
            <a:extLst xmlns:a="http://schemas.openxmlformats.org/drawingml/2006/main">
              <a:ext uri="{FF2B5EF4-FFF2-40B4-BE49-F238E27FC236}">
                <a16:creationId xmlns:a16="http://schemas.microsoft.com/office/drawing/2014/main" id="{3F33072D-3A0C-41D8-88D7-4946AD76C728}"/>
              </a:ext>
            </a:extLst>
          </p:cNvPr>
          <p:cNvSpPr>
            <a:spLocks xmlns:a="http://schemas.openxmlformats.org/drawingml/2006/main" noGrp="1"/>
          </p:cNvSpPr>
          <p:nvPr/>
        </p:nvSpPr>
        <p:spPr>
          <a:xfrm xmlns:a="http://schemas.openxmlformats.org/drawingml/2006/main">
            <a:off x="10048875" y="2333625"/>
            <a:ext cx="1666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0B9B91"/>
                </a:solidFill>
              </a:defRPr>
            </a:pPr>
            <a:r>
              <a:rPr sz="1425" b="1">
                <a:solidFill>
                  <a:srgbClr val="0B9B91"/>
                </a:solidFill>
              </a:rPr>
              <a:t>5. DECISION SUPPORT</a:t>
            </a:r>
          </a:p>
        </p:txBody>
      </p:sp>
      <p:sp>
        <p:nvSpPr>
          <p:cNvPr id="20" name="">
            <a:extLst xmlns:a="http://schemas.openxmlformats.org/drawingml/2006/main">
              <a:ext uri="{FF2B5EF4-FFF2-40B4-BE49-F238E27FC236}">
                <a16:creationId xmlns:a16="http://schemas.microsoft.com/office/drawing/2014/main" id="{B2505F79-D508-4161-854B-FB6EF37E1442}"/>
              </a:ext>
            </a:extLst>
          </p:cNvPr>
          <p:cNvSpPr>
            <a:spLocks xmlns:a="http://schemas.openxmlformats.org/drawingml/2006/main" noGrp="1"/>
          </p:cNvSpPr>
          <p:nvPr/>
        </p:nvSpPr>
        <p:spPr>
          <a:xfrm xmlns:a="http://schemas.openxmlformats.org/drawingml/2006/main">
            <a:off x="10048875" y="3190875"/>
            <a:ext cx="1666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83544"/>
                </a:solidFill>
              </a:defRPr>
            </a:pPr>
            <a:r>
              <a:rPr sz="1350" b="1">
                <a:solidFill>
                  <a:srgbClr val="183544"/>
                </a:solidFill>
              </a:rPr>
              <a:t>multi-objective • selection</a:t>
            </a:r>
          </a:p>
        </p:txBody>
      </p:sp>
      <p:sp>
        <p:nvSpPr>
          <p:cNvPr id="21" name="">
            <a:extLst xmlns:a="http://schemas.openxmlformats.org/drawingml/2006/main">
              <a:ext uri="{FF2B5EF4-FFF2-40B4-BE49-F238E27FC236}">
                <a16:creationId xmlns:a16="http://schemas.microsoft.com/office/drawing/2014/main" id="{F99EF462-4AC0-4A69-A92E-CBB6B26779B0}"/>
              </a:ext>
            </a:extLst>
          </p:cNvPr>
          <p:cNvSpPr>
            <a:spLocks xmlns:a="http://schemas.openxmlformats.org/drawingml/2006/main" noGrp="1"/>
          </p:cNvSpPr>
          <p:nvPr/>
        </p:nvSpPr>
        <p:spPr>
          <a:xfrm xmlns:a="http://schemas.openxmlformats.org/drawingml/2006/main">
            <a:off x="1333500" y="523875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92A3D"/>
                </a:solidFill>
              </a:defRPr>
            </a:pPr>
            <a:r>
              <a:rPr sz="1725" b="1">
                <a:solidFill>
                  <a:srgbClr val="092A3D"/>
                </a:solidFill>
              </a:rPr>
              <a:t>Every week returns to decisions, objectives, constraints, evidence and Java implementation.</a:t>
            </a:r>
          </a:p>
        </p:txBody>
      </p:sp>
    </p:spTree>
    <p:extLst>
      <p:ext uri="{BB962C8B-B14F-4D97-AF65-F5344CB8AC3E}">
        <p14:creationId xmlns:p14="http://schemas.microsoft.com/office/powerpoint/2010/main" val="1156350156"/>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99BDA54-2887-44F7-9F58-72B97B9A288B}"/>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SYNTHESIS</a:t>
            </a:r>
          </a:p>
        </p:txBody>
      </p:sp>
      <p:sp>
        <p:nvSpPr>
          <p:cNvPr id="2" name="">
            <a:extLst xmlns:a="http://schemas.openxmlformats.org/drawingml/2006/main">
              <a:ext uri="{FF2B5EF4-FFF2-40B4-BE49-F238E27FC236}">
                <a16:creationId xmlns:a16="http://schemas.microsoft.com/office/drawing/2014/main" id="{F3B292AB-709B-459D-B245-8B44D71744DA}"/>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Week 1 takeaway: better algorithms begin with better questions</a:t>
            </a:r>
          </a:p>
        </p:txBody>
      </p:sp>
      <p:sp>
        <p:nvSpPr>
          <p:cNvPr id="3" name="">
            <a:extLst xmlns:a="http://schemas.openxmlformats.org/drawingml/2006/main">
              <a:ext uri="{FF2B5EF4-FFF2-40B4-BE49-F238E27FC236}">
                <a16:creationId xmlns:a16="http://schemas.microsoft.com/office/drawing/2014/main" id="{5B595948-8EAF-4D6F-B647-7D1D7D88762F}"/>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877395C-0A95-4F92-A823-66D0623F03A5}"/>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14E60D63-0664-49FE-9447-91889102EC4D}"/>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27</a:t>
            </a:r>
          </a:p>
        </p:txBody>
      </p:sp>
      <p:sp>
        <p:nvSpPr>
          <p:cNvPr id="6" name="">
            <a:extLst xmlns:a="http://schemas.openxmlformats.org/drawingml/2006/main">
              <a:ext uri="{FF2B5EF4-FFF2-40B4-BE49-F238E27FC236}">
                <a16:creationId xmlns:a16="http://schemas.microsoft.com/office/drawing/2014/main" id="{969A077C-2B28-4D7F-9D53-54EE3BF3BFB9}"/>
              </a:ext>
            </a:extLst>
          </p:cNvPr>
          <p:cNvSpPr>
            <a:spLocks xmlns:a="http://schemas.openxmlformats.org/drawingml/2006/main" noGrp="1"/>
          </p:cNvSpPr>
          <p:nvPr/>
        </p:nvSpPr>
        <p:spPr>
          <a:xfrm xmlns:a="http://schemas.openxmlformats.org/drawingml/2006/main">
            <a:off x="952500" y="1666875"/>
            <a:ext cx="2381250" cy="781050"/>
          </a:xfrm>
          <a:prstGeom xmlns:a="http://schemas.openxmlformats.org/drawingml/2006/main" prst="roundRect">
            <a:avLst>
              <a:gd name="adj" fmla="val 9756"/>
            </a:avLst>
          </a:prstGeom>
          <a:solidFill xmlns:a="http://schemas.openxmlformats.org/drawingml/2006/main">
            <a:srgbClr val="0B9B91"/>
          </a:solidFill>
          <a:ln xmlns:a="http://schemas.openxmlformats.org/drawingml/2006/main" w="0">
            <a:solidFill>
              <a:srgbClr val="0B9B91"/>
            </a:solidFill>
            <a:prstDash val="solid"/>
          </a:ln>
        </p:spPr>
      </p:sp>
      <p:sp>
        <p:nvSpPr>
          <p:cNvPr id="7" name="">
            <a:extLst xmlns:a="http://schemas.openxmlformats.org/drawingml/2006/main">
              <a:ext uri="{FF2B5EF4-FFF2-40B4-BE49-F238E27FC236}">
                <a16:creationId xmlns:a16="http://schemas.microsoft.com/office/drawing/2014/main" id="{84DC21A7-B977-4608-B799-B444B241AE7A}"/>
              </a:ext>
            </a:extLst>
          </p:cNvPr>
          <p:cNvSpPr>
            <a:spLocks xmlns:a="http://schemas.openxmlformats.org/drawingml/2006/main" noGrp="1"/>
          </p:cNvSpPr>
          <p:nvPr/>
        </p:nvSpPr>
        <p:spPr>
          <a:xfrm xmlns:a="http://schemas.openxmlformats.org/drawingml/2006/main">
            <a:off x="1162050" y="1762125"/>
            <a:ext cx="196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FFFFFF"/>
                </a:solidFill>
              </a:defRPr>
            </a:pPr>
            <a:r>
              <a:rPr sz="1725" b="1">
                <a:solidFill>
                  <a:srgbClr val="FFFFFF"/>
                </a:solidFill>
              </a:rPr>
              <a:t>DECISION</a:t>
            </a:r>
          </a:p>
        </p:txBody>
      </p:sp>
      <p:sp>
        <p:nvSpPr>
          <p:cNvPr id="8" name="">
            <a:extLst xmlns:a="http://schemas.openxmlformats.org/drawingml/2006/main">
              <a:ext uri="{FF2B5EF4-FFF2-40B4-BE49-F238E27FC236}">
                <a16:creationId xmlns:a16="http://schemas.microsoft.com/office/drawing/2014/main" id="{D9841257-A9A8-4197-876C-82CA35B6F1DB}"/>
              </a:ext>
            </a:extLst>
          </p:cNvPr>
          <p:cNvSpPr>
            <a:spLocks xmlns:a="http://schemas.openxmlformats.org/drawingml/2006/main" noGrp="1"/>
          </p:cNvSpPr>
          <p:nvPr/>
        </p:nvSpPr>
        <p:spPr>
          <a:xfrm xmlns:a="http://schemas.openxmlformats.org/drawingml/2006/main">
            <a:off x="3619500" y="1666875"/>
            <a:ext cx="2381250" cy="781050"/>
          </a:xfrm>
          <a:prstGeom xmlns:a="http://schemas.openxmlformats.org/drawingml/2006/main" prst="roundRect">
            <a:avLst>
              <a:gd name="adj" fmla="val 9756"/>
            </a:avLst>
          </a:prstGeom>
          <a:solidFill xmlns:a="http://schemas.openxmlformats.org/drawingml/2006/main">
            <a:srgbClr val="2878B5"/>
          </a:solidFill>
          <a:ln xmlns:a="http://schemas.openxmlformats.org/drawingml/2006/main" w="0">
            <a:solidFill>
              <a:srgbClr val="2878B5"/>
            </a:solidFill>
            <a:prstDash val="solid"/>
          </a:ln>
        </p:spPr>
      </p:sp>
      <p:sp>
        <p:nvSpPr>
          <p:cNvPr id="9" name="">
            <a:extLst xmlns:a="http://schemas.openxmlformats.org/drawingml/2006/main">
              <a:ext uri="{FF2B5EF4-FFF2-40B4-BE49-F238E27FC236}">
                <a16:creationId xmlns:a16="http://schemas.microsoft.com/office/drawing/2014/main" id="{3D6E62AF-0CBD-4FE9-8593-B5EB2155008C}"/>
              </a:ext>
            </a:extLst>
          </p:cNvPr>
          <p:cNvSpPr>
            <a:spLocks xmlns:a="http://schemas.openxmlformats.org/drawingml/2006/main" noGrp="1"/>
          </p:cNvSpPr>
          <p:nvPr/>
        </p:nvSpPr>
        <p:spPr>
          <a:xfrm xmlns:a="http://schemas.openxmlformats.org/drawingml/2006/main">
            <a:off x="3829050" y="1762125"/>
            <a:ext cx="196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FFFFFF"/>
                </a:solidFill>
              </a:defRPr>
            </a:pPr>
            <a:r>
              <a:rPr sz="1725" b="1">
                <a:solidFill>
                  <a:srgbClr val="FFFFFF"/>
                </a:solidFill>
              </a:rPr>
              <a:t>OBJECTIVE</a:t>
            </a:r>
          </a:p>
        </p:txBody>
      </p:sp>
      <p:sp>
        <p:nvSpPr>
          <p:cNvPr id="10" name="">
            <a:extLst xmlns:a="http://schemas.openxmlformats.org/drawingml/2006/main">
              <a:ext uri="{FF2B5EF4-FFF2-40B4-BE49-F238E27FC236}">
                <a16:creationId xmlns:a16="http://schemas.microsoft.com/office/drawing/2014/main" id="{961451E8-70A4-4CF1-BFAF-68DB2EC84D00}"/>
              </a:ext>
            </a:extLst>
          </p:cNvPr>
          <p:cNvSpPr>
            <a:spLocks xmlns:a="http://schemas.openxmlformats.org/drawingml/2006/main" noGrp="1"/>
          </p:cNvSpPr>
          <p:nvPr/>
        </p:nvSpPr>
        <p:spPr>
          <a:xfrm xmlns:a="http://schemas.openxmlformats.org/drawingml/2006/main">
            <a:off x="6286500" y="1666875"/>
            <a:ext cx="2381250" cy="781050"/>
          </a:xfrm>
          <a:prstGeom xmlns:a="http://schemas.openxmlformats.org/drawingml/2006/main" prst="roundRect">
            <a:avLst>
              <a:gd name="adj" fmla="val 9756"/>
            </a:avLst>
          </a:prstGeom>
          <a:solidFill xmlns:a="http://schemas.openxmlformats.org/drawingml/2006/main">
            <a:srgbClr val="F2A93B"/>
          </a:solidFill>
          <a:ln xmlns:a="http://schemas.openxmlformats.org/drawingml/2006/main" w="0">
            <a:solidFill>
              <a:srgbClr val="F2A93B"/>
            </a:solidFill>
            <a:prstDash val="solid"/>
          </a:ln>
        </p:spPr>
      </p:sp>
      <p:sp>
        <p:nvSpPr>
          <p:cNvPr id="11" name="">
            <a:extLst xmlns:a="http://schemas.openxmlformats.org/drawingml/2006/main">
              <a:ext uri="{FF2B5EF4-FFF2-40B4-BE49-F238E27FC236}">
                <a16:creationId xmlns:a16="http://schemas.microsoft.com/office/drawing/2014/main" id="{353BAF77-9A93-4590-A455-DB62D02BD87F}"/>
              </a:ext>
            </a:extLst>
          </p:cNvPr>
          <p:cNvSpPr>
            <a:spLocks xmlns:a="http://schemas.openxmlformats.org/drawingml/2006/main" noGrp="1"/>
          </p:cNvSpPr>
          <p:nvPr/>
        </p:nvSpPr>
        <p:spPr>
          <a:xfrm xmlns:a="http://schemas.openxmlformats.org/drawingml/2006/main">
            <a:off x="6496050" y="1762125"/>
            <a:ext cx="196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FFFFFF"/>
                </a:solidFill>
              </a:defRPr>
            </a:pPr>
            <a:r>
              <a:rPr sz="1725" b="1">
                <a:solidFill>
                  <a:srgbClr val="FFFFFF"/>
                </a:solidFill>
              </a:rPr>
              <a:t>CONSTRAINTS</a:t>
            </a:r>
          </a:p>
        </p:txBody>
      </p:sp>
      <p:sp>
        <p:nvSpPr>
          <p:cNvPr id="12" name="">
            <a:extLst xmlns:a="http://schemas.openxmlformats.org/drawingml/2006/main">
              <a:ext uri="{FF2B5EF4-FFF2-40B4-BE49-F238E27FC236}">
                <a16:creationId xmlns:a16="http://schemas.microsoft.com/office/drawing/2014/main" id="{A09CBB52-B4E0-4F35-A9BD-4D71C617EFCB}"/>
              </a:ext>
            </a:extLst>
          </p:cNvPr>
          <p:cNvSpPr>
            <a:spLocks xmlns:a="http://schemas.openxmlformats.org/drawingml/2006/main" noGrp="1"/>
          </p:cNvSpPr>
          <p:nvPr/>
        </p:nvSpPr>
        <p:spPr>
          <a:xfrm xmlns:a="http://schemas.openxmlformats.org/drawingml/2006/main">
            <a:off x="8953500" y="1666875"/>
            <a:ext cx="2381250" cy="781050"/>
          </a:xfrm>
          <a:prstGeom xmlns:a="http://schemas.openxmlformats.org/drawingml/2006/main" prst="roundRect">
            <a:avLst>
              <a:gd name="adj" fmla="val 9756"/>
            </a:avLst>
          </a:prstGeom>
          <a:solidFill xmlns:a="http://schemas.openxmlformats.org/drawingml/2006/main">
            <a:srgbClr val="092A3D"/>
          </a:solidFill>
          <a:ln xmlns:a="http://schemas.openxmlformats.org/drawingml/2006/main" w="0">
            <a:solidFill>
              <a:srgbClr val="092A3D"/>
            </a:solidFill>
            <a:prstDash val="solid"/>
          </a:ln>
        </p:spPr>
      </p:sp>
      <p:sp>
        <p:nvSpPr>
          <p:cNvPr id="13" name="">
            <a:extLst xmlns:a="http://schemas.openxmlformats.org/drawingml/2006/main">
              <a:ext uri="{FF2B5EF4-FFF2-40B4-BE49-F238E27FC236}">
                <a16:creationId xmlns:a16="http://schemas.microsoft.com/office/drawing/2014/main" id="{4C18A79F-6423-46C2-AD84-FFF3762B33A6}"/>
              </a:ext>
            </a:extLst>
          </p:cNvPr>
          <p:cNvSpPr>
            <a:spLocks xmlns:a="http://schemas.openxmlformats.org/drawingml/2006/main" noGrp="1"/>
          </p:cNvSpPr>
          <p:nvPr/>
        </p:nvSpPr>
        <p:spPr>
          <a:xfrm xmlns:a="http://schemas.openxmlformats.org/drawingml/2006/main">
            <a:off x="9163050" y="1762125"/>
            <a:ext cx="196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FFFFFF"/>
                </a:solidFill>
              </a:defRPr>
            </a:pPr>
            <a:r>
              <a:rPr sz="1725" b="1">
                <a:solidFill>
                  <a:srgbClr val="FFFFFF"/>
                </a:solidFill>
              </a:rPr>
              <a:t>DATA</a:t>
            </a:r>
          </a:p>
        </p:txBody>
      </p:sp>
      <p:sp>
        <p:nvSpPr>
          <p:cNvPr id="14" name="">
            <a:extLst xmlns:a="http://schemas.openxmlformats.org/drawingml/2006/main">
              <a:ext uri="{FF2B5EF4-FFF2-40B4-BE49-F238E27FC236}">
                <a16:creationId xmlns:a16="http://schemas.microsoft.com/office/drawing/2014/main" id="{66160765-330F-446D-B1A4-7210F35EBF5D}"/>
              </a:ext>
            </a:extLst>
          </p:cNvPr>
          <p:cNvSpPr>
            <a:spLocks xmlns:a="http://schemas.openxmlformats.org/drawingml/2006/main" noGrp="1"/>
          </p:cNvSpPr>
          <p:nvPr/>
        </p:nvSpPr>
        <p:spPr>
          <a:xfrm xmlns:a="http://schemas.openxmlformats.org/drawingml/2006/main">
            <a:off x="1619250" y="338137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5" name="">
            <a:extLst xmlns:a="http://schemas.openxmlformats.org/drawingml/2006/main">
              <a:ext uri="{FF2B5EF4-FFF2-40B4-BE49-F238E27FC236}">
                <a16:creationId xmlns:a16="http://schemas.microsoft.com/office/drawing/2014/main" id="{E998E9FC-6466-46C1-9D69-1A9610A4846E}"/>
              </a:ext>
            </a:extLst>
          </p:cNvPr>
          <p:cNvSpPr>
            <a:spLocks xmlns:a="http://schemas.openxmlformats.org/drawingml/2006/main" noGrp="1"/>
          </p:cNvSpPr>
          <p:nvPr/>
        </p:nvSpPr>
        <p:spPr>
          <a:xfrm xmlns:a="http://schemas.openxmlformats.org/drawingml/2006/main">
            <a:off x="1885950" y="3190875"/>
            <a:ext cx="8686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183544"/>
                </a:solidFill>
              </a:defRPr>
            </a:pPr>
            <a:r>
              <a:rPr sz="1725" b="0">
                <a:solidFill>
                  <a:srgbClr val="183544"/>
                </a:solidFill>
              </a:rPr>
              <a:t>Optimization chooses among alternatives using an explicit measure.</a:t>
            </a:r>
          </a:p>
        </p:txBody>
      </p:sp>
      <p:sp>
        <p:nvSpPr>
          <p:cNvPr id="16" name="">
            <a:extLst xmlns:a="http://schemas.openxmlformats.org/drawingml/2006/main">
              <a:ext uri="{FF2B5EF4-FFF2-40B4-BE49-F238E27FC236}">
                <a16:creationId xmlns:a16="http://schemas.microsoft.com/office/drawing/2014/main" id="{F98B6947-CB34-4328-AC39-72C84A5EA7AC}"/>
              </a:ext>
            </a:extLst>
          </p:cNvPr>
          <p:cNvSpPr>
            <a:spLocks xmlns:a="http://schemas.openxmlformats.org/drawingml/2006/main" noGrp="1"/>
          </p:cNvSpPr>
          <p:nvPr/>
        </p:nvSpPr>
        <p:spPr>
          <a:xfrm xmlns:a="http://schemas.openxmlformats.org/drawingml/2006/main">
            <a:off x="1619250" y="404812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7" name="">
            <a:extLst xmlns:a="http://schemas.openxmlformats.org/drawingml/2006/main">
              <a:ext uri="{FF2B5EF4-FFF2-40B4-BE49-F238E27FC236}">
                <a16:creationId xmlns:a16="http://schemas.microsoft.com/office/drawing/2014/main" id="{BEAA1AC6-BB37-42A7-8F72-F881CA38D37F}"/>
              </a:ext>
            </a:extLst>
          </p:cNvPr>
          <p:cNvSpPr>
            <a:spLocks xmlns:a="http://schemas.openxmlformats.org/drawingml/2006/main" noGrp="1"/>
          </p:cNvSpPr>
          <p:nvPr/>
        </p:nvSpPr>
        <p:spPr>
          <a:xfrm xmlns:a="http://schemas.openxmlformats.org/drawingml/2006/main">
            <a:off x="1885950" y="3857625"/>
            <a:ext cx="8686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183544"/>
                </a:solidFill>
              </a:defRPr>
            </a:pPr>
            <a:r>
              <a:rPr sz="1725" b="0">
                <a:solidFill>
                  <a:srgbClr val="183544"/>
                </a:solidFill>
              </a:rPr>
              <a:t>Feasibility and quality are different ideas.</a:t>
            </a:r>
          </a:p>
        </p:txBody>
      </p:sp>
      <p:sp>
        <p:nvSpPr>
          <p:cNvPr id="18" name="">
            <a:extLst xmlns:a="http://schemas.openxmlformats.org/drawingml/2006/main">
              <a:ext uri="{FF2B5EF4-FFF2-40B4-BE49-F238E27FC236}">
                <a16:creationId xmlns:a16="http://schemas.microsoft.com/office/drawing/2014/main" id="{6B040584-65BB-497C-9C98-3138DF3DED8B}"/>
              </a:ext>
            </a:extLst>
          </p:cNvPr>
          <p:cNvSpPr>
            <a:spLocks xmlns:a="http://schemas.openxmlformats.org/drawingml/2006/main" noGrp="1"/>
          </p:cNvSpPr>
          <p:nvPr/>
        </p:nvSpPr>
        <p:spPr>
          <a:xfrm xmlns:a="http://schemas.openxmlformats.org/drawingml/2006/main">
            <a:off x="1619250" y="471487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9" name="">
            <a:extLst xmlns:a="http://schemas.openxmlformats.org/drawingml/2006/main">
              <a:ext uri="{FF2B5EF4-FFF2-40B4-BE49-F238E27FC236}">
                <a16:creationId xmlns:a16="http://schemas.microsoft.com/office/drawing/2014/main" id="{64112B14-843B-4472-9C37-A003BC9D08C4}"/>
              </a:ext>
            </a:extLst>
          </p:cNvPr>
          <p:cNvSpPr>
            <a:spLocks xmlns:a="http://schemas.openxmlformats.org/drawingml/2006/main" noGrp="1"/>
          </p:cNvSpPr>
          <p:nvPr/>
        </p:nvSpPr>
        <p:spPr>
          <a:xfrm xmlns:a="http://schemas.openxmlformats.org/drawingml/2006/main">
            <a:off x="1885950" y="4524375"/>
            <a:ext cx="8686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183544"/>
                </a:solidFill>
              </a:defRPr>
            </a:pPr>
            <a:r>
              <a:rPr sz="1725" b="0">
                <a:solidFill>
                  <a:srgbClr val="183544"/>
                </a:solidFill>
              </a:rPr>
              <a:t>Problem structure guides method selection.</a:t>
            </a:r>
          </a:p>
        </p:txBody>
      </p:sp>
      <p:sp>
        <p:nvSpPr>
          <p:cNvPr id="20" name="">
            <a:extLst xmlns:a="http://schemas.openxmlformats.org/drawingml/2006/main">
              <a:ext uri="{FF2B5EF4-FFF2-40B4-BE49-F238E27FC236}">
                <a16:creationId xmlns:a16="http://schemas.microsoft.com/office/drawing/2014/main" id="{C1872775-7AEE-4A78-AFAA-28031D881C24}"/>
              </a:ext>
            </a:extLst>
          </p:cNvPr>
          <p:cNvSpPr>
            <a:spLocks xmlns:a="http://schemas.openxmlformats.org/drawingml/2006/main" noGrp="1"/>
          </p:cNvSpPr>
          <p:nvPr/>
        </p:nvSpPr>
        <p:spPr>
          <a:xfrm xmlns:a="http://schemas.openxmlformats.org/drawingml/2006/main">
            <a:off x="1619250" y="538162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21" name="">
            <a:extLst xmlns:a="http://schemas.openxmlformats.org/drawingml/2006/main">
              <a:ext uri="{FF2B5EF4-FFF2-40B4-BE49-F238E27FC236}">
                <a16:creationId xmlns:a16="http://schemas.microsoft.com/office/drawing/2014/main" id="{60E53F53-55A1-4B05-BA09-B2E7773C7C74}"/>
              </a:ext>
            </a:extLst>
          </p:cNvPr>
          <p:cNvSpPr>
            <a:spLocks xmlns:a="http://schemas.openxmlformats.org/drawingml/2006/main" noGrp="1"/>
          </p:cNvSpPr>
          <p:nvPr/>
        </p:nvSpPr>
        <p:spPr>
          <a:xfrm xmlns:a="http://schemas.openxmlformats.org/drawingml/2006/main">
            <a:off x="1885950" y="5191125"/>
            <a:ext cx="8686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183544"/>
                </a:solidFill>
              </a:defRPr>
            </a:pPr>
            <a:r>
              <a:rPr sz="1725" b="0">
                <a:solidFill>
                  <a:srgbClr val="183544"/>
                </a:solidFill>
              </a:rPr>
              <a:t>Implementation and experimentation must preserve the model.</a:t>
            </a:r>
          </a:p>
        </p:txBody>
      </p:sp>
    </p:spTree>
    <p:extLst>
      <p:ext uri="{BB962C8B-B14F-4D97-AF65-F5344CB8AC3E}">
        <p14:creationId xmlns:p14="http://schemas.microsoft.com/office/powerpoint/2010/main" val="195611352"/>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C82B00D-FFCC-41E0-92C2-89B91EFB7BD4}"/>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NEXT STEP</a:t>
            </a:r>
          </a:p>
        </p:txBody>
      </p:sp>
      <p:sp>
        <p:nvSpPr>
          <p:cNvPr id="2" name="">
            <a:extLst xmlns:a="http://schemas.openxmlformats.org/drawingml/2006/main">
              <a:ext uri="{FF2B5EF4-FFF2-40B4-BE49-F238E27FC236}">
                <a16:creationId xmlns:a16="http://schemas.microsoft.com/office/drawing/2014/main" id="{C7DE63D4-6C39-4438-8B9F-28F257F45131}"/>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Preparation for Week 2</a:t>
            </a:r>
          </a:p>
        </p:txBody>
      </p:sp>
      <p:sp>
        <p:nvSpPr>
          <p:cNvPr id="3" name="">
            <a:extLst xmlns:a="http://schemas.openxmlformats.org/drawingml/2006/main">
              <a:ext uri="{FF2B5EF4-FFF2-40B4-BE49-F238E27FC236}">
                <a16:creationId xmlns:a16="http://schemas.microsoft.com/office/drawing/2014/main" id="{D9DF344D-4598-4DC3-BD17-BBDAD3B2340D}"/>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8368E01-79EF-4D31-99DE-B485FA849F91}"/>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560CA9BE-A843-4DCA-A1A9-0ADACEA945FA}"/>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28</a:t>
            </a:r>
          </a:p>
        </p:txBody>
      </p:sp>
      <p:sp>
        <p:nvSpPr>
          <p:cNvPr id="6" name="">
            <a:extLst xmlns:a="http://schemas.openxmlformats.org/drawingml/2006/main">
              <a:ext uri="{FF2B5EF4-FFF2-40B4-BE49-F238E27FC236}">
                <a16:creationId xmlns:a16="http://schemas.microsoft.com/office/drawing/2014/main" id="{3B9359E6-F0A7-49F2-8EC5-ABDC32A176EB}"/>
              </a:ext>
            </a:extLst>
          </p:cNvPr>
          <p:cNvSpPr>
            <a:spLocks xmlns:a="http://schemas.openxmlformats.org/drawingml/2006/main" noGrp="1"/>
          </p:cNvSpPr>
          <p:nvPr/>
        </p:nvSpPr>
        <p:spPr>
          <a:xfrm xmlns:a="http://schemas.openxmlformats.org/drawingml/2006/main">
            <a:off x="857250" y="1619250"/>
            <a:ext cx="1047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75" b="1">
                <a:solidFill>
                  <a:srgbClr val="092A3D"/>
                </a:solidFill>
              </a:defRPr>
            </a:pPr>
            <a:r>
              <a:rPr sz="2775" b="1">
                <a:solidFill>
                  <a:srgbClr val="092A3D"/>
                </a:solidFill>
              </a:rPr>
              <a:t>Search spaces and random search</a:t>
            </a:r>
          </a:p>
        </p:txBody>
      </p:sp>
      <p:sp>
        <p:nvSpPr>
          <p:cNvPr id="7" name="">
            <a:extLst xmlns:a="http://schemas.openxmlformats.org/drawingml/2006/main">
              <a:ext uri="{FF2B5EF4-FFF2-40B4-BE49-F238E27FC236}">
                <a16:creationId xmlns:a16="http://schemas.microsoft.com/office/drawing/2014/main" id="{1362F295-68B3-49EA-95C2-D9926320EE66}"/>
              </a:ext>
            </a:extLst>
          </p:cNvPr>
          <p:cNvSpPr>
            <a:spLocks xmlns:a="http://schemas.openxmlformats.org/drawingml/2006/main" noGrp="1"/>
          </p:cNvSpPr>
          <p:nvPr/>
        </p:nvSpPr>
        <p:spPr>
          <a:xfrm xmlns:a="http://schemas.openxmlformats.org/drawingml/2006/main">
            <a:off x="1762125" y="2952750"/>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8" name="">
            <a:extLst xmlns:a="http://schemas.openxmlformats.org/drawingml/2006/main">
              <a:ext uri="{FF2B5EF4-FFF2-40B4-BE49-F238E27FC236}">
                <a16:creationId xmlns:a16="http://schemas.microsoft.com/office/drawing/2014/main" id="{FDBD9D20-E814-4A1A-A98F-2A999B774FAD}"/>
              </a:ext>
            </a:extLst>
          </p:cNvPr>
          <p:cNvSpPr>
            <a:spLocks xmlns:a="http://schemas.openxmlformats.org/drawingml/2006/main" noGrp="1"/>
          </p:cNvSpPr>
          <p:nvPr/>
        </p:nvSpPr>
        <p:spPr>
          <a:xfrm xmlns:a="http://schemas.openxmlformats.org/drawingml/2006/main">
            <a:off x="2028825" y="2762250"/>
            <a:ext cx="830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183544"/>
                </a:solidFill>
              </a:defRPr>
            </a:pPr>
            <a:r>
              <a:rPr sz="1725" b="0">
                <a:solidFill>
                  <a:srgbClr val="183544"/>
                </a:solidFill>
              </a:rPr>
              <a:t>Complete the Java candidate evaluator.</a:t>
            </a:r>
          </a:p>
        </p:txBody>
      </p:sp>
      <p:sp>
        <p:nvSpPr>
          <p:cNvPr id="9" name="">
            <a:extLst xmlns:a="http://schemas.openxmlformats.org/drawingml/2006/main">
              <a:ext uri="{FF2B5EF4-FFF2-40B4-BE49-F238E27FC236}">
                <a16:creationId xmlns:a16="http://schemas.microsoft.com/office/drawing/2014/main" id="{3B4149A3-03DE-4721-95D7-87F717B9AB82}"/>
              </a:ext>
            </a:extLst>
          </p:cNvPr>
          <p:cNvSpPr>
            <a:spLocks xmlns:a="http://schemas.openxmlformats.org/drawingml/2006/main" noGrp="1"/>
          </p:cNvSpPr>
          <p:nvPr/>
        </p:nvSpPr>
        <p:spPr>
          <a:xfrm xmlns:a="http://schemas.openxmlformats.org/drawingml/2006/main">
            <a:off x="1762125" y="3638550"/>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0" name="">
            <a:extLst xmlns:a="http://schemas.openxmlformats.org/drawingml/2006/main">
              <a:ext uri="{FF2B5EF4-FFF2-40B4-BE49-F238E27FC236}">
                <a16:creationId xmlns:a16="http://schemas.microsoft.com/office/drawing/2014/main" id="{8251759A-EA2B-419D-A5DA-932843F13DDF}"/>
              </a:ext>
            </a:extLst>
          </p:cNvPr>
          <p:cNvSpPr>
            <a:spLocks xmlns:a="http://schemas.openxmlformats.org/drawingml/2006/main" noGrp="1"/>
          </p:cNvSpPr>
          <p:nvPr/>
        </p:nvSpPr>
        <p:spPr>
          <a:xfrm xmlns:a="http://schemas.openxmlformats.org/drawingml/2006/main">
            <a:off x="2028825" y="3448050"/>
            <a:ext cx="830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183544"/>
                </a:solidFill>
              </a:defRPr>
            </a:pPr>
            <a:r>
              <a:rPr sz="1725" b="0">
                <a:solidFill>
                  <a:srgbClr val="183544"/>
                </a:solidFill>
              </a:rPr>
              <a:t>Bring one real software decision that could be optimized.</a:t>
            </a:r>
          </a:p>
        </p:txBody>
      </p:sp>
      <p:sp>
        <p:nvSpPr>
          <p:cNvPr id="11" name="">
            <a:extLst xmlns:a="http://schemas.openxmlformats.org/drawingml/2006/main">
              <a:ext uri="{FF2B5EF4-FFF2-40B4-BE49-F238E27FC236}">
                <a16:creationId xmlns:a16="http://schemas.microsoft.com/office/drawing/2014/main" id="{97E94FF9-C015-4E90-8FF9-D250F9138B10}"/>
              </a:ext>
            </a:extLst>
          </p:cNvPr>
          <p:cNvSpPr>
            <a:spLocks xmlns:a="http://schemas.openxmlformats.org/drawingml/2006/main" noGrp="1"/>
          </p:cNvSpPr>
          <p:nvPr/>
        </p:nvSpPr>
        <p:spPr>
          <a:xfrm xmlns:a="http://schemas.openxmlformats.org/drawingml/2006/main">
            <a:off x="1762125" y="4324350"/>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2" name="">
            <a:extLst xmlns:a="http://schemas.openxmlformats.org/drawingml/2006/main">
              <a:ext uri="{FF2B5EF4-FFF2-40B4-BE49-F238E27FC236}">
                <a16:creationId xmlns:a16="http://schemas.microsoft.com/office/drawing/2014/main" id="{168BA238-C291-4CE4-904B-12E0BF62CA18}"/>
              </a:ext>
            </a:extLst>
          </p:cNvPr>
          <p:cNvSpPr>
            <a:spLocks xmlns:a="http://schemas.openxmlformats.org/drawingml/2006/main" noGrp="1"/>
          </p:cNvSpPr>
          <p:nvPr/>
        </p:nvSpPr>
        <p:spPr>
          <a:xfrm xmlns:a="http://schemas.openxmlformats.org/drawingml/2006/main">
            <a:off x="2028825" y="4133850"/>
            <a:ext cx="830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183544"/>
                </a:solidFill>
              </a:defRPr>
            </a:pPr>
            <a:r>
              <a:rPr sz="1725" b="0">
                <a:solidFill>
                  <a:srgbClr val="183544"/>
                </a:solidFill>
              </a:rPr>
              <a:t>Read Rao: introduction and problem formulation.</a:t>
            </a:r>
          </a:p>
        </p:txBody>
      </p:sp>
      <p:sp>
        <p:nvSpPr>
          <p:cNvPr id="13" name="">
            <a:extLst xmlns:a="http://schemas.openxmlformats.org/drawingml/2006/main">
              <a:ext uri="{FF2B5EF4-FFF2-40B4-BE49-F238E27FC236}">
                <a16:creationId xmlns:a16="http://schemas.microsoft.com/office/drawing/2014/main" id="{8C4E4934-FFC0-4ABC-8053-C2B5DEF96089}"/>
              </a:ext>
            </a:extLst>
          </p:cNvPr>
          <p:cNvSpPr>
            <a:spLocks xmlns:a="http://schemas.openxmlformats.org/drawingml/2006/main" noGrp="1"/>
          </p:cNvSpPr>
          <p:nvPr/>
        </p:nvSpPr>
        <p:spPr>
          <a:xfrm xmlns:a="http://schemas.openxmlformats.org/drawingml/2006/main">
            <a:off x="1762125" y="5010150"/>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4" name="">
            <a:extLst xmlns:a="http://schemas.openxmlformats.org/drawingml/2006/main">
              <a:ext uri="{FF2B5EF4-FFF2-40B4-BE49-F238E27FC236}">
                <a16:creationId xmlns:a16="http://schemas.microsoft.com/office/drawing/2014/main" id="{10A827EA-88F1-497A-984F-C594E93878C5}"/>
              </a:ext>
            </a:extLst>
          </p:cNvPr>
          <p:cNvSpPr>
            <a:spLocks xmlns:a="http://schemas.openxmlformats.org/drawingml/2006/main" noGrp="1"/>
          </p:cNvSpPr>
          <p:nvPr/>
        </p:nvSpPr>
        <p:spPr>
          <a:xfrm xmlns:a="http://schemas.openxmlformats.org/drawingml/2006/main">
            <a:off x="2028825" y="4819650"/>
            <a:ext cx="830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183544"/>
                </a:solidFill>
              </a:defRPr>
            </a:pPr>
            <a:r>
              <a:rPr sz="1725" b="0">
                <a:solidFill>
                  <a:srgbClr val="183544"/>
                </a:solidFill>
              </a:rPr>
              <a:t>Be ready to discuss why exhaustive search may fail.</a:t>
            </a:r>
          </a:p>
        </p:txBody>
      </p:sp>
      <p:sp>
        <p:nvSpPr>
          <p:cNvPr id="15" name="">
            <a:extLst xmlns:a="http://schemas.openxmlformats.org/drawingml/2006/main">
              <a:ext uri="{FF2B5EF4-FFF2-40B4-BE49-F238E27FC236}">
                <a16:creationId xmlns:a16="http://schemas.microsoft.com/office/drawing/2014/main" id="{1B44EA6B-DC77-4B8A-89C7-BC73B46978AA}"/>
              </a:ext>
            </a:extLst>
          </p:cNvPr>
          <p:cNvSpPr>
            <a:spLocks xmlns:a="http://schemas.openxmlformats.org/drawingml/2006/main" noGrp="1"/>
          </p:cNvSpPr>
          <p:nvPr/>
        </p:nvSpPr>
        <p:spPr>
          <a:xfrm xmlns:a="http://schemas.openxmlformats.org/drawingml/2006/main">
            <a:off x="2238375" y="5619750"/>
            <a:ext cx="7715250" cy="552450"/>
          </a:xfrm>
          <a:prstGeom xmlns:a="http://schemas.openxmlformats.org/drawingml/2006/main" prst="roundRect">
            <a:avLst>
              <a:gd name="adj" fmla="val 13793"/>
            </a:avLst>
          </a:prstGeom>
          <a:solidFill xmlns:a="http://schemas.openxmlformats.org/drawingml/2006/main">
            <a:srgbClr val="E6F3F2"/>
          </a:solidFill>
          <a:ln xmlns:a="http://schemas.openxmlformats.org/drawingml/2006/main" w="0">
            <a:solidFill>
              <a:srgbClr val="E6F3F2"/>
            </a:solidFill>
            <a:prstDash val="solid"/>
          </a:ln>
        </p:spPr>
      </p:sp>
      <p:sp>
        <p:nvSpPr>
          <p:cNvPr id="16" name="">
            <a:extLst xmlns:a="http://schemas.openxmlformats.org/drawingml/2006/main">
              <a:ext uri="{FF2B5EF4-FFF2-40B4-BE49-F238E27FC236}">
                <a16:creationId xmlns:a16="http://schemas.microsoft.com/office/drawing/2014/main" id="{80E4BA9F-247D-49FA-8B4C-28C779B320C6}"/>
              </a:ext>
            </a:extLst>
          </p:cNvPr>
          <p:cNvSpPr>
            <a:spLocks xmlns:a="http://schemas.openxmlformats.org/drawingml/2006/main" noGrp="1"/>
          </p:cNvSpPr>
          <p:nvPr/>
        </p:nvSpPr>
        <p:spPr>
          <a:xfrm xmlns:a="http://schemas.openxmlformats.org/drawingml/2006/main">
            <a:off x="2447925" y="5715000"/>
            <a:ext cx="7296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92A3D"/>
                </a:solidFill>
              </a:defRPr>
            </a:pPr>
            <a:r>
              <a:rPr sz="1650" b="1">
                <a:solidFill>
                  <a:srgbClr val="092A3D"/>
                </a:solidFill>
              </a:rPr>
              <a:t>Before optimizing, prove that your evaluator is correct.</a:t>
            </a:r>
          </a:p>
        </p:txBody>
      </p:sp>
    </p:spTree>
    <p:extLst>
      <p:ext uri="{BB962C8B-B14F-4D97-AF65-F5344CB8AC3E}">
        <p14:creationId xmlns:p14="http://schemas.microsoft.com/office/powerpoint/2010/main" val="1417860918"/>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F9E6112-6F79-4D08-8AEC-F6DE672DC332}"/>
              </a:ext>
            </a:extLst>
          </p:cNvPr>
          <p:cNvSpPr>
            <a:spLocks xmlns:a="http://schemas.openxmlformats.org/drawingml/2006/main" noGrp="1"/>
          </p:cNvSpPr>
          <p:nvPr/>
        </p:nvSpPr>
        <p:spPr>
          <a:xfrm xmlns:a="http://schemas.openxmlformats.org/drawingml/2006/main">
            <a:off x="60960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9B91"/>
                </a:solidFill>
              </a:defRPr>
            </a:pPr>
            <a:r>
              <a:rPr sz="975" b="1">
                <a:solidFill>
                  <a:srgbClr val="0B9B91"/>
                </a:solidFill>
              </a:rPr>
              <a:t>REFERENCES</a:t>
            </a:r>
          </a:p>
        </p:txBody>
      </p:sp>
      <p:sp>
        <p:nvSpPr>
          <p:cNvPr id="2" name="">
            <a:extLst xmlns:a="http://schemas.openxmlformats.org/drawingml/2006/main">
              <a:ext uri="{FF2B5EF4-FFF2-40B4-BE49-F238E27FC236}">
                <a16:creationId xmlns:a16="http://schemas.microsoft.com/office/drawing/2014/main" id="{3F1AE5C5-EE54-4453-B57E-1221E03A43BA}"/>
              </a:ext>
            </a:extLst>
          </p:cNvPr>
          <p:cNvSpPr>
            <a:spLocks xmlns:a="http://schemas.openxmlformats.org/drawingml/2006/main" noGrp="1"/>
          </p:cNvSpPr>
          <p:nvPr/>
        </p:nvSpPr>
        <p:spPr>
          <a:xfrm xmlns:a="http://schemas.openxmlformats.org/drawingml/2006/main">
            <a:off x="609600" y="5524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92A3D"/>
                </a:solidFill>
              </a:defRPr>
            </a:pPr>
            <a:r>
              <a:rPr sz="2700" b="1">
                <a:solidFill>
                  <a:srgbClr val="092A3D"/>
                </a:solidFill>
              </a:rPr>
              <a:t>Academic foundations and course references</a:t>
            </a:r>
          </a:p>
        </p:txBody>
      </p:sp>
      <p:sp>
        <p:nvSpPr>
          <p:cNvPr id="3" name="">
            <a:extLst xmlns:a="http://schemas.openxmlformats.org/drawingml/2006/main">
              <a:ext uri="{FF2B5EF4-FFF2-40B4-BE49-F238E27FC236}">
                <a16:creationId xmlns:a16="http://schemas.microsoft.com/office/drawing/2014/main" id="{11791115-5F8D-4314-A625-DDD09F5B845C}"/>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CED9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C563CFF-84B8-4A3F-8F98-D0FAD3CA2E4F}"/>
              </a:ext>
            </a:extLst>
          </p:cNvPr>
          <p:cNvSpPr>
            <a:spLocks xmlns:a="http://schemas.openxmlformats.org/drawingml/2006/main" noGrp="1"/>
          </p:cNvSpPr>
          <p:nvPr/>
        </p:nvSpPr>
        <p:spPr>
          <a:xfrm xmlns:a="http://schemas.openxmlformats.org/drawingml/2006/main">
            <a:off x="609600" y="6496050"/>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8707C"/>
                </a:solidFill>
              </a:defRPr>
            </a:pPr>
            <a:r>
              <a:rPr sz="825" b="0">
                <a:solidFill>
                  <a:srgbClr val="58707C"/>
                </a:solidFill>
              </a:rPr>
              <a:t>Optimization Methods • Week 1</a:t>
            </a:r>
          </a:p>
        </p:txBody>
      </p:sp>
      <p:sp>
        <p:nvSpPr>
          <p:cNvPr id="5" name="">
            <a:extLst xmlns:a="http://schemas.openxmlformats.org/drawingml/2006/main">
              <a:ext uri="{FF2B5EF4-FFF2-40B4-BE49-F238E27FC236}">
                <a16:creationId xmlns:a16="http://schemas.microsoft.com/office/drawing/2014/main" id="{90DAD401-EE4D-4C6E-92C0-355DE69C3939}"/>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8707C"/>
                </a:solidFill>
              </a:defRPr>
            </a:pPr>
            <a:r>
              <a:rPr sz="825" b="1">
                <a:solidFill>
                  <a:srgbClr val="58707C"/>
                </a:solidFill>
              </a:rPr>
              <a:t>29</a:t>
            </a:r>
          </a:p>
        </p:txBody>
      </p:sp>
      <p:sp>
        <p:nvSpPr>
          <p:cNvPr id="6" name="">
            <a:extLst xmlns:a="http://schemas.openxmlformats.org/drawingml/2006/main">
              <a:ext uri="{FF2B5EF4-FFF2-40B4-BE49-F238E27FC236}">
                <a16:creationId xmlns:a16="http://schemas.microsoft.com/office/drawing/2014/main" id="{F28AE29D-9DA9-4CF9-9D3E-23EC8ADCACDC}"/>
              </a:ext>
            </a:extLst>
          </p:cNvPr>
          <p:cNvSpPr>
            <a:spLocks xmlns:a="http://schemas.openxmlformats.org/drawingml/2006/main" noGrp="1"/>
          </p:cNvSpPr>
          <p:nvPr/>
        </p:nvSpPr>
        <p:spPr>
          <a:xfrm xmlns:a="http://schemas.openxmlformats.org/drawingml/2006/main">
            <a:off x="904875" y="157162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7" name="">
            <a:extLst xmlns:a="http://schemas.openxmlformats.org/drawingml/2006/main">
              <a:ext uri="{FF2B5EF4-FFF2-40B4-BE49-F238E27FC236}">
                <a16:creationId xmlns:a16="http://schemas.microsoft.com/office/drawing/2014/main" id="{C5CF65C8-14D6-437C-A708-D143CB6444B2}"/>
              </a:ext>
            </a:extLst>
          </p:cNvPr>
          <p:cNvSpPr>
            <a:spLocks xmlns:a="http://schemas.openxmlformats.org/drawingml/2006/main" noGrp="1"/>
          </p:cNvSpPr>
          <p:nvPr/>
        </p:nvSpPr>
        <p:spPr>
          <a:xfrm xmlns:a="http://schemas.openxmlformats.org/drawingml/2006/main">
            <a:off x="1171575" y="1381125"/>
            <a:ext cx="101155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83544"/>
                </a:solidFill>
              </a:defRPr>
            </a:pPr>
            <a:r>
              <a:rPr sz="1425" b="0">
                <a:solidFill>
                  <a:srgbClr val="183544"/>
                </a:solidFill>
              </a:rPr>
              <a:t>Rao, S. S. Engineering Optimization: Theory and Practice, 5th ed., Wiley, 2019.</a:t>
            </a:r>
          </a:p>
        </p:txBody>
      </p:sp>
      <p:sp>
        <p:nvSpPr>
          <p:cNvPr id="8" name="">
            <a:extLst xmlns:a="http://schemas.openxmlformats.org/drawingml/2006/main">
              <a:ext uri="{FF2B5EF4-FFF2-40B4-BE49-F238E27FC236}">
                <a16:creationId xmlns:a16="http://schemas.microsoft.com/office/drawing/2014/main" id="{CB17F446-3B06-4009-A84B-DBEA965BDC92}"/>
              </a:ext>
            </a:extLst>
          </p:cNvPr>
          <p:cNvSpPr>
            <a:spLocks xmlns:a="http://schemas.openxmlformats.org/drawingml/2006/main" noGrp="1"/>
          </p:cNvSpPr>
          <p:nvPr/>
        </p:nvSpPr>
        <p:spPr>
          <a:xfrm xmlns:a="http://schemas.openxmlformats.org/drawingml/2006/main">
            <a:off x="904875" y="2286000"/>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9" name="">
            <a:extLst xmlns:a="http://schemas.openxmlformats.org/drawingml/2006/main">
              <a:ext uri="{FF2B5EF4-FFF2-40B4-BE49-F238E27FC236}">
                <a16:creationId xmlns:a16="http://schemas.microsoft.com/office/drawing/2014/main" id="{DE83499A-1319-4A65-A4A4-ADFFFC063895}"/>
              </a:ext>
            </a:extLst>
          </p:cNvPr>
          <p:cNvSpPr>
            <a:spLocks xmlns:a="http://schemas.openxmlformats.org/drawingml/2006/main" noGrp="1"/>
          </p:cNvSpPr>
          <p:nvPr/>
        </p:nvSpPr>
        <p:spPr>
          <a:xfrm xmlns:a="http://schemas.openxmlformats.org/drawingml/2006/main">
            <a:off x="1171575" y="2095500"/>
            <a:ext cx="101155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83544"/>
                </a:solidFill>
              </a:defRPr>
            </a:pPr>
            <a:r>
              <a:rPr sz="1425" b="0">
                <a:solidFill>
                  <a:srgbClr val="183544"/>
                </a:solidFill>
              </a:rPr>
              <a:t>Boyd, S. &amp; Vandenberghe, L. Convex Optimization, Cambridge University Press, 2004.</a:t>
            </a:r>
          </a:p>
        </p:txBody>
      </p:sp>
      <p:sp>
        <p:nvSpPr>
          <p:cNvPr id="10" name="">
            <a:extLst xmlns:a="http://schemas.openxmlformats.org/drawingml/2006/main">
              <a:ext uri="{FF2B5EF4-FFF2-40B4-BE49-F238E27FC236}">
                <a16:creationId xmlns:a16="http://schemas.microsoft.com/office/drawing/2014/main" id="{881B8402-67EE-44B1-9011-B9E9F27380D7}"/>
              </a:ext>
            </a:extLst>
          </p:cNvPr>
          <p:cNvSpPr>
            <a:spLocks xmlns:a="http://schemas.openxmlformats.org/drawingml/2006/main" noGrp="1"/>
          </p:cNvSpPr>
          <p:nvPr/>
        </p:nvSpPr>
        <p:spPr>
          <a:xfrm xmlns:a="http://schemas.openxmlformats.org/drawingml/2006/main">
            <a:off x="904875" y="300037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1" name="">
            <a:extLst xmlns:a="http://schemas.openxmlformats.org/drawingml/2006/main">
              <a:ext uri="{FF2B5EF4-FFF2-40B4-BE49-F238E27FC236}">
                <a16:creationId xmlns:a16="http://schemas.microsoft.com/office/drawing/2014/main" id="{B8F322BC-100B-4A09-B822-FA4378FEA1E8}"/>
              </a:ext>
            </a:extLst>
          </p:cNvPr>
          <p:cNvSpPr>
            <a:spLocks xmlns:a="http://schemas.openxmlformats.org/drawingml/2006/main" noGrp="1"/>
          </p:cNvSpPr>
          <p:nvPr/>
        </p:nvSpPr>
        <p:spPr>
          <a:xfrm xmlns:a="http://schemas.openxmlformats.org/drawingml/2006/main">
            <a:off x="1171575" y="2809875"/>
            <a:ext cx="101155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83544"/>
                </a:solidFill>
              </a:defRPr>
            </a:pPr>
            <a:r>
              <a:rPr sz="1425" b="0">
                <a:solidFill>
                  <a:srgbClr val="183544"/>
                </a:solidFill>
              </a:rPr>
              <a:t>MIT 6.079: Introduction to Convex Optimization — Lecture 1.</a:t>
            </a:r>
          </a:p>
        </p:txBody>
      </p:sp>
      <p:sp>
        <p:nvSpPr>
          <p:cNvPr id="12" name="">
            <a:extLst xmlns:a="http://schemas.openxmlformats.org/drawingml/2006/main">
              <a:ext uri="{FF2B5EF4-FFF2-40B4-BE49-F238E27FC236}">
                <a16:creationId xmlns:a16="http://schemas.microsoft.com/office/drawing/2014/main" id="{0B0DAD9E-1333-4C4D-A57B-C62F63768803}"/>
              </a:ext>
            </a:extLst>
          </p:cNvPr>
          <p:cNvSpPr>
            <a:spLocks xmlns:a="http://schemas.openxmlformats.org/drawingml/2006/main" noGrp="1"/>
          </p:cNvSpPr>
          <p:nvPr/>
        </p:nvSpPr>
        <p:spPr>
          <a:xfrm xmlns:a="http://schemas.openxmlformats.org/drawingml/2006/main">
            <a:off x="904875" y="3714750"/>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3" name="">
            <a:extLst xmlns:a="http://schemas.openxmlformats.org/drawingml/2006/main">
              <a:ext uri="{FF2B5EF4-FFF2-40B4-BE49-F238E27FC236}">
                <a16:creationId xmlns:a16="http://schemas.microsoft.com/office/drawing/2014/main" id="{57E5C7E9-1085-463F-BF2A-4F93A23E6412}"/>
              </a:ext>
            </a:extLst>
          </p:cNvPr>
          <p:cNvSpPr>
            <a:spLocks xmlns:a="http://schemas.openxmlformats.org/drawingml/2006/main" noGrp="1"/>
          </p:cNvSpPr>
          <p:nvPr/>
        </p:nvSpPr>
        <p:spPr>
          <a:xfrm xmlns:a="http://schemas.openxmlformats.org/drawingml/2006/main">
            <a:off x="1171575" y="3524250"/>
            <a:ext cx="101155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83544"/>
                </a:solidFill>
              </a:defRPr>
            </a:pPr>
            <a:r>
              <a:rPr sz="1425" b="0">
                <a:solidFill>
                  <a:srgbClr val="183544"/>
                </a:solidFill>
              </a:rPr>
              <a:t>MIT 6.7220J: Nonlinear Optimization — Lecture 1.</a:t>
            </a:r>
          </a:p>
        </p:txBody>
      </p:sp>
      <p:sp>
        <p:nvSpPr>
          <p:cNvPr id="14" name="">
            <a:extLst xmlns:a="http://schemas.openxmlformats.org/drawingml/2006/main">
              <a:ext uri="{FF2B5EF4-FFF2-40B4-BE49-F238E27FC236}">
                <a16:creationId xmlns:a16="http://schemas.microsoft.com/office/drawing/2014/main" id="{CB5DDBA8-9C1A-4C36-9C14-CD6CE38EAFFC}"/>
              </a:ext>
            </a:extLst>
          </p:cNvPr>
          <p:cNvSpPr>
            <a:spLocks xmlns:a="http://schemas.openxmlformats.org/drawingml/2006/main" noGrp="1"/>
          </p:cNvSpPr>
          <p:nvPr/>
        </p:nvSpPr>
        <p:spPr>
          <a:xfrm xmlns:a="http://schemas.openxmlformats.org/drawingml/2006/main">
            <a:off x="904875" y="4429125"/>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5" name="">
            <a:extLst xmlns:a="http://schemas.openxmlformats.org/drawingml/2006/main">
              <a:ext uri="{FF2B5EF4-FFF2-40B4-BE49-F238E27FC236}">
                <a16:creationId xmlns:a16="http://schemas.microsoft.com/office/drawing/2014/main" id="{E50CD91D-8BCD-407E-83C7-A9008C6C3C3E}"/>
              </a:ext>
            </a:extLst>
          </p:cNvPr>
          <p:cNvSpPr>
            <a:spLocks xmlns:a="http://schemas.openxmlformats.org/drawingml/2006/main" noGrp="1"/>
          </p:cNvSpPr>
          <p:nvPr/>
        </p:nvSpPr>
        <p:spPr>
          <a:xfrm xmlns:a="http://schemas.openxmlformats.org/drawingml/2006/main">
            <a:off x="1171575" y="4238625"/>
            <a:ext cx="101155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83544"/>
                </a:solidFill>
              </a:defRPr>
            </a:pPr>
            <a:r>
              <a:rPr sz="1425" b="0">
                <a:solidFill>
                  <a:srgbClr val="183544"/>
                </a:solidFill>
              </a:rPr>
              <a:t>Stanford EE364A: Convex Optimization I — Introduction.</a:t>
            </a:r>
          </a:p>
        </p:txBody>
      </p:sp>
      <p:sp>
        <p:nvSpPr>
          <p:cNvPr id="16" name="">
            <a:extLst xmlns:a="http://schemas.openxmlformats.org/drawingml/2006/main">
              <a:ext uri="{FF2B5EF4-FFF2-40B4-BE49-F238E27FC236}">
                <a16:creationId xmlns:a16="http://schemas.microsoft.com/office/drawing/2014/main" id="{CB4084B0-A4BB-44CA-A208-F90D74521F10}"/>
              </a:ext>
            </a:extLst>
          </p:cNvPr>
          <p:cNvSpPr>
            <a:spLocks xmlns:a="http://schemas.openxmlformats.org/drawingml/2006/main" noGrp="1"/>
          </p:cNvSpPr>
          <p:nvPr/>
        </p:nvSpPr>
        <p:spPr>
          <a:xfrm xmlns:a="http://schemas.openxmlformats.org/drawingml/2006/main">
            <a:off x="904875" y="5143500"/>
            <a:ext cx="114300" cy="114300"/>
          </a:xfrm>
          <a:prstGeom xmlns:a="http://schemas.openxmlformats.org/drawingml/2006/main" prst="ellipse">
            <a:avLst/>
          </a:prstGeom>
          <a:solidFill xmlns:a="http://schemas.openxmlformats.org/drawingml/2006/main">
            <a:srgbClr val="0B9B91"/>
          </a:solidFill>
          <a:ln xmlns:a="http://schemas.openxmlformats.org/drawingml/2006/main" w="0">
            <a:solidFill>
              <a:srgbClr val="0B9B91"/>
            </a:solidFill>
            <a:prstDash val="solid"/>
          </a:ln>
        </p:spPr>
      </p:sp>
      <p:sp>
        <p:nvSpPr>
          <p:cNvPr id="17" name="">
            <a:extLst xmlns:a="http://schemas.openxmlformats.org/drawingml/2006/main">
              <a:ext uri="{FF2B5EF4-FFF2-40B4-BE49-F238E27FC236}">
                <a16:creationId xmlns:a16="http://schemas.microsoft.com/office/drawing/2014/main" id="{BD78297E-0F3D-4114-B995-E1AA20C02C10}"/>
              </a:ext>
            </a:extLst>
          </p:cNvPr>
          <p:cNvSpPr>
            <a:spLocks xmlns:a="http://schemas.openxmlformats.org/drawingml/2006/main" noGrp="1"/>
          </p:cNvSpPr>
          <p:nvPr/>
        </p:nvSpPr>
        <p:spPr>
          <a:xfrm xmlns:a="http://schemas.openxmlformats.org/drawingml/2006/main">
            <a:off x="1171575" y="4953000"/>
            <a:ext cx="101155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83544"/>
                </a:solidFill>
              </a:defRPr>
            </a:pPr>
            <a:r>
              <a:rPr sz="1425" b="0">
                <a:solidFill>
                  <a:srgbClr val="183544"/>
                </a:solidFill>
              </a:rPr>
              <a:t>Carnegie Mellon 24-785: Engineering Optimization.</a:t>
            </a:r>
          </a:p>
        </p:txBody>
      </p:sp>
      <p:sp>
        <p:nvSpPr>
          <p:cNvPr id="18" name="">
            <a:extLst xmlns:a="http://schemas.openxmlformats.org/drawingml/2006/main">
              <a:ext uri="{FF2B5EF4-FFF2-40B4-BE49-F238E27FC236}">
                <a16:creationId xmlns:a16="http://schemas.microsoft.com/office/drawing/2014/main" id="{FD2C753E-7F13-4D55-96BA-6A380195E20F}"/>
              </a:ext>
            </a:extLst>
          </p:cNvPr>
          <p:cNvSpPr>
            <a:spLocks xmlns:a="http://schemas.openxmlformats.org/drawingml/2006/main" noGrp="1"/>
          </p:cNvSpPr>
          <p:nvPr/>
        </p:nvSpPr>
        <p:spPr>
          <a:xfrm xmlns:a="http://schemas.openxmlformats.org/drawingml/2006/main">
            <a:off x="1095375" y="58102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8707C"/>
                </a:solidFill>
              </a:defRPr>
            </a:pPr>
            <a:r>
              <a:rPr sz="1275" b="0">
                <a:solidFill>
                  <a:srgbClr val="58707C"/>
                </a:solidFill>
              </a:rPr>
              <a:t>These sources informed the lecture’s modeling-first structure; examples and visual explanations are adapted for third-year Software/Computer Engineering.</a:t>
            </a:r>
          </a:p>
        </p:txBody>
      </p:sp>
    </p:spTree>
    <p:extLst>
      <p:ext uri="{BB962C8B-B14F-4D97-AF65-F5344CB8AC3E}">
        <p14:creationId xmlns:p14="http://schemas.microsoft.com/office/powerpoint/2010/main" val="8401118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2026-08-30T10:25:23.4720000Z</dcterms:created>
  <dcterms:modified xsi:type="dcterms:W3CDTF">2026-08-30T10:25:23.4720000Z</dcterms:modified>
</coreProperties>
</file>
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52"/>
    <p:restoredTop sz="72514"/>
  </p:normalViewPr>
  <p:slideViewPr>
    <p:cSldViewPr snapToGrid="0">
      <p:cViewPr varScale="1">
        <p:scale>
          <a:sx n="110" d="100"/>
          <a:sy n="110" d="100"/>
        </p:scale>
        <p:origin x="1688"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nfo Digitalwaves" userId="ac084a81-1f58-4ecb-8c71-a418c67c8658" providerId="ADAL" clId="{8B25053E-758F-5C6E-B0BB-9331ACB74679}"/>
    <pc:docChg chg="modSld">
      <pc:chgData name="Info Digitalwaves" userId="ac084a81-1f58-4ecb-8c71-a418c67c8658" providerId="ADAL" clId="{8B25053E-758F-5C6E-B0BB-9331ACB74679}" dt="2026-09-19T17:21:11.852" v="9" actId="207"/>
      <pc:docMkLst>
        <pc:docMk/>
      </pc:docMkLst>
      <pc:sldChg chg="modSp mod modNotesTx">
        <pc:chgData name="Info Digitalwaves" userId="ac084a81-1f58-4ecb-8c71-a418c67c8658" providerId="ADAL" clId="{8B25053E-758F-5C6E-B0BB-9331ACB74679}" dt="2026-09-19T17:19:58.381" v="6" actId="20577"/>
        <pc:sldMkLst>
          <pc:docMk/>
          <pc:sldMk cId="233664727" sldId="256"/>
        </pc:sldMkLst>
        <pc:spChg chg="mod">
          <ac:chgData name="Info Digitalwaves" userId="ac084a81-1f58-4ecb-8c71-a418c67c8658" providerId="ADAL" clId="{8B25053E-758F-5C6E-B0BB-9331ACB74679}" dt="2026-09-19T17:19:03.239" v="5" actId="20577"/>
          <ac:spMkLst>
            <pc:docMk/>
            <pc:sldMk cId="233664727" sldId="256"/>
            <ac:spMk id="7" creationId="{D0BB99A9-6D44-4AF5-AF83-F48ECF06DDA7}"/>
          </ac:spMkLst>
        </pc:spChg>
      </pc:sldChg>
      <pc:sldChg chg="modSp mod">
        <pc:chgData name="Info Digitalwaves" userId="ac084a81-1f58-4ecb-8c71-a418c67c8658" providerId="ADAL" clId="{8B25053E-758F-5C6E-B0BB-9331ACB74679}" dt="2026-09-19T17:21:11.852" v="9" actId="207"/>
        <pc:sldMkLst>
          <pc:docMk/>
          <pc:sldMk cId="1345639783" sldId="258"/>
        </pc:sldMkLst>
        <pc:spChg chg="mod">
          <ac:chgData name="Info Digitalwaves" userId="ac084a81-1f58-4ecb-8c71-a418c67c8658" providerId="ADAL" clId="{8B25053E-758F-5C6E-B0BB-9331ACB74679}" dt="2026-09-19T17:21:11.852" v="9" actId="207"/>
          <ac:spMkLst>
            <pc:docMk/>
            <pc:sldMk cId="1345639783" sldId="258"/>
            <ac:spMk id="7" creationId="{5B58AB69-B650-4EEC-BC0C-CCB2CD457D85}"/>
          </ac:spMkLst>
        </pc:spChg>
      </pc:sldChg>
    </pc:docChg>
  </pc:docChgLst>
  <pc:docChgLst>
    <pc:chgData name="Guest User" userId="S::urn:spo:tenantanon#cddf20ea-0a71-45b0-852a-db38eb3f5779::" providerId="AD" clId="Web-{184D7030-F0EC-AC7A-0A8B-79DDC6B81BC5}"/>
    <pc:docChg chg="modSld">
      <pc:chgData name="Guest User" userId="S::urn:spo:tenantanon#cddf20ea-0a71-45b0-852a-db38eb3f5779::" providerId="AD" clId="Web-{184D7030-F0EC-AC7A-0A8B-79DDC6B81BC5}" dt="2026-09-06T16:43:05.912" v="9" actId="1076"/>
      <pc:docMkLst>
        <pc:docMk/>
      </pc:docMkLst>
      <pc:sldChg chg="modSp">
        <pc:chgData name="Guest User" userId="S::urn:spo:tenantanon#cddf20ea-0a71-45b0-852a-db38eb3f5779::" providerId="AD" clId="Web-{184D7030-F0EC-AC7A-0A8B-79DDC6B81BC5}" dt="2026-09-06T16:43:05.912" v="9" actId="1076"/>
        <pc:sldMkLst>
          <pc:docMk/>
          <pc:sldMk cId="22782886" sldId="260"/>
        </pc:sldMkLst>
        <pc:spChg chg="mod">
          <ac:chgData name="Guest User" userId="S::urn:spo:tenantanon#cddf20ea-0a71-45b0-852a-db38eb3f5779::" providerId="AD" clId="Web-{184D7030-F0EC-AC7A-0A8B-79DDC6B81BC5}" dt="2026-09-06T16:43:05.912" v="9" actId="1076"/>
          <ac:spMkLst>
            <pc:docMk/>
            <pc:sldMk cId="22782886" sldId="260"/>
            <ac:spMk id="9" creationId="{BA9A247B-42B8-4F76-BF3A-7934A6D53007}"/>
          </ac:spMkLst>
        </pc:spChg>
        <pc:spChg chg="mod">
          <ac:chgData name="Guest User" userId="S::urn:spo:tenantanon#cddf20ea-0a71-45b0-852a-db38eb3f5779::" providerId="AD" clId="Web-{184D7030-F0EC-AC7A-0A8B-79DDC6B81BC5}" dt="2026-09-06T16:43:05.381" v="8" actId="1076"/>
          <ac:spMkLst>
            <pc:docMk/>
            <pc:sldMk cId="22782886" sldId="260"/>
            <ac:spMk id="11" creationId="{2ECDC9E2-FC80-4907-BE27-BF98842BB978}"/>
          </ac:spMkLst>
        </pc:spChg>
        <pc:spChg chg="mod">
          <ac:chgData name="Guest User" userId="S::urn:spo:tenantanon#cddf20ea-0a71-45b0-852a-db38eb3f5779::" providerId="AD" clId="Web-{184D7030-F0EC-AC7A-0A8B-79DDC6B81BC5}" dt="2026-09-06T16:43:04.818" v="7" actId="1076"/>
          <ac:spMkLst>
            <pc:docMk/>
            <pc:sldMk cId="22782886" sldId="260"/>
            <ac:spMk id="13" creationId="{B8102987-100B-4839-86A9-796BE3BFCE4A}"/>
          </ac:spMkLst>
        </pc:spChg>
        <pc:spChg chg="mod">
          <ac:chgData name="Guest User" userId="S::urn:spo:tenantanon#cddf20ea-0a71-45b0-852a-db38eb3f5779::" providerId="AD" clId="Web-{184D7030-F0EC-AC7A-0A8B-79DDC6B81BC5}" dt="2026-09-06T16:43:04.396" v="6" actId="1076"/>
          <ac:spMkLst>
            <pc:docMk/>
            <pc:sldMk cId="22782886" sldId="260"/>
            <ac:spMk id="15" creationId="{B6D9327F-DAD3-4131-A67E-D00411377DC0}"/>
          </ac:spMkLst>
        </pc:spChg>
      </pc:sldChg>
    </pc:docChg>
  </pc:docChgLst>
</pc:chgInfo>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1"/>
        <c:ser>
          <c:idx val="0"/>
          <c:order val="0"/>
          <c:tx>
            <c:v>Options</c:v>
          </c:tx>
          <c:xVal>
            <c:numLit>
              <c:formatCode>General</c:formatCode>
              <c:ptCount val="7"/>
              <c:pt idx="0">
                <c:v>2</c:v>
              </c:pt>
              <c:pt idx="1">
                <c:v>3</c:v>
              </c:pt>
              <c:pt idx="2">
                <c:v>4</c:v>
              </c:pt>
              <c:pt idx="3">
                <c:v>5</c:v>
              </c:pt>
              <c:pt idx="4">
                <c:v>6</c:v>
              </c:pt>
              <c:pt idx="5">
                <c:v>7</c:v>
              </c:pt>
              <c:pt idx="6">
                <c:v>8</c:v>
              </c:pt>
            </c:numLit>
          </c:xVal>
          <c:yVal>
            <c:numLit>
              <c:formatCode>General</c:formatCode>
              <c:ptCount val="7"/>
              <c:pt idx="0">
                <c:v>9</c:v>
              </c:pt>
              <c:pt idx="1">
                <c:v>8.3000000000000007</c:v>
              </c:pt>
              <c:pt idx="2">
                <c:v>7.2</c:v>
              </c:pt>
              <c:pt idx="3">
                <c:v>6.4</c:v>
              </c:pt>
              <c:pt idx="4">
                <c:v>5.5</c:v>
              </c:pt>
              <c:pt idx="5">
                <c:v>4.8</c:v>
              </c:pt>
              <c:pt idx="6">
                <c:v>4.2</c:v>
              </c:pt>
            </c:numLit>
          </c:yVal>
          <c:smooth val="1"/>
          <c:extLst>
            <c:ext xmlns:c16="http://schemas.microsoft.com/office/drawing/2014/chart" uri="{C3380CC4-5D6E-409C-BE32-E72D297353CC}">
              <c16:uniqueId val="{00000000-483A-4B71-8C3B-2DC7FB721839}"/>
            </c:ext>
          </c:extLst>
        </c:ser>
        <c:dLbls>
          <c:showLegendKey val="0"/>
          <c:showVal val="0"/>
          <c:showCatName val="0"/>
          <c:showSerName val="0"/>
          <c:showPercent val="0"/>
          <c:showBubbleSize val="0"/>
        </c:dLbls>
        <c:axId val="48650112"/>
        <c:axId val="48672768"/>
      </c:scatterChart>
      <c:valAx>
        <c:axId val="48672768"/>
        <c:scaling>
          <c:orientation val="minMax"/>
        </c:scaling>
        <c:delete val="0"/>
        <c:axPos val="l"/>
        <c:majorGridlines>
          <c:spPr>
            <a:ln w="9525">
              <a:solidFill>
                <a:srgbClr val="CED9DB"/>
              </a:solidFill>
              <a:prstDash val="solid"/>
            </a:ln>
          </c:spPr>
        </c:majorGridlines>
        <c:title>
          <c:tx>
            <c:rich>
              <a:bodyPr/>
              <a:lstStyle/>
              <a:p>
                <a:r>
                  <a:t>response time →</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975">
                <a:solidFill>
                  <a:srgbClr val="58707C"/>
                </a:solidFill>
              </a:defRPr>
            </a:pPr>
            <a:endParaRPr lang="en-US"/>
          </a:p>
        </c:txPr>
        <c:crossAx val="48650112"/>
        <c:crosses val="autoZero"/>
        <c:crossBetween val="midCat"/>
      </c:valAx>
      <c:valAx>
        <c:axId val="48650112"/>
        <c:scaling>
          <c:orientation val="minMax"/>
        </c:scaling>
        <c:delete val="0"/>
        <c:axPos val="b"/>
        <c:majorGridlines>
          <c:spPr>
            <a:ln w="9525">
              <a:solidFill>
                <a:srgbClr val="CED9DB"/>
              </a:solidFill>
              <a:prstDash val="solid"/>
            </a:ln>
          </c:spPr>
        </c:majorGridlines>
        <c:title>
          <c:tx>
            <c:rich>
              <a:bodyPr/>
              <a:lstStyle/>
              <a:p>
                <a:r>
                  <a:t>cost →</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975">
                <a:solidFill>
                  <a:srgbClr val="58707C"/>
                </a:solidFill>
              </a:defRPr>
            </a:pPr>
            <a:endParaRPr lang="en-US"/>
          </a:p>
        </c:txPr>
        <c:crossAx val="48672768"/>
        <c:crosses val="autoZero"/>
        <c:crossBetween val="midCat"/>
      </c:valAx>
      <c:spPr>
        <a:solidFill>
          <a:srgbClr val="FFFFFF"/>
        </a:solidFill>
      </c:spPr>
    </c:plotArea>
    <c:plotVisOnly val="1"/>
    <c:dispBlanksAs val="zero"/>
    <c:showDLblsOverMax val="1"/>
  </c:chart>
  <c:spPr>
    <a:solidFill>
      <a:srgbClr val="F7F4EE"/>
    </a:solidFill>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Optimization is the disciplined process of choosing among alternatives when some choices are better than others and limitations prevent us from having everything. In computing, the choice may be a server, route, schedule, feature set, or parameter value. This introductory lecture develops the language needed to describe such problems before any mathematical method is introduced.</a:t>
            </a:r>
          </a:p>
          <a:p>
            <a:endParaRPr dirty="0"/>
          </a:p>
          <a:p>
            <a:r>
              <a:rPr dirty="0"/>
              <a:t>[Sources]</a:t>
            </a:r>
          </a:p>
          <a:p>
            <a:r>
              <a:rPr dirty="0"/>
              <a:t>- S. S. Rao, Engineering Optimization: Theory and Practice, 5th ed., Wiley, 2019.</a:t>
            </a:r>
          </a:p>
          <a:p>
            <a:r>
              <a:rPr dirty="0"/>
              <a:t>- MIT </a:t>
            </a:r>
            <a:r>
              <a:rPr dirty="0" err="1"/>
              <a:t>OpenCourseWare</a:t>
            </a:r>
            <a:r>
              <a:rPr dirty="0"/>
              <a:t>, 6.079 Introduction to Convex Optimization: https://</a:t>
            </a:r>
            <a:r>
              <a:rPr dirty="0" err="1"/>
              <a:t>ocw.mit.edu</a:t>
            </a:r>
            <a:r>
              <a:rPr dirty="0"/>
              <a:t>/courses/6-079-introduction-to-convex-optimization-fall-2009/</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Optimization becomes relevant when three conditions appear together: there is a genuine choice, there is a way to compare the choices, and at least one limitation matters. A laptop purchase illustrates the pattern. Several models are available, speed and portability affect preference, and the budget limits what is acceptable. Without alternatives or a comparison criterion, there is no optimization problem.</a:t>
            </a:r>
          </a:p>
          <a:p>
            <a:endParaRPr/>
          </a:p>
          <a:p>
            <a:r>
              <a:t>[Sources]</a:t>
            </a:r>
          </a:p>
          <a:p>
            <a:r>
              <a:t>- S. S. Rao, Engineering Optimization: Theory and Practice, 5th ed., Wiley, 2019.</a:t>
            </a:r>
          </a:p>
          <a:p>
            <a:r>
              <a:t>- S. S. Rao, Engineering Optimization: Theory and Practice, 5th ed., Wiley, 2019.</a:t>
            </a:r>
          </a:p>
          <a:p>
            <a:r>
              <a:t>- MIT OpenCourseWare, 6.079 Introduction to Convex Optimization: https://ocw.mit.edu/courses/6-079-introduction-to-convex-optimization-fall-2009/</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phrase “best acceptable choice for a particular purpose” contains three important ideas. “Best” requires a measurable comparison. “Acceptable” means that mandatory rules are satisfied. “Purpose” reminds us that the answer depends on the stakeholder’s need. A laptop that is best for gaming may not be best for travel, even when both choices are technically feasible.</a:t>
            </a:r>
          </a:p>
          <a:p>
            <a:endParaRPr/>
          </a:p>
          <a:p>
            <a:r>
              <a:t>[Sources]</a:t>
            </a:r>
          </a:p>
          <a:p>
            <a:r>
              <a:t>- S. S. Rao, Engineering Optimization: Theory and Practice, 5th ed., Wiley, 2019.</a:t>
            </a:r>
          </a:p>
          <a:p>
            <a:r>
              <a:t>- S. S. Rao, Engineering Optimization: Theory and Practice, 5th ed., Wiley, 2019.</a:t>
            </a:r>
          </a:p>
          <a:p>
            <a:r>
              <a:t>- MIT OpenCourseWare, 6.079 Introduction to Convex Optimization: https://ocw.mit.edu/courses/6-079-introduction-to-convex-optimization-fall-2009/</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 optimization problem can be organized by four questions. What can change identifies the decisions. What means better identifies the objective. What must be true identifies the constraints. What is already known identifies the data. If any answer is ambiguous, the computer cannot evaluate candidates consistently, so the model must be clarified before selecting an algorithm.</a:t>
            </a:r>
          </a:p>
          <a:p>
            <a:endParaRPr/>
          </a:p>
          <a:p>
            <a:r>
              <a:t>[Sources]</a:t>
            </a:r>
          </a:p>
          <a:p>
            <a:r>
              <a:t>- S. S. Rao, Engineering Optimization: Theory and Practice, 5th ed., Wiley, 2019.</a:t>
            </a:r>
          </a:p>
          <a:p>
            <a:r>
              <a:t>- S. S. Rao, Engineering Optimization: Theory and Practice, 5th ed., Wiley, 2019.</a:t>
            </a:r>
          </a:p>
          <a:p>
            <a:r>
              <a:t>- MIT OpenCourseWare, 6.079 Introduction to Convex Optimization: https://ocw.mit.edu/courses/6-079-introduction-to-convex-optimization-fall-2009/</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decision variable represents something the optimizer is permitted to choose. Examples include selecting a server, assigning memory, choosing a route, or deciding which features enter a software release. A measured value is not automatically a decision. The price of a laptop is normally supplied data, while the selected laptop model is the decision.</a:t>
            </a:r>
          </a:p>
          <a:p>
            <a:endParaRPr/>
          </a:p>
          <a:p>
            <a:r>
              <a:t>[Sources]</a:t>
            </a:r>
          </a:p>
          <a:p>
            <a:r>
              <a:t>- S. S. Rao, Engineering Optimization: Theory and Practice, 5th ed., Wiley, 2019.</a:t>
            </a:r>
          </a:p>
          <a:p>
            <a:r>
              <a:t>- S. S. Rao, Engineering Optimization: Theory and Practice, 5th ed., Wiley, 2019.</a:t>
            </a:r>
          </a:p>
          <a:p>
            <a:r>
              <a:t>- MIT OpenCourseWare, 6.079 Introduction to Convex Optimization: https://ocw.mit.edu/courses/6-079-introduction-to-convex-optimization-fall-2009/</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objective function expresses what “better” means. Common objectives are lower cost, shorter response time, lower energy use, or higher reliability. An objective must allow two acceptable candidates to be compared consistently. Different objectives can rank the same candidates differently, which is why the objective should reflect the real purpose of the problem.</a:t>
            </a:r>
          </a:p>
          <a:p>
            <a:endParaRPr/>
          </a:p>
          <a:p>
            <a:r>
              <a:t>[Sources]</a:t>
            </a:r>
          </a:p>
          <a:p>
            <a:r>
              <a:t>- S. S. Rao, Engineering Optimization: Theory and Practice, 5th ed., Wiley, 2019.</a:t>
            </a:r>
          </a:p>
          <a:p>
            <a:r>
              <a:t>- S. S. Rao, Engineering Optimization: Theory and Practice, 5th ed., Wiley, 2019.</a:t>
            </a:r>
          </a:p>
          <a:p>
            <a:r>
              <a:t>- MIT OpenCourseWare, 6.079 Introduction to Convex Optimization: https://ocw.mit.edu/courses/6-079-introduction-to-convex-optimization-fall-2009/</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constraint is a compulsory condition that separates acceptable candidates from unacceptable ones. A budget may not be exceeded, server capacity must remain available, a deadline must be met, or a required service must be included. An attractive objective value cannot compensate for violating a mandatory rule unless the model explicitly permits a controlled trade-off.</a:t>
            </a:r>
          </a:p>
          <a:p>
            <a:endParaRPr/>
          </a:p>
          <a:p>
            <a:r>
              <a:t>[Sources]</a:t>
            </a:r>
          </a:p>
          <a:p>
            <a:r>
              <a:t>- S. S. Rao, Engineering Optimization: Theory and Practice, 5th ed., Wiley, 2019.</a:t>
            </a:r>
          </a:p>
          <a:p>
            <a:r>
              <a:t>- S. S. Rao, Engineering Optimization: Theory and Practice, 5th ed., Wiley, 2019.</a:t>
            </a:r>
          </a:p>
          <a:p>
            <a:r>
              <a:t>- MIT OpenCourseWare, 6.079 Introduction to Convex Optimization: https://ocw.mit.edu/courses/6-079-introduction-to-convex-optimization-fall-2009/</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Problem data are values known before the optimization begins. Prices, capacities, distances, service demands, and task durations describe the instance being solved. Data influence the answer but are not selected by the optimizer. Keeping data separate from decisions makes the model clearer and allows the same algorithm to solve many different instances.</a:t>
            </a:r>
          </a:p>
          <a:p>
            <a:endParaRPr/>
          </a:p>
          <a:p>
            <a:r>
              <a:t>[Sources]</a:t>
            </a:r>
          </a:p>
          <a:p>
            <a:r>
              <a:t>- S. S. Rao, Engineering Optimization: Theory and Practice, 5th ed., Wiley, 2019.</a:t>
            </a:r>
          </a:p>
          <a:p>
            <a:r>
              <a:t>- S. S. Rao, Engineering Optimization: Theory and Practice, 5th ed., Wiley, 2019.</a:t>
            </a:r>
          </a:p>
          <a:p>
            <a:r>
              <a:t>- MIT OpenCourseWare, 6.079 Introduction to Convex Optimization: https://ocw.mit.edu/courses/6-079-introduction-to-convex-optimization-fall-2009/</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candidate solution is one complete proposal containing values for every required decision. In the laptop example, a candidate identifies a particular model and its configuration. Candidate A and Candidate B can be compared only after the same objective and constraints are applied. A partial suggestion is not yet a candidate if important decisions remain unspecified.</a:t>
            </a:r>
          </a:p>
          <a:p>
            <a:endParaRPr/>
          </a:p>
          <a:p>
            <a:r>
              <a:t>[Sources]</a:t>
            </a:r>
          </a:p>
          <a:p>
            <a:r>
              <a:t>- S. S. Rao, Engineering Optimization: Theory and Practice, 5th ed., Wiley, 2019.</a:t>
            </a:r>
          </a:p>
          <a:p>
            <a:r>
              <a:t>- S. S. Rao, Engineering Optimization: Theory and Practice, 5th ed., Wiley, 2019.</a:t>
            </a:r>
          </a:p>
          <a:p>
            <a:r>
              <a:t>- MIT OpenCourseWare, 6.079 Introduction to Convex Optimization: https://ocw.mit.edu/courses/6-079-introduction-to-convex-optimization-fall-2009/</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Feasibility answers a yes-or-no question: does the candidate satisfy every mandatory constraint? The graphic shows valid candidates inside the bounded region and invalid candidates outside it. The highlighted amber point is the best candidate among those that are feasible. An infeasible candidate may look attractive, but it cannot be selected as the final answer under the current rules.</a:t>
            </a:r>
          </a:p>
          <a:p>
            <a:endParaRPr/>
          </a:p>
          <a:p>
            <a:r>
              <a:t>[Sources]</a:t>
            </a:r>
          </a:p>
          <a:p>
            <a:r>
              <a:t>- S. S. Rao, Engineering Optimization: Theory and Practice, 5th ed., Wiley, 2019.</a:t>
            </a:r>
          </a:p>
          <a:p>
            <a:r>
              <a:t>- S. S. Rao, Engineering Optimization: Theory and Practice, 5th ed., Wiley, 2019.</a:t>
            </a:r>
          </a:p>
          <a:p>
            <a:r>
              <a:t>- MIT OpenCourseWare, 6.079 Introduction to Convex Optimization: https://ocw.mit.edu/courses/6-079-introduction-to-convex-optimization-fall-2009/</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search space is the complete set of candidates that the chosen representation can produce. The image presents this space as a landscape containing many possible solutions. High and low regions represent different objective values, while the highlighted point represents the best value. An optimization algorithm explores only part of a large landscape and uses evidence to decide where to search next.</a:t>
            </a:r>
          </a:p>
          <a:p>
            <a:endParaRPr/>
          </a:p>
          <a:p>
            <a:r>
              <a:t>[Sources]</a:t>
            </a:r>
          </a:p>
          <a:p>
            <a:r>
              <a:t>- S. S. Rao, Engineering Optimization: Theory and Practice, 5th ed., Wiley, 2019.</a:t>
            </a:r>
          </a:p>
          <a:p>
            <a:r>
              <a:t>- S. S. Rao, Engineering Optimization: Theory and Practice, 5th ed., Wiley, 2019.</a:t>
            </a:r>
          </a:p>
          <a:p>
            <a:r>
              <a:t>- MIT OpenCourseWare, 6.079 Introduction to Convex Optimization: https://ocw.mit.edu/courses/6-079-introduction-to-convex-optimization-fall-2009/</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Evaluation applies the model consistently to one candidate. First, the candidate is decoded into decisions. Second, every constraint is checked. Third, the objective value is calculated for feasible candidates. Finally, the result is recorded. Because every candidate passes through the same evaluator, comparisons remain fair and reproducible.</a:t>
            </a:r>
          </a:p>
          <a:p>
            <a:endParaRPr/>
          </a:p>
          <a:p>
            <a:r>
              <a:t>[Sources]</a:t>
            </a:r>
          </a:p>
          <a:p>
            <a:r>
              <a:t>- S. S. Rao, Engineering Optimization: Theory and Practice, 5th ed., Wiley, 2019.</a:t>
            </a:r>
          </a:p>
          <a:p>
            <a:r>
              <a:t>- S. S. Rao, Engineering Optimization: Theory and Practice, 5th ed., Wiley, 2019.</a:t>
            </a:r>
          </a:p>
          <a:p>
            <a:r>
              <a:t>- MIT OpenCourseWare, 6.079 Introduction to Convex Optimization: https://ocw.mit.edu/courses/6-079-introduction-to-convex-optimization-fall-2009/</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Objectives can be written as minimization or maximization problems. Cost, time, error, and energy are usually minimized, whereas profit, coverage, reliability, and delivered value are usually maximized. The direction must be stated explicitly. Saying “optimize cost” is incomplete because it does not say whether the intended outcome is lower or higher.</a:t>
            </a:r>
          </a:p>
          <a:p>
            <a:endParaRPr/>
          </a:p>
          <a:p>
            <a:r>
              <a:t>[Sources]</a:t>
            </a:r>
          </a:p>
          <a:p>
            <a:r>
              <a:t>- S. S. Rao, Engineering Optimization: Theory and Practice, 5th ed., Wiley, 2019.</a:t>
            </a:r>
          </a:p>
          <a:p>
            <a:r>
              <a:t>- S. S. Rao, Engineering Optimization: Theory and Practice, 5th ed., Wiley, 2019.</a:t>
            </a:r>
          </a:p>
          <a:p>
            <a:r>
              <a:t>- MIT OpenCourseWare, 6.079 Introduction to Convex Optimization: https://ocw.mit.edu/courses/6-079-introduction-to-convex-optimization-fall-2009/</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Real engineering problems often contain objectives that conflict. The graph shows a trade-off frontier: improving one objective tends to worsen the other. Points away from the frontier are dominated because another candidate performs at least as well on both measures. The amber points represent reasonable compromises, but choosing among them requires priorities from the decision maker.</a:t>
            </a:r>
          </a:p>
          <a:p>
            <a:endParaRPr/>
          </a:p>
          <a:p>
            <a:r>
              <a:t>[Sources]</a:t>
            </a:r>
          </a:p>
          <a:p>
            <a:r>
              <a:t>- S. S. Rao, Engineering Optimization: Theory and Practice, 5th ed., Wiley, 2019.</a:t>
            </a:r>
          </a:p>
          <a:p>
            <a:r>
              <a:t>- S. S. Rao, Engineering Optimization: Theory and Practice, 5th ed., Wiley, 2019.</a:t>
            </a:r>
          </a:p>
          <a:p>
            <a:r>
              <a:t>- MIT OpenCourseWare, 6.079 Introduction to Convex Optimization: https://ocw.mit.edu/courses/6-079-introduction-to-convex-optimization-fall-2009/</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 optimization algorithm is a systematic procedure for exploring candidates. It begins from one or more candidates, creates new possibilities, evaluates their feasibility and quality, compares results, and stops according to a defined condition. Different algorithms mainly differ in how they generate candidates and use previous information to guide later exploration.</a:t>
            </a:r>
          </a:p>
          <a:p>
            <a:endParaRPr/>
          </a:p>
          <a:p>
            <a:r>
              <a:t>[Sources]</a:t>
            </a:r>
          </a:p>
          <a:p>
            <a:r>
              <a:t>- S. S. Rao, Engineering Optimization: Theory and Practice, 5th ed., Wiley, 2019.</a:t>
            </a:r>
          </a:p>
          <a:p>
            <a:r>
              <a:t>- S. S. Rao, Engineering Optimization: Theory and Practice, 5th ed., Wiley, 2019.</a:t>
            </a:r>
          </a:p>
          <a:p>
            <a:r>
              <a:t>- MIT OpenCourseWare, 6.079 Introduction to Convex Optimization: https://ocw.mit.edu/courses/6-079-introduction-to-convex-optimization-fall-2009/</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Exact, heuristic, and metaheuristic methods offer different kinds of evidence. An exact method may prove optimality for a supported model, but computation can become expensive. A heuristic uses problem-specific knowledge to find a useful answer quickly. A metaheuristic uses a general search strategy and often produces strong solutions without guaranteeing that the global optimum was reached.</a:t>
            </a:r>
          </a:p>
          <a:p>
            <a:endParaRPr/>
          </a:p>
          <a:p>
            <a:r>
              <a:t>[Sources]</a:t>
            </a:r>
          </a:p>
          <a:p>
            <a:r>
              <a:t>- S. S. Rao, Engineering Optimization: Theory and Practice, 5th ed., Wiley, 2019.</a:t>
            </a:r>
          </a:p>
          <a:p>
            <a:r>
              <a:t>- S. S. Rao, Engineering Optimization: Theory and Practice, 5th ed., Wiley, 2019.</a:t>
            </a:r>
          </a:p>
          <a:p>
            <a:r>
              <a:t>- MIT OpenCourseWare, 6.079 Introduction to Convex Optimization: https://ocw.mit.edu/courses/6-079-introduction-to-convex-optimization-fall-2009/</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Optimization appears throughout computing. Routing selects network paths, cloud optimization places and scales services, machine learning adjusts model parameters, software engineering prioritizes features and tests, cybersecurity allocates limited protection resources, and scheduling assigns tasks, rooms, processors, or time. The mathematical language changes little even when the application changes.</a:t>
            </a:r>
          </a:p>
          <a:p>
            <a:endParaRPr/>
          </a:p>
          <a:p>
            <a:r>
              <a:t>[Sources]</a:t>
            </a:r>
          </a:p>
          <a:p>
            <a:r>
              <a:t>- S. S. Rao, Engineering Optimization: Theory and Practice, 5th ed., Wiley, 2019.</a:t>
            </a:r>
          </a:p>
          <a:p>
            <a:r>
              <a:t>- S. S. Rao, Engineering Optimization: Theory and Practice, 5th ed., Wiley, 2019.</a:t>
            </a:r>
          </a:p>
          <a:p>
            <a:r>
              <a:t>- MIT OpenCourseWare, 6.079 Introduction to Convex Optimization: https://ocw.mit.edu/courses/6-079-introduction-to-convex-optimization-fall-2009/</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clean Java design separates the optimization problem from the search method. ProblemData stores known values, Candidate stores decisions, Evaluator checks constraints and calculates quality, SearchMethod controls exploration, and ExperimentRunner records evidence. This separation allows several algorithms to be compared on exactly the same model and reduces the risk of changing the problem unintentionally.</a:t>
            </a:r>
          </a:p>
          <a:p>
            <a:endParaRPr/>
          </a:p>
          <a:p>
            <a:r>
              <a:t>[Sources]</a:t>
            </a:r>
          </a:p>
          <a:p>
            <a:r>
              <a:t>- S. S. Rao, Engineering Optimization: Theory and Practice, 5th ed., Wiley, 2019.</a:t>
            </a:r>
          </a:p>
          <a:p>
            <a:r>
              <a:t>- S. S. Rao, Engineering Optimization: Theory and Practice, 5th ed., Wiley, 2019.</a:t>
            </a:r>
          </a:p>
          <a:p>
            <a:r>
              <a:t>- MIT OpenCourseWare, 6.079 Introduction to Convex Optimization: https://ocw.mit.edu/courses/6-079-introduction-to-convex-optimization-fall-2009/</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laptop activity converts an everyday decision into an optimization description. The candidate set contains several complete laptop configurations. The objective might minimize price or maximize a weighted performance score. Constraints could include budget, minimum memory, and required portability. Product specifications and prices are data used to evaluate every candidate consistently.</a:t>
            </a:r>
          </a:p>
          <a:p>
            <a:endParaRPr/>
          </a:p>
          <a:p>
            <a:r>
              <a:t>[Sources]</a:t>
            </a:r>
          </a:p>
          <a:p>
            <a:r>
              <a:t>- S. S. Rao, Engineering Optimization: Theory and Practice, 5th ed., Wiley, 2019.</a:t>
            </a:r>
          </a:p>
          <a:p>
            <a:r>
              <a:t>- S. S. Rao, Engineering Optimization: Theory and Practice, 5th ed., Wiley, 2019.</a:t>
            </a:r>
          </a:p>
          <a:p>
            <a:r>
              <a:t>- MIT OpenCourseWare, 6.079 Introduction to Convex Optimization: https://ocw.mit.edu/courses/6-079-introduction-to-convex-optimization-fall-2009/</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distinctions prevent common modelling errors. Data are known inputs, while decisions are chosen outputs. An objective expresses preference, while a constraint is mandatory. Feasibility means that the rules are satisfied, but it does not necessarily mean that the candidate is good. Optimization first identifies acceptable candidates and then compares their quality.</a:t>
            </a:r>
          </a:p>
          <a:p>
            <a:endParaRPr/>
          </a:p>
          <a:p>
            <a:r>
              <a:t>[Sources]</a:t>
            </a:r>
          </a:p>
          <a:p>
            <a:r>
              <a:t>- S. S. Rao, Engineering Optimization: Theory and Practice, 5th ed., Wiley, 2019.</a:t>
            </a:r>
          </a:p>
          <a:p>
            <a:r>
              <a:t>- S. S. Rao, Engineering Optimization: Theory and Practice, 5th ed., Wiley, 2019.</a:t>
            </a:r>
          </a:p>
          <a:p>
            <a:r>
              <a:t>- MIT OpenCourseWare, 6.079 Introduction to Convex Optimization: https://ocw.mit.edu/courses/6-079-introduction-to-convex-optimization-fall-2009/</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five core words summarize the foundation of the course. A decision is what may change, an objective defines better, a constraint states what must remain true, data describe what is known, and a candidate is one complete proposal. Later lectures add mathematical notation and algorithms, but these five roles remain present in every optimization model.</a:t>
            </a:r>
          </a:p>
          <a:p>
            <a:endParaRPr/>
          </a:p>
          <a:p>
            <a:r>
              <a:t>[Sources]</a:t>
            </a:r>
          </a:p>
          <a:p>
            <a:r>
              <a:t>- S. S. Rao, Engineering Optimization: Theory and Practice, 5th ed., Wiley, 2019.</a:t>
            </a:r>
          </a:p>
          <a:p>
            <a:r>
              <a:t>- S. S. Rao, Engineering Optimization: Theory and Practice, 5th ed., Wiley, 2019.</a:t>
            </a:r>
          </a:p>
          <a:p>
            <a:r>
              <a:t>- MIT OpenCourseWare, 6.079 Introduction to Convex Optimization: https://ocw.mit.edu/courses/6-079-introduction-to-convex-optimization-fall-2009/</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Week 1 turns this intuitive language into formal optimization models. Students will learn how decision variables, objective functions, constraints, and domains are written, how problems are classified, and why the problem structure determines which solution method is appropriate.</a:t>
            </a:r>
          </a:p>
          <a:p>
            <a:endParaRPr/>
          </a:p>
          <a:p>
            <a:r>
              <a:t>[Sources]</a:t>
            </a:r>
          </a:p>
          <a:p>
            <a:r>
              <a:t>- S. S. Rao, Engineering Optimization: Theory and Practice, 5th ed., Wiley, 2019.</a:t>
            </a:r>
          </a:p>
          <a:p>
            <a:r>
              <a:t>- S. S. Rao, Engineering Optimization: Theory and Practice, 5th ed., Wiley, 2019.</a:t>
            </a:r>
          </a:p>
          <a:p>
            <a:r>
              <a:t>- MIT OpenCourseWare, 6.079 Introduction to Convex Optimization: https://ocw.mit.edu/courses/6-079-introduction-to-convex-optimization-fall-2009/</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C28"/>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DC791826-39D0-4E38-9C5C-E50A1BF7F79A}"/>
              </a:ext>
            </a:extLst>
          </p:cNvPr>
          <p:cNvSpPr>
            <a:spLocks noGrp="1"/>
          </p:cNvSpPr>
          <p:nvPr/>
        </p:nvSpPr>
        <p:spPr>
          <a:xfrm>
            <a:off x="0" y="0"/>
            <a:ext cx="12192000" cy="6858000"/>
          </a:xfrm>
          <a:prstGeom prst="rect">
            <a:avLst/>
          </a:prstGeom>
          <a:ln w="0">
            <a:noFill/>
            <a:prstDash val="solid"/>
          </a:ln>
        </p:spPr>
        <p:txBody>
          <a:bodyPr/>
          <a:lstStyle/>
          <a:p>
            <a:endParaRPr lang="en-IQ"/>
          </a:p>
        </p:txBody>
      </p:sp>
      <p:sp>
        <p:nvSpPr>
          <p:cNvPr id="3" name="Rectangle 2">
            <a:extLst>
              <a:ext uri="{FF2B5EF4-FFF2-40B4-BE49-F238E27FC236}">
                <a16:creationId xmlns:a16="http://schemas.microsoft.com/office/drawing/2014/main" id="{AE575F20-A5CA-4432-8B45-10137A8679FA}"/>
              </a:ext>
            </a:extLst>
          </p:cNvPr>
          <p:cNvSpPr>
            <a:spLocks noGrp="1"/>
          </p:cNvSpPr>
          <p:nvPr/>
        </p:nvSpPr>
        <p:spPr>
          <a:xfrm>
            <a:off x="647700" y="666750"/>
            <a:ext cx="4762500" cy="228600"/>
          </a:xfrm>
          <a:prstGeom prst="rect">
            <a:avLst/>
          </a:prstGeom>
          <a:noFill/>
          <a:ln w="0">
            <a:noFill/>
            <a:prstDash val="solid"/>
          </a:ln>
        </p:spPr>
        <p:txBody>
          <a:bodyPr anchor="ctr"/>
          <a:lstStyle/>
          <a:p>
            <a:pPr algn="l">
              <a:defRPr sz="1125" b="1">
                <a:solidFill>
                  <a:srgbClr val="70D5D0"/>
                </a:solidFill>
              </a:defRPr>
            </a:pPr>
            <a:r>
              <a:rPr sz="1125" b="1">
                <a:solidFill>
                  <a:srgbClr val="70D5D0"/>
                </a:solidFill>
              </a:rPr>
              <a:t>OPTIMIZATION METHODS</a:t>
            </a:r>
          </a:p>
        </p:txBody>
      </p:sp>
      <p:sp>
        <p:nvSpPr>
          <p:cNvPr id="4" name="Rectangle 3">
            <a:extLst>
              <a:ext uri="{FF2B5EF4-FFF2-40B4-BE49-F238E27FC236}">
                <a16:creationId xmlns:a16="http://schemas.microsoft.com/office/drawing/2014/main" id="{D91C087C-CD0C-4D5F-A3A1-40701C6E4F8A}"/>
              </a:ext>
            </a:extLst>
          </p:cNvPr>
          <p:cNvSpPr>
            <a:spLocks noGrp="1"/>
          </p:cNvSpPr>
          <p:nvPr/>
        </p:nvSpPr>
        <p:spPr>
          <a:xfrm>
            <a:off x="647700" y="1381125"/>
            <a:ext cx="1905000" cy="304800"/>
          </a:xfrm>
          <a:prstGeom prst="rect">
            <a:avLst/>
          </a:prstGeom>
          <a:noFill/>
          <a:ln w="0">
            <a:noFill/>
            <a:prstDash val="solid"/>
          </a:ln>
        </p:spPr>
        <p:txBody>
          <a:bodyPr anchor="ctr"/>
          <a:lstStyle/>
          <a:p>
            <a:pPr algn="l">
              <a:defRPr sz="1650" b="1">
                <a:solidFill>
                  <a:srgbClr val="F2A93B"/>
                </a:solidFill>
              </a:defRPr>
            </a:pPr>
            <a:r>
              <a:rPr sz="1650" b="1">
                <a:solidFill>
                  <a:srgbClr val="F2A93B"/>
                </a:solidFill>
              </a:rPr>
              <a:t>Week 0</a:t>
            </a:r>
          </a:p>
        </p:txBody>
      </p:sp>
      <p:sp>
        <p:nvSpPr>
          <p:cNvPr id="5" name="Rectangle 4">
            <a:extLst>
              <a:ext uri="{FF2B5EF4-FFF2-40B4-BE49-F238E27FC236}">
                <a16:creationId xmlns:a16="http://schemas.microsoft.com/office/drawing/2014/main" id="{0432A471-C6D8-43EF-ACCB-60B9E9DB082B}"/>
              </a:ext>
            </a:extLst>
          </p:cNvPr>
          <p:cNvSpPr>
            <a:spLocks noGrp="1"/>
          </p:cNvSpPr>
          <p:nvPr/>
        </p:nvSpPr>
        <p:spPr>
          <a:xfrm>
            <a:off x="647700" y="1952625"/>
            <a:ext cx="6191250" cy="1476375"/>
          </a:xfrm>
          <a:prstGeom prst="rect">
            <a:avLst/>
          </a:prstGeom>
          <a:noFill/>
          <a:ln w="0">
            <a:noFill/>
            <a:prstDash val="solid"/>
          </a:ln>
        </p:spPr>
        <p:txBody>
          <a:bodyPr anchor="ctr"/>
          <a:lstStyle/>
          <a:p>
            <a:pPr algn="l">
              <a:defRPr sz="3975" b="1">
                <a:solidFill>
                  <a:srgbClr val="FFFFFF"/>
                </a:solidFill>
              </a:defRPr>
            </a:pPr>
            <a:r>
              <a:rPr sz="3975" b="1">
                <a:solidFill>
                  <a:srgbClr val="FFFFFF"/>
                </a:solidFill>
              </a:rPr>
              <a:t>The language of</a:t>
            </a:r>
          </a:p>
          <a:p>
            <a:pPr algn="l">
              <a:defRPr sz="3975" b="1">
                <a:solidFill>
                  <a:srgbClr val="FFFFFF"/>
                </a:solidFill>
              </a:defRPr>
            </a:pPr>
            <a:r>
              <a:rPr sz="3975" b="1">
                <a:solidFill>
                  <a:srgbClr val="FFFFFF"/>
                </a:solidFill>
              </a:rPr>
              <a:t>better decisions</a:t>
            </a:r>
          </a:p>
        </p:txBody>
      </p:sp>
      <p:sp>
        <p:nvSpPr>
          <p:cNvPr id="6" name="Rectangle 5">
            <a:extLst>
              <a:ext uri="{FF2B5EF4-FFF2-40B4-BE49-F238E27FC236}">
                <a16:creationId xmlns:a16="http://schemas.microsoft.com/office/drawing/2014/main" id="{CF7C3A91-37FF-40A2-9765-A30D8A4EDB52}"/>
              </a:ext>
            </a:extLst>
          </p:cNvPr>
          <p:cNvSpPr>
            <a:spLocks noGrp="1"/>
          </p:cNvSpPr>
          <p:nvPr/>
        </p:nvSpPr>
        <p:spPr>
          <a:xfrm>
            <a:off x="666750" y="3952875"/>
            <a:ext cx="6286500" cy="571500"/>
          </a:xfrm>
          <a:prstGeom prst="rect">
            <a:avLst/>
          </a:prstGeom>
          <a:noFill/>
          <a:ln w="0">
            <a:noFill/>
            <a:prstDash val="solid"/>
          </a:ln>
        </p:spPr>
        <p:txBody>
          <a:bodyPr anchor="ctr"/>
          <a:lstStyle/>
          <a:p>
            <a:pPr algn="l">
              <a:defRPr sz="1725" b="0">
                <a:solidFill>
                  <a:srgbClr val="D6E8EC"/>
                </a:solidFill>
              </a:defRPr>
            </a:pPr>
            <a:r>
              <a:rPr sz="1725" b="0">
                <a:solidFill>
                  <a:srgbClr val="D6E8EC"/>
                </a:solidFill>
              </a:rPr>
              <a:t>A friendly orientation before the formal course begins</a:t>
            </a:r>
          </a:p>
        </p:txBody>
      </p:sp>
      <p:sp>
        <p:nvSpPr>
          <p:cNvPr id="7" name="Rectangle 6">
            <a:extLst>
              <a:ext uri="{FF2B5EF4-FFF2-40B4-BE49-F238E27FC236}">
                <a16:creationId xmlns:a16="http://schemas.microsoft.com/office/drawing/2014/main" id="{D0BB99A9-6D44-4AF5-AF83-F48ECF06DDA7}"/>
              </a:ext>
            </a:extLst>
          </p:cNvPr>
          <p:cNvSpPr>
            <a:spLocks noGrp="1"/>
          </p:cNvSpPr>
          <p:nvPr/>
        </p:nvSpPr>
        <p:spPr>
          <a:xfrm>
            <a:off x="666750" y="5953125"/>
            <a:ext cx="5238750" cy="247650"/>
          </a:xfrm>
          <a:prstGeom prst="rect">
            <a:avLst/>
          </a:prstGeom>
          <a:noFill/>
          <a:ln w="0">
            <a:noFill/>
            <a:prstDash val="solid"/>
          </a:ln>
        </p:spPr>
        <p:txBody>
          <a:bodyPr anchor="ctr"/>
          <a:lstStyle/>
          <a:p>
            <a:pPr algn="l">
              <a:defRPr sz="1275" b="1">
                <a:solidFill>
                  <a:srgbClr val="FFFFFF"/>
                </a:solidFill>
              </a:defRPr>
            </a:pPr>
            <a:r>
              <a:rPr lang="en-US" sz="1275" b="1" dirty="0">
                <a:solidFill>
                  <a:srgbClr val="FFFFFF"/>
                </a:solidFill>
              </a:rPr>
              <a:t>Fourth</a:t>
            </a:r>
            <a:r>
              <a:rPr sz="1275" b="1" dirty="0">
                <a:solidFill>
                  <a:srgbClr val="FFFFFF"/>
                </a:solidFill>
              </a:rPr>
              <a:t>-Year Software / Computer Engineering</a:t>
            </a:r>
          </a:p>
        </p:txBody>
      </p:sp>
    </p:spTree>
    <p:extLst>
      <p:ext uri="{BB962C8B-B14F-4D97-AF65-F5344CB8AC3E}">
        <p14:creationId xmlns:p14="http://schemas.microsoft.com/office/powerpoint/2010/main" val="2336647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C503EFA5-C707-4173-A95D-33EA281EEB57}"/>
              </a:ext>
            </a:extLst>
          </p:cNvPr>
          <p:cNvSpPr>
            <a:spLocks noGrp="1"/>
          </p:cNvSpPr>
          <p:nvPr/>
        </p:nvSpPr>
        <p:spPr>
          <a:xfrm>
            <a:off x="609600" y="285750"/>
            <a:ext cx="66675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ORIENTATION</a:t>
            </a:r>
          </a:p>
        </p:txBody>
      </p:sp>
      <p:sp>
        <p:nvSpPr>
          <p:cNvPr id="2" name="Rectangle 1">
            <a:extLst>
              <a:ext uri="{FF2B5EF4-FFF2-40B4-BE49-F238E27FC236}">
                <a16:creationId xmlns:a16="http://schemas.microsoft.com/office/drawing/2014/main" id="{2E118CD0-3BD5-4FFF-A10C-84FF83BCAF23}"/>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Optimization begins whenever choices compete</a:t>
            </a:r>
          </a:p>
        </p:txBody>
      </p:sp>
      <p:sp>
        <p:nvSpPr>
          <p:cNvPr id="3" name="Rectangle 2">
            <a:extLst>
              <a:ext uri="{FF2B5EF4-FFF2-40B4-BE49-F238E27FC236}">
                <a16:creationId xmlns:a16="http://schemas.microsoft.com/office/drawing/2014/main" id="{E7CCB647-8233-4E70-800F-6F65D9550504}"/>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BE37DD4E-F526-4D14-B6D9-5122E41DAD4C}"/>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0</a:t>
            </a:r>
          </a:p>
        </p:txBody>
      </p:sp>
      <p:sp>
        <p:nvSpPr>
          <p:cNvPr id="5" name="Rectangle 4">
            <a:extLst>
              <a:ext uri="{FF2B5EF4-FFF2-40B4-BE49-F238E27FC236}">
                <a16:creationId xmlns:a16="http://schemas.microsoft.com/office/drawing/2014/main" id="{C9969585-CC21-42BF-B4CE-8011B0AB2B5A}"/>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02</a:t>
            </a:r>
          </a:p>
        </p:txBody>
      </p:sp>
      <p:sp>
        <p:nvSpPr>
          <p:cNvPr id="6" name="Rectangle: Rounded Corners 5">
            <a:extLst>
              <a:ext uri="{FF2B5EF4-FFF2-40B4-BE49-F238E27FC236}">
                <a16:creationId xmlns:a16="http://schemas.microsoft.com/office/drawing/2014/main" id="{D95C7173-D70E-4852-ABA5-8D6FB3E07D51}"/>
              </a:ext>
            </a:extLst>
          </p:cNvPr>
          <p:cNvSpPr>
            <a:spLocks noGrp="1"/>
          </p:cNvSpPr>
          <p:nvPr/>
        </p:nvSpPr>
        <p:spPr>
          <a:xfrm>
            <a:off x="1238250" y="1619250"/>
            <a:ext cx="9715500" cy="742950"/>
          </a:xfrm>
          <a:prstGeom prst="roundRect">
            <a:avLst>
              <a:gd name="adj" fmla="val 10256"/>
            </a:avLst>
          </a:prstGeom>
          <a:solidFill>
            <a:srgbClr val="092A3D"/>
          </a:solidFill>
          <a:ln w="0">
            <a:solidFill>
              <a:srgbClr val="092A3D"/>
            </a:solidFill>
            <a:prstDash val="solid"/>
          </a:ln>
        </p:spPr>
        <p:txBody>
          <a:bodyPr/>
          <a:lstStyle/>
          <a:p>
            <a:endParaRPr lang="en-IQ"/>
          </a:p>
        </p:txBody>
      </p:sp>
      <p:sp>
        <p:nvSpPr>
          <p:cNvPr id="7" name="Rectangle 6">
            <a:extLst>
              <a:ext uri="{FF2B5EF4-FFF2-40B4-BE49-F238E27FC236}">
                <a16:creationId xmlns:a16="http://schemas.microsoft.com/office/drawing/2014/main" id="{2786BE36-963A-47C0-BBF7-902EFBF33944}"/>
              </a:ext>
            </a:extLst>
          </p:cNvPr>
          <p:cNvSpPr>
            <a:spLocks noGrp="1"/>
          </p:cNvSpPr>
          <p:nvPr/>
        </p:nvSpPr>
        <p:spPr>
          <a:xfrm>
            <a:off x="1428750" y="1714500"/>
            <a:ext cx="9334500" cy="552450"/>
          </a:xfrm>
          <a:prstGeom prst="rect">
            <a:avLst/>
          </a:prstGeom>
          <a:noFill/>
          <a:ln w="0">
            <a:noFill/>
            <a:prstDash val="solid"/>
          </a:ln>
        </p:spPr>
        <p:txBody>
          <a:bodyPr anchor="ctr"/>
          <a:lstStyle/>
          <a:p>
            <a:pPr algn="ctr">
              <a:defRPr sz="2100" b="1">
                <a:solidFill>
                  <a:srgbClr val="FFFFFF"/>
                </a:solidFill>
              </a:defRPr>
            </a:pPr>
            <a:r>
              <a:rPr sz="2100" b="1">
                <a:solidFill>
                  <a:srgbClr val="FFFFFF"/>
                </a:solidFill>
              </a:rPr>
              <a:t>You have several choices—but cannot have everything.</a:t>
            </a:r>
          </a:p>
        </p:txBody>
      </p:sp>
      <p:sp>
        <p:nvSpPr>
          <p:cNvPr id="8" name="Rectangle: Rounded Corners 7">
            <a:extLst>
              <a:ext uri="{FF2B5EF4-FFF2-40B4-BE49-F238E27FC236}">
                <a16:creationId xmlns:a16="http://schemas.microsoft.com/office/drawing/2014/main" id="{27B74CF3-7B8E-417B-8932-CE22DEF89BAD}"/>
              </a:ext>
            </a:extLst>
          </p:cNvPr>
          <p:cNvSpPr>
            <a:spLocks noGrp="1"/>
          </p:cNvSpPr>
          <p:nvPr/>
        </p:nvSpPr>
        <p:spPr>
          <a:xfrm>
            <a:off x="1047750" y="3048000"/>
            <a:ext cx="2952750" cy="1619250"/>
          </a:xfrm>
          <a:prstGeom prst="roundRect">
            <a:avLst>
              <a:gd name="adj" fmla="val 4706"/>
            </a:avLst>
          </a:prstGeom>
          <a:solidFill>
            <a:srgbClr val="FFFFFF"/>
          </a:solidFill>
          <a:ln w="9525">
            <a:solidFill>
              <a:srgbClr val="CED9DB"/>
            </a:solidFill>
            <a:prstDash val="solid"/>
          </a:ln>
        </p:spPr>
        <p:txBody>
          <a:bodyPr/>
          <a:lstStyle/>
          <a:p>
            <a:endParaRPr lang="en-IQ"/>
          </a:p>
        </p:txBody>
      </p:sp>
      <p:sp>
        <p:nvSpPr>
          <p:cNvPr id="9" name="Rectangle 8">
            <a:extLst>
              <a:ext uri="{FF2B5EF4-FFF2-40B4-BE49-F238E27FC236}">
                <a16:creationId xmlns:a16="http://schemas.microsoft.com/office/drawing/2014/main" id="{457EE974-C0F2-4B35-93D5-09A536BD5269}"/>
              </a:ext>
            </a:extLst>
          </p:cNvPr>
          <p:cNvSpPr>
            <a:spLocks noGrp="1"/>
          </p:cNvSpPr>
          <p:nvPr/>
        </p:nvSpPr>
        <p:spPr>
          <a:xfrm>
            <a:off x="1047750" y="3048000"/>
            <a:ext cx="76200" cy="1619250"/>
          </a:xfrm>
          <a:prstGeom prst="rect">
            <a:avLst/>
          </a:prstGeom>
          <a:solidFill>
            <a:srgbClr val="0B9B91"/>
          </a:solidFill>
          <a:ln w="0">
            <a:solidFill>
              <a:srgbClr val="0B9B91"/>
            </a:solidFill>
            <a:prstDash val="solid"/>
          </a:ln>
        </p:spPr>
        <p:txBody>
          <a:bodyPr/>
          <a:lstStyle/>
          <a:p>
            <a:endParaRPr lang="en-IQ"/>
          </a:p>
        </p:txBody>
      </p:sp>
      <p:sp>
        <p:nvSpPr>
          <p:cNvPr id="10" name="Rectangle 9">
            <a:extLst>
              <a:ext uri="{FF2B5EF4-FFF2-40B4-BE49-F238E27FC236}">
                <a16:creationId xmlns:a16="http://schemas.microsoft.com/office/drawing/2014/main" id="{A4F2B160-60D9-4337-93D9-B74D4FAAEE08}"/>
              </a:ext>
            </a:extLst>
          </p:cNvPr>
          <p:cNvSpPr>
            <a:spLocks noGrp="1"/>
          </p:cNvSpPr>
          <p:nvPr/>
        </p:nvSpPr>
        <p:spPr>
          <a:xfrm>
            <a:off x="1295400" y="3190875"/>
            <a:ext cx="2552700" cy="342900"/>
          </a:xfrm>
          <a:prstGeom prst="rect">
            <a:avLst/>
          </a:prstGeom>
          <a:noFill/>
          <a:ln w="0">
            <a:noFill/>
            <a:prstDash val="solid"/>
          </a:ln>
        </p:spPr>
        <p:txBody>
          <a:bodyPr anchor="ctr"/>
          <a:lstStyle/>
          <a:p>
            <a:pPr algn="l">
              <a:defRPr sz="1650" b="1">
                <a:solidFill>
                  <a:srgbClr val="0B9B91"/>
                </a:solidFill>
              </a:defRPr>
            </a:pPr>
            <a:r>
              <a:rPr sz="1650" b="1">
                <a:solidFill>
                  <a:srgbClr val="0B9B91"/>
                </a:solidFill>
              </a:rPr>
              <a:t>CHOICE</a:t>
            </a:r>
          </a:p>
        </p:txBody>
      </p:sp>
      <p:sp>
        <p:nvSpPr>
          <p:cNvPr id="11" name="Rectangle 10">
            <a:extLst>
              <a:ext uri="{FF2B5EF4-FFF2-40B4-BE49-F238E27FC236}">
                <a16:creationId xmlns:a16="http://schemas.microsoft.com/office/drawing/2014/main" id="{BDCAD43D-1115-4E91-B053-D476E439432F}"/>
              </a:ext>
            </a:extLst>
          </p:cNvPr>
          <p:cNvSpPr>
            <a:spLocks noGrp="1"/>
          </p:cNvSpPr>
          <p:nvPr/>
        </p:nvSpPr>
        <p:spPr>
          <a:xfrm>
            <a:off x="1295400" y="3600450"/>
            <a:ext cx="2524125" cy="933450"/>
          </a:xfrm>
          <a:prstGeom prst="rect">
            <a:avLst/>
          </a:prstGeom>
          <a:noFill/>
          <a:ln w="0">
            <a:noFill/>
            <a:prstDash val="solid"/>
          </a:ln>
        </p:spPr>
        <p:txBody>
          <a:bodyPr anchor="ctr"/>
          <a:lstStyle/>
          <a:p>
            <a:pPr algn="l">
              <a:defRPr sz="1350" b="0">
                <a:solidFill>
                  <a:srgbClr val="183544"/>
                </a:solidFill>
              </a:defRPr>
            </a:pPr>
            <a:r>
              <a:rPr sz="1350" b="0">
                <a:solidFill>
                  <a:srgbClr val="183544"/>
                </a:solidFill>
              </a:rPr>
              <a:t>Which laptop should I buy?</a:t>
            </a:r>
          </a:p>
        </p:txBody>
      </p:sp>
      <p:sp>
        <p:nvSpPr>
          <p:cNvPr id="12" name="Rectangle: Rounded Corners 11">
            <a:extLst>
              <a:ext uri="{FF2B5EF4-FFF2-40B4-BE49-F238E27FC236}">
                <a16:creationId xmlns:a16="http://schemas.microsoft.com/office/drawing/2014/main" id="{443B6EBB-8CB3-41F5-9886-9BE994E9DB84}"/>
              </a:ext>
            </a:extLst>
          </p:cNvPr>
          <p:cNvSpPr>
            <a:spLocks noGrp="1"/>
          </p:cNvSpPr>
          <p:nvPr/>
        </p:nvSpPr>
        <p:spPr>
          <a:xfrm>
            <a:off x="4619625" y="3048000"/>
            <a:ext cx="2952750" cy="1619250"/>
          </a:xfrm>
          <a:prstGeom prst="roundRect">
            <a:avLst>
              <a:gd name="adj" fmla="val 4706"/>
            </a:avLst>
          </a:prstGeom>
          <a:solidFill>
            <a:srgbClr val="FFFFFF"/>
          </a:solidFill>
          <a:ln w="9525">
            <a:solidFill>
              <a:srgbClr val="CED9DB"/>
            </a:solidFill>
            <a:prstDash val="solid"/>
          </a:ln>
        </p:spPr>
        <p:txBody>
          <a:bodyPr/>
          <a:lstStyle/>
          <a:p>
            <a:endParaRPr lang="en-IQ"/>
          </a:p>
        </p:txBody>
      </p:sp>
      <p:sp>
        <p:nvSpPr>
          <p:cNvPr id="13" name="Rectangle 12">
            <a:extLst>
              <a:ext uri="{FF2B5EF4-FFF2-40B4-BE49-F238E27FC236}">
                <a16:creationId xmlns:a16="http://schemas.microsoft.com/office/drawing/2014/main" id="{D7EA4D5E-B6E4-421D-A48D-A4C79F904E36}"/>
              </a:ext>
            </a:extLst>
          </p:cNvPr>
          <p:cNvSpPr>
            <a:spLocks noGrp="1"/>
          </p:cNvSpPr>
          <p:nvPr/>
        </p:nvSpPr>
        <p:spPr>
          <a:xfrm>
            <a:off x="4619625" y="3048000"/>
            <a:ext cx="76200" cy="1619250"/>
          </a:xfrm>
          <a:prstGeom prst="rect">
            <a:avLst/>
          </a:prstGeom>
          <a:solidFill>
            <a:srgbClr val="2878B5"/>
          </a:solidFill>
          <a:ln w="0">
            <a:solidFill>
              <a:srgbClr val="2878B5"/>
            </a:solidFill>
            <a:prstDash val="solid"/>
          </a:ln>
        </p:spPr>
        <p:txBody>
          <a:bodyPr/>
          <a:lstStyle/>
          <a:p>
            <a:endParaRPr lang="en-IQ"/>
          </a:p>
        </p:txBody>
      </p:sp>
      <p:sp>
        <p:nvSpPr>
          <p:cNvPr id="14" name="Rectangle 13">
            <a:extLst>
              <a:ext uri="{FF2B5EF4-FFF2-40B4-BE49-F238E27FC236}">
                <a16:creationId xmlns:a16="http://schemas.microsoft.com/office/drawing/2014/main" id="{98F49B93-761B-4853-8F56-6005DE3783BF}"/>
              </a:ext>
            </a:extLst>
          </p:cNvPr>
          <p:cNvSpPr>
            <a:spLocks noGrp="1"/>
          </p:cNvSpPr>
          <p:nvPr/>
        </p:nvSpPr>
        <p:spPr>
          <a:xfrm>
            <a:off x="4867275" y="3190875"/>
            <a:ext cx="2552700" cy="342900"/>
          </a:xfrm>
          <a:prstGeom prst="rect">
            <a:avLst/>
          </a:prstGeom>
          <a:noFill/>
          <a:ln w="0">
            <a:noFill/>
            <a:prstDash val="solid"/>
          </a:ln>
        </p:spPr>
        <p:txBody>
          <a:bodyPr anchor="ctr"/>
          <a:lstStyle/>
          <a:p>
            <a:pPr algn="l">
              <a:defRPr sz="1650" b="1">
                <a:solidFill>
                  <a:srgbClr val="2878B5"/>
                </a:solidFill>
              </a:defRPr>
            </a:pPr>
            <a:r>
              <a:rPr sz="1650" b="1">
                <a:solidFill>
                  <a:srgbClr val="2878B5"/>
                </a:solidFill>
              </a:rPr>
              <a:t>PREFERENCE</a:t>
            </a:r>
          </a:p>
        </p:txBody>
      </p:sp>
      <p:sp>
        <p:nvSpPr>
          <p:cNvPr id="15" name="Rectangle 14">
            <a:extLst>
              <a:ext uri="{FF2B5EF4-FFF2-40B4-BE49-F238E27FC236}">
                <a16:creationId xmlns:a16="http://schemas.microsoft.com/office/drawing/2014/main" id="{7C589DAF-A8AC-4731-A7FE-5BBB4B902A69}"/>
              </a:ext>
            </a:extLst>
          </p:cNvPr>
          <p:cNvSpPr>
            <a:spLocks noGrp="1"/>
          </p:cNvSpPr>
          <p:nvPr/>
        </p:nvSpPr>
        <p:spPr>
          <a:xfrm>
            <a:off x="4867275" y="3600450"/>
            <a:ext cx="2524125" cy="933450"/>
          </a:xfrm>
          <a:prstGeom prst="rect">
            <a:avLst/>
          </a:prstGeom>
          <a:noFill/>
          <a:ln w="0">
            <a:noFill/>
            <a:prstDash val="solid"/>
          </a:ln>
        </p:spPr>
        <p:txBody>
          <a:bodyPr anchor="ctr"/>
          <a:lstStyle/>
          <a:p>
            <a:pPr algn="l">
              <a:defRPr sz="1350" b="0">
                <a:solidFill>
                  <a:srgbClr val="183544"/>
                </a:solidFill>
              </a:defRPr>
            </a:pPr>
            <a:r>
              <a:rPr sz="1350" b="0">
                <a:solidFill>
                  <a:srgbClr val="183544"/>
                </a:solidFill>
              </a:rPr>
              <a:t>Fast, light and affordable</a:t>
            </a:r>
          </a:p>
        </p:txBody>
      </p:sp>
      <p:sp>
        <p:nvSpPr>
          <p:cNvPr id="16" name="Rectangle: Rounded Corners 15">
            <a:extLst>
              <a:ext uri="{FF2B5EF4-FFF2-40B4-BE49-F238E27FC236}">
                <a16:creationId xmlns:a16="http://schemas.microsoft.com/office/drawing/2014/main" id="{7C90BAB5-142B-4592-B544-199F3D96426B}"/>
              </a:ext>
            </a:extLst>
          </p:cNvPr>
          <p:cNvSpPr>
            <a:spLocks noGrp="1"/>
          </p:cNvSpPr>
          <p:nvPr/>
        </p:nvSpPr>
        <p:spPr>
          <a:xfrm>
            <a:off x="8191500" y="3048000"/>
            <a:ext cx="2952750" cy="1619250"/>
          </a:xfrm>
          <a:prstGeom prst="roundRect">
            <a:avLst>
              <a:gd name="adj" fmla="val 4706"/>
            </a:avLst>
          </a:prstGeom>
          <a:solidFill>
            <a:srgbClr val="FFFFFF"/>
          </a:solidFill>
          <a:ln w="9525">
            <a:solidFill>
              <a:srgbClr val="CED9DB"/>
            </a:solidFill>
            <a:prstDash val="solid"/>
          </a:ln>
        </p:spPr>
        <p:txBody>
          <a:bodyPr/>
          <a:lstStyle/>
          <a:p>
            <a:endParaRPr lang="en-IQ"/>
          </a:p>
        </p:txBody>
      </p:sp>
      <p:sp>
        <p:nvSpPr>
          <p:cNvPr id="17" name="Rectangle 16">
            <a:extLst>
              <a:ext uri="{FF2B5EF4-FFF2-40B4-BE49-F238E27FC236}">
                <a16:creationId xmlns:a16="http://schemas.microsoft.com/office/drawing/2014/main" id="{35522CCB-5A20-4EC0-8AFD-A23F6E8366F0}"/>
              </a:ext>
            </a:extLst>
          </p:cNvPr>
          <p:cNvSpPr>
            <a:spLocks noGrp="1"/>
          </p:cNvSpPr>
          <p:nvPr/>
        </p:nvSpPr>
        <p:spPr>
          <a:xfrm>
            <a:off x="8191500" y="3048000"/>
            <a:ext cx="76200" cy="1619250"/>
          </a:xfrm>
          <a:prstGeom prst="rect">
            <a:avLst/>
          </a:prstGeom>
          <a:solidFill>
            <a:srgbClr val="F2A93B"/>
          </a:solidFill>
          <a:ln w="0">
            <a:solidFill>
              <a:srgbClr val="F2A93B"/>
            </a:solidFill>
            <a:prstDash val="solid"/>
          </a:ln>
        </p:spPr>
        <p:txBody>
          <a:bodyPr/>
          <a:lstStyle/>
          <a:p>
            <a:endParaRPr lang="en-IQ"/>
          </a:p>
        </p:txBody>
      </p:sp>
      <p:sp>
        <p:nvSpPr>
          <p:cNvPr id="18" name="Rectangle 17">
            <a:extLst>
              <a:ext uri="{FF2B5EF4-FFF2-40B4-BE49-F238E27FC236}">
                <a16:creationId xmlns:a16="http://schemas.microsoft.com/office/drawing/2014/main" id="{FAF06ACB-0D0B-45CC-ABC3-7D867D13D680}"/>
              </a:ext>
            </a:extLst>
          </p:cNvPr>
          <p:cNvSpPr>
            <a:spLocks noGrp="1"/>
          </p:cNvSpPr>
          <p:nvPr/>
        </p:nvSpPr>
        <p:spPr>
          <a:xfrm>
            <a:off x="8439150" y="3190875"/>
            <a:ext cx="2552700" cy="342900"/>
          </a:xfrm>
          <a:prstGeom prst="rect">
            <a:avLst/>
          </a:prstGeom>
          <a:noFill/>
          <a:ln w="0">
            <a:noFill/>
            <a:prstDash val="solid"/>
          </a:ln>
        </p:spPr>
        <p:txBody>
          <a:bodyPr anchor="ctr"/>
          <a:lstStyle/>
          <a:p>
            <a:pPr algn="l">
              <a:defRPr sz="1650" b="1">
                <a:solidFill>
                  <a:srgbClr val="F2A93B"/>
                </a:solidFill>
              </a:defRPr>
            </a:pPr>
            <a:r>
              <a:rPr sz="1650" b="1">
                <a:solidFill>
                  <a:srgbClr val="F2A93B"/>
                </a:solidFill>
              </a:rPr>
              <a:t>LIMIT</a:t>
            </a:r>
          </a:p>
        </p:txBody>
      </p:sp>
      <p:sp>
        <p:nvSpPr>
          <p:cNvPr id="19" name="Rectangle 18">
            <a:extLst>
              <a:ext uri="{FF2B5EF4-FFF2-40B4-BE49-F238E27FC236}">
                <a16:creationId xmlns:a16="http://schemas.microsoft.com/office/drawing/2014/main" id="{C2BB3E68-7D8E-4166-A633-73EDA1C2C113}"/>
              </a:ext>
            </a:extLst>
          </p:cNvPr>
          <p:cNvSpPr>
            <a:spLocks noGrp="1"/>
          </p:cNvSpPr>
          <p:nvPr/>
        </p:nvSpPr>
        <p:spPr>
          <a:xfrm>
            <a:off x="8439150" y="3600450"/>
            <a:ext cx="2524125" cy="933450"/>
          </a:xfrm>
          <a:prstGeom prst="rect">
            <a:avLst/>
          </a:prstGeom>
          <a:noFill/>
          <a:ln w="0">
            <a:noFill/>
            <a:prstDash val="solid"/>
          </a:ln>
        </p:spPr>
        <p:txBody>
          <a:bodyPr anchor="ctr"/>
          <a:lstStyle/>
          <a:p>
            <a:pPr algn="l">
              <a:defRPr sz="1350" b="0">
                <a:solidFill>
                  <a:srgbClr val="183544"/>
                </a:solidFill>
              </a:defRPr>
            </a:pPr>
            <a:r>
              <a:rPr sz="1350" b="0">
                <a:solidFill>
                  <a:srgbClr val="183544"/>
                </a:solidFill>
              </a:rPr>
              <a:t>My budget is fixed</a:t>
            </a:r>
          </a:p>
        </p:txBody>
      </p:sp>
    </p:spTree>
    <p:extLst>
      <p:ext uri="{BB962C8B-B14F-4D97-AF65-F5344CB8AC3E}">
        <p14:creationId xmlns:p14="http://schemas.microsoft.com/office/powerpoint/2010/main" val="17754326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B8EC5155-E1EA-4B33-8557-2EF75A9EA4F2}"/>
              </a:ext>
            </a:extLst>
          </p:cNvPr>
          <p:cNvSpPr>
            <a:spLocks noGrp="1"/>
          </p:cNvSpPr>
          <p:nvPr/>
        </p:nvSpPr>
        <p:spPr>
          <a:xfrm>
            <a:off x="609600" y="285750"/>
            <a:ext cx="66675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ORIENTATION</a:t>
            </a:r>
          </a:p>
        </p:txBody>
      </p:sp>
      <p:sp>
        <p:nvSpPr>
          <p:cNvPr id="2" name="Rectangle 1">
            <a:extLst>
              <a:ext uri="{FF2B5EF4-FFF2-40B4-BE49-F238E27FC236}">
                <a16:creationId xmlns:a16="http://schemas.microsoft.com/office/drawing/2014/main" id="{76ED2925-74AC-49C7-A55F-2123BAF79D11}"/>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A simple definition is enough for today</a:t>
            </a:r>
          </a:p>
        </p:txBody>
      </p:sp>
      <p:sp>
        <p:nvSpPr>
          <p:cNvPr id="3" name="Rectangle 2">
            <a:extLst>
              <a:ext uri="{FF2B5EF4-FFF2-40B4-BE49-F238E27FC236}">
                <a16:creationId xmlns:a16="http://schemas.microsoft.com/office/drawing/2014/main" id="{0CE983DE-3452-4239-84F6-687A716063B1}"/>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9FFD64F8-F1E0-484F-984B-952D0E552BB3}"/>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0</a:t>
            </a:r>
          </a:p>
        </p:txBody>
      </p:sp>
      <p:sp>
        <p:nvSpPr>
          <p:cNvPr id="5" name="Rectangle 4">
            <a:extLst>
              <a:ext uri="{FF2B5EF4-FFF2-40B4-BE49-F238E27FC236}">
                <a16:creationId xmlns:a16="http://schemas.microsoft.com/office/drawing/2014/main" id="{ACE4B1D1-6262-4B18-AAC1-172E4EC212AC}"/>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03</a:t>
            </a:r>
          </a:p>
        </p:txBody>
      </p:sp>
      <p:sp>
        <p:nvSpPr>
          <p:cNvPr id="6" name="Rectangle: Rounded Corners 5">
            <a:extLst>
              <a:ext uri="{FF2B5EF4-FFF2-40B4-BE49-F238E27FC236}">
                <a16:creationId xmlns:a16="http://schemas.microsoft.com/office/drawing/2014/main" id="{3F7A0569-E33E-4A2B-855A-86D3D2FAF19E}"/>
              </a:ext>
            </a:extLst>
          </p:cNvPr>
          <p:cNvSpPr>
            <a:spLocks noGrp="1"/>
          </p:cNvSpPr>
          <p:nvPr/>
        </p:nvSpPr>
        <p:spPr>
          <a:xfrm>
            <a:off x="1095375" y="1809750"/>
            <a:ext cx="10001250" cy="1000125"/>
          </a:xfrm>
          <a:prstGeom prst="roundRect">
            <a:avLst>
              <a:gd name="adj" fmla="val 7619"/>
            </a:avLst>
          </a:prstGeom>
          <a:solidFill>
            <a:srgbClr val="092A3D"/>
          </a:solidFill>
          <a:ln w="0">
            <a:solidFill>
              <a:srgbClr val="092A3D"/>
            </a:solidFill>
            <a:prstDash val="solid"/>
          </a:ln>
        </p:spPr>
        <p:txBody>
          <a:bodyPr/>
          <a:lstStyle/>
          <a:p>
            <a:endParaRPr lang="en-IQ"/>
          </a:p>
        </p:txBody>
      </p:sp>
      <p:sp>
        <p:nvSpPr>
          <p:cNvPr id="7" name="Rectangle 6">
            <a:extLst>
              <a:ext uri="{FF2B5EF4-FFF2-40B4-BE49-F238E27FC236}">
                <a16:creationId xmlns:a16="http://schemas.microsoft.com/office/drawing/2014/main" id="{5B58AB69-B650-4EEC-BC0C-CCB2CD457D85}"/>
              </a:ext>
            </a:extLst>
          </p:cNvPr>
          <p:cNvSpPr>
            <a:spLocks noGrp="1"/>
          </p:cNvSpPr>
          <p:nvPr/>
        </p:nvSpPr>
        <p:spPr>
          <a:xfrm>
            <a:off x="1285875" y="1905000"/>
            <a:ext cx="9620250" cy="809625"/>
          </a:xfrm>
          <a:prstGeom prst="rect">
            <a:avLst/>
          </a:prstGeom>
          <a:noFill/>
          <a:ln w="0">
            <a:noFill/>
            <a:prstDash val="solid"/>
          </a:ln>
        </p:spPr>
        <p:txBody>
          <a:bodyPr anchor="ctr"/>
          <a:lstStyle/>
          <a:p>
            <a:pPr algn="ctr">
              <a:defRPr sz="2175" b="1">
                <a:solidFill>
                  <a:srgbClr val="FFFFFF"/>
                </a:solidFill>
              </a:defRPr>
            </a:pPr>
            <a:r>
              <a:rPr sz="2175" b="1" dirty="0">
                <a:solidFill>
                  <a:srgbClr val="FFFFFF"/>
                </a:solidFill>
              </a:rPr>
              <a:t>Optimization means finding the </a:t>
            </a:r>
            <a:r>
              <a:rPr sz="2175" b="1" dirty="0">
                <a:solidFill>
                  <a:srgbClr val="FF0000"/>
                </a:solidFill>
              </a:rPr>
              <a:t>best</a:t>
            </a:r>
            <a:r>
              <a:rPr sz="2175" b="1" dirty="0">
                <a:solidFill>
                  <a:srgbClr val="FFFFFF"/>
                </a:solidFill>
              </a:rPr>
              <a:t> </a:t>
            </a:r>
            <a:r>
              <a:rPr sz="2175" b="1" dirty="0">
                <a:solidFill>
                  <a:srgbClr val="FF0000"/>
                </a:solidFill>
              </a:rPr>
              <a:t>acceptable</a:t>
            </a:r>
            <a:r>
              <a:rPr sz="2175" b="1" dirty="0">
                <a:solidFill>
                  <a:srgbClr val="FFFFFF"/>
                </a:solidFill>
              </a:rPr>
              <a:t> choice for a particular </a:t>
            </a:r>
            <a:r>
              <a:rPr sz="2175" b="1" dirty="0">
                <a:solidFill>
                  <a:srgbClr val="FF0000"/>
                </a:solidFill>
              </a:rPr>
              <a:t>purpose</a:t>
            </a:r>
            <a:r>
              <a:rPr sz="2175" b="1" dirty="0">
                <a:solidFill>
                  <a:srgbClr val="FFFFFF"/>
                </a:solidFill>
              </a:rPr>
              <a:t>.</a:t>
            </a:r>
          </a:p>
        </p:txBody>
      </p:sp>
      <p:sp>
        <p:nvSpPr>
          <p:cNvPr id="8" name="Rectangle 7">
            <a:extLst>
              <a:ext uri="{FF2B5EF4-FFF2-40B4-BE49-F238E27FC236}">
                <a16:creationId xmlns:a16="http://schemas.microsoft.com/office/drawing/2014/main" id="{46D1B1B0-53BE-4FAD-B2E4-7301C4D859B7}"/>
              </a:ext>
            </a:extLst>
          </p:cNvPr>
          <p:cNvSpPr>
            <a:spLocks noGrp="1"/>
          </p:cNvSpPr>
          <p:nvPr/>
        </p:nvSpPr>
        <p:spPr>
          <a:xfrm>
            <a:off x="1571625" y="3571875"/>
            <a:ext cx="2095500" cy="523875"/>
          </a:xfrm>
          <a:prstGeom prst="rect">
            <a:avLst/>
          </a:prstGeom>
          <a:noFill/>
          <a:ln w="0">
            <a:noFill/>
            <a:prstDash val="solid"/>
          </a:ln>
        </p:spPr>
        <p:txBody>
          <a:bodyPr anchor="ctr"/>
          <a:lstStyle/>
          <a:p>
            <a:pPr algn="ctr">
              <a:defRPr sz="2550" b="1">
                <a:solidFill>
                  <a:srgbClr val="0B9B91"/>
                </a:solidFill>
              </a:defRPr>
            </a:pPr>
            <a:r>
              <a:rPr sz="2550" b="1">
                <a:solidFill>
                  <a:srgbClr val="0B9B91"/>
                </a:solidFill>
              </a:rPr>
              <a:t>best</a:t>
            </a:r>
          </a:p>
        </p:txBody>
      </p:sp>
      <p:sp>
        <p:nvSpPr>
          <p:cNvPr id="9" name="Rectangle 8">
            <a:extLst>
              <a:ext uri="{FF2B5EF4-FFF2-40B4-BE49-F238E27FC236}">
                <a16:creationId xmlns:a16="http://schemas.microsoft.com/office/drawing/2014/main" id="{361CBE44-EFEF-4CFC-A32E-F154FF69645C}"/>
              </a:ext>
            </a:extLst>
          </p:cNvPr>
          <p:cNvSpPr>
            <a:spLocks noGrp="1"/>
          </p:cNvSpPr>
          <p:nvPr/>
        </p:nvSpPr>
        <p:spPr>
          <a:xfrm>
            <a:off x="5048250" y="3571875"/>
            <a:ext cx="2095500" cy="523875"/>
          </a:xfrm>
          <a:prstGeom prst="rect">
            <a:avLst/>
          </a:prstGeom>
          <a:noFill/>
          <a:ln w="0">
            <a:noFill/>
            <a:prstDash val="solid"/>
          </a:ln>
        </p:spPr>
        <p:txBody>
          <a:bodyPr anchor="ctr"/>
          <a:lstStyle/>
          <a:p>
            <a:pPr algn="ctr">
              <a:defRPr sz="2550" b="1">
                <a:solidFill>
                  <a:srgbClr val="F2A93B"/>
                </a:solidFill>
              </a:defRPr>
            </a:pPr>
            <a:r>
              <a:rPr sz="2550" b="1">
                <a:solidFill>
                  <a:srgbClr val="F2A93B"/>
                </a:solidFill>
              </a:rPr>
              <a:t>acceptable</a:t>
            </a:r>
          </a:p>
        </p:txBody>
      </p:sp>
      <p:sp>
        <p:nvSpPr>
          <p:cNvPr id="10" name="Rectangle 9">
            <a:extLst>
              <a:ext uri="{FF2B5EF4-FFF2-40B4-BE49-F238E27FC236}">
                <a16:creationId xmlns:a16="http://schemas.microsoft.com/office/drawing/2014/main" id="{6A408557-4910-4DA5-A4E5-3A401533EB97}"/>
              </a:ext>
            </a:extLst>
          </p:cNvPr>
          <p:cNvSpPr>
            <a:spLocks noGrp="1"/>
          </p:cNvSpPr>
          <p:nvPr/>
        </p:nvSpPr>
        <p:spPr>
          <a:xfrm>
            <a:off x="8524875" y="3571875"/>
            <a:ext cx="2095500" cy="523875"/>
          </a:xfrm>
          <a:prstGeom prst="rect">
            <a:avLst/>
          </a:prstGeom>
          <a:noFill/>
          <a:ln w="0">
            <a:noFill/>
            <a:prstDash val="solid"/>
          </a:ln>
        </p:spPr>
        <p:txBody>
          <a:bodyPr anchor="ctr"/>
          <a:lstStyle/>
          <a:p>
            <a:pPr algn="ctr">
              <a:defRPr sz="2550" b="1">
                <a:solidFill>
                  <a:srgbClr val="2878B5"/>
                </a:solidFill>
              </a:defRPr>
            </a:pPr>
            <a:r>
              <a:rPr sz="2550" b="1">
                <a:solidFill>
                  <a:srgbClr val="2878B5"/>
                </a:solidFill>
              </a:rPr>
              <a:t>purpose</a:t>
            </a:r>
          </a:p>
        </p:txBody>
      </p:sp>
      <p:sp>
        <p:nvSpPr>
          <p:cNvPr id="11" name="Rectangle 10">
            <a:extLst>
              <a:ext uri="{FF2B5EF4-FFF2-40B4-BE49-F238E27FC236}">
                <a16:creationId xmlns:a16="http://schemas.microsoft.com/office/drawing/2014/main" id="{C5BDA62B-F31B-4A6F-A3E2-7E4C9305593C}"/>
              </a:ext>
            </a:extLst>
          </p:cNvPr>
          <p:cNvSpPr>
            <a:spLocks noGrp="1"/>
          </p:cNvSpPr>
          <p:nvPr/>
        </p:nvSpPr>
        <p:spPr>
          <a:xfrm>
            <a:off x="1571625" y="4238625"/>
            <a:ext cx="2095500" cy="333375"/>
          </a:xfrm>
          <a:prstGeom prst="rect">
            <a:avLst/>
          </a:prstGeom>
          <a:noFill/>
          <a:ln w="0">
            <a:noFill/>
            <a:prstDash val="solid"/>
          </a:ln>
        </p:spPr>
        <p:txBody>
          <a:bodyPr anchor="ctr"/>
          <a:lstStyle/>
          <a:p>
            <a:pPr algn="ctr">
              <a:defRPr sz="1425" b="1">
                <a:solidFill>
                  <a:srgbClr val="58707C"/>
                </a:solidFill>
              </a:defRPr>
            </a:pPr>
            <a:r>
              <a:rPr sz="1425" b="1">
                <a:solidFill>
                  <a:srgbClr val="58707C"/>
                </a:solidFill>
              </a:rPr>
              <a:t>measured quality</a:t>
            </a:r>
          </a:p>
        </p:txBody>
      </p:sp>
      <p:sp>
        <p:nvSpPr>
          <p:cNvPr id="12" name="Rectangle 11">
            <a:extLst>
              <a:ext uri="{FF2B5EF4-FFF2-40B4-BE49-F238E27FC236}">
                <a16:creationId xmlns:a16="http://schemas.microsoft.com/office/drawing/2014/main" id="{76EB73AB-05BC-4F29-BD14-2A074EF5BCDD}"/>
              </a:ext>
            </a:extLst>
          </p:cNvPr>
          <p:cNvSpPr>
            <a:spLocks noGrp="1"/>
          </p:cNvSpPr>
          <p:nvPr/>
        </p:nvSpPr>
        <p:spPr>
          <a:xfrm>
            <a:off x="5048250" y="4238625"/>
            <a:ext cx="2095500" cy="333375"/>
          </a:xfrm>
          <a:prstGeom prst="rect">
            <a:avLst/>
          </a:prstGeom>
          <a:noFill/>
          <a:ln w="0">
            <a:noFill/>
            <a:prstDash val="solid"/>
          </a:ln>
        </p:spPr>
        <p:txBody>
          <a:bodyPr anchor="ctr"/>
          <a:lstStyle/>
          <a:p>
            <a:pPr algn="ctr">
              <a:defRPr sz="1425" b="1">
                <a:solidFill>
                  <a:srgbClr val="58707C"/>
                </a:solidFill>
              </a:defRPr>
            </a:pPr>
            <a:r>
              <a:rPr sz="1425" b="1">
                <a:solidFill>
                  <a:srgbClr val="58707C"/>
                </a:solidFill>
              </a:rPr>
              <a:t>obeys the rules</a:t>
            </a:r>
          </a:p>
        </p:txBody>
      </p:sp>
      <p:sp>
        <p:nvSpPr>
          <p:cNvPr id="13" name="Rectangle 12">
            <a:extLst>
              <a:ext uri="{FF2B5EF4-FFF2-40B4-BE49-F238E27FC236}">
                <a16:creationId xmlns:a16="http://schemas.microsoft.com/office/drawing/2014/main" id="{FD76B5EF-C22A-446C-A97A-D1EF63D7DA4A}"/>
              </a:ext>
            </a:extLst>
          </p:cNvPr>
          <p:cNvSpPr>
            <a:spLocks noGrp="1"/>
          </p:cNvSpPr>
          <p:nvPr/>
        </p:nvSpPr>
        <p:spPr>
          <a:xfrm>
            <a:off x="8524875" y="4238625"/>
            <a:ext cx="2095500" cy="333375"/>
          </a:xfrm>
          <a:prstGeom prst="rect">
            <a:avLst/>
          </a:prstGeom>
          <a:noFill/>
          <a:ln w="0">
            <a:noFill/>
            <a:prstDash val="solid"/>
          </a:ln>
        </p:spPr>
        <p:txBody>
          <a:bodyPr anchor="ctr"/>
          <a:lstStyle/>
          <a:p>
            <a:pPr algn="ctr">
              <a:defRPr sz="1425" b="1">
                <a:solidFill>
                  <a:srgbClr val="58707C"/>
                </a:solidFill>
              </a:defRPr>
            </a:pPr>
            <a:r>
              <a:rPr sz="1425" b="1">
                <a:solidFill>
                  <a:srgbClr val="58707C"/>
                </a:solidFill>
              </a:rPr>
              <a:t>answers a need</a:t>
            </a:r>
          </a:p>
        </p:txBody>
      </p:sp>
    </p:spTree>
    <p:extLst>
      <p:ext uri="{BB962C8B-B14F-4D97-AF65-F5344CB8AC3E}">
        <p14:creationId xmlns:p14="http://schemas.microsoft.com/office/powerpoint/2010/main" val="13456397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A016236E-58D3-4527-BB1B-8926D1AED797}"/>
              </a:ext>
            </a:extLst>
          </p:cNvPr>
          <p:cNvSpPr>
            <a:spLocks noGrp="1"/>
          </p:cNvSpPr>
          <p:nvPr/>
        </p:nvSpPr>
        <p:spPr>
          <a:xfrm>
            <a:off x="609600" y="285750"/>
            <a:ext cx="66675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CORE LANGUAGE</a:t>
            </a:r>
          </a:p>
        </p:txBody>
      </p:sp>
      <p:sp>
        <p:nvSpPr>
          <p:cNvPr id="2" name="Rectangle 1">
            <a:extLst>
              <a:ext uri="{FF2B5EF4-FFF2-40B4-BE49-F238E27FC236}">
                <a16:creationId xmlns:a16="http://schemas.microsoft.com/office/drawing/2014/main" id="{5CBEB2B8-4E85-4A7D-A264-07023DCA6D68}"/>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Four questions organize every optimization problem</a:t>
            </a:r>
          </a:p>
        </p:txBody>
      </p:sp>
      <p:sp>
        <p:nvSpPr>
          <p:cNvPr id="3" name="Rectangle 2">
            <a:extLst>
              <a:ext uri="{FF2B5EF4-FFF2-40B4-BE49-F238E27FC236}">
                <a16:creationId xmlns:a16="http://schemas.microsoft.com/office/drawing/2014/main" id="{1EE6F208-D933-43E5-97CB-327C3BFA8D39}"/>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F7674695-12D4-49E5-9A98-099B2C4836BB}"/>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0</a:t>
            </a:r>
          </a:p>
        </p:txBody>
      </p:sp>
      <p:sp>
        <p:nvSpPr>
          <p:cNvPr id="5" name="Rectangle 4">
            <a:extLst>
              <a:ext uri="{FF2B5EF4-FFF2-40B4-BE49-F238E27FC236}">
                <a16:creationId xmlns:a16="http://schemas.microsoft.com/office/drawing/2014/main" id="{7A07B622-9D0C-4302-8C80-2D3BF9D92F3E}"/>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04</a:t>
            </a:r>
          </a:p>
        </p:txBody>
      </p:sp>
      <p:sp>
        <p:nvSpPr>
          <p:cNvPr id="6" name="Straight Connector 5">
            <a:extLst>
              <a:ext uri="{FF2B5EF4-FFF2-40B4-BE49-F238E27FC236}">
                <a16:creationId xmlns:a16="http://schemas.microsoft.com/office/drawing/2014/main" id="{EBDBB4C5-C045-461A-A578-ABB378AAA938}"/>
              </a:ext>
            </a:extLst>
          </p:cNvPr>
          <p:cNvSpPr>
            <a:spLocks noGrp="1"/>
          </p:cNvSpPr>
          <p:nvPr/>
        </p:nvSpPr>
        <p:spPr>
          <a:xfrm>
            <a:off x="3167063" y="2667000"/>
            <a:ext cx="190500" cy="0"/>
          </a:xfrm>
          <a:prstGeom prst="line">
            <a:avLst/>
          </a:prstGeom>
          <a:noFill/>
          <a:ln w="28575">
            <a:solidFill>
              <a:srgbClr val="0B9B91"/>
            </a:solidFill>
            <a:prstDash val="solid"/>
          </a:ln>
        </p:spPr>
        <p:txBody>
          <a:bodyPr/>
          <a:lstStyle/>
          <a:p>
            <a:endParaRPr lang="en-IQ"/>
          </a:p>
        </p:txBody>
      </p:sp>
      <p:sp>
        <p:nvSpPr>
          <p:cNvPr id="7" name="Rectangle: Rounded Corners 6">
            <a:extLst>
              <a:ext uri="{FF2B5EF4-FFF2-40B4-BE49-F238E27FC236}">
                <a16:creationId xmlns:a16="http://schemas.microsoft.com/office/drawing/2014/main" id="{F520568A-0316-4235-A662-90CC1536AD37}"/>
              </a:ext>
            </a:extLst>
          </p:cNvPr>
          <p:cNvSpPr>
            <a:spLocks noGrp="1"/>
          </p:cNvSpPr>
          <p:nvPr/>
        </p:nvSpPr>
        <p:spPr>
          <a:xfrm>
            <a:off x="523875" y="2047875"/>
            <a:ext cx="2643188" cy="1238250"/>
          </a:xfrm>
          <a:prstGeom prst="roundRect">
            <a:avLst>
              <a:gd name="adj" fmla="val 6154"/>
            </a:avLst>
          </a:prstGeom>
          <a:solidFill>
            <a:srgbClr val="FFFFFF"/>
          </a:solidFill>
          <a:ln w="9525">
            <a:solidFill>
              <a:srgbClr val="CED9DB"/>
            </a:solidFill>
            <a:prstDash val="solid"/>
          </a:ln>
        </p:spPr>
        <p:txBody>
          <a:bodyPr/>
          <a:lstStyle/>
          <a:p>
            <a:endParaRPr lang="en-IQ"/>
          </a:p>
        </p:txBody>
      </p:sp>
      <p:sp>
        <p:nvSpPr>
          <p:cNvPr id="8" name="Rectangle 7">
            <a:extLst>
              <a:ext uri="{FF2B5EF4-FFF2-40B4-BE49-F238E27FC236}">
                <a16:creationId xmlns:a16="http://schemas.microsoft.com/office/drawing/2014/main" id="{AB14FE30-1122-49BC-9385-1E533BF15007}"/>
              </a:ext>
            </a:extLst>
          </p:cNvPr>
          <p:cNvSpPr>
            <a:spLocks noGrp="1"/>
          </p:cNvSpPr>
          <p:nvPr/>
        </p:nvSpPr>
        <p:spPr>
          <a:xfrm>
            <a:off x="638175" y="2143125"/>
            <a:ext cx="323850" cy="266700"/>
          </a:xfrm>
          <a:prstGeom prst="rect">
            <a:avLst/>
          </a:prstGeom>
          <a:noFill/>
          <a:ln w="0">
            <a:noFill/>
            <a:prstDash val="solid"/>
          </a:ln>
        </p:spPr>
        <p:txBody>
          <a:bodyPr anchor="ctr"/>
          <a:lstStyle/>
          <a:p>
            <a:pPr algn="ctr">
              <a:defRPr sz="1275" b="1">
                <a:solidFill>
                  <a:srgbClr val="0B9B91"/>
                </a:solidFill>
              </a:defRPr>
            </a:pPr>
            <a:r>
              <a:rPr sz="1275" b="1">
                <a:solidFill>
                  <a:srgbClr val="0B9B91"/>
                </a:solidFill>
              </a:rPr>
              <a:t>1</a:t>
            </a:r>
          </a:p>
        </p:txBody>
      </p:sp>
      <p:sp>
        <p:nvSpPr>
          <p:cNvPr id="9" name="Rectangle 8">
            <a:extLst>
              <a:ext uri="{FF2B5EF4-FFF2-40B4-BE49-F238E27FC236}">
                <a16:creationId xmlns:a16="http://schemas.microsoft.com/office/drawing/2014/main" id="{33E58C94-12A5-4155-A026-77EFB721E949}"/>
              </a:ext>
            </a:extLst>
          </p:cNvPr>
          <p:cNvSpPr>
            <a:spLocks noGrp="1"/>
          </p:cNvSpPr>
          <p:nvPr/>
        </p:nvSpPr>
        <p:spPr>
          <a:xfrm>
            <a:off x="676275" y="2476500"/>
            <a:ext cx="2338388" cy="628650"/>
          </a:xfrm>
          <a:prstGeom prst="rect">
            <a:avLst/>
          </a:prstGeom>
          <a:noFill/>
          <a:ln w="0">
            <a:noFill/>
            <a:prstDash val="solid"/>
          </a:ln>
        </p:spPr>
        <p:txBody>
          <a:bodyPr anchor="ctr"/>
          <a:lstStyle/>
          <a:p>
            <a:pPr algn="ctr">
              <a:defRPr sz="1275" b="1">
                <a:solidFill>
                  <a:srgbClr val="183544"/>
                </a:solidFill>
              </a:defRPr>
            </a:pPr>
            <a:r>
              <a:rPr sz="1275" b="1">
                <a:solidFill>
                  <a:srgbClr val="183544"/>
                </a:solidFill>
              </a:rPr>
              <a:t>What can change?</a:t>
            </a:r>
          </a:p>
        </p:txBody>
      </p:sp>
      <p:sp>
        <p:nvSpPr>
          <p:cNvPr id="10" name="Straight Connector 9">
            <a:extLst>
              <a:ext uri="{FF2B5EF4-FFF2-40B4-BE49-F238E27FC236}">
                <a16:creationId xmlns:a16="http://schemas.microsoft.com/office/drawing/2014/main" id="{780ABB24-4DB2-4ABE-99D5-5F8A5989BD79}"/>
              </a:ext>
            </a:extLst>
          </p:cNvPr>
          <p:cNvSpPr>
            <a:spLocks noGrp="1"/>
          </p:cNvSpPr>
          <p:nvPr/>
        </p:nvSpPr>
        <p:spPr>
          <a:xfrm>
            <a:off x="6000750" y="2667000"/>
            <a:ext cx="190500" cy="0"/>
          </a:xfrm>
          <a:prstGeom prst="line">
            <a:avLst/>
          </a:prstGeom>
          <a:noFill/>
          <a:ln w="28575">
            <a:solidFill>
              <a:srgbClr val="0B9B91"/>
            </a:solidFill>
            <a:prstDash val="solid"/>
          </a:ln>
        </p:spPr>
        <p:txBody>
          <a:bodyPr/>
          <a:lstStyle/>
          <a:p>
            <a:endParaRPr lang="en-IQ"/>
          </a:p>
        </p:txBody>
      </p:sp>
      <p:sp>
        <p:nvSpPr>
          <p:cNvPr id="11" name="Rectangle: Rounded Corners 10">
            <a:extLst>
              <a:ext uri="{FF2B5EF4-FFF2-40B4-BE49-F238E27FC236}">
                <a16:creationId xmlns:a16="http://schemas.microsoft.com/office/drawing/2014/main" id="{EE6BA293-36D9-4534-98BC-42FFF0A16CC9}"/>
              </a:ext>
            </a:extLst>
          </p:cNvPr>
          <p:cNvSpPr>
            <a:spLocks noGrp="1"/>
          </p:cNvSpPr>
          <p:nvPr/>
        </p:nvSpPr>
        <p:spPr>
          <a:xfrm>
            <a:off x="3357563" y="2047875"/>
            <a:ext cx="2643188" cy="1238250"/>
          </a:xfrm>
          <a:prstGeom prst="roundRect">
            <a:avLst>
              <a:gd name="adj" fmla="val 6154"/>
            </a:avLst>
          </a:prstGeom>
          <a:solidFill>
            <a:srgbClr val="FFFFFF"/>
          </a:solidFill>
          <a:ln w="9525">
            <a:solidFill>
              <a:srgbClr val="CED9DB"/>
            </a:solidFill>
            <a:prstDash val="solid"/>
          </a:ln>
        </p:spPr>
        <p:txBody>
          <a:bodyPr/>
          <a:lstStyle/>
          <a:p>
            <a:endParaRPr lang="en-IQ"/>
          </a:p>
        </p:txBody>
      </p:sp>
      <p:sp>
        <p:nvSpPr>
          <p:cNvPr id="12" name="Rectangle 11">
            <a:extLst>
              <a:ext uri="{FF2B5EF4-FFF2-40B4-BE49-F238E27FC236}">
                <a16:creationId xmlns:a16="http://schemas.microsoft.com/office/drawing/2014/main" id="{25AD1A78-26D4-4457-A040-2250B4E7FD9F}"/>
              </a:ext>
            </a:extLst>
          </p:cNvPr>
          <p:cNvSpPr>
            <a:spLocks noGrp="1"/>
          </p:cNvSpPr>
          <p:nvPr/>
        </p:nvSpPr>
        <p:spPr>
          <a:xfrm>
            <a:off x="3471863" y="2143125"/>
            <a:ext cx="323850" cy="266700"/>
          </a:xfrm>
          <a:prstGeom prst="rect">
            <a:avLst/>
          </a:prstGeom>
          <a:noFill/>
          <a:ln w="0">
            <a:noFill/>
            <a:prstDash val="solid"/>
          </a:ln>
        </p:spPr>
        <p:txBody>
          <a:bodyPr anchor="ctr"/>
          <a:lstStyle/>
          <a:p>
            <a:pPr algn="ctr">
              <a:defRPr sz="1275" b="1">
                <a:solidFill>
                  <a:srgbClr val="0B9B91"/>
                </a:solidFill>
              </a:defRPr>
            </a:pPr>
            <a:r>
              <a:rPr sz="1275" b="1">
                <a:solidFill>
                  <a:srgbClr val="0B9B91"/>
                </a:solidFill>
              </a:rPr>
              <a:t>2</a:t>
            </a:r>
          </a:p>
        </p:txBody>
      </p:sp>
      <p:sp>
        <p:nvSpPr>
          <p:cNvPr id="13" name="Rectangle 12">
            <a:extLst>
              <a:ext uri="{FF2B5EF4-FFF2-40B4-BE49-F238E27FC236}">
                <a16:creationId xmlns:a16="http://schemas.microsoft.com/office/drawing/2014/main" id="{D9602E12-9B35-41F6-B890-E5C91C5EFE59}"/>
              </a:ext>
            </a:extLst>
          </p:cNvPr>
          <p:cNvSpPr>
            <a:spLocks noGrp="1"/>
          </p:cNvSpPr>
          <p:nvPr/>
        </p:nvSpPr>
        <p:spPr>
          <a:xfrm>
            <a:off x="3509963" y="2476500"/>
            <a:ext cx="2338388" cy="628650"/>
          </a:xfrm>
          <a:prstGeom prst="rect">
            <a:avLst/>
          </a:prstGeom>
          <a:noFill/>
          <a:ln w="0">
            <a:noFill/>
            <a:prstDash val="solid"/>
          </a:ln>
        </p:spPr>
        <p:txBody>
          <a:bodyPr anchor="ctr"/>
          <a:lstStyle/>
          <a:p>
            <a:pPr algn="ctr">
              <a:defRPr sz="1275" b="1">
                <a:solidFill>
                  <a:srgbClr val="183544"/>
                </a:solidFill>
              </a:defRPr>
            </a:pPr>
            <a:r>
              <a:rPr sz="1275" b="1">
                <a:solidFill>
                  <a:srgbClr val="183544"/>
                </a:solidFill>
              </a:rPr>
              <a:t>What means better?</a:t>
            </a:r>
          </a:p>
        </p:txBody>
      </p:sp>
      <p:sp>
        <p:nvSpPr>
          <p:cNvPr id="14" name="Straight Connector 13">
            <a:extLst>
              <a:ext uri="{FF2B5EF4-FFF2-40B4-BE49-F238E27FC236}">
                <a16:creationId xmlns:a16="http://schemas.microsoft.com/office/drawing/2014/main" id="{E02F913E-68A4-4B1E-B46A-F93A0B70E1A0}"/>
              </a:ext>
            </a:extLst>
          </p:cNvPr>
          <p:cNvSpPr>
            <a:spLocks noGrp="1"/>
          </p:cNvSpPr>
          <p:nvPr/>
        </p:nvSpPr>
        <p:spPr>
          <a:xfrm>
            <a:off x="8834438" y="2667000"/>
            <a:ext cx="190500" cy="0"/>
          </a:xfrm>
          <a:prstGeom prst="line">
            <a:avLst/>
          </a:prstGeom>
          <a:noFill/>
          <a:ln w="28575">
            <a:solidFill>
              <a:srgbClr val="0B9B91"/>
            </a:solidFill>
            <a:prstDash val="solid"/>
          </a:ln>
        </p:spPr>
        <p:txBody>
          <a:bodyPr/>
          <a:lstStyle/>
          <a:p>
            <a:endParaRPr lang="en-IQ"/>
          </a:p>
        </p:txBody>
      </p:sp>
      <p:sp>
        <p:nvSpPr>
          <p:cNvPr id="15" name="Rectangle: Rounded Corners 14">
            <a:extLst>
              <a:ext uri="{FF2B5EF4-FFF2-40B4-BE49-F238E27FC236}">
                <a16:creationId xmlns:a16="http://schemas.microsoft.com/office/drawing/2014/main" id="{8B1055C7-F7F2-4973-BBCD-77A826048508}"/>
              </a:ext>
            </a:extLst>
          </p:cNvPr>
          <p:cNvSpPr>
            <a:spLocks noGrp="1"/>
          </p:cNvSpPr>
          <p:nvPr/>
        </p:nvSpPr>
        <p:spPr>
          <a:xfrm>
            <a:off x="6191250" y="2047875"/>
            <a:ext cx="2643188" cy="1238250"/>
          </a:xfrm>
          <a:prstGeom prst="roundRect">
            <a:avLst>
              <a:gd name="adj" fmla="val 6154"/>
            </a:avLst>
          </a:prstGeom>
          <a:solidFill>
            <a:srgbClr val="FFFFFF"/>
          </a:solidFill>
          <a:ln w="9525">
            <a:solidFill>
              <a:srgbClr val="CED9DB"/>
            </a:solidFill>
            <a:prstDash val="solid"/>
          </a:ln>
        </p:spPr>
        <p:txBody>
          <a:bodyPr/>
          <a:lstStyle/>
          <a:p>
            <a:endParaRPr lang="en-IQ"/>
          </a:p>
        </p:txBody>
      </p:sp>
      <p:sp>
        <p:nvSpPr>
          <p:cNvPr id="16" name="Rectangle 15">
            <a:extLst>
              <a:ext uri="{FF2B5EF4-FFF2-40B4-BE49-F238E27FC236}">
                <a16:creationId xmlns:a16="http://schemas.microsoft.com/office/drawing/2014/main" id="{ED0EACB8-B64E-42D7-BAE7-562E05428583}"/>
              </a:ext>
            </a:extLst>
          </p:cNvPr>
          <p:cNvSpPr>
            <a:spLocks noGrp="1"/>
          </p:cNvSpPr>
          <p:nvPr/>
        </p:nvSpPr>
        <p:spPr>
          <a:xfrm>
            <a:off x="6305550" y="2143125"/>
            <a:ext cx="323850" cy="266700"/>
          </a:xfrm>
          <a:prstGeom prst="rect">
            <a:avLst/>
          </a:prstGeom>
          <a:noFill/>
          <a:ln w="0">
            <a:noFill/>
            <a:prstDash val="solid"/>
          </a:ln>
        </p:spPr>
        <p:txBody>
          <a:bodyPr anchor="ctr"/>
          <a:lstStyle/>
          <a:p>
            <a:pPr algn="ctr">
              <a:defRPr sz="1275" b="1">
                <a:solidFill>
                  <a:srgbClr val="0B9B91"/>
                </a:solidFill>
              </a:defRPr>
            </a:pPr>
            <a:r>
              <a:rPr sz="1275" b="1">
                <a:solidFill>
                  <a:srgbClr val="0B9B91"/>
                </a:solidFill>
              </a:rPr>
              <a:t>3</a:t>
            </a:r>
          </a:p>
        </p:txBody>
      </p:sp>
      <p:sp>
        <p:nvSpPr>
          <p:cNvPr id="17" name="Rectangle 16">
            <a:extLst>
              <a:ext uri="{FF2B5EF4-FFF2-40B4-BE49-F238E27FC236}">
                <a16:creationId xmlns:a16="http://schemas.microsoft.com/office/drawing/2014/main" id="{1CC56CE2-FA9B-4378-8D43-892EB2343E2D}"/>
              </a:ext>
            </a:extLst>
          </p:cNvPr>
          <p:cNvSpPr>
            <a:spLocks noGrp="1"/>
          </p:cNvSpPr>
          <p:nvPr/>
        </p:nvSpPr>
        <p:spPr>
          <a:xfrm>
            <a:off x="6343650" y="2476500"/>
            <a:ext cx="2338388" cy="628650"/>
          </a:xfrm>
          <a:prstGeom prst="rect">
            <a:avLst/>
          </a:prstGeom>
          <a:noFill/>
          <a:ln w="0">
            <a:noFill/>
            <a:prstDash val="solid"/>
          </a:ln>
        </p:spPr>
        <p:txBody>
          <a:bodyPr anchor="ctr"/>
          <a:lstStyle/>
          <a:p>
            <a:pPr algn="ctr">
              <a:defRPr sz="1275" b="1">
                <a:solidFill>
                  <a:srgbClr val="183544"/>
                </a:solidFill>
              </a:defRPr>
            </a:pPr>
            <a:r>
              <a:rPr sz="1275" b="1">
                <a:solidFill>
                  <a:srgbClr val="183544"/>
                </a:solidFill>
              </a:rPr>
              <a:t>What must be true?</a:t>
            </a:r>
          </a:p>
        </p:txBody>
      </p:sp>
      <p:sp>
        <p:nvSpPr>
          <p:cNvPr id="18" name="Rectangle: Rounded Corners 17">
            <a:extLst>
              <a:ext uri="{FF2B5EF4-FFF2-40B4-BE49-F238E27FC236}">
                <a16:creationId xmlns:a16="http://schemas.microsoft.com/office/drawing/2014/main" id="{8D7D3E65-7CFF-4718-BDA2-2A57AD79F75A}"/>
              </a:ext>
            </a:extLst>
          </p:cNvPr>
          <p:cNvSpPr>
            <a:spLocks noGrp="1"/>
          </p:cNvSpPr>
          <p:nvPr/>
        </p:nvSpPr>
        <p:spPr>
          <a:xfrm>
            <a:off x="9024938" y="2047875"/>
            <a:ext cx="2643188" cy="1238250"/>
          </a:xfrm>
          <a:prstGeom prst="roundRect">
            <a:avLst>
              <a:gd name="adj" fmla="val 6154"/>
            </a:avLst>
          </a:prstGeom>
          <a:solidFill>
            <a:srgbClr val="092A3D"/>
          </a:solidFill>
          <a:ln w="9525">
            <a:solidFill>
              <a:srgbClr val="092A3D"/>
            </a:solidFill>
            <a:prstDash val="solid"/>
          </a:ln>
        </p:spPr>
        <p:txBody>
          <a:bodyPr/>
          <a:lstStyle/>
          <a:p>
            <a:endParaRPr lang="en-IQ"/>
          </a:p>
        </p:txBody>
      </p:sp>
      <p:sp>
        <p:nvSpPr>
          <p:cNvPr id="19" name="Rectangle 18">
            <a:extLst>
              <a:ext uri="{FF2B5EF4-FFF2-40B4-BE49-F238E27FC236}">
                <a16:creationId xmlns:a16="http://schemas.microsoft.com/office/drawing/2014/main" id="{10CB9147-5472-423D-9274-1FE695C81A36}"/>
              </a:ext>
            </a:extLst>
          </p:cNvPr>
          <p:cNvSpPr>
            <a:spLocks noGrp="1"/>
          </p:cNvSpPr>
          <p:nvPr/>
        </p:nvSpPr>
        <p:spPr>
          <a:xfrm>
            <a:off x="9139238" y="2143125"/>
            <a:ext cx="323850" cy="266700"/>
          </a:xfrm>
          <a:prstGeom prst="rect">
            <a:avLst/>
          </a:prstGeom>
          <a:noFill/>
          <a:ln w="0">
            <a:noFill/>
            <a:prstDash val="solid"/>
          </a:ln>
        </p:spPr>
        <p:txBody>
          <a:bodyPr anchor="ctr"/>
          <a:lstStyle/>
          <a:p>
            <a:pPr algn="ctr">
              <a:defRPr sz="1275" b="1">
                <a:solidFill>
                  <a:srgbClr val="F2A93B"/>
                </a:solidFill>
              </a:defRPr>
            </a:pPr>
            <a:r>
              <a:rPr sz="1275" b="1">
                <a:solidFill>
                  <a:srgbClr val="F2A93B"/>
                </a:solidFill>
              </a:rPr>
              <a:t>4</a:t>
            </a:r>
          </a:p>
        </p:txBody>
      </p:sp>
      <p:sp>
        <p:nvSpPr>
          <p:cNvPr id="20" name="Rectangle 19">
            <a:extLst>
              <a:ext uri="{FF2B5EF4-FFF2-40B4-BE49-F238E27FC236}">
                <a16:creationId xmlns:a16="http://schemas.microsoft.com/office/drawing/2014/main" id="{95A70BAA-CE62-4D53-8AEF-911F389CD297}"/>
              </a:ext>
            </a:extLst>
          </p:cNvPr>
          <p:cNvSpPr>
            <a:spLocks noGrp="1"/>
          </p:cNvSpPr>
          <p:nvPr/>
        </p:nvSpPr>
        <p:spPr>
          <a:xfrm>
            <a:off x="9177338" y="2476500"/>
            <a:ext cx="2338388" cy="628650"/>
          </a:xfrm>
          <a:prstGeom prst="rect">
            <a:avLst/>
          </a:prstGeom>
          <a:noFill/>
          <a:ln w="0">
            <a:noFill/>
            <a:prstDash val="solid"/>
          </a:ln>
        </p:spPr>
        <p:txBody>
          <a:bodyPr anchor="ctr"/>
          <a:lstStyle/>
          <a:p>
            <a:pPr algn="ctr">
              <a:defRPr sz="1275" b="1">
                <a:solidFill>
                  <a:srgbClr val="FFFFFF"/>
                </a:solidFill>
              </a:defRPr>
            </a:pPr>
            <a:r>
              <a:rPr sz="1275" b="1">
                <a:solidFill>
                  <a:srgbClr val="FFFFFF"/>
                </a:solidFill>
              </a:rPr>
              <a:t>What is already known?</a:t>
            </a:r>
          </a:p>
        </p:txBody>
      </p:sp>
      <p:sp>
        <p:nvSpPr>
          <p:cNvPr id="21" name="Rectangle 20">
            <a:extLst>
              <a:ext uri="{FF2B5EF4-FFF2-40B4-BE49-F238E27FC236}">
                <a16:creationId xmlns:a16="http://schemas.microsoft.com/office/drawing/2014/main" id="{01B0B39F-DCCE-4DDF-A36F-68083BE50FC4}"/>
              </a:ext>
            </a:extLst>
          </p:cNvPr>
          <p:cNvSpPr>
            <a:spLocks noGrp="1"/>
          </p:cNvSpPr>
          <p:nvPr/>
        </p:nvSpPr>
        <p:spPr>
          <a:xfrm>
            <a:off x="762000" y="3667125"/>
            <a:ext cx="2381250" cy="333375"/>
          </a:xfrm>
          <a:prstGeom prst="rect">
            <a:avLst/>
          </a:prstGeom>
          <a:noFill/>
          <a:ln w="0">
            <a:noFill/>
            <a:prstDash val="solid"/>
          </a:ln>
        </p:spPr>
        <p:txBody>
          <a:bodyPr anchor="ctr"/>
          <a:lstStyle/>
          <a:p>
            <a:pPr algn="ctr">
              <a:defRPr sz="1575" b="1">
                <a:solidFill>
                  <a:srgbClr val="0B9B91"/>
                </a:solidFill>
              </a:defRPr>
            </a:pPr>
            <a:r>
              <a:rPr sz="1575" b="1">
                <a:solidFill>
                  <a:srgbClr val="0B9B91"/>
                </a:solidFill>
              </a:rPr>
              <a:t>decision</a:t>
            </a:r>
          </a:p>
        </p:txBody>
      </p:sp>
      <p:sp>
        <p:nvSpPr>
          <p:cNvPr id="22" name="Rectangle 21">
            <a:extLst>
              <a:ext uri="{FF2B5EF4-FFF2-40B4-BE49-F238E27FC236}">
                <a16:creationId xmlns:a16="http://schemas.microsoft.com/office/drawing/2014/main" id="{E4FF5256-E865-4415-9469-4B2D78961664}"/>
              </a:ext>
            </a:extLst>
          </p:cNvPr>
          <p:cNvSpPr>
            <a:spLocks noGrp="1"/>
          </p:cNvSpPr>
          <p:nvPr/>
        </p:nvSpPr>
        <p:spPr>
          <a:xfrm>
            <a:off x="3619500" y="3667125"/>
            <a:ext cx="2381250" cy="333375"/>
          </a:xfrm>
          <a:prstGeom prst="rect">
            <a:avLst/>
          </a:prstGeom>
          <a:noFill/>
          <a:ln w="0">
            <a:noFill/>
            <a:prstDash val="solid"/>
          </a:ln>
        </p:spPr>
        <p:txBody>
          <a:bodyPr anchor="ctr"/>
          <a:lstStyle/>
          <a:p>
            <a:pPr algn="ctr">
              <a:defRPr sz="1575" b="1">
                <a:solidFill>
                  <a:srgbClr val="2878B5"/>
                </a:solidFill>
              </a:defRPr>
            </a:pPr>
            <a:r>
              <a:rPr sz="1575" b="1">
                <a:solidFill>
                  <a:srgbClr val="2878B5"/>
                </a:solidFill>
              </a:rPr>
              <a:t>objective</a:t>
            </a:r>
          </a:p>
        </p:txBody>
      </p:sp>
      <p:sp>
        <p:nvSpPr>
          <p:cNvPr id="23" name="Rectangle 22">
            <a:extLst>
              <a:ext uri="{FF2B5EF4-FFF2-40B4-BE49-F238E27FC236}">
                <a16:creationId xmlns:a16="http://schemas.microsoft.com/office/drawing/2014/main" id="{4C6EAD67-3627-409F-B874-815E78FB1B0C}"/>
              </a:ext>
            </a:extLst>
          </p:cNvPr>
          <p:cNvSpPr>
            <a:spLocks noGrp="1"/>
          </p:cNvSpPr>
          <p:nvPr/>
        </p:nvSpPr>
        <p:spPr>
          <a:xfrm>
            <a:off x="6477000" y="3667125"/>
            <a:ext cx="2381250" cy="333375"/>
          </a:xfrm>
          <a:prstGeom prst="rect">
            <a:avLst/>
          </a:prstGeom>
          <a:noFill/>
          <a:ln w="0">
            <a:noFill/>
            <a:prstDash val="solid"/>
          </a:ln>
        </p:spPr>
        <p:txBody>
          <a:bodyPr anchor="ctr"/>
          <a:lstStyle/>
          <a:p>
            <a:pPr algn="ctr">
              <a:defRPr sz="1575" b="1">
                <a:solidFill>
                  <a:srgbClr val="F2A93B"/>
                </a:solidFill>
              </a:defRPr>
            </a:pPr>
            <a:r>
              <a:rPr sz="1575" b="1">
                <a:solidFill>
                  <a:srgbClr val="F2A93B"/>
                </a:solidFill>
              </a:rPr>
              <a:t>constraint</a:t>
            </a:r>
          </a:p>
        </p:txBody>
      </p:sp>
      <p:sp>
        <p:nvSpPr>
          <p:cNvPr id="24" name="Rectangle 23">
            <a:extLst>
              <a:ext uri="{FF2B5EF4-FFF2-40B4-BE49-F238E27FC236}">
                <a16:creationId xmlns:a16="http://schemas.microsoft.com/office/drawing/2014/main" id="{D01BEDD6-501E-49AA-95F6-DD68B05D5BB5}"/>
              </a:ext>
            </a:extLst>
          </p:cNvPr>
          <p:cNvSpPr>
            <a:spLocks noGrp="1"/>
          </p:cNvSpPr>
          <p:nvPr/>
        </p:nvSpPr>
        <p:spPr>
          <a:xfrm>
            <a:off x="9334500" y="3667125"/>
            <a:ext cx="2095500" cy="333375"/>
          </a:xfrm>
          <a:prstGeom prst="rect">
            <a:avLst/>
          </a:prstGeom>
          <a:noFill/>
          <a:ln w="0">
            <a:noFill/>
            <a:prstDash val="solid"/>
          </a:ln>
        </p:spPr>
        <p:txBody>
          <a:bodyPr anchor="ctr"/>
          <a:lstStyle/>
          <a:p>
            <a:pPr algn="ctr">
              <a:defRPr sz="1575" b="1">
                <a:solidFill>
                  <a:srgbClr val="092A3D"/>
                </a:solidFill>
              </a:defRPr>
            </a:pPr>
            <a:r>
              <a:rPr sz="1575" b="1">
                <a:solidFill>
                  <a:srgbClr val="092A3D"/>
                </a:solidFill>
              </a:rPr>
              <a:t>data</a:t>
            </a:r>
          </a:p>
        </p:txBody>
      </p:sp>
      <p:sp>
        <p:nvSpPr>
          <p:cNvPr id="25" name="Rectangle: Rounded Corners 24">
            <a:extLst>
              <a:ext uri="{FF2B5EF4-FFF2-40B4-BE49-F238E27FC236}">
                <a16:creationId xmlns:a16="http://schemas.microsoft.com/office/drawing/2014/main" id="{DB67379D-76D3-4335-81CB-D91D54D688AF}"/>
              </a:ext>
            </a:extLst>
          </p:cNvPr>
          <p:cNvSpPr>
            <a:spLocks noGrp="1"/>
          </p:cNvSpPr>
          <p:nvPr/>
        </p:nvSpPr>
        <p:spPr>
          <a:xfrm>
            <a:off x="1666875" y="5191125"/>
            <a:ext cx="8858250" cy="619125"/>
          </a:xfrm>
          <a:prstGeom prst="roundRect">
            <a:avLst>
              <a:gd name="adj" fmla="val 12308"/>
            </a:avLst>
          </a:prstGeom>
          <a:solidFill>
            <a:srgbClr val="E6F3F2"/>
          </a:solidFill>
          <a:ln w="0">
            <a:solidFill>
              <a:srgbClr val="E6F3F2"/>
            </a:solidFill>
            <a:prstDash val="solid"/>
          </a:ln>
        </p:spPr>
        <p:txBody>
          <a:bodyPr/>
          <a:lstStyle/>
          <a:p>
            <a:endParaRPr lang="en-IQ"/>
          </a:p>
        </p:txBody>
      </p:sp>
      <p:sp>
        <p:nvSpPr>
          <p:cNvPr id="26" name="Rectangle 25">
            <a:extLst>
              <a:ext uri="{FF2B5EF4-FFF2-40B4-BE49-F238E27FC236}">
                <a16:creationId xmlns:a16="http://schemas.microsoft.com/office/drawing/2014/main" id="{EF0271D4-D61F-4AF6-9A11-85174647E682}"/>
              </a:ext>
            </a:extLst>
          </p:cNvPr>
          <p:cNvSpPr>
            <a:spLocks noGrp="1"/>
          </p:cNvSpPr>
          <p:nvPr/>
        </p:nvSpPr>
        <p:spPr>
          <a:xfrm>
            <a:off x="1857375" y="5286375"/>
            <a:ext cx="8477250" cy="428625"/>
          </a:xfrm>
          <a:prstGeom prst="rect">
            <a:avLst/>
          </a:prstGeom>
          <a:noFill/>
          <a:ln w="0">
            <a:noFill/>
            <a:prstDash val="solid"/>
          </a:ln>
        </p:spPr>
        <p:txBody>
          <a:bodyPr anchor="ctr"/>
          <a:lstStyle/>
          <a:p>
            <a:pPr algn="ctr">
              <a:defRPr sz="1650" b="1">
                <a:solidFill>
                  <a:srgbClr val="092A3D"/>
                </a:solidFill>
              </a:defRPr>
            </a:pPr>
            <a:r>
              <a:rPr sz="1650" b="1">
                <a:solidFill>
                  <a:srgbClr val="092A3D"/>
                </a:solidFill>
              </a:rPr>
              <a:t>If one answer is unclear, the problem is not ready for an algorithm.</a:t>
            </a:r>
          </a:p>
        </p:txBody>
      </p:sp>
    </p:spTree>
    <p:extLst>
      <p:ext uri="{BB962C8B-B14F-4D97-AF65-F5344CB8AC3E}">
        <p14:creationId xmlns:p14="http://schemas.microsoft.com/office/powerpoint/2010/main" val="36119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F071B49B-F83A-40D8-B968-826212BFAD10}"/>
              </a:ext>
            </a:extLst>
          </p:cNvPr>
          <p:cNvSpPr>
            <a:spLocks noGrp="1"/>
          </p:cNvSpPr>
          <p:nvPr/>
        </p:nvSpPr>
        <p:spPr>
          <a:xfrm>
            <a:off x="609600" y="285750"/>
            <a:ext cx="66675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CORE LANGUAGE</a:t>
            </a:r>
          </a:p>
        </p:txBody>
      </p:sp>
      <p:sp>
        <p:nvSpPr>
          <p:cNvPr id="2" name="Rectangle 1">
            <a:extLst>
              <a:ext uri="{FF2B5EF4-FFF2-40B4-BE49-F238E27FC236}">
                <a16:creationId xmlns:a16="http://schemas.microsoft.com/office/drawing/2014/main" id="{113175C5-8595-4906-8F4F-FBF267959894}"/>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A decision variable is something we are allowed to choose</a:t>
            </a:r>
          </a:p>
        </p:txBody>
      </p:sp>
      <p:sp>
        <p:nvSpPr>
          <p:cNvPr id="3" name="Rectangle 2">
            <a:extLst>
              <a:ext uri="{FF2B5EF4-FFF2-40B4-BE49-F238E27FC236}">
                <a16:creationId xmlns:a16="http://schemas.microsoft.com/office/drawing/2014/main" id="{B6D4CCC7-7809-4281-A9B7-DD2588302CE1}"/>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E3E5E3B1-D171-42DE-B872-37EB77A98B4B}"/>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0</a:t>
            </a:r>
          </a:p>
        </p:txBody>
      </p:sp>
      <p:sp>
        <p:nvSpPr>
          <p:cNvPr id="5" name="Rectangle 4">
            <a:extLst>
              <a:ext uri="{FF2B5EF4-FFF2-40B4-BE49-F238E27FC236}">
                <a16:creationId xmlns:a16="http://schemas.microsoft.com/office/drawing/2014/main" id="{F2B01B4C-6859-4995-82F8-2A424E4A31F6}"/>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05</a:t>
            </a:r>
          </a:p>
        </p:txBody>
      </p:sp>
      <p:sp>
        <p:nvSpPr>
          <p:cNvPr id="6" name="Rectangle: Rounded Corners 5">
            <a:extLst>
              <a:ext uri="{FF2B5EF4-FFF2-40B4-BE49-F238E27FC236}">
                <a16:creationId xmlns:a16="http://schemas.microsoft.com/office/drawing/2014/main" id="{48BE0B14-55DB-4C57-A189-86C81A667B5D}"/>
              </a:ext>
            </a:extLst>
          </p:cNvPr>
          <p:cNvSpPr>
            <a:spLocks noGrp="1"/>
          </p:cNvSpPr>
          <p:nvPr/>
        </p:nvSpPr>
        <p:spPr>
          <a:xfrm>
            <a:off x="952500" y="1619250"/>
            <a:ext cx="2857500" cy="809625"/>
          </a:xfrm>
          <a:prstGeom prst="roundRect">
            <a:avLst>
              <a:gd name="adj" fmla="val 9412"/>
            </a:avLst>
          </a:prstGeom>
          <a:solidFill>
            <a:srgbClr val="0B9B91"/>
          </a:solidFill>
          <a:ln w="0">
            <a:solidFill>
              <a:srgbClr val="0B9B91"/>
            </a:solidFill>
            <a:prstDash val="solid"/>
          </a:ln>
        </p:spPr>
        <p:txBody>
          <a:bodyPr/>
          <a:lstStyle/>
          <a:p>
            <a:endParaRPr lang="en-IQ"/>
          </a:p>
        </p:txBody>
      </p:sp>
      <p:sp>
        <p:nvSpPr>
          <p:cNvPr id="7" name="Rectangle 6">
            <a:extLst>
              <a:ext uri="{FF2B5EF4-FFF2-40B4-BE49-F238E27FC236}">
                <a16:creationId xmlns:a16="http://schemas.microsoft.com/office/drawing/2014/main" id="{D157EFD3-07D8-4A11-BDC5-49A7BBF4EDEE}"/>
              </a:ext>
            </a:extLst>
          </p:cNvPr>
          <p:cNvSpPr>
            <a:spLocks noGrp="1"/>
          </p:cNvSpPr>
          <p:nvPr/>
        </p:nvSpPr>
        <p:spPr>
          <a:xfrm>
            <a:off x="1143000" y="1714500"/>
            <a:ext cx="2476500" cy="619125"/>
          </a:xfrm>
          <a:prstGeom prst="rect">
            <a:avLst/>
          </a:prstGeom>
          <a:noFill/>
          <a:ln w="0">
            <a:noFill/>
            <a:prstDash val="solid"/>
          </a:ln>
        </p:spPr>
        <p:txBody>
          <a:bodyPr anchor="ctr"/>
          <a:lstStyle/>
          <a:p>
            <a:pPr algn="ctr">
              <a:defRPr sz="2025" b="1">
                <a:solidFill>
                  <a:srgbClr val="FFFFFF"/>
                </a:solidFill>
              </a:defRPr>
            </a:pPr>
            <a:r>
              <a:rPr sz="2025" b="1">
                <a:solidFill>
                  <a:srgbClr val="FFFFFF"/>
                </a:solidFill>
              </a:rPr>
              <a:t>DECISION</a:t>
            </a:r>
          </a:p>
        </p:txBody>
      </p:sp>
      <p:sp>
        <p:nvSpPr>
          <p:cNvPr id="8" name="Oval 7">
            <a:extLst>
              <a:ext uri="{FF2B5EF4-FFF2-40B4-BE49-F238E27FC236}">
                <a16:creationId xmlns:a16="http://schemas.microsoft.com/office/drawing/2014/main" id="{84F2DAD7-2D67-4BD4-A21F-4DBE074E63C8}"/>
              </a:ext>
            </a:extLst>
          </p:cNvPr>
          <p:cNvSpPr>
            <a:spLocks noGrp="1"/>
          </p:cNvSpPr>
          <p:nvPr/>
        </p:nvSpPr>
        <p:spPr>
          <a:xfrm>
            <a:off x="4762500" y="1762125"/>
            <a:ext cx="114300" cy="114300"/>
          </a:xfrm>
          <a:prstGeom prst="ellipse">
            <a:avLst/>
          </a:prstGeom>
          <a:solidFill>
            <a:srgbClr val="0B9B91"/>
          </a:solidFill>
          <a:ln w="0">
            <a:solidFill>
              <a:srgbClr val="0B9B91"/>
            </a:solidFill>
            <a:prstDash val="solid"/>
          </a:ln>
        </p:spPr>
        <p:txBody>
          <a:bodyPr/>
          <a:lstStyle/>
          <a:p>
            <a:endParaRPr lang="en-IQ"/>
          </a:p>
        </p:txBody>
      </p:sp>
      <p:sp>
        <p:nvSpPr>
          <p:cNvPr id="9" name="Rectangle 8">
            <a:extLst>
              <a:ext uri="{FF2B5EF4-FFF2-40B4-BE49-F238E27FC236}">
                <a16:creationId xmlns:a16="http://schemas.microsoft.com/office/drawing/2014/main" id="{BA9A247B-42B8-4F76-BF3A-7934A6D53007}"/>
              </a:ext>
            </a:extLst>
          </p:cNvPr>
          <p:cNvSpPr>
            <a:spLocks noGrp="1"/>
          </p:cNvSpPr>
          <p:nvPr/>
        </p:nvSpPr>
        <p:spPr>
          <a:xfrm>
            <a:off x="5038725" y="1571625"/>
            <a:ext cx="5438775" cy="714375"/>
          </a:xfrm>
          <a:prstGeom prst="rect">
            <a:avLst/>
          </a:prstGeom>
          <a:noFill/>
          <a:ln w="0">
            <a:noFill/>
            <a:prstDash val="solid"/>
          </a:ln>
        </p:spPr>
        <p:txBody>
          <a:bodyPr anchor="ctr"/>
          <a:lstStyle/>
          <a:p>
            <a:pPr algn="l">
              <a:defRPr sz="1725" b="0">
                <a:solidFill>
                  <a:srgbClr val="183544"/>
                </a:solidFill>
              </a:defRPr>
            </a:pPr>
            <a:r>
              <a:rPr sz="1725" b="0">
                <a:solidFill>
                  <a:srgbClr val="183544"/>
                </a:solidFill>
              </a:rPr>
              <a:t>Which server?</a:t>
            </a:r>
          </a:p>
        </p:txBody>
      </p:sp>
      <p:sp>
        <p:nvSpPr>
          <p:cNvPr id="10" name="Oval 9">
            <a:extLst>
              <a:ext uri="{FF2B5EF4-FFF2-40B4-BE49-F238E27FC236}">
                <a16:creationId xmlns:a16="http://schemas.microsoft.com/office/drawing/2014/main" id="{342C7EEE-96CE-4671-BCBB-BFF99E5A39F9}"/>
              </a:ext>
            </a:extLst>
          </p:cNvPr>
          <p:cNvSpPr>
            <a:spLocks noGrp="1"/>
          </p:cNvSpPr>
          <p:nvPr/>
        </p:nvSpPr>
        <p:spPr>
          <a:xfrm>
            <a:off x="4762500" y="2476500"/>
            <a:ext cx="114300" cy="114300"/>
          </a:xfrm>
          <a:prstGeom prst="ellipse">
            <a:avLst/>
          </a:prstGeom>
          <a:solidFill>
            <a:srgbClr val="0B9B91"/>
          </a:solidFill>
          <a:ln w="0">
            <a:solidFill>
              <a:srgbClr val="0B9B91"/>
            </a:solidFill>
            <a:prstDash val="solid"/>
          </a:ln>
        </p:spPr>
        <p:txBody>
          <a:bodyPr/>
          <a:lstStyle/>
          <a:p>
            <a:endParaRPr lang="en-IQ"/>
          </a:p>
        </p:txBody>
      </p:sp>
      <p:sp>
        <p:nvSpPr>
          <p:cNvPr id="11" name="Rectangle 10">
            <a:extLst>
              <a:ext uri="{FF2B5EF4-FFF2-40B4-BE49-F238E27FC236}">
                <a16:creationId xmlns:a16="http://schemas.microsoft.com/office/drawing/2014/main" id="{2ECDC9E2-FC80-4907-BE27-BF98842BB978}"/>
              </a:ext>
            </a:extLst>
          </p:cNvPr>
          <p:cNvSpPr>
            <a:spLocks noGrp="1"/>
          </p:cNvSpPr>
          <p:nvPr/>
        </p:nvSpPr>
        <p:spPr>
          <a:xfrm>
            <a:off x="5038725" y="2286000"/>
            <a:ext cx="5438775" cy="714375"/>
          </a:xfrm>
          <a:prstGeom prst="rect">
            <a:avLst/>
          </a:prstGeom>
          <a:noFill/>
          <a:ln w="0">
            <a:noFill/>
            <a:prstDash val="solid"/>
          </a:ln>
        </p:spPr>
        <p:txBody>
          <a:bodyPr anchor="ctr"/>
          <a:lstStyle/>
          <a:p>
            <a:pPr algn="l">
              <a:defRPr sz="1725" b="0">
                <a:solidFill>
                  <a:srgbClr val="183544"/>
                </a:solidFill>
              </a:defRPr>
            </a:pPr>
            <a:r>
              <a:rPr sz="1725" b="0">
                <a:solidFill>
                  <a:srgbClr val="183544"/>
                </a:solidFill>
              </a:rPr>
              <a:t>How much memory?</a:t>
            </a:r>
          </a:p>
        </p:txBody>
      </p:sp>
      <p:sp>
        <p:nvSpPr>
          <p:cNvPr id="12" name="Oval 11">
            <a:extLst>
              <a:ext uri="{FF2B5EF4-FFF2-40B4-BE49-F238E27FC236}">
                <a16:creationId xmlns:a16="http://schemas.microsoft.com/office/drawing/2014/main" id="{72576F06-598A-4027-91FE-193CE67DC0CF}"/>
              </a:ext>
            </a:extLst>
          </p:cNvPr>
          <p:cNvSpPr>
            <a:spLocks noGrp="1"/>
          </p:cNvSpPr>
          <p:nvPr/>
        </p:nvSpPr>
        <p:spPr>
          <a:xfrm>
            <a:off x="4762500" y="3190875"/>
            <a:ext cx="114300" cy="114300"/>
          </a:xfrm>
          <a:prstGeom prst="ellipse">
            <a:avLst/>
          </a:prstGeom>
          <a:solidFill>
            <a:srgbClr val="0B9B91"/>
          </a:solidFill>
          <a:ln w="0">
            <a:solidFill>
              <a:srgbClr val="0B9B91"/>
            </a:solidFill>
            <a:prstDash val="solid"/>
          </a:ln>
        </p:spPr>
        <p:txBody>
          <a:bodyPr/>
          <a:lstStyle/>
          <a:p>
            <a:endParaRPr lang="en-IQ"/>
          </a:p>
        </p:txBody>
      </p:sp>
      <p:sp>
        <p:nvSpPr>
          <p:cNvPr id="13" name="Rectangle 12">
            <a:extLst>
              <a:ext uri="{FF2B5EF4-FFF2-40B4-BE49-F238E27FC236}">
                <a16:creationId xmlns:a16="http://schemas.microsoft.com/office/drawing/2014/main" id="{B8102987-100B-4839-86A9-796BE3BFCE4A}"/>
              </a:ext>
            </a:extLst>
          </p:cNvPr>
          <p:cNvSpPr>
            <a:spLocks noGrp="1"/>
          </p:cNvSpPr>
          <p:nvPr/>
        </p:nvSpPr>
        <p:spPr>
          <a:xfrm>
            <a:off x="5038725" y="3000375"/>
            <a:ext cx="5438775" cy="714375"/>
          </a:xfrm>
          <a:prstGeom prst="rect">
            <a:avLst/>
          </a:prstGeom>
          <a:noFill/>
          <a:ln w="0">
            <a:noFill/>
            <a:prstDash val="solid"/>
          </a:ln>
        </p:spPr>
        <p:txBody>
          <a:bodyPr anchor="ctr"/>
          <a:lstStyle/>
          <a:p>
            <a:pPr algn="l">
              <a:defRPr sz="1725" b="0">
                <a:solidFill>
                  <a:srgbClr val="183544"/>
                </a:solidFill>
              </a:defRPr>
            </a:pPr>
            <a:r>
              <a:rPr sz="1725" b="0">
                <a:solidFill>
                  <a:srgbClr val="183544"/>
                </a:solidFill>
              </a:rPr>
              <a:t>Which route?</a:t>
            </a:r>
          </a:p>
        </p:txBody>
      </p:sp>
      <p:sp>
        <p:nvSpPr>
          <p:cNvPr id="14" name="Oval 13">
            <a:extLst>
              <a:ext uri="{FF2B5EF4-FFF2-40B4-BE49-F238E27FC236}">
                <a16:creationId xmlns:a16="http://schemas.microsoft.com/office/drawing/2014/main" id="{6EB0FE73-1F42-4FDB-85EE-5C0879EE5172}"/>
              </a:ext>
            </a:extLst>
          </p:cNvPr>
          <p:cNvSpPr>
            <a:spLocks noGrp="1"/>
          </p:cNvSpPr>
          <p:nvPr/>
        </p:nvSpPr>
        <p:spPr>
          <a:xfrm>
            <a:off x="4762500" y="3905250"/>
            <a:ext cx="114300" cy="114300"/>
          </a:xfrm>
          <a:prstGeom prst="ellipse">
            <a:avLst/>
          </a:prstGeom>
          <a:solidFill>
            <a:srgbClr val="0B9B91"/>
          </a:solidFill>
          <a:ln w="0">
            <a:solidFill>
              <a:srgbClr val="0B9B91"/>
            </a:solidFill>
            <a:prstDash val="solid"/>
          </a:ln>
        </p:spPr>
        <p:txBody>
          <a:bodyPr/>
          <a:lstStyle/>
          <a:p>
            <a:endParaRPr lang="en-IQ"/>
          </a:p>
        </p:txBody>
      </p:sp>
      <p:sp>
        <p:nvSpPr>
          <p:cNvPr id="15" name="Rectangle 14">
            <a:extLst>
              <a:ext uri="{FF2B5EF4-FFF2-40B4-BE49-F238E27FC236}">
                <a16:creationId xmlns:a16="http://schemas.microsoft.com/office/drawing/2014/main" id="{B6D9327F-DAD3-4131-A67E-D00411377DC0}"/>
              </a:ext>
            </a:extLst>
          </p:cNvPr>
          <p:cNvSpPr>
            <a:spLocks noGrp="1"/>
          </p:cNvSpPr>
          <p:nvPr/>
        </p:nvSpPr>
        <p:spPr>
          <a:xfrm>
            <a:off x="5038725" y="3714750"/>
            <a:ext cx="5438775" cy="714375"/>
          </a:xfrm>
          <a:prstGeom prst="rect">
            <a:avLst/>
          </a:prstGeom>
          <a:noFill/>
          <a:ln w="0">
            <a:noFill/>
            <a:prstDash val="solid"/>
          </a:ln>
        </p:spPr>
        <p:txBody>
          <a:bodyPr anchor="ctr"/>
          <a:lstStyle/>
          <a:p>
            <a:pPr algn="l">
              <a:defRPr sz="1725" b="0">
                <a:solidFill>
                  <a:srgbClr val="183544"/>
                </a:solidFill>
              </a:defRPr>
            </a:pPr>
            <a:r>
              <a:rPr sz="1725" b="0">
                <a:solidFill>
                  <a:srgbClr val="183544"/>
                </a:solidFill>
              </a:rPr>
              <a:t>Which features?</a:t>
            </a:r>
          </a:p>
        </p:txBody>
      </p:sp>
      <p:sp>
        <p:nvSpPr>
          <p:cNvPr id="16" name="Rectangle: Rounded Corners 15">
            <a:extLst>
              <a:ext uri="{FF2B5EF4-FFF2-40B4-BE49-F238E27FC236}">
                <a16:creationId xmlns:a16="http://schemas.microsoft.com/office/drawing/2014/main" id="{5430F212-B4EA-463A-B975-EA536C5688E6}"/>
              </a:ext>
            </a:extLst>
          </p:cNvPr>
          <p:cNvSpPr>
            <a:spLocks noGrp="1"/>
          </p:cNvSpPr>
          <p:nvPr/>
        </p:nvSpPr>
        <p:spPr>
          <a:xfrm>
            <a:off x="1714500" y="5286375"/>
            <a:ext cx="8763000" cy="590550"/>
          </a:xfrm>
          <a:prstGeom prst="roundRect">
            <a:avLst>
              <a:gd name="adj" fmla="val 12903"/>
            </a:avLst>
          </a:prstGeom>
          <a:solidFill>
            <a:srgbClr val="E6F3F2"/>
          </a:solidFill>
          <a:ln w="0">
            <a:solidFill>
              <a:srgbClr val="E6F3F2"/>
            </a:solidFill>
            <a:prstDash val="solid"/>
          </a:ln>
        </p:spPr>
        <p:txBody>
          <a:bodyPr/>
          <a:lstStyle/>
          <a:p>
            <a:endParaRPr lang="en-IQ"/>
          </a:p>
        </p:txBody>
      </p:sp>
      <p:sp>
        <p:nvSpPr>
          <p:cNvPr id="17" name="Rectangle 16">
            <a:extLst>
              <a:ext uri="{FF2B5EF4-FFF2-40B4-BE49-F238E27FC236}">
                <a16:creationId xmlns:a16="http://schemas.microsoft.com/office/drawing/2014/main" id="{4A293CC3-F4E4-4B82-BAD1-7AFAB357916C}"/>
              </a:ext>
            </a:extLst>
          </p:cNvPr>
          <p:cNvSpPr>
            <a:spLocks noGrp="1"/>
          </p:cNvSpPr>
          <p:nvPr/>
        </p:nvSpPr>
        <p:spPr>
          <a:xfrm>
            <a:off x="1905000" y="5381625"/>
            <a:ext cx="8382000" cy="400050"/>
          </a:xfrm>
          <a:prstGeom prst="rect">
            <a:avLst/>
          </a:prstGeom>
          <a:noFill/>
          <a:ln w="0">
            <a:noFill/>
            <a:prstDash val="solid"/>
          </a:ln>
        </p:spPr>
        <p:txBody>
          <a:bodyPr anchor="ctr"/>
          <a:lstStyle/>
          <a:p>
            <a:pPr algn="ctr">
              <a:defRPr sz="1575" b="1">
                <a:solidFill>
                  <a:srgbClr val="092A3D"/>
                </a:solidFill>
              </a:defRPr>
            </a:pPr>
            <a:r>
              <a:rPr sz="1575" b="1">
                <a:solidFill>
                  <a:srgbClr val="092A3D"/>
                </a:solidFill>
              </a:rPr>
              <a:t>Not every number in a problem is a decision.</a:t>
            </a:r>
          </a:p>
        </p:txBody>
      </p:sp>
    </p:spTree>
    <p:extLst>
      <p:ext uri="{BB962C8B-B14F-4D97-AF65-F5344CB8AC3E}">
        <p14:creationId xmlns:p14="http://schemas.microsoft.com/office/powerpoint/2010/main" val="227828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010788FC-6448-4E06-9C55-A0B4D84ECC31}"/>
              </a:ext>
            </a:extLst>
          </p:cNvPr>
          <p:cNvSpPr>
            <a:spLocks noGrp="1"/>
          </p:cNvSpPr>
          <p:nvPr/>
        </p:nvSpPr>
        <p:spPr>
          <a:xfrm>
            <a:off x="609600" y="285750"/>
            <a:ext cx="66675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CORE LANGUAGE</a:t>
            </a:r>
          </a:p>
        </p:txBody>
      </p:sp>
      <p:sp>
        <p:nvSpPr>
          <p:cNvPr id="2" name="Rectangle 1">
            <a:extLst>
              <a:ext uri="{FF2B5EF4-FFF2-40B4-BE49-F238E27FC236}">
                <a16:creationId xmlns:a16="http://schemas.microsoft.com/office/drawing/2014/main" id="{455BAE24-6F2A-4C09-91C1-7F68B26CE4AC}"/>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An objective tells us what “better” means</a:t>
            </a:r>
          </a:p>
        </p:txBody>
      </p:sp>
      <p:sp>
        <p:nvSpPr>
          <p:cNvPr id="3" name="Rectangle 2">
            <a:extLst>
              <a:ext uri="{FF2B5EF4-FFF2-40B4-BE49-F238E27FC236}">
                <a16:creationId xmlns:a16="http://schemas.microsoft.com/office/drawing/2014/main" id="{FBFC8794-4DEF-4260-A093-3431EE0794FC}"/>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21326F16-D85B-47FD-8B34-7A914D7C085A}"/>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0</a:t>
            </a:r>
          </a:p>
        </p:txBody>
      </p:sp>
      <p:sp>
        <p:nvSpPr>
          <p:cNvPr id="5" name="Rectangle 4">
            <a:extLst>
              <a:ext uri="{FF2B5EF4-FFF2-40B4-BE49-F238E27FC236}">
                <a16:creationId xmlns:a16="http://schemas.microsoft.com/office/drawing/2014/main" id="{273A6053-BBB1-4668-B4BB-14A70F27531E}"/>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06</a:t>
            </a:r>
          </a:p>
        </p:txBody>
      </p:sp>
      <p:sp>
        <p:nvSpPr>
          <p:cNvPr id="6" name="Rectangle: Rounded Corners 5">
            <a:extLst>
              <a:ext uri="{FF2B5EF4-FFF2-40B4-BE49-F238E27FC236}">
                <a16:creationId xmlns:a16="http://schemas.microsoft.com/office/drawing/2014/main" id="{BD9041F3-65B5-47FD-AB14-6EFCB87D760C}"/>
              </a:ext>
            </a:extLst>
          </p:cNvPr>
          <p:cNvSpPr>
            <a:spLocks noGrp="1"/>
          </p:cNvSpPr>
          <p:nvPr/>
        </p:nvSpPr>
        <p:spPr>
          <a:xfrm>
            <a:off x="952500" y="1619250"/>
            <a:ext cx="2857500" cy="809625"/>
          </a:xfrm>
          <a:prstGeom prst="roundRect">
            <a:avLst>
              <a:gd name="adj" fmla="val 9412"/>
            </a:avLst>
          </a:prstGeom>
          <a:solidFill>
            <a:srgbClr val="2878B5"/>
          </a:solidFill>
          <a:ln w="0">
            <a:solidFill>
              <a:srgbClr val="2878B5"/>
            </a:solidFill>
            <a:prstDash val="solid"/>
          </a:ln>
        </p:spPr>
        <p:txBody>
          <a:bodyPr/>
          <a:lstStyle/>
          <a:p>
            <a:endParaRPr lang="en-IQ"/>
          </a:p>
        </p:txBody>
      </p:sp>
      <p:sp>
        <p:nvSpPr>
          <p:cNvPr id="7" name="Rectangle 6">
            <a:extLst>
              <a:ext uri="{FF2B5EF4-FFF2-40B4-BE49-F238E27FC236}">
                <a16:creationId xmlns:a16="http://schemas.microsoft.com/office/drawing/2014/main" id="{FAB83DA8-EA2E-4AED-88E9-180D18E41A3C}"/>
              </a:ext>
            </a:extLst>
          </p:cNvPr>
          <p:cNvSpPr>
            <a:spLocks noGrp="1"/>
          </p:cNvSpPr>
          <p:nvPr/>
        </p:nvSpPr>
        <p:spPr>
          <a:xfrm>
            <a:off x="1143000" y="1714500"/>
            <a:ext cx="2476500" cy="619125"/>
          </a:xfrm>
          <a:prstGeom prst="rect">
            <a:avLst/>
          </a:prstGeom>
          <a:noFill/>
          <a:ln w="0">
            <a:noFill/>
            <a:prstDash val="solid"/>
          </a:ln>
        </p:spPr>
        <p:txBody>
          <a:bodyPr anchor="ctr"/>
          <a:lstStyle/>
          <a:p>
            <a:pPr algn="ctr">
              <a:defRPr sz="2025" b="1">
                <a:solidFill>
                  <a:srgbClr val="FFFFFF"/>
                </a:solidFill>
              </a:defRPr>
            </a:pPr>
            <a:r>
              <a:rPr sz="2025" b="1">
                <a:solidFill>
                  <a:srgbClr val="FFFFFF"/>
                </a:solidFill>
              </a:rPr>
              <a:t>OBJECTIVE</a:t>
            </a:r>
          </a:p>
        </p:txBody>
      </p:sp>
      <p:sp>
        <p:nvSpPr>
          <p:cNvPr id="8" name="Oval 7">
            <a:extLst>
              <a:ext uri="{FF2B5EF4-FFF2-40B4-BE49-F238E27FC236}">
                <a16:creationId xmlns:a16="http://schemas.microsoft.com/office/drawing/2014/main" id="{2C736470-B710-4BAB-A0D1-F4F6A6E577EE}"/>
              </a:ext>
            </a:extLst>
          </p:cNvPr>
          <p:cNvSpPr>
            <a:spLocks noGrp="1"/>
          </p:cNvSpPr>
          <p:nvPr/>
        </p:nvSpPr>
        <p:spPr>
          <a:xfrm>
            <a:off x="4762500" y="1762125"/>
            <a:ext cx="114300" cy="114300"/>
          </a:xfrm>
          <a:prstGeom prst="ellipse">
            <a:avLst/>
          </a:prstGeom>
          <a:solidFill>
            <a:srgbClr val="0B9B91"/>
          </a:solidFill>
          <a:ln w="0">
            <a:solidFill>
              <a:srgbClr val="0B9B91"/>
            </a:solidFill>
            <a:prstDash val="solid"/>
          </a:ln>
        </p:spPr>
        <p:txBody>
          <a:bodyPr/>
          <a:lstStyle/>
          <a:p>
            <a:endParaRPr lang="en-IQ"/>
          </a:p>
        </p:txBody>
      </p:sp>
      <p:sp>
        <p:nvSpPr>
          <p:cNvPr id="9" name="Rectangle 8">
            <a:extLst>
              <a:ext uri="{FF2B5EF4-FFF2-40B4-BE49-F238E27FC236}">
                <a16:creationId xmlns:a16="http://schemas.microsoft.com/office/drawing/2014/main" id="{A1DD0E9A-417C-4B9A-95DB-7F78EB0A137A}"/>
              </a:ext>
            </a:extLst>
          </p:cNvPr>
          <p:cNvSpPr>
            <a:spLocks noGrp="1"/>
          </p:cNvSpPr>
          <p:nvPr/>
        </p:nvSpPr>
        <p:spPr>
          <a:xfrm>
            <a:off x="5038725" y="1571625"/>
            <a:ext cx="5438775" cy="714375"/>
          </a:xfrm>
          <a:prstGeom prst="rect">
            <a:avLst/>
          </a:prstGeom>
          <a:noFill/>
          <a:ln w="0">
            <a:noFill/>
            <a:prstDash val="solid"/>
          </a:ln>
        </p:spPr>
        <p:txBody>
          <a:bodyPr anchor="ctr"/>
          <a:lstStyle/>
          <a:p>
            <a:pPr algn="l">
              <a:defRPr sz="1725" b="0">
                <a:solidFill>
                  <a:srgbClr val="183544"/>
                </a:solidFill>
              </a:defRPr>
            </a:pPr>
            <a:r>
              <a:rPr sz="1725" b="0">
                <a:solidFill>
                  <a:srgbClr val="183544"/>
                </a:solidFill>
              </a:rPr>
              <a:t>lower cost</a:t>
            </a:r>
          </a:p>
        </p:txBody>
      </p:sp>
      <p:sp>
        <p:nvSpPr>
          <p:cNvPr id="10" name="Oval 9">
            <a:extLst>
              <a:ext uri="{FF2B5EF4-FFF2-40B4-BE49-F238E27FC236}">
                <a16:creationId xmlns:a16="http://schemas.microsoft.com/office/drawing/2014/main" id="{3EB2028E-D82C-46DA-BB63-959ED321BEB5}"/>
              </a:ext>
            </a:extLst>
          </p:cNvPr>
          <p:cNvSpPr>
            <a:spLocks noGrp="1"/>
          </p:cNvSpPr>
          <p:nvPr/>
        </p:nvSpPr>
        <p:spPr>
          <a:xfrm>
            <a:off x="4762500" y="2476500"/>
            <a:ext cx="114300" cy="114300"/>
          </a:xfrm>
          <a:prstGeom prst="ellipse">
            <a:avLst/>
          </a:prstGeom>
          <a:solidFill>
            <a:srgbClr val="0B9B91"/>
          </a:solidFill>
          <a:ln w="0">
            <a:solidFill>
              <a:srgbClr val="0B9B91"/>
            </a:solidFill>
            <a:prstDash val="solid"/>
          </a:ln>
        </p:spPr>
        <p:txBody>
          <a:bodyPr/>
          <a:lstStyle/>
          <a:p>
            <a:endParaRPr lang="en-IQ"/>
          </a:p>
        </p:txBody>
      </p:sp>
      <p:sp>
        <p:nvSpPr>
          <p:cNvPr id="11" name="Rectangle 10">
            <a:extLst>
              <a:ext uri="{FF2B5EF4-FFF2-40B4-BE49-F238E27FC236}">
                <a16:creationId xmlns:a16="http://schemas.microsoft.com/office/drawing/2014/main" id="{752B708C-12A7-47FB-8329-B58C2FD1F263}"/>
              </a:ext>
            </a:extLst>
          </p:cNvPr>
          <p:cNvSpPr>
            <a:spLocks noGrp="1"/>
          </p:cNvSpPr>
          <p:nvPr/>
        </p:nvSpPr>
        <p:spPr>
          <a:xfrm>
            <a:off x="5038725" y="2286000"/>
            <a:ext cx="5438775" cy="714375"/>
          </a:xfrm>
          <a:prstGeom prst="rect">
            <a:avLst/>
          </a:prstGeom>
          <a:noFill/>
          <a:ln w="0">
            <a:noFill/>
            <a:prstDash val="solid"/>
          </a:ln>
        </p:spPr>
        <p:txBody>
          <a:bodyPr anchor="ctr"/>
          <a:lstStyle/>
          <a:p>
            <a:pPr algn="l">
              <a:defRPr sz="1725" b="0">
                <a:solidFill>
                  <a:srgbClr val="183544"/>
                </a:solidFill>
              </a:defRPr>
            </a:pPr>
            <a:r>
              <a:rPr sz="1725" b="0">
                <a:solidFill>
                  <a:srgbClr val="183544"/>
                </a:solidFill>
              </a:rPr>
              <a:t>shorter time</a:t>
            </a:r>
          </a:p>
        </p:txBody>
      </p:sp>
      <p:sp>
        <p:nvSpPr>
          <p:cNvPr id="12" name="Oval 11">
            <a:extLst>
              <a:ext uri="{FF2B5EF4-FFF2-40B4-BE49-F238E27FC236}">
                <a16:creationId xmlns:a16="http://schemas.microsoft.com/office/drawing/2014/main" id="{49C00085-D1F3-46C1-9B1D-A84C5C0C4AC7}"/>
              </a:ext>
            </a:extLst>
          </p:cNvPr>
          <p:cNvSpPr>
            <a:spLocks noGrp="1"/>
          </p:cNvSpPr>
          <p:nvPr/>
        </p:nvSpPr>
        <p:spPr>
          <a:xfrm>
            <a:off x="4762500" y="3190875"/>
            <a:ext cx="114300" cy="114300"/>
          </a:xfrm>
          <a:prstGeom prst="ellipse">
            <a:avLst/>
          </a:prstGeom>
          <a:solidFill>
            <a:srgbClr val="0B9B91"/>
          </a:solidFill>
          <a:ln w="0">
            <a:solidFill>
              <a:srgbClr val="0B9B91"/>
            </a:solidFill>
            <a:prstDash val="solid"/>
          </a:ln>
        </p:spPr>
        <p:txBody>
          <a:bodyPr/>
          <a:lstStyle/>
          <a:p>
            <a:endParaRPr lang="en-IQ"/>
          </a:p>
        </p:txBody>
      </p:sp>
      <p:sp>
        <p:nvSpPr>
          <p:cNvPr id="13" name="Rectangle 12">
            <a:extLst>
              <a:ext uri="{FF2B5EF4-FFF2-40B4-BE49-F238E27FC236}">
                <a16:creationId xmlns:a16="http://schemas.microsoft.com/office/drawing/2014/main" id="{DAE99E64-8D81-440F-AE73-BE76B71763DA}"/>
              </a:ext>
            </a:extLst>
          </p:cNvPr>
          <p:cNvSpPr>
            <a:spLocks noGrp="1"/>
          </p:cNvSpPr>
          <p:nvPr/>
        </p:nvSpPr>
        <p:spPr>
          <a:xfrm>
            <a:off x="5038725" y="3000375"/>
            <a:ext cx="5438775" cy="714375"/>
          </a:xfrm>
          <a:prstGeom prst="rect">
            <a:avLst/>
          </a:prstGeom>
          <a:noFill/>
          <a:ln w="0">
            <a:noFill/>
            <a:prstDash val="solid"/>
          </a:ln>
        </p:spPr>
        <p:txBody>
          <a:bodyPr anchor="ctr"/>
          <a:lstStyle/>
          <a:p>
            <a:pPr algn="l">
              <a:defRPr sz="1725" b="0">
                <a:solidFill>
                  <a:srgbClr val="183544"/>
                </a:solidFill>
              </a:defRPr>
            </a:pPr>
            <a:r>
              <a:rPr sz="1725" b="0">
                <a:solidFill>
                  <a:srgbClr val="183544"/>
                </a:solidFill>
              </a:rPr>
              <a:t>less energy</a:t>
            </a:r>
          </a:p>
        </p:txBody>
      </p:sp>
      <p:sp>
        <p:nvSpPr>
          <p:cNvPr id="14" name="Oval 13">
            <a:extLst>
              <a:ext uri="{FF2B5EF4-FFF2-40B4-BE49-F238E27FC236}">
                <a16:creationId xmlns:a16="http://schemas.microsoft.com/office/drawing/2014/main" id="{7E92854B-7A0A-422C-B135-91C580B0E4C8}"/>
              </a:ext>
            </a:extLst>
          </p:cNvPr>
          <p:cNvSpPr>
            <a:spLocks noGrp="1"/>
          </p:cNvSpPr>
          <p:nvPr/>
        </p:nvSpPr>
        <p:spPr>
          <a:xfrm>
            <a:off x="4762500" y="3905250"/>
            <a:ext cx="114300" cy="114300"/>
          </a:xfrm>
          <a:prstGeom prst="ellipse">
            <a:avLst/>
          </a:prstGeom>
          <a:solidFill>
            <a:srgbClr val="0B9B91"/>
          </a:solidFill>
          <a:ln w="0">
            <a:solidFill>
              <a:srgbClr val="0B9B91"/>
            </a:solidFill>
            <a:prstDash val="solid"/>
          </a:ln>
        </p:spPr>
        <p:txBody>
          <a:bodyPr/>
          <a:lstStyle/>
          <a:p>
            <a:endParaRPr lang="en-IQ"/>
          </a:p>
        </p:txBody>
      </p:sp>
      <p:sp>
        <p:nvSpPr>
          <p:cNvPr id="15" name="Rectangle 14">
            <a:extLst>
              <a:ext uri="{FF2B5EF4-FFF2-40B4-BE49-F238E27FC236}">
                <a16:creationId xmlns:a16="http://schemas.microsoft.com/office/drawing/2014/main" id="{ED4D651D-8F8A-4C10-BC58-6A763F372D26}"/>
              </a:ext>
            </a:extLst>
          </p:cNvPr>
          <p:cNvSpPr>
            <a:spLocks noGrp="1"/>
          </p:cNvSpPr>
          <p:nvPr/>
        </p:nvSpPr>
        <p:spPr>
          <a:xfrm>
            <a:off x="5038725" y="3714750"/>
            <a:ext cx="5438775" cy="714375"/>
          </a:xfrm>
          <a:prstGeom prst="rect">
            <a:avLst/>
          </a:prstGeom>
          <a:noFill/>
          <a:ln w="0">
            <a:noFill/>
            <a:prstDash val="solid"/>
          </a:ln>
        </p:spPr>
        <p:txBody>
          <a:bodyPr anchor="ctr"/>
          <a:lstStyle/>
          <a:p>
            <a:pPr algn="l">
              <a:defRPr sz="1725" b="0">
                <a:solidFill>
                  <a:srgbClr val="183544"/>
                </a:solidFill>
              </a:defRPr>
            </a:pPr>
            <a:r>
              <a:rPr sz="1725" b="0">
                <a:solidFill>
                  <a:srgbClr val="183544"/>
                </a:solidFill>
              </a:rPr>
              <a:t>higher reliability</a:t>
            </a:r>
          </a:p>
        </p:txBody>
      </p:sp>
      <p:sp>
        <p:nvSpPr>
          <p:cNvPr id="16" name="Rectangle: Rounded Corners 15">
            <a:extLst>
              <a:ext uri="{FF2B5EF4-FFF2-40B4-BE49-F238E27FC236}">
                <a16:creationId xmlns:a16="http://schemas.microsoft.com/office/drawing/2014/main" id="{DCC558B3-B0F0-40F1-9ED9-39F5DA0510A8}"/>
              </a:ext>
            </a:extLst>
          </p:cNvPr>
          <p:cNvSpPr>
            <a:spLocks noGrp="1"/>
          </p:cNvSpPr>
          <p:nvPr/>
        </p:nvSpPr>
        <p:spPr>
          <a:xfrm>
            <a:off x="1714500" y="5286375"/>
            <a:ext cx="8763000" cy="590550"/>
          </a:xfrm>
          <a:prstGeom prst="roundRect">
            <a:avLst>
              <a:gd name="adj" fmla="val 12903"/>
            </a:avLst>
          </a:prstGeom>
          <a:solidFill>
            <a:srgbClr val="E6F3F2"/>
          </a:solidFill>
          <a:ln w="0">
            <a:solidFill>
              <a:srgbClr val="E6F3F2"/>
            </a:solidFill>
            <a:prstDash val="solid"/>
          </a:ln>
        </p:spPr>
        <p:txBody>
          <a:bodyPr/>
          <a:lstStyle/>
          <a:p>
            <a:endParaRPr lang="en-IQ"/>
          </a:p>
        </p:txBody>
      </p:sp>
      <p:sp>
        <p:nvSpPr>
          <p:cNvPr id="17" name="Rectangle 16">
            <a:extLst>
              <a:ext uri="{FF2B5EF4-FFF2-40B4-BE49-F238E27FC236}">
                <a16:creationId xmlns:a16="http://schemas.microsoft.com/office/drawing/2014/main" id="{3F5B6034-A554-4F09-BA7C-046A2E3FE71F}"/>
              </a:ext>
            </a:extLst>
          </p:cNvPr>
          <p:cNvSpPr>
            <a:spLocks noGrp="1"/>
          </p:cNvSpPr>
          <p:nvPr/>
        </p:nvSpPr>
        <p:spPr>
          <a:xfrm>
            <a:off x="1905000" y="5381625"/>
            <a:ext cx="8382000" cy="400050"/>
          </a:xfrm>
          <a:prstGeom prst="rect">
            <a:avLst/>
          </a:prstGeom>
          <a:noFill/>
          <a:ln w="0">
            <a:noFill/>
            <a:prstDash val="solid"/>
          </a:ln>
        </p:spPr>
        <p:txBody>
          <a:bodyPr anchor="ctr"/>
          <a:lstStyle/>
          <a:p>
            <a:pPr algn="ctr">
              <a:defRPr sz="1575" b="1">
                <a:solidFill>
                  <a:srgbClr val="092A3D"/>
                </a:solidFill>
              </a:defRPr>
            </a:pPr>
            <a:r>
              <a:rPr sz="1575" b="1">
                <a:solidFill>
                  <a:srgbClr val="092A3D"/>
                </a:solidFill>
              </a:rPr>
              <a:t>Different objectives can prefer different solutions.</a:t>
            </a:r>
          </a:p>
        </p:txBody>
      </p:sp>
    </p:spTree>
    <p:extLst>
      <p:ext uri="{BB962C8B-B14F-4D97-AF65-F5344CB8AC3E}">
        <p14:creationId xmlns:p14="http://schemas.microsoft.com/office/powerpoint/2010/main" val="7596304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40CE75B5-AE7B-45F1-9604-9513C09AD493}"/>
              </a:ext>
            </a:extLst>
          </p:cNvPr>
          <p:cNvSpPr>
            <a:spLocks noGrp="1"/>
          </p:cNvSpPr>
          <p:nvPr/>
        </p:nvSpPr>
        <p:spPr>
          <a:xfrm>
            <a:off x="609600" y="285750"/>
            <a:ext cx="66675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CORE LANGUAGE</a:t>
            </a:r>
          </a:p>
        </p:txBody>
      </p:sp>
      <p:sp>
        <p:nvSpPr>
          <p:cNvPr id="2" name="Rectangle 1">
            <a:extLst>
              <a:ext uri="{FF2B5EF4-FFF2-40B4-BE49-F238E27FC236}">
                <a16:creationId xmlns:a16="http://schemas.microsoft.com/office/drawing/2014/main" id="{061F3BB0-C2B0-48FC-BC64-22D934CEA9BA}"/>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A constraint is a rule the answer must respect</a:t>
            </a:r>
          </a:p>
        </p:txBody>
      </p:sp>
      <p:sp>
        <p:nvSpPr>
          <p:cNvPr id="3" name="Rectangle 2">
            <a:extLst>
              <a:ext uri="{FF2B5EF4-FFF2-40B4-BE49-F238E27FC236}">
                <a16:creationId xmlns:a16="http://schemas.microsoft.com/office/drawing/2014/main" id="{10D839EA-E64C-4595-958D-1FA5C06195E0}"/>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5526B088-A88B-4ABA-9DC2-7C2E2D7B10C0}"/>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0</a:t>
            </a:r>
          </a:p>
        </p:txBody>
      </p:sp>
      <p:sp>
        <p:nvSpPr>
          <p:cNvPr id="5" name="Rectangle 4">
            <a:extLst>
              <a:ext uri="{FF2B5EF4-FFF2-40B4-BE49-F238E27FC236}">
                <a16:creationId xmlns:a16="http://schemas.microsoft.com/office/drawing/2014/main" id="{C8914654-73E9-444D-9AA7-DA5831F33189}"/>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07</a:t>
            </a:r>
          </a:p>
        </p:txBody>
      </p:sp>
      <p:sp>
        <p:nvSpPr>
          <p:cNvPr id="6" name="Rectangle: Rounded Corners 5">
            <a:extLst>
              <a:ext uri="{FF2B5EF4-FFF2-40B4-BE49-F238E27FC236}">
                <a16:creationId xmlns:a16="http://schemas.microsoft.com/office/drawing/2014/main" id="{4C39F216-F070-459A-A732-D950B2BFAA8C}"/>
              </a:ext>
            </a:extLst>
          </p:cNvPr>
          <p:cNvSpPr>
            <a:spLocks noGrp="1"/>
          </p:cNvSpPr>
          <p:nvPr/>
        </p:nvSpPr>
        <p:spPr>
          <a:xfrm>
            <a:off x="952500" y="1619250"/>
            <a:ext cx="2857500" cy="809625"/>
          </a:xfrm>
          <a:prstGeom prst="roundRect">
            <a:avLst>
              <a:gd name="adj" fmla="val 9412"/>
            </a:avLst>
          </a:prstGeom>
          <a:solidFill>
            <a:srgbClr val="F2A93B"/>
          </a:solidFill>
          <a:ln w="0">
            <a:solidFill>
              <a:srgbClr val="F2A93B"/>
            </a:solidFill>
            <a:prstDash val="solid"/>
          </a:ln>
        </p:spPr>
        <p:txBody>
          <a:bodyPr/>
          <a:lstStyle/>
          <a:p>
            <a:endParaRPr lang="en-IQ"/>
          </a:p>
        </p:txBody>
      </p:sp>
      <p:sp>
        <p:nvSpPr>
          <p:cNvPr id="7" name="Rectangle 6">
            <a:extLst>
              <a:ext uri="{FF2B5EF4-FFF2-40B4-BE49-F238E27FC236}">
                <a16:creationId xmlns:a16="http://schemas.microsoft.com/office/drawing/2014/main" id="{489B2E6D-C201-45D4-8FE2-8C880987E901}"/>
              </a:ext>
            </a:extLst>
          </p:cNvPr>
          <p:cNvSpPr>
            <a:spLocks noGrp="1"/>
          </p:cNvSpPr>
          <p:nvPr/>
        </p:nvSpPr>
        <p:spPr>
          <a:xfrm>
            <a:off x="1143000" y="1714500"/>
            <a:ext cx="2476500" cy="619125"/>
          </a:xfrm>
          <a:prstGeom prst="rect">
            <a:avLst/>
          </a:prstGeom>
          <a:noFill/>
          <a:ln w="0">
            <a:noFill/>
            <a:prstDash val="solid"/>
          </a:ln>
        </p:spPr>
        <p:txBody>
          <a:bodyPr anchor="ctr"/>
          <a:lstStyle/>
          <a:p>
            <a:pPr algn="ctr">
              <a:defRPr sz="2025" b="1">
                <a:solidFill>
                  <a:srgbClr val="FFFFFF"/>
                </a:solidFill>
              </a:defRPr>
            </a:pPr>
            <a:r>
              <a:rPr sz="2025" b="1">
                <a:solidFill>
                  <a:srgbClr val="FFFFFF"/>
                </a:solidFill>
              </a:rPr>
              <a:t>CONSTRAINT</a:t>
            </a:r>
          </a:p>
        </p:txBody>
      </p:sp>
      <p:sp>
        <p:nvSpPr>
          <p:cNvPr id="8" name="Oval 7">
            <a:extLst>
              <a:ext uri="{FF2B5EF4-FFF2-40B4-BE49-F238E27FC236}">
                <a16:creationId xmlns:a16="http://schemas.microsoft.com/office/drawing/2014/main" id="{783D4663-DE4B-46E9-8C5F-E2315F9C6C7F}"/>
              </a:ext>
            </a:extLst>
          </p:cNvPr>
          <p:cNvSpPr>
            <a:spLocks noGrp="1"/>
          </p:cNvSpPr>
          <p:nvPr/>
        </p:nvSpPr>
        <p:spPr>
          <a:xfrm>
            <a:off x="4762500" y="1762125"/>
            <a:ext cx="114300" cy="114300"/>
          </a:xfrm>
          <a:prstGeom prst="ellipse">
            <a:avLst/>
          </a:prstGeom>
          <a:solidFill>
            <a:srgbClr val="0B9B91"/>
          </a:solidFill>
          <a:ln w="0">
            <a:solidFill>
              <a:srgbClr val="0B9B91"/>
            </a:solidFill>
            <a:prstDash val="solid"/>
          </a:ln>
        </p:spPr>
        <p:txBody>
          <a:bodyPr/>
          <a:lstStyle/>
          <a:p>
            <a:endParaRPr lang="en-IQ"/>
          </a:p>
        </p:txBody>
      </p:sp>
      <p:sp>
        <p:nvSpPr>
          <p:cNvPr id="9" name="Rectangle 8">
            <a:extLst>
              <a:ext uri="{FF2B5EF4-FFF2-40B4-BE49-F238E27FC236}">
                <a16:creationId xmlns:a16="http://schemas.microsoft.com/office/drawing/2014/main" id="{F6418AD0-7C64-4422-9E2E-3F4B87FDCDF6}"/>
              </a:ext>
            </a:extLst>
          </p:cNvPr>
          <p:cNvSpPr>
            <a:spLocks noGrp="1"/>
          </p:cNvSpPr>
          <p:nvPr/>
        </p:nvSpPr>
        <p:spPr>
          <a:xfrm>
            <a:off x="5038725" y="1571625"/>
            <a:ext cx="5438775" cy="714375"/>
          </a:xfrm>
          <a:prstGeom prst="rect">
            <a:avLst/>
          </a:prstGeom>
          <a:noFill/>
          <a:ln w="0">
            <a:noFill/>
            <a:prstDash val="solid"/>
          </a:ln>
        </p:spPr>
        <p:txBody>
          <a:bodyPr anchor="ctr"/>
          <a:lstStyle/>
          <a:p>
            <a:pPr algn="l">
              <a:defRPr sz="1725" b="0">
                <a:solidFill>
                  <a:srgbClr val="183544"/>
                </a:solidFill>
              </a:defRPr>
            </a:pPr>
            <a:r>
              <a:rPr sz="1725" b="0">
                <a:solidFill>
                  <a:srgbClr val="183544"/>
                </a:solidFill>
              </a:rPr>
              <a:t>budget ≤ available money</a:t>
            </a:r>
          </a:p>
        </p:txBody>
      </p:sp>
      <p:sp>
        <p:nvSpPr>
          <p:cNvPr id="10" name="Oval 9">
            <a:extLst>
              <a:ext uri="{FF2B5EF4-FFF2-40B4-BE49-F238E27FC236}">
                <a16:creationId xmlns:a16="http://schemas.microsoft.com/office/drawing/2014/main" id="{13C261C3-7470-404C-A05B-8D693B7C965C}"/>
              </a:ext>
            </a:extLst>
          </p:cNvPr>
          <p:cNvSpPr>
            <a:spLocks noGrp="1"/>
          </p:cNvSpPr>
          <p:nvPr/>
        </p:nvSpPr>
        <p:spPr>
          <a:xfrm>
            <a:off x="4762500" y="2476500"/>
            <a:ext cx="114300" cy="114300"/>
          </a:xfrm>
          <a:prstGeom prst="ellipse">
            <a:avLst/>
          </a:prstGeom>
          <a:solidFill>
            <a:srgbClr val="0B9B91"/>
          </a:solidFill>
          <a:ln w="0">
            <a:solidFill>
              <a:srgbClr val="0B9B91"/>
            </a:solidFill>
            <a:prstDash val="solid"/>
          </a:ln>
        </p:spPr>
        <p:txBody>
          <a:bodyPr/>
          <a:lstStyle/>
          <a:p>
            <a:endParaRPr lang="en-IQ"/>
          </a:p>
        </p:txBody>
      </p:sp>
      <p:sp>
        <p:nvSpPr>
          <p:cNvPr id="11" name="Rectangle 10">
            <a:extLst>
              <a:ext uri="{FF2B5EF4-FFF2-40B4-BE49-F238E27FC236}">
                <a16:creationId xmlns:a16="http://schemas.microsoft.com/office/drawing/2014/main" id="{B64083DE-AA86-4C25-A421-A4C6C3EEFA5E}"/>
              </a:ext>
            </a:extLst>
          </p:cNvPr>
          <p:cNvSpPr>
            <a:spLocks noGrp="1"/>
          </p:cNvSpPr>
          <p:nvPr/>
        </p:nvSpPr>
        <p:spPr>
          <a:xfrm>
            <a:off x="5038725" y="2286000"/>
            <a:ext cx="5438775" cy="714375"/>
          </a:xfrm>
          <a:prstGeom prst="rect">
            <a:avLst/>
          </a:prstGeom>
          <a:noFill/>
          <a:ln w="0">
            <a:noFill/>
            <a:prstDash val="solid"/>
          </a:ln>
        </p:spPr>
        <p:txBody>
          <a:bodyPr anchor="ctr"/>
          <a:lstStyle/>
          <a:p>
            <a:pPr algn="l">
              <a:defRPr sz="1725" b="0">
                <a:solidFill>
                  <a:srgbClr val="183544"/>
                </a:solidFill>
              </a:defRPr>
            </a:pPr>
            <a:r>
              <a:rPr sz="1725" b="0">
                <a:solidFill>
                  <a:srgbClr val="183544"/>
                </a:solidFill>
              </a:rPr>
              <a:t>capacity not exceeded</a:t>
            </a:r>
          </a:p>
        </p:txBody>
      </p:sp>
      <p:sp>
        <p:nvSpPr>
          <p:cNvPr id="12" name="Oval 11">
            <a:extLst>
              <a:ext uri="{FF2B5EF4-FFF2-40B4-BE49-F238E27FC236}">
                <a16:creationId xmlns:a16="http://schemas.microsoft.com/office/drawing/2014/main" id="{C58CFA48-C4C9-40A7-8B08-9E72BDDDD4E4}"/>
              </a:ext>
            </a:extLst>
          </p:cNvPr>
          <p:cNvSpPr>
            <a:spLocks noGrp="1"/>
          </p:cNvSpPr>
          <p:nvPr/>
        </p:nvSpPr>
        <p:spPr>
          <a:xfrm>
            <a:off x="4762500" y="3190875"/>
            <a:ext cx="114300" cy="114300"/>
          </a:xfrm>
          <a:prstGeom prst="ellipse">
            <a:avLst/>
          </a:prstGeom>
          <a:solidFill>
            <a:srgbClr val="0B9B91"/>
          </a:solidFill>
          <a:ln w="0">
            <a:solidFill>
              <a:srgbClr val="0B9B91"/>
            </a:solidFill>
            <a:prstDash val="solid"/>
          </a:ln>
        </p:spPr>
        <p:txBody>
          <a:bodyPr/>
          <a:lstStyle/>
          <a:p>
            <a:endParaRPr lang="en-IQ"/>
          </a:p>
        </p:txBody>
      </p:sp>
      <p:sp>
        <p:nvSpPr>
          <p:cNvPr id="13" name="Rectangle 12">
            <a:extLst>
              <a:ext uri="{FF2B5EF4-FFF2-40B4-BE49-F238E27FC236}">
                <a16:creationId xmlns:a16="http://schemas.microsoft.com/office/drawing/2014/main" id="{A952788E-0182-48E7-839F-8A98CBDA49A0}"/>
              </a:ext>
            </a:extLst>
          </p:cNvPr>
          <p:cNvSpPr>
            <a:spLocks noGrp="1"/>
          </p:cNvSpPr>
          <p:nvPr/>
        </p:nvSpPr>
        <p:spPr>
          <a:xfrm>
            <a:off x="5038725" y="3000375"/>
            <a:ext cx="5438775" cy="714375"/>
          </a:xfrm>
          <a:prstGeom prst="rect">
            <a:avLst/>
          </a:prstGeom>
          <a:noFill/>
          <a:ln w="0">
            <a:noFill/>
            <a:prstDash val="solid"/>
          </a:ln>
        </p:spPr>
        <p:txBody>
          <a:bodyPr anchor="ctr"/>
          <a:lstStyle/>
          <a:p>
            <a:pPr algn="l">
              <a:defRPr sz="1725" b="0">
                <a:solidFill>
                  <a:srgbClr val="183544"/>
                </a:solidFill>
              </a:defRPr>
            </a:pPr>
            <a:r>
              <a:rPr sz="1725" b="0">
                <a:solidFill>
                  <a:srgbClr val="183544"/>
                </a:solidFill>
              </a:rPr>
              <a:t>deadline met</a:t>
            </a:r>
          </a:p>
        </p:txBody>
      </p:sp>
      <p:sp>
        <p:nvSpPr>
          <p:cNvPr id="14" name="Oval 13">
            <a:extLst>
              <a:ext uri="{FF2B5EF4-FFF2-40B4-BE49-F238E27FC236}">
                <a16:creationId xmlns:a16="http://schemas.microsoft.com/office/drawing/2014/main" id="{D1C6EE24-3953-45EA-99DF-2D7EF58764D4}"/>
              </a:ext>
            </a:extLst>
          </p:cNvPr>
          <p:cNvSpPr>
            <a:spLocks noGrp="1"/>
          </p:cNvSpPr>
          <p:nvPr/>
        </p:nvSpPr>
        <p:spPr>
          <a:xfrm>
            <a:off x="4762500" y="3905250"/>
            <a:ext cx="114300" cy="114300"/>
          </a:xfrm>
          <a:prstGeom prst="ellipse">
            <a:avLst/>
          </a:prstGeom>
          <a:solidFill>
            <a:srgbClr val="0B9B91"/>
          </a:solidFill>
          <a:ln w="0">
            <a:solidFill>
              <a:srgbClr val="0B9B91"/>
            </a:solidFill>
            <a:prstDash val="solid"/>
          </a:ln>
        </p:spPr>
        <p:txBody>
          <a:bodyPr/>
          <a:lstStyle/>
          <a:p>
            <a:endParaRPr lang="en-IQ"/>
          </a:p>
        </p:txBody>
      </p:sp>
      <p:sp>
        <p:nvSpPr>
          <p:cNvPr id="15" name="Rectangle 14">
            <a:extLst>
              <a:ext uri="{FF2B5EF4-FFF2-40B4-BE49-F238E27FC236}">
                <a16:creationId xmlns:a16="http://schemas.microsoft.com/office/drawing/2014/main" id="{F3050033-7446-4D73-8B17-BA824C1568CF}"/>
              </a:ext>
            </a:extLst>
          </p:cNvPr>
          <p:cNvSpPr>
            <a:spLocks noGrp="1"/>
          </p:cNvSpPr>
          <p:nvPr/>
        </p:nvSpPr>
        <p:spPr>
          <a:xfrm>
            <a:off x="5038725" y="3714750"/>
            <a:ext cx="5438775" cy="714375"/>
          </a:xfrm>
          <a:prstGeom prst="rect">
            <a:avLst/>
          </a:prstGeom>
          <a:noFill/>
          <a:ln w="0">
            <a:noFill/>
            <a:prstDash val="solid"/>
          </a:ln>
        </p:spPr>
        <p:txBody>
          <a:bodyPr anchor="ctr"/>
          <a:lstStyle/>
          <a:p>
            <a:pPr algn="l">
              <a:defRPr sz="1725" b="0">
                <a:solidFill>
                  <a:srgbClr val="183544"/>
                </a:solidFill>
              </a:defRPr>
            </a:pPr>
            <a:r>
              <a:rPr sz="1725" b="0">
                <a:solidFill>
                  <a:srgbClr val="183544"/>
                </a:solidFill>
              </a:rPr>
              <a:t>required service included</a:t>
            </a:r>
          </a:p>
        </p:txBody>
      </p:sp>
      <p:sp>
        <p:nvSpPr>
          <p:cNvPr id="16" name="Rectangle: Rounded Corners 15">
            <a:extLst>
              <a:ext uri="{FF2B5EF4-FFF2-40B4-BE49-F238E27FC236}">
                <a16:creationId xmlns:a16="http://schemas.microsoft.com/office/drawing/2014/main" id="{7F1AD24B-1170-47FC-ACE4-7941F8FAB358}"/>
              </a:ext>
            </a:extLst>
          </p:cNvPr>
          <p:cNvSpPr>
            <a:spLocks noGrp="1"/>
          </p:cNvSpPr>
          <p:nvPr/>
        </p:nvSpPr>
        <p:spPr>
          <a:xfrm>
            <a:off x="1714500" y="5286375"/>
            <a:ext cx="8763000" cy="590550"/>
          </a:xfrm>
          <a:prstGeom prst="roundRect">
            <a:avLst>
              <a:gd name="adj" fmla="val 12903"/>
            </a:avLst>
          </a:prstGeom>
          <a:solidFill>
            <a:srgbClr val="E6F3F2"/>
          </a:solidFill>
          <a:ln w="0">
            <a:solidFill>
              <a:srgbClr val="E6F3F2"/>
            </a:solidFill>
            <a:prstDash val="solid"/>
          </a:ln>
        </p:spPr>
        <p:txBody>
          <a:bodyPr/>
          <a:lstStyle/>
          <a:p>
            <a:endParaRPr lang="en-IQ"/>
          </a:p>
        </p:txBody>
      </p:sp>
      <p:sp>
        <p:nvSpPr>
          <p:cNvPr id="17" name="Rectangle 16">
            <a:extLst>
              <a:ext uri="{FF2B5EF4-FFF2-40B4-BE49-F238E27FC236}">
                <a16:creationId xmlns:a16="http://schemas.microsoft.com/office/drawing/2014/main" id="{6D1F3CA0-2060-4EFA-B42C-8668E3E232F5}"/>
              </a:ext>
            </a:extLst>
          </p:cNvPr>
          <p:cNvSpPr>
            <a:spLocks noGrp="1"/>
          </p:cNvSpPr>
          <p:nvPr/>
        </p:nvSpPr>
        <p:spPr>
          <a:xfrm>
            <a:off x="1905000" y="5381625"/>
            <a:ext cx="8382000" cy="400050"/>
          </a:xfrm>
          <a:prstGeom prst="rect">
            <a:avLst/>
          </a:prstGeom>
          <a:noFill/>
          <a:ln w="0">
            <a:noFill/>
            <a:prstDash val="solid"/>
          </a:ln>
        </p:spPr>
        <p:txBody>
          <a:bodyPr anchor="ctr"/>
          <a:lstStyle/>
          <a:p>
            <a:pPr algn="ctr">
              <a:defRPr sz="1575" b="1">
                <a:solidFill>
                  <a:srgbClr val="092A3D"/>
                </a:solidFill>
              </a:defRPr>
            </a:pPr>
            <a:r>
              <a:rPr sz="1575" b="1">
                <a:solidFill>
                  <a:srgbClr val="092A3D"/>
                </a:solidFill>
              </a:rPr>
              <a:t>A cheap answer is useless if it breaks a mandatory rule.</a:t>
            </a:r>
          </a:p>
        </p:txBody>
      </p:sp>
    </p:spTree>
    <p:extLst>
      <p:ext uri="{BB962C8B-B14F-4D97-AF65-F5344CB8AC3E}">
        <p14:creationId xmlns:p14="http://schemas.microsoft.com/office/powerpoint/2010/main" val="1251841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108BE61-B07D-4C63-B8CB-778778CBCE36}"/>
              </a:ext>
            </a:extLst>
          </p:cNvPr>
          <p:cNvSpPr>
            <a:spLocks noGrp="1"/>
          </p:cNvSpPr>
          <p:nvPr/>
        </p:nvSpPr>
        <p:spPr>
          <a:xfrm>
            <a:off x="609600" y="285750"/>
            <a:ext cx="66675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CORE LANGUAGE</a:t>
            </a:r>
          </a:p>
        </p:txBody>
      </p:sp>
      <p:sp>
        <p:nvSpPr>
          <p:cNvPr id="2" name="Rectangle 1">
            <a:extLst>
              <a:ext uri="{FF2B5EF4-FFF2-40B4-BE49-F238E27FC236}">
                <a16:creationId xmlns:a16="http://schemas.microsoft.com/office/drawing/2014/main" id="{9CF2D870-EF59-4F66-B3F4-8F440E06E28C}"/>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Problem data are facts supplied to the model</a:t>
            </a:r>
          </a:p>
        </p:txBody>
      </p:sp>
      <p:sp>
        <p:nvSpPr>
          <p:cNvPr id="3" name="Rectangle 2">
            <a:extLst>
              <a:ext uri="{FF2B5EF4-FFF2-40B4-BE49-F238E27FC236}">
                <a16:creationId xmlns:a16="http://schemas.microsoft.com/office/drawing/2014/main" id="{3D5B992B-BBBE-4E90-9EA3-D5711624E8A4}"/>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1A4F1617-232E-450E-B3F5-0E256E5AD851}"/>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0</a:t>
            </a:r>
          </a:p>
        </p:txBody>
      </p:sp>
      <p:sp>
        <p:nvSpPr>
          <p:cNvPr id="5" name="Rectangle 4">
            <a:extLst>
              <a:ext uri="{FF2B5EF4-FFF2-40B4-BE49-F238E27FC236}">
                <a16:creationId xmlns:a16="http://schemas.microsoft.com/office/drawing/2014/main" id="{E11824EA-D23D-4C67-A982-FC1FB0AA5627}"/>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08</a:t>
            </a:r>
          </a:p>
        </p:txBody>
      </p:sp>
      <p:sp>
        <p:nvSpPr>
          <p:cNvPr id="6" name="Rectangle: Rounded Corners 5">
            <a:extLst>
              <a:ext uri="{FF2B5EF4-FFF2-40B4-BE49-F238E27FC236}">
                <a16:creationId xmlns:a16="http://schemas.microsoft.com/office/drawing/2014/main" id="{01BC2C9C-6D16-4AD0-AAD6-6965F9880AF8}"/>
              </a:ext>
            </a:extLst>
          </p:cNvPr>
          <p:cNvSpPr>
            <a:spLocks noGrp="1"/>
          </p:cNvSpPr>
          <p:nvPr/>
        </p:nvSpPr>
        <p:spPr>
          <a:xfrm>
            <a:off x="952500" y="1619250"/>
            <a:ext cx="2857500" cy="809625"/>
          </a:xfrm>
          <a:prstGeom prst="roundRect">
            <a:avLst>
              <a:gd name="adj" fmla="val 9412"/>
            </a:avLst>
          </a:prstGeom>
          <a:solidFill>
            <a:srgbClr val="092A3D"/>
          </a:solidFill>
          <a:ln w="0">
            <a:solidFill>
              <a:srgbClr val="092A3D"/>
            </a:solidFill>
            <a:prstDash val="solid"/>
          </a:ln>
        </p:spPr>
        <p:txBody>
          <a:bodyPr/>
          <a:lstStyle/>
          <a:p>
            <a:endParaRPr lang="en-IQ"/>
          </a:p>
        </p:txBody>
      </p:sp>
      <p:sp>
        <p:nvSpPr>
          <p:cNvPr id="7" name="Rectangle 6">
            <a:extLst>
              <a:ext uri="{FF2B5EF4-FFF2-40B4-BE49-F238E27FC236}">
                <a16:creationId xmlns:a16="http://schemas.microsoft.com/office/drawing/2014/main" id="{3A273BA4-5ABE-4877-BB81-972BD9DB907A}"/>
              </a:ext>
            </a:extLst>
          </p:cNvPr>
          <p:cNvSpPr>
            <a:spLocks noGrp="1"/>
          </p:cNvSpPr>
          <p:nvPr/>
        </p:nvSpPr>
        <p:spPr>
          <a:xfrm>
            <a:off x="1143000" y="1714500"/>
            <a:ext cx="2476500" cy="619125"/>
          </a:xfrm>
          <a:prstGeom prst="rect">
            <a:avLst/>
          </a:prstGeom>
          <a:noFill/>
          <a:ln w="0">
            <a:noFill/>
            <a:prstDash val="solid"/>
          </a:ln>
        </p:spPr>
        <p:txBody>
          <a:bodyPr anchor="ctr"/>
          <a:lstStyle/>
          <a:p>
            <a:pPr algn="ctr">
              <a:defRPr sz="2025" b="1">
                <a:solidFill>
                  <a:srgbClr val="FFFFFF"/>
                </a:solidFill>
              </a:defRPr>
            </a:pPr>
            <a:r>
              <a:rPr sz="2025" b="1">
                <a:solidFill>
                  <a:srgbClr val="FFFFFF"/>
                </a:solidFill>
              </a:rPr>
              <a:t>DATA</a:t>
            </a:r>
          </a:p>
        </p:txBody>
      </p:sp>
      <p:sp>
        <p:nvSpPr>
          <p:cNvPr id="8" name="Oval 7">
            <a:extLst>
              <a:ext uri="{FF2B5EF4-FFF2-40B4-BE49-F238E27FC236}">
                <a16:creationId xmlns:a16="http://schemas.microsoft.com/office/drawing/2014/main" id="{4D05AFFF-E336-45BB-9E71-C0ECBB390806}"/>
              </a:ext>
            </a:extLst>
          </p:cNvPr>
          <p:cNvSpPr>
            <a:spLocks noGrp="1"/>
          </p:cNvSpPr>
          <p:nvPr/>
        </p:nvSpPr>
        <p:spPr>
          <a:xfrm>
            <a:off x="4762500" y="1762125"/>
            <a:ext cx="114300" cy="114300"/>
          </a:xfrm>
          <a:prstGeom prst="ellipse">
            <a:avLst/>
          </a:prstGeom>
          <a:solidFill>
            <a:srgbClr val="0B9B91"/>
          </a:solidFill>
          <a:ln w="0">
            <a:solidFill>
              <a:srgbClr val="0B9B91"/>
            </a:solidFill>
            <a:prstDash val="solid"/>
          </a:ln>
        </p:spPr>
        <p:txBody>
          <a:bodyPr/>
          <a:lstStyle/>
          <a:p>
            <a:endParaRPr lang="en-IQ"/>
          </a:p>
        </p:txBody>
      </p:sp>
      <p:sp>
        <p:nvSpPr>
          <p:cNvPr id="9" name="Rectangle 8">
            <a:extLst>
              <a:ext uri="{FF2B5EF4-FFF2-40B4-BE49-F238E27FC236}">
                <a16:creationId xmlns:a16="http://schemas.microsoft.com/office/drawing/2014/main" id="{90D63E40-EC0A-45AA-91CB-ECC10225E760}"/>
              </a:ext>
            </a:extLst>
          </p:cNvPr>
          <p:cNvSpPr>
            <a:spLocks noGrp="1"/>
          </p:cNvSpPr>
          <p:nvPr/>
        </p:nvSpPr>
        <p:spPr>
          <a:xfrm>
            <a:off x="5038725" y="1571625"/>
            <a:ext cx="5438775" cy="714375"/>
          </a:xfrm>
          <a:prstGeom prst="rect">
            <a:avLst/>
          </a:prstGeom>
          <a:noFill/>
          <a:ln w="0">
            <a:noFill/>
            <a:prstDash val="solid"/>
          </a:ln>
        </p:spPr>
        <p:txBody>
          <a:bodyPr anchor="ctr"/>
          <a:lstStyle/>
          <a:p>
            <a:pPr algn="l">
              <a:defRPr sz="1725" b="0">
                <a:solidFill>
                  <a:srgbClr val="183544"/>
                </a:solidFill>
              </a:defRPr>
            </a:pPr>
            <a:r>
              <a:rPr sz="1725" b="0">
                <a:solidFill>
                  <a:srgbClr val="183544"/>
                </a:solidFill>
              </a:rPr>
              <a:t>prices</a:t>
            </a:r>
          </a:p>
        </p:txBody>
      </p:sp>
      <p:sp>
        <p:nvSpPr>
          <p:cNvPr id="10" name="Oval 9">
            <a:extLst>
              <a:ext uri="{FF2B5EF4-FFF2-40B4-BE49-F238E27FC236}">
                <a16:creationId xmlns:a16="http://schemas.microsoft.com/office/drawing/2014/main" id="{95715496-6B91-4142-8E14-C386D5B50D95}"/>
              </a:ext>
            </a:extLst>
          </p:cNvPr>
          <p:cNvSpPr>
            <a:spLocks noGrp="1"/>
          </p:cNvSpPr>
          <p:nvPr/>
        </p:nvSpPr>
        <p:spPr>
          <a:xfrm>
            <a:off x="4762500" y="2476500"/>
            <a:ext cx="114300" cy="114300"/>
          </a:xfrm>
          <a:prstGeom prst="ellipse">
            <a:avLst/>
          </a:prstGeom>
          <a:solidFill>
            <a:srgbClr val="0B9B91"/>
          </a:solidFill>
          <a:ln w="0">
            <a:solidFill>
              <a:srgbClr val="0B9B91"/>
            </a:solidFill>
            <a:prstDash val="solid"/>
          </a:ln>
        </p:spPr>
        <p:txBody>
          <a:bodyPr/>
          <a:lstStyle/>
          <a:p>
            <a:endParaRPr lang="en-IQ"/>
          </a:p>
        </p:txBody>
      </p:sp>
      <p:sp>
        <p:nvSpPr>
          <p:cNvPr id="11" name="Rectangle 10">
            <a:extLst>
              <a:ext uri="{FF2B5EF4-FFF2-40B4-BE49-F238E27FC236}">
                <a16:creationId xmlns:a16="http://schemas.microsoft.com/office/drawing/2014/main" id="{58E913D1-0642-48A7-9A09-AD828FCEE324}"/>
              </a:ext>
            </a:extLst>
          </p:cNvPr>
          <p:cNvSpPr>
            <a:spLocks noGrp="1"/>
          </p:cNvSpPr>
          <p:nvPr/>
        </p:nvSpPr>
        <p:spPr>
          <a:xfrm>
            <a:off x="5038725" y="2286000"/>
            <a:ext cx="5438775" cy="714375"/>
          </a:xfrm>
          <a:prstGeom prst="rect">
            <a:avLst/>
          </a:prstGeom>
          <a:noFill/>
          <a:ln w="0">
            <a:noFill/>
            <a:prstDash val="solid"/>
          </a:ln>
        </p:spPr>
        <p:txBody>
          <a:bodyPr anchor="ctr"/>
          <a:lstStyle/>
          <a:p>
            <a:pPr algn="l">
              <a:defRPr sz="1725" b="0">
                <a:solidFill>
                  <a:srgbClr val="183544"/>
                </a:solidFill>
              </a:defRPr>
            </a:pPr>
            <a:r>
              <a:rPr sz="1725" b="0">
                <a:solidFill>
                  <a:srgbClr val="183544"/>
                </a:solidFill>
              </a:rPr>
              <a:t>capacities</a:t>
            </a:r>
          </a:p>
        </p:txBody>
      </p:sp>
      <p:sp>
        <p:nvSpPr>
          <p:cNvPr id="12" name="Oval 11">
            <a:extLst>
              <a:ext uri="{FF2B5EF4-FFF2-40B4-BE49-F238E27FC236}">
                <a16:creationId xmlns:a16="http://schemas.microsoft.com/office/drawing/2014/main" id="{1CF86233-3649-49A0-9704-B00514E0BB66}"/>
              </a:ext>
            </a:extLst>
          </p:cNvPr>
          <p:cNvSpPr>
            <a:spLocks noGrp="1"/>
          </p:cNvSpPr>
          <p:nvPr/>
        </p:nvSpPr>
        <p:spPr>
          <a:xfrm>
            <a:off x="4762500" y="3190875"/>
            <a:ext cx="114300" cy="114300"/>
          </a:xfrm>
          <a:prstGeom prst="ellipse">
            <a:avLst/>
          </a:prstGeom>
          <a:solidFill>
            <a:srgbClr val="0B9B91"/>
          </a:solidFill>
          <a:ln w="0">
            <a:solidFill>
              <a:srgbClr val="0B9B91"/>
            </a:solidFill>
            <a:prstDash val="solid"/>
          </a:ln>
        </p:spPr>
        <p:txBody>
          <a:bodyPr/>
          <a:lstStyle/>
          <a:p>
            <a:endParaRPr lang="en-IQ"/>
          </a:p>
        </p:txBody>
      </p:sp>
      <p:sp>
        <p:nvSpPr>
          <p:cNvPr id="13" name="Rectangle 12">
            <a:extLst>
              <a:ext uri="{FF2B5EF4-FFF2-40B4-BE49-F238E27FC236}">
                <a16:creationId xmlns:a16="http://schemas.microsoft.com/office/drawing/2014/main" id="{B970F33D-9054-46AF-86EF-16D9684C21A4}"/>
              </a:ext>
            </a:extLst>
          </p:cNvPr>
          <p:cNvSpPr>
            <a:spLocks noGrp="1"/>
          </p:cNvSpPr>
          <p:nvPr/>
        </p:nvSpPr>
        <p:spPr>
          <a:xfrm>
            <a:off x="5038725" y="3000375"/>
            <a:ext cx="5438775" cy="714375"/>
          </a:xfrm>
          <a:prstGeom prst="rect">
            <a:avLst/>
          </a:prstGeom>
          <a:noFill/>
          <a:ln w="0">
            <a:noFill/>
            <a:prstDash val="solid"/>
          </a:ln>
        </p:spPr>
        <p:txBody>
          <a:bodyPr anchor="ctr"/>
          <a:lstStyle/>
          <a:p>
            <a:pPr algn="l">
              <a:defRPr sz="1725" b="0">
                <a:solidFill>
                  <a:srgbClr val="183544"/>
                </a:solidFill>
              </a:defRPr>
            </a:pPr>
            <a:r>
              <a:rPr sz="1725" b="0">
                <a:solidFill>
                  <a:srgbClr val="183544"/>
                </a:solidFill>
              </a:rPr>
              <a:t>distances</a:t>
            </a:r>
          </a:p>
        </p:txBody>
      </p:sp>
      <p:sp>
        <p:nvSpPr>
          <p:cNvPr id="14" name="Oval 13">
            <a:extLst>
              <a:ext uri="{FF2B5EF4-FFF2-40B4-BE49-F238E27FC236}">
                <a16:creationId xmlns:a16="http://schemas.microsoft.com/office/drawing/2014/main" id="{76B8E515-1F4E-41B0-B804-2A87EDA3904A}"/>
              </a:ext>
            </a:extLst>
          </p:cNvPr>
          <p:cNvSpPr>
            <a:spLocks noGrp="1"/>
          </p:cNvSpPr>
          <p:nvPr/>
        </p:nvSpPr>
        <p:spPr>
          <a:xfrm>
            <a:off x="4762500" y="3905250"/>
            <a:ext cx="114300" cy="114300"/>
          </a:xfrm>
          <a:prstGeom prst="ellipse">
            <a:avLst/>
          </a:prstGeom>
          <a:solidFill>
            <a:srgbClr val="0B9B91"/>
          </a:solidFill>
          <a:ln w="0">
            <a:solidFill>
              <a:srgbClr val="0B9B91"/>
            </a:solidFill>
            <a:prstDash val="solid"/>
          </a:ln>
        </p:spPr>
        <p:txBody>
          <a:bodyPr/>
          <a:lstStyle/>
          <a:p>
            <a:endParaRPr lang="en-IQ"/>
          </a:p>
        </p:txBody>
      </p:sp>
      <p:sp>
        <p:nvSpPr>
          <p:cNvPr id="15" name="Rectangle 14">
            <a:extLst>
              <a:ext uri="{FF2B5EF4-FFF2-40B4-BE49-F238E27FC236}">
                <a16:creationId xmlns:a16="http://schemas.microsoft.com/office/drawing/2014/main" id="{C91B4FC4-5F9D-44FB-B2A0-561E4C6EF00F}"/>
              </a:ext>
            </a:extLst>
          </p:cNvPr>
          <p:cNvSpPr>
            <a:spLocks noGrp="1"/>
          </p:cNvSpPr>
          <p:nvPr/>
        </p:nvSpPr>
        <p:spPr>
          <a:xfrm>
            <a:off x="5038725" y="3714750"/>
            <a:ext cx="5438775" cy="714375"/>
          </a:xfrm>
          <a:prstGeom prst="rect">
            <a:avLst/>
          </a:prstGeom>
          <a:noFill/>
          <a:ln w="0">
            <a:noFill/>
            <a:prstDash val="solid"/>
          </a:ln>
        </p:spPr>
        <p:txBody>
          <a:bodyPr anchor="ctr"/>
          <a:lstStyle/>
          <a:p>
            <a:pPr algn="l">
              <a:defRPr sz="1725" b="0">
                <a:solidFill>
                  <a:srgbClr val="183544"/>
                </a:solidFill>
              </a:defRPr>
            </a:pPr>
            <a:r>
              <a:rPr sz="1725" b="0">
                <a:solidFill>
                  <a:srgbClr val="183544"/>
                </a:solidFill>
              </a:rPr>
              <a:t>task durations</a:t>
            </a:r>
          </a:p>
        </p:txBody>
      </p:sp>
      <p:sp>
        <p:nvSpPr>
          <p:cNvPr id="16" name="Rectangle: Rounded Corners 15">
            <a:extLst>
              <a:ext uri="{FF2B5EF4-FFF2-40B4-BE49-F238E27FC236}">
                <a16:creationId xmlns:a16="http://schemas.microsoft.com/office/drawing/2014/main" id="{357D1057-22E9-46D8-AEBC-E6EC0C3E4DF7}"/>
              </a:ext>
            </a:extLst>
          </p:cNvPr>
          <p:cNvSpPr>
            <a:spLocks noGrp="1"/>
          </p:cNvSpPr>
          <p:nvPr/>
        </p:nvSpPr>
        <p:spPr>
          <a:xfrm>
            <a:off x="1714500" y="5286375"/>
            <a:ext cx="8763000" cy="590550"/>
          </a:xfrm>
          <a:prstGeom prst="roundRect">
            <a:avLst>
              <a:gd name="adj" fmla="val 12903"/>
            </a:avLst>
          </a:prstGeom>
          <a:solidFill>
            <a:srgbClr val="E6F3F2"/>
          </a:solidFill>
          <a:ln w="0">
            <a:solidFill>
              <a:srgbClr val="E6F3F2"/>
            </a:solidFill>
            <a:prstDash val="solid"/>
          </a:ln>
        </p:spPr>
        <p:txBody>
          <a:bodyPr/>
          <a:lstStyle/>
          <a:p>
            <a:endParaRPr lang="en-IQ"/>
          </a:p>
        </p:txBody>
      </p:sp>
      <p:sp>
        <p:nvSpPr>
          <p:cNvPr id="17" name="Rectangle 16">
            <a:extLst>
              <a:ext uri="{FF2B5EF4-FFF2-40B4-BE49-F238E27FC236}">
                <a16:creationId xmlns:a16="http://schemas.microsoft.com/office/drawing/2014/main" id="{39FBFF2A-5CAC-4348-A192-E99A460120E2}"/>
              </a:ext>
            </a:extLst>
          </p:cNvPr>
          <p:cNvSpPr>
            <a:spLocks noGrp="1"/>
          </p:cNvSpPr>
          <p:nvPr/>
        </p:nvSpPr>
        <p:spPr>
          <a:xfrm>
            <a:off x="1905000" y="5381625"/>
            <a:ext cx="8382000" cy="400050"/>
          </a:xfrm>
          <a:prstGeom prst="rect">
            <a:avLst/>
          </a:prstGeom>
          <a:noFill/>
          <a:ln w="0">
            <a:noFill/>
            <a:prstDash val="solid"/>
          </a:ln>
        </p:spPr>
        <p:txBody>
          <a:bodyPr anchor="ctr"/>
          <a:lstStyle/>
          <a:p>
            <a:pPr algn="ctr">
              <a:defRPr sz="1575" b="1">
                <a:solidFill>
                  <a:srgbClr val="092A3D"/>
                </a:solidFill>
              </a:defRPr>
            </a:pPr>
            <a:r>
              <a:rPr sz="1575" b="1">
                <a:solidFill>
                  <a:srgbClr val="092A3D"/>
                </a:solidFill>
              </a:rPr>
              <a:t>Data are inputs; decisions are outputs of the model.</a:t>
            </a:r>
          </a:p>
        </p:txBody>
      </p:sp>
    </p:spTree>
    <p:extLst>
      <p:ext uri="{BB962C8B-B14F-4D97-AF65-F5344CB8AC3E}">
        <p14:creationId xmlns:p14="http://schemas.microsoft.com/office/powerpoint/2010/main" val="18155123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29F8A15-4587-48A5-AA2C-C03AF2A0B35B}"/>
              </a:ext>
            </a:extLst>
          </p:cNvPr>
          <p:cNvSpPr>
            <a:spLocks noGrp="1"/>
          </p:cNvSpPr>
          <p:nvPr/>
        </p:nvSpPr>
        <p:spPr>
          <a:xfrm>
            <a:off x="609600" y="285750"/>
            <a:ext cx="66675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CANDIDATES</a:t>
            </a:r>
          </a:p>
        </p:txBody>
      </p:sp>
      <p:sp>
        <p:nvSpPr>
          <p:cNvPr id="2" name="Rectangle 1">
            <a:extLst>
              <a:ext uri="{FF2B5EF4-FFF2-40B4-BE49-F238E27FC236}">
                <a16:creationId xmlns:a16="http://schemas.microsoft.com/office/drawing/2014/main" id="{694D1E89-7A3A-4D06-AB9D-537BE47D61E8}"/>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A candidate solution is one complete proposal</a:t>
            </a:r>
          </a:p>
        </p:txBody>
      </p:sp>
      <p:sp>
        <p:nvSpPr>
          <p:cNvPr id="3" name="Rectangle 2">
            <a:extLst>
              <a:ext uri="{FF2B5EF4-FFF2-40B4-BE49-F238E27FC236}">
                <a16:creationId xmlns:a16="http://schemas.microsoft.com/office/drawing/2014/main" id="{1C6A3201-506B-45F4-9263-47001B800FAE}"/>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0EC062DC-D4F3-4B6B-9228-AF9B22497924}"/>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0</a:t>
            </a:r>
          </a:p>
        </p:txBody>
      </p:sp>
      <p:sp>
        <p:nvSpPr>
          <p:cNvPr id="5" name="Rectangle 4">
            <a:extLst>
              <a:ext uri="{FF2B5EF4-FFF2-40B4-BE49-F238E27FC236}">
                <a16:creationId xmlns:a16="http://schemas.microsoft.com/office/drawing/2014/main" id="{5F517FF2-4C97-4D24-9FFB-F6D69F129FA9}"/>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09</a:t>
            </a:r>
          </a:p>
        </p:txBody>
      </p:sp>
      <p:sp>
        <p:nvSpPr>
          <p:cNvPr id="6" name="Rectangle: Rounded Corners 5">
            <a:extLst>
              <a:ext uri="{FF2B5EF4-FFF2-40B4-BE49-F238E27FC236}">
                <a16:creationId xmlns:a16="http://schemas.microsoft.com/office/drawing/2014/main" id="{29B78AF2-DCA4-4DD3-BBD7-E0C09E8EC415}"/>
              </a:ext>
            </a:extLst>
          </p:cNvPr>
          <p:cNvSpPr>
            <a:spLocks noGrp="1"/>
          </p:cNvSpPr>
          <p:nvPr/>
        </p:nvSpPr>
        <p:spPr>
          <a:xfrm>
            <a:off x="952500" y="1619250"/>
            <a:ext cx="4095750" cy="3619500"/>
          </a:xfrm>
          <a:prstGeom prst="roundRect">
            <a:avLst>
              <a:gd name="adj" fmla="val 2105"/>
            </a:avLst>
          </a:prstGeom>
          <a:solidFill>
            <a:srgbClr val="FFFFFF"/>
          </a:solidFill>
          <a:ln w="9525">
            <a:solidFill>
              <a:srgbClr val="CED9DB"/>
            </a:solidFill>
            <a:prstDash val="solid"/>
          </a:ln>
        </p:spPr>
        <p:txBody>
          <a:bodyPr/>
          <a:lstStyle/>
          <a:p>
            <a:endParaRPr lang="en-IQ"/>
          </a:p>
        </p:txBody>
      </p:sp>
      <p:sp>
        <p:nvSpPr>
          <p:cNvPr id="7" name="Rectangle 6">
            <a:extLst>
              <a:ext uri="{FF2B5EF4-FFF2-40B4-BE49-F238E27FC236}">
                <a16:creationId xmlns:a16="http://schemas.microsoft.com/office/drawing/2014/main" id="{811B4431-1130-4CA9-9E89-845E9954B2AA}"/>
              </a:ext>
            </a:extLst>
          </p:cNvPr>
          <p:cNvSpPr>
            <a:spLocks noGrp="1"/>
          </p:cNvSpPr>
          <p:nvPr/>
        </p:nvSpPr>
        <p:spPr>
          <a:xfrm>
            <a:off x="1285875" y="1952625"/>
            <a:ext cx="3429000" cy="342900"/>
          </a:xfrm>
          <a:prstGeom prst="rect">
            <a:avLst/>
          </a:prstGeom>
          <a:noFill/>
          <a:ln w="0">
            <a:noFill/>
            <a:prstDash val="solid"/>
          </a:ln>
        </p:spPr>
        <p:txBody>
          <a:bodyPr anchor="ctr"/>
          <a:lstStyle/>
          <a:p>
            <a:pPr algn="ctr">
              <a:defRPr sz="1800" b="1">
                <a:solidFill>
                  <a:srgbClr val="0B9B91"/>
                </a:solidFill>
              </a:defRPr>
            </a:pPr>
            <a:r>
              <a:rPr sz="1800" b="1">
                <a:solidFill>
                  <a:srgbClr val="0B9B91"/>
                </a:solidFill>
              </a:rPr>
              <a:t>CANDIDATE A</a:t>
            </a:r>
          </a:p>
        </p:txBody>
      </p:sp>
      <p:sp>
        <p:nvSpPr>
          <p:cNvPr id="8" name="Rectangle 7">
            <a:extLst>
              <a:ext uri="{FF2B5EF4-FFF2-40B4-BE49-F238E27FC236}">
                <a16:creationId xmlns:a16="http://schemas.microsoft.com/office/drawing/2014/main" id="{1AFBFC56-0924-4ACC-A412-8E0215943D4C}"/>
              </a:ext>
            </a:extLst>
          </p:cNvPr>
          <p:cNvSpPr>
            <a:spLocks noGrp="1"/>
          </p:cNvSpPr>
          <p:nvPr/>
        </p:nvSpPr>
        <p:spPr>
          <a:xfrm>
            <a:off x="1476375" y="2714625"/>
            <a:ext cx="3048000" cy="1714500"/>
          </a:xfrm>
          <a:prstGeom prst="rect">
            <a:avLst/>
          </a:prstGeom>
          <a:noFill/>
          <a:ln w="0">
            <a:noFill/>
            <a:prstDash val="solid"/>
          </a:ln>
        </p:spPr>
        <p:txBody>
          <a:bodyPr anchor="ctr"/>
          <a:lstStyle/>
          <a:p>
            <a:pPr algn="ctr">
              <a:defRPr sz="1800" b="1">
                <a:solidFill>
                  <a:srgbClr val="092A3D"/>
                </a:solidFill>
              </a:defRPr>
            </a:pPr>
            <a:r>
              <a:rPr sz="1800" b="1">
                <a:solidFill>
                  <a:srgbClr val="092A3D"/>
                </a:solidFill>
              </a:rPr>
              <a:t>Laptop: Model X</a:t>
            </a:r>
          </a:p>
          <a:p>
            <a:pPr algn="ctr">
              <a:defRPr sz="1800" b="1">
                <a:solidFill>
                  <a:srgbClr val="092A3D"/>
                </a:solidFill>
              </a:defRPr>
            </a:pPr>
            <a:r>
              <a:rPr sz="1800" b="1">
                <a:solidFill>
                  <a:srgbClr val="092A3D"/>
                </a:solidFill>
              </a:rPr>
              <a:t>RAM: 16 GB</a:t>
            </a:r>
          </a:p>
          <a:p>
            <a:pPr algn="ctr">
              <a:defRPr sz="1800" b="1">
                <a:solidFill>
                  <a:srgbClr val="092A3D"/>
                </a:solidFill>
              </a:defRPr>
            </a:pPr>
            <a:r>
              <a:rPr sz="1800" b="1">
                <a:solidFill>
                  <a:srgbClr val="092A3D"/>
                </a:solidFill>
              </a:rPr>
              <a:t>Storage: 512 GB</a:t>
            </a:r>
          </a:p>
          <a:p>
            <a:pPr algn="ctr">
              <a:defRPr sz="1800" b="1">
                <a:solidFill>
                  <a:srgbClr val="092A3D"/>
                </a:solidFill>
              </a:defRPr>
            </a:pPr>
            <a:r>
              <a:rPr sz="1800" b="1">
                <a:solidFill>
                  <a:srgbClr val="092A3D"/>
                </a:solidFill>
              </a:rPr>
              <a:t>Price: 850 USD</a:t>
            </a:r>
          </a:p>
        </p:txBody>
      </p:sp>
      <p:sp>
        <p:nvSpPr>
          <p:cNvPr id="9" name="Rectangle: Rounded Corners 8">
            <a:extLst>
              <a:ext uri="{FF2B5EF4-FFF2-40B4-BE49-F238E27FC236}">
                <a16:creationId xmlns:a16="http://schemas.microsoft.com/office/drawing/2014/main" id="{3ECA8CC0-B4BD-4D81-8C87-1164F5277C38}"/>
              </a:ext>
            </a:extLst>
          </p:cNvPr>
          <p:cNvSpPr>
            <a:spLocks noGrp="1"/>
          </p:cNvSpPr>
          <p:nvPr/>
        </p:nvSpPr>
        <p:spPr>
          <a:xfrm>
            <a:off x="6381750" y="1619250"/>
            <a:ext cx="4095750" cy="3619500"/>
          </a:xfrm>
          <a:prstGeom prst="roundRect">
            <a:avLst>
              <a:gd name="adj" fmla="val 2105"/>
            </a:avLst>
          </a:prstGeom>
          <a:solidFill>
            <a:srgbClr val="FFFFFF"/>
          </a:solidFill>
          <a:ln w="9525">
            <a:solidFill>
              <a:srgbClr val="CED9DB"/>
            </a:solidFill>
            <a:prstDash val="solid"/>
          </a:ln>
        </p:spPr>
        <p:txBody>
          <a:bodyPr/>
          <a:lstStyle/>
          <a:p>
            <a:endParaRPr lang="en-IQ"/>
          </a:p>
        </p:txBody>
      </p:sp>
      <p:sp>
        <p:nvSpPr>
          <p:cNvPr id="10" name="Rectangle 9">
            <a:extLst>
              <a:ext uri="{FF2B5EF4-FFF2-40B4-BE49-F238E27FC236}">
                <a16:creationId xmlns:a16="http://schemas.microsoft.com/office/drawing/2014/main" id="{6D1F85AE-0702-4A2C-AE61-1E47915E55A8}"/>
              </a:ext>
            </a:extLst>
          </p:cNvPr>
          <p:cNvSpPr>
            <a:spLocks noGrp="1"/>
          </p:cNvSpPr>
          <p:nvPr/>
        </p:nvSpPr>
        <p:spPr>
          <a:xfrm>
            <a:off x="6715125" y="1952625"/>
            <a:ext cx="3429000" cy="342900"/>
          </a:xfrm>
          <a:prstGeom prst="rect">
            <a:avLst/>
          </a:prstGeom>
          <a:noFill/>
          <a:ln w="0">
            <a:noFill/>
            <a:prstDash val="solid"/>
          </a:ln>
        </p:spPr>
        <p:txBody>
          <a:bodyPr anchor="ctr"/>
          <a:lstStyle/>
          <a:p>
            <a:pPr algn="ctr">
              <a:defRPr sz="1800" b="1">
                <a:solidFill>
                  <a:srgbClr val="2878B5"/>
                </a:solidFill>
              </a:defRPr>
            </a:pPr>
            <a:r>
              <a:rPr sz="1800" b="1">
                <a:solidFill>
                  <a:srgbClr val="2878B5"/>
                </a:solidFill>
              </a:rPr>
              <a:t>CANDIDATE B</a:t>
            </a:r>
          </a:p>
        </p:txBody>
      </p:sp>
      <p:sp>
        <p:nvSpPr>
          <p:cNvPr id="11" name="Rectangle 10">
            <a:extLst>
              <a:ext uri="{FF2B5EF4-FFF2-40B4-BE49-F238E27FC236}">
                <a16:creationId xmlns:a16="http://schemas.microsoft.com/office/drawing/2014/main" id="{6DE687C9-1145-4D7A-9F4D-32200CF560C3}"/>
              </a:ext>
            </a:extLst>
          </p:cNvPr>
          <p:cNvSpPr>
            <a:spLocks noGrp="1"/>
          </p:cNvSpPr>
          <p:nvPr/>
        </p:nvSpPr>
        <p:spPr>
          <a:xfrm>
            <a:off x="6905625" y="2714625"/>
            <a:ext cx="3048000" cy="1714500"/>
          </a:xfrm>
          <a:prstGeom prst="rect">
            <a:avLst/>
          </a:prstGeom>
          <a:noFill/>
          <a:ln w="0">
            <a:noFill/>
            <a:prstDash val="solid"/>
          </a:ln>
        </p:spPr>
        <p:txBody>
          <a:bodyPr anchor="ctr"/>
          <a:lstStyle/>
          <a:p>
            <a:pPr algn="ctr">
              <a:defRPr sz="1800" b="1">
                <a:solidFill>
                  <a:srgbClr val="092A3D"/>
                </a:solidFill>
              </a:defRPr>
            </a:pPr>
            <a:r>
              <a:rPr sz="1800" b="1">
                <a:solidFill>
                  <a:srgbClr val="092A3D"/>
                </a:solidFill>
              </a:rPr>
              <a:t>Laptop: Model Y</a:t>
            </a:r>
          </a:p>
          <a:p>
            <a:pPr algn="ctr">
              <a:defRPr sz="1800" b="1">
                <a:solidFill>
                  <a:srgbClr val="092A3D"/>
                </a:solidFill>
              </a:defRPr>
            </a:pPr>
            <a:r>
              <a:rPr sz="1800" b="1">
                <a:solidFill>
                  <a:srgbClr val="092A3D"/>
                </a:solidFill>
              </a:rPr>
              <a:t>RAM: 32 GB</a:t>
            </a:r>
          </a:p>
          <a:p>
            <a:pPr algn="ctr">
              <a:defRPr sz="1800" b="1">
                <a:solidFill>
                  <a:srgbClr val="092A3D"/>
                </a:solidFill>
              </a:defRPr>
            </a:pPr>
            <a:r>
              <a:rPr sz="1800" b="1">
                <a:solidFill>
                  <a:srgbClr val="092A3D"/>
                </a:solidFill>
              </a:rPr>
              <a:t>Storage: 1 TB</a:t>
            </a:r>
          </a:p>
          <a:p>
            <a:pPr algn="ctr">
              <a:defRPr sz="1800" b="1">
                <a:solidFill>
                  <a:srgbClr val="092A3D"/>
                </a:solidFill>
              </a:defRPr>
            </a:pPr>
            <a:r>
              <a:rPr sz="1800" b="1">
                <a:solidFill>
                  <a:srgbClr val="092A3D"/>
                </a:solidFill>
              </a:rPr>
              <a:t>Price: 1,250 USD</a:t>
            </a:r>
          </a:p>
        </p:txBody>
      </p:sp>
    </p:spTree>
    <p:extLst>
      <p:ext uri="{BB962C8B-B14F-4D97-AF65-F5344CB8AC3E}">
        <p14:creationId xmlns:p14="http://schemas.microsoft.com/office/powerpoint/2010/main" val="3164053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AB68B8FC-2D78-4A66-9B12-315322D5051B}"/>
              </a:ext>
            </a:extLst>
          </p:cNvPr>
          <p:cNvSpPr>
            <a:spLocks noGrp="1"/>
          </p:cNvSpPr>
          <p:nvPr/>
        </p:nvSpPr>
        <p:spPr>
          <a:xfrm>
            <a:off x="609600" y="285750"/>
            <a:ext cx="66675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FEASIBILITY</a:t>
            </a:r>
          </a:p>
        </p:txBody>
      </p:sp>
      <p:sp>
        <p:nvSpPr>
          <p:cNvPr id="2" name="Rectangle 1">
            <a:extLst>
              <a:ext uri="{FF2B5EF4-FFF2-40B4-BE49-F238E27FC236}">
                <a16:creationId xmlns:a16="http://schemas.microsoft.com/office/drawing/2014/main" id="{B1E4616A-CC6B-4B4A-B63F-0305628D48CE}"/>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Feasible means every mandatory rule is satisfied</a:t>
            </a:r>
          </a:p>
        </p:txBody>
      </p:sp>
      <p:sp>
        <p:nvSpPr>
          <p:cNvPr id="3" name="Rectangle 2">
            <a:extLst>
              <a:ext uri="{FF2B5EF4-FFF2-40B4-BE49-F238E27FC236}">
                <a16:creationId xmlns:a16="http://schemas.microsoft.com/office/drawing/2014/main" id="{2E19BC66-599B-4E32-9235-3121BF66BF70}"/>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0F1F8439-959B-464C-8A4C-07118085A5BB}"/>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0</a:t>
            </a:r>
          </a:p>
        </p:txBody>
      </p:sp>
      <p:sp>
        <p:nvSpPr>
          <p:cNvPr id="5" name="Rectangle 4">
            <a:extLst>
              <a:ext uri="{FF2B5EF4-FFF2-40B4-BE49-F238E27FC236}">
                <a16:creationId xmlns:a16="http://schemas.microsoft.com/office/drawing/2014/main" id="{BC96281D-73C2-4D52-B0FD-7F6A34E8D4FA}"/>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10</a:t>
            </a:r>
          </a:p>
        </p:txBody>
      </p:sp>
      <p:sp>
        <p:nvSpPr>
          <p:cNvPr id="6" name="Oval 5">
            <a:extLst>
              <a:ext uri="{FF2B5EF4-FFF2-40B4-BE49-F238E27FC236}">
                <a16:creationId xmlns:a16="http://schemas.microsoft.com/office/drawing/2014/main" id="{CE690552-4C15-4D87-A255-8C2FA3F8330A}"/>
              </a:ext>
            </a:extLst>
          </p:cNvPr>
          <p:cNvSpPr>
            <a:spLocks noGrp="1"/>
          </p:cNvSpPr>
          <p:nvPr/>
        </p:nvSpPr>
        <p:spPr>
          <a:xfrm>
            <a:off x="1428750" y="1714500"/>
            <a:ext cx="4095750" cy="3333750"/>
          </a:xfrm>
          <a:prstGeom prst="ellipse">
            <a:avLst/>
          </a:prstGeom>
          <a:solidFill>
            <a:srgbClr val="E6F3F2"/>
          </a:solidFill>
          <a:ln w="19050">
            <a:solidFill>
              <a:srgbClr val="0B9B91"/>
            </a:solidFill>
            <a:prstDash val="solid"/>
          </a:ln>
        </p:spPr>
        <p:txBody>
          <a:bodyPr/>
          <a:lstStyle/>
          <a:p>
            <a:endParaRPr lang="en-IQ"/>
          </a:p>
        </p:txBody>
      </p:sp>
      <p:sp>
        <p:nvSpPr>
          <p:cNvPr id="7" name="Oval 6">
            <a:extLst>
              <a:ext uri="{FF2B5EF4-FFF2-40B4-BE49-F238E27FC236}">
                <a16:creationId xmlns:a16="http://schemas.microsoft.com/office/drawing/2014/main" id="{FB956B93-EDC8-4B9F-B49A-1AF38BD1DCE3}"/>
              </a:ext>
            </a:extLst>
          </p:cNvPr>
          <p:cNvSpPr>
            <a:spLocks noGrp="1"/>
          </p:cNvSpPr>
          <p:nvPr/>
        </p:nvSpPr>
        <p:spPr>
          <a:xfrm>
            <a:off x="6667500" y="1714500"/>
            <a:ext cx="4095750" cy="3333750"/>
          </a:xfrm>
          <a:prstGeom prst="ellipse">
            <a:avLst/>
          </a:prstGeom>
          <a:solidFill>
            <a:srgbClr val="F9E8E6"/>
          </a:solidFill>
          <a:ln w="19050">
            <a:solidFill>
              <a:srgbClr val="D95D5D"/>
            </a:solidFill>
            <a:prstDash val="solid"/>
          </a:ln>
        </p:spPr>
        <p:txBody>
          <a:bodyPr/>
          <a:lstStyle/>
          <a:p>
            <a:endParaRPr lang="en-IQ"/>
          </a:p>
        </p:txBody>
      </p:sp>
      <p:sp>
        <p:nvSpPr>
          <p:cNvPr id="8" name="Rectangle 7">
            <a:extLst>
              <a:ext uri="{FF2B5EF4-FFF2-40B4-BE49-F238E27FC236}">
                <a16:creationId xmlns:a16="http://schemas.microsoft.com/office/drawing/2014/main" id="{F3891947-53D1-4EB5-9496-EAC9F2364459}"/>
              </a:ext>
            </a:extLst>
          </p:cNvPr>
          <p:cNvSpPr>
            <a:spLocks noGrp="1"/>
          </p:cNvSpPr>
          <p:nvPr/>
        </p:nvSpPr>
        <p:spPr>
          <a:xfrm>
            <a:off x="2333625" y="2095500"/>
            <a:ext cx="2286000" cy="381000"/>
          </a:xfrm>
          <a:prstGeom prst="rect">
            <a:avLst/>
          </a:prstGeom>
          <a:noFill/>
          <a:ln w="0">
            <a:noFill/>
            <a:prstDash val="solid"/>
          </a:ln>
        </p:spPr>
        <p:txBody>
          <a:bodyPr anchor="ctr"/>
          <a:lstStyle/>
          <a:p>
            <a:pPr algn="ctr">
              <a:defRPr sz="1950" b="1">
                <a:solidFill>
                  <a:srgbClr val="0B9B91"/>
                </a:solidFill>
              </a:defRPr>
            </a:pPr>
            <a:r>
              <a:rPr sz="1950" b="1">
                <a:solidFill>
                  <a:srgbClr val="0B9B91"/>
                </a:solidFill>
              </a:rPr>
              <a:t>FEASIBLE</a:t>
            </a:r>
          </a:p>
        </p:txBody>
      </p:sp>
      <p:sp>
        <p:nvSpPr>
          <p:cNvPr id="9" name="Rectangle 8">
            <a:extLst>
              <a:ext uri="{FF2B5EF4-FFF2-40B4-BE49-F238E27FC236}">
                <a16:creationId xmlns:a16="http://schemas.microsoft.com/office/drawing/2014/main" id="{D4A53F3E-1B6B-474C-BF0D-04A2FA9F98A4}"/>
              </a:ext>
            </a:extLst>
          </p:cNvPr>
          <p:cNvSpPr>
            <a:spLocks noGrp="1"/>
          </p:cNvSpPr>
          <p:nvPr/>
        </p:nvSpPr>
        <p:spPr>
          <a:xfrm>
            <a:off x="7572375" y="2095500"/>
            <a:ext cx="2286000" cy="381000"/>
          </a:xfrm>
          <a:prstGeom prst="rect">
            <a:avLst/>
          </a:prstGeom>
          <a:noFill/>
          <a:ln w="0">
            <a:noFill/>
            <a:prstDash val="solid"/>
          </a:ln>
        </p:spPr>
        <p:txBody>
          <a:bodyPr anchor="ctr"/>
          <a:lstStyle/>
          <a:p>
            <a:pPr algn="ctr">
              <a:defRPr sz="1950" b="1">
                <a:solidFill>
                  <a:srgbClr val="D95D5D"/>
                </a:solidFill>
              </a:defRPr>
            </a:pPr>
            <a:r>
              <a:rPr sz="1950" b="1">
                <a:solidFill>
                  <a:srgbClr val="D95D5D"/>
                </a:solidFill>
              </a:rPr>
              <a:t>INFEASIBLE</a:t>
            </a:r>
          </a:p>
        </p:txBody>
      </p:sp>
      <p:sp>
        <p:nvSpPr>
          <p:cNvPr id="10" name="Oval 9">
            <a:extLst>
              <a:ext uri="{FF2B5EF4-FFF2-40B4-BE49-F238E27FC236}">
                <a16:creationId xmlns:a16="http://schemas.microsoft.com/office/drawing/2014/main" id="{280A52EF-860F-49A8-8DEC-983025AD55F9}"/>
              </a:ext>
            </a:extLst>
          </p:cNvPr>
          <p:cNvSpPr>
            <a:spLocks noGrp="1"/>
          </p:cNvSpPr>
          <p:nvPr/>
        </p:nvSpPr>
        <p:spPr>
          <a:xfrm>
            <a:off x="2047875" y="3048000"/>
            <a:ext cx="114300" cy="114300"/>
          </a:xfrm>
          <a:prstGeom prst="ellipse">
            <a:avLst/>
          </a:prstGeom>
          <a:solidFill>
            <a:srgbClr val="0B9B91"/>
          </a:solidFill>
          <a:ln w="0">
            <a:solidFill>
              <a:srgbClr val="0B9B91"/>
            </a:solidFill>
            <a:prstDash val="solid"/>
          </a:ln>
        </p:spPr>
        <p:txBody>
          <a:bodyPr/>
          <a:lstStyle/>
          <a:p>
            <a:endParaRPr lang="en-IQ"/>
          </a:p>
        </p:txBody>
      </p:sp>
      <p:sp>
        <p:nvSpPr>
          <p:cNvPr id="11" name="Rectangle 10">
            <a:extLst>
              <a:ext uri="{FF2B5EF4-FFF2-40B4-BE49-F238E27FC236}">
                <a16:creationId xmlns:a16="http://schemas.microsoft.com/office/drawing/2014/main" id="{EB38D6B9-B5AE-43A8-B198-88B3BF73D1A3}"/>
              </a:ext>
            </a:extLst>
          </p:cNvPr>
          <p:cNvSpPr>
            <a:spLocks noGrp="1"/>
          </p:cNvSpPr>
          <p:nvPr/>
        </p:nvSpPr>
        <p:spPr>
          <a:xfrm>
            <a:off x="2324100" y="2857500"/>
            <a:ext cx="2676525" cy="619125"/>
          </a:xfrm>
          <a:prstGeom prst="rect">
            <a:avLst/>
          </a:prstGeom>
          <a:noFill/>
          <a:ln w="0">
            <a:noFill/>
            <a:prstDash val="solid"/>
          </a:ln>
        </p:spPr>
        <p:txBody>
          <a:bodyPr anchor="ctr"/>
          <a:lstStyle/>
          <a:p>
            <a:pPr algn="l">
              <a:defRPr sz="1500" b="0">
                <a:solidFill>
                  <a:srgbClr val="183544"/>
                </a:solidFill>
              </a:defRPr>
            </a:pPr>
            <a:r>
              <a:rPr sz="1500" b="0">
                <a:solidFill>
                  <a:srgbClr val="183544"/>
                </a:solidFill>
              </a:rPr>
              <a:t>inside budget</a:t>
            </a:r>
          </a:p>
        </p:txBody>
      </p:sp>
      <p:sp>
        <p:nvSpPr>
          <p:cNvPr id="12" name="Oval 11">
            <a:extLst>
              <a:ext uri="{FF2B5EF4-FFF2-40B4-BE49-F238E27FC236}">
                <a16:creationId xmlns:a16="http://schemas.microsoft.com/office/drawing/2014/main" id="{AB401FC8-E00C-484C-8FB7-161FBB316A22}"/>
              </a:ext>
            </a:extLst>
          </p:cNvPr>
          <p:cNvSpPr>
            <a:spLocks noGrp="1"/>
          </p:cNvSpPr>
          <p:nvPr/>
        </p:nvSpPr>
        <p:spPr>
          <a:xfrm>
            <a:off x="2047875" y="3667125"/>
            <a:ext cx="114300" cy="114300"/>
          </a:xfrm>
          <a:prstGeom prst="ellipse">
            <a:avLst/>
          </a:prstGeom>
          <a:solidFill>
            <a:srgbClr val="0B9B91"/>
          </a:solidFill>
          <a:ln w="0">
            <a:solidFill>
              <a:srgbClr val="0B9B91"/>
            </a:solidFill>
            <a:prstDash val="solid"/>
          </a:ln>
        </p:spPr>
        <p:txBody>
          <a:bodyPr/>
          <a:lstStyle/>
          <a:p>
            <a:endParaRPr lang="en-IQ"/>
          </a:p>
        </p:txBody>
      </p:sp>
      <p:sp>
        <p:nvSpPr>
          <p:cNvPr id="13" name="Rectangle 12">
            <a:extLst>
              <a:ext uri="{FF2B5EF4-FFF2-40B4-BE49-F238E27FC236}">
                <a16:creationId xmlns:a16="http://schemas.microsoft.com/office/drawing/2014/main" id="{5FFDEAAC-C429-4460-8340-D71914A81B80}"/>
              </a:ext>
            </a:extLst>
          </p:cNvPr>
          <p:cNvSpPr>
            <a:spLocks noGrp="1"/>
          </p:cNvSpPr>
          <p:nvPr/>
        </p:nvSpPr>
        <p:spPr>
          <a:xfrm>
            <a:off x="2324100" y="3476625"/>
            <a:ext cx="2676525" cy="619125"/>
          </a:xfrm>
          <a:prstGeom prst="rect">
            <a:avLst/>
          </a:prstGeom>
          <a:noFill/>
          <a:ln w="0">
            <a:noFill/>
            <a:prstDash val="solid"/>
          </a:ln>
        </p:spPr>
        <p:txBody>
          <a:bodyPr anchor="ctr"/>
          <a:lstStyle/>
          <a:p>
            <a:pPr algn="l">
              <a:defRPr sz="1500" b="0">
                <a:solidFill>
                  <a:srgbClr val="183544"/>
                </a:solidFill>
              </a:defRPr>
            </a:pPr>
            <a:r>
              <a:rPr sz="1500" b="0">
                <a:solidFill>
                  <a:srgbClr val="183544"/>
                </a:solidFill>
              </a:rPr>
              <a:t>enough capacity</a:t>
            </a:r>
          </a:p>
        </p:txBody>
      </p:sp>
      <p:sp>
        <p:nvSpPr>
          <p:cNvPr id="14" name="Oval 13">
            <a:extLst>
              <a:ext uri="{FF2B5EF4-FFF2-40B4-BE49-F238E27FC236}">
                <a16:creationId xmlns:a16="http://schemas.microsoft.com/office/drawing/2014/main" id="{6F2765E9-8AAD-498B-A963-FA8E6925408F}"/>
              </a:ext>
            </a:extLst>
          </p:cNvPr>
          <p:cNvSpPr>
            <a:spLocks noGrp="1"/>
          </p:cNvSpPr>
          <p:nvPr/>
        </p:nvSpPr>
        <p:spPr>
          <a:xfrm>
            <a:off x="2047875" y="4286250"/>
            <a:ext cx="114300" cy="114300"/>
          </a:xfrm>
          <a:prstGeom prst="ellipse">
            <a:avLst/>
          </a:prstGeom>
          <a:solidFill>
            <a:srgbClr val="0B9B91"/>
          </a:solidFill>
          <a:ln w="0">
            <a:solidFill>
              <a:srgbClr val="0B9B91"/>
            </a:solidFill>
            <a:prstDash val="solid"/>
          </a:ln>
        </p:spPr>
        <p:txBody>
          <a:bodyPr/>
          <a:lstStyle/>
          <a:p>
            <a:endParaRPr lang="en-IQ"/>
          </a:p>
        </p:txBody>
      </p:sp>
      <p:sp>
        <p:nvSpPr>
          <p:cNvPr id="15" name="Rectangle 14">
            <a:extLst>
              <a:ext uri="{FF2B5EF4-FFF2-40B4-BE49-F238E27FC236}">
                <a16:creationId xmlns:a16="http://schemas.microsoft.com/office/drawing/2014/main" id="{71837988-77AD-4164-B8D2-D2A55D6B243C}"/>
              </a:ext>
            </a:extLst>
          </p:cNvPr>
          <p:cNvSpPr>
            <a:spLocks noGrp="1"/>
          </p:cNvSpPr>
          <p:nvPr/>
        </p:nvSpPr>
        <p:spPr>
          <a:xfrm>
            <a:off x="2324100" y="4095750"/>
            <a:ext cx="2676525" cy="619125"/>
          </a:xfrm>
          <a:prstGeom prst="rect">
            <a:avLst/>
          </a:prstGeom>
          <a:noFill/>
          <a:ln w="0">
            <a:noFill/>
            <a:prstDash val="solid"/>
          </a:ln>
        </p:spPr>
        <p:txBody>
          <a:bodyPr anchor="ctr"/>
          <a:lstStyle/>
          <a:p>
            <a:pPr algn="l">
              <a:defRPr sz="1500" b="0">
                <a:solidFill>
                  <a:srgbClr val="183544"/>
                </a:solidFill>
              </a:defRPr>
            </a:pPr>
            <a:r>
              <a:rPr sz="1500" b="0">
                <a:solidFill>
                  <a:srgbClr val="183544"/>
                </a:solidFill>
              </a:rPr>
              <a:t>deadline satisfied</a:t>
            </a:r>
          </a:p>
        </p:txBody>
      </p:sp>
      <p:sp>
        <p:nvSpPr>
          <p:cNvPr id="16" name="Oval 15">
            <a:extLst>
              <a:ext uri="{FF2B5EF4-FFF2-40B4-BE49-F238E27FC236}">
                <a16:creationId xmlns:a16="http://schemas.microsoft.com/office/drawing/2014/main" id="{666D83C3-E747-4855-B8D8-8B343B21D8BB}"/>
              </a:ext>
            </a:extLst>
          </p:cNvPr>
          <p:cNvSpPr>
            <a:spLocks noGrp="1"/>
          </p:cNvSpPr>
          <p:nvPr/>
        </p:nvSpPr>
        <p:spPr>
          <a:xfrm>
            <a:off x="7286625" y="3048000"/>
            <a:ext cx="114300" cy="114300"/>
          </a:xfrm>
          <a:prstGeom prst="ellipse">
            <a:avLst/>
          </a:prstGeom>
          <a:solidFill>
            <a:srgbClr val="0B9B91"/>
          </a:solidFill>
          <a:ln w="0">
            <a:solidFill>
              <a:srgbClr val="0B9B91"/>
            </a:solidFill>
            <a:prstDash val="solid"/>
          </a:ln>
        </p:spPr>
        <p:txBody>
          <a:bodyPr/>
          <a:lstStyle/>
          <a:p>
            <a:endParaRPr lang="en-IQ"/>
          </a:p>
        </p:txBody>
      </p:sp>
      <p:sp>
        <p:nvSpPr>
          <p:cNvPr id="17" name="Rectangle 16">
            <a:extLst>
              <a:ext uri="{FF2B5EF4-FFF2-40B4-BE49-F238E27FC236}">
                <a16:creationId xmlns:a16="http://schemas.microsoft.com/office/drawing/2014/main" id="{DB34DB4D-1B59-47FC-9805-396EAD735671}"/>
              </a:ext>
            </a:extLst>
          </p:cNvPr>
          <p:cNvSpPr>
            <a:spLocks noGrp="1"/>
          </p:cNvSpPr>
          <p:nvPr/>
        </p:nvSpPr>
        <p:spPr>
          <a:xfrm>
            <a:off x="7562850" y="2857500"/>
            <a:ext cx="2676525" cy="619125"/>
          </a:xfrm>
          <a:prstGeom prst="rect">
            <a:avLst/>
          </a:prstGeom>
          <a:noFill/>
          <a:ln w="0">
            <a:noFill/>
            <a:prstDash val="solid"/>
          </a:ln>
        </p:spPr>
        <p:txBody>
          <a:bodyPr anchor="ctr"/>
          <a:lstStyle/>
          <a:p>
            <a:pPr algn="l">
              <a:defRPr sz="1500" b="0">
                <a:solidFill>
                  <a:srgbClr val="183544"/>
                </a:solidFill>
              </a:defRPr>
            </a:pPr>
            <a:r>
              <a:rPr sz="1500" b="0">
                <a:solidFill>
                  <a:srgbClr val="183544"/>
                </a:solidFill>
              </a:rPr>
              <a:t>over budget</a:t>
            </a:r>
          </a:p>
        </p:txBody>
      </p:sp>
      <p:sp>
        <p:nvSpPr>
          <p:cNvPr id="18" name="Oval 17">
            <a:extLst>
              <a:ext uri="{FF2B5EF4-FFF2-40B4-BE49-F238E27FC236}">
                <a16:creationId xmlns:a16="http://schemas.microsoft.com/office/drawing/2014/main" id="{1944C95B-F409-4E6D-8875-9B4A8C550482}"/>
              </a:ext>
            </a:extLst>
          </p:cNvPr>
          <p:cNvSpPr>
            <a:spLocks noGrp="1"/>
          </p:cNvSpPr>
          <p:nvPr/>
        </p:nvSpPr>
        <p:spPr>
          <a:xfrm>
            <a:off x="7286625" y="3667125"/>
            <a:ext cx="114300" cy="114300"/>
          </a:xfrm>
          <a:prstGeom prst="ellipse">
            <a:avLst/>
          </a:prstGeom>
          <a:solidFill>
            <a:srgbClr val="0B9B91"/>
          </a:solidFill>
          <a:ln w="0">
            <a:solidFill>
              <a:srgbClr val="0B9B91"/>
            </a:solidFill>
            <a:prstDash val="solid"/>
          </a:ln>
        </p:spPr>
        <p:txBody>
          <a:bodyPr/>
          <a:lstStyle/>
          <a:p>
            <a:endParaRPr lang="en-IQ"/>
          </a:p>
        </p:txBody>
      </p:sp>
      <p:sp>
        <p:nvSpPr>
          <p:cNvPr id="19" name="Rectangle 18">
            <a:extLst>
              <a:ext uri="{FF2B5EF4-FFF2-40B4-BE49-F238E27FC236}">
                <a16:creationId xmlns:a16="http://schemas.microsoft.com/office/drawing/2014/main" id="{A32AB56E-26CA-4666-A10B-FF6F18AAC49F}"/>
              </a:ext>
            </a:extLst>
          </p:cNvPr>
          <p:cNvSpPr>
            <a:spLocks noGrp="1"/>
          </p:cNvSpPr>
          <p:nvPr/>
        </p:nvSpPr>
        <p:spPr>
          <a:xfrm>
            <a:off x="7562850" y="3476625"/>
            <a:ext cx="2676525" cy="619125"/>
          </a:xfrm>
          <a:prstGeom prst="rect">
            <a:avLst/>
          </a:prstGeom>
          <a:noFill/>
          <a:ln w="0">
            <a:noFill/>
            <a:prstDash val="solid"/>
          </a:ln>
        </p:spPr>
        <p:txBody>
          <a:bodyPr anchor="ctr"/>
          <a:lstStyle/>
          <a:p>
            <a:pPr algn="l">
              <a:defRPr sz="1500" b="0">
                <a:solidFill>
                  <a:srgbClr val="183544"/>
                </a:solidFill>
              </a:defRPr>
            </a:pPr>
            <a:r>
              <a:rPr sz="1500" b="0">
                <a:solidFill>
                  <a:srgbClr val="183544"/>
                </a:solidFill>
              </a:rPr>
              <a:t>overloaded</a:t>
            </a:r>
          </a:p>
        </p:txBody>
      </p:sp>
      <p:sp>
        <p:nvSpPr>
          <p:cNvPr id="20" name="Oval 19">
            <a:extLst>
              <a:ext uri="{FF2B5EF4-FFF2-40B4-BE49-F238E27FC236}">
                <a16:creationId xmlns:a16="http://schemas.microsoft.com/office/drawing/2014/main" id="{F20BCE0B-215A-4CAB-81AF-5E824C0B6038}"/>
              </a:ext>
            </a:extLst>
          </p:cNvPr>
          <p:cNvSpPr>
            <a:spLocks noGrp="1"/>
          </p:cNvSpPr>
          <p:nvPr/>
        </p:nvSpPr>
        <p:spPr>
          <a:xfrm>
            <a:off x="7286625" y="4286250"/>
            <a:ext cx="114300" cy="114300"/>
          </a:xfrm>
          <a:prstGeom prst="ellipse">
            <a:avLst/>
          </a:prstGeom>
          <a:solidFill>
            <a:srgbClr val="0B9B91"/>
          </a:solidFill>
          <a:ln w="0">
            <a:solidFill>
              <a:srgbClr val="0B9B91"/>
            </a:solidFill>
            <a:prstDash val="solid"/>
          </a:ln>
        </p:spPr>
        <p:txBody>
          <a:bodyPr/>
          <a:lstStyle/>
          <a:p>
            <a:endParaRPr lang="en-IQ"/>
          </a:p>
        </p:txBody>
      </p:sp>
      <p:sp>
        <p:nvSpPr>
          <p:cNvPr id="21" name="Rectangle 20">
            <a:extLst>
              <a:ext uri="{FF2B5EF4-FFF2-40B4-BE49-F238E27FC236}">
                <a16:creationId xmlns:a16="http://schemas.microsoft.com/office/drawing/2014/main" id="{D4D864B0-8390-488E-A28A-3338039DE41B}"/>
              </a:ext>
            </a:extLst>
          </p:cNvPr>
          <p:cNvSpPr>
            <a:spLocks noGrp="1"/>
          </p:cNvSpPr>
          <p:nvPr/>
        </p:nvSpPr>
        <p:spPr>
          <a:xfrm>
            <a:off x="7562850" y="4095750"/>
            <a:ext cx="2676525" cy="619125"/>
          </a:xfrm>
          <a:prstGeom prst="rect">
            <a:avLst/>
          </a:prstGeom>
          <a:noFill/>
          <a:ln w="0">
            <a:noFill/>
            <a:prstDash val="solid"/>
          </a:ln>
        </p:spPr>
        <p:txBody>
          <a:bodyPr anchor="ctr"/>
          <a:lstStyle/>
          <a:p>
            <a:pPr algn="l">
              <a:defRPr sz="1500" b="0">
                <a:solidFill>
                  <a:srgbClr val="183544"/>
                </a:solidFill>
              </a:defRPr>
            </a:pPr>
            <a:r>
              <a:rPr sz="1500" b="0">
                <a:solidFill>
                  <a:srgbClr val="183544"/>
                </a:solidFill>
              </a:rPr>
              <a:t>missing requirement</a:t>
            </a:r>
          </a:p>
        </p:txBody>
      </p:sp>
      <p:sp>
        <p:nvSpPr>
          <p:cNvPr id="22" name="Rectangle 21">
            <a:extLst>
              <a:ext uri="{FF2B5EF4-FFF2-40B4-BE49-F238E27FC236}">
                <a16:creationId xmlns:a16="http://schemas.microsoft.com/office/drawing/2014/main" id="{9F6E4040-0BCD-4260-8C47-8B0FE237E7B8}"/>
              </a:ext>
            </a:extLst>
          </p:cNvPr>
          <p:cNvSpPr>
            <a:spLocks noGrp="1"/>
          </p:cNvSpPr>
          <p:nvPr/>
        </p:nvSpPr>
        <p:spPr>
          <a:xfrm>
            <a:off x="609600" y="1238250"/>
            <a:ext cx="10972800" cy="5067300"/>
          </a:xfrm>
          <a:prstGeom prst="rect">
            <a:avLst/>
          </a:prstGeom>
          <a:solidFill>
            <a:srgbClr val="F7F4EE"/>
          </a:solidFill>
          <a:ln w="0">
            <a:solidFill>
              <a:srgbClr val="F7F4EE"/>
            </a:solidFill>
            <a:prstDash val="solid"/>
          </a:ln>
        </p:spPr>
        <p:txBody>
          <a:bodyPr/>
          <a:lstStyle/>
          <a:p>
            <a:endParaRPr lang="en-IQ"/>
          </a:p>
        </p:txBody>
      </p:sp>
      <p:pic>
        <p:nvPicPr>
          <p:cNvPr id="46" name="Picture 45"/>
          <p:cNvPicPr>
            <a:picLocks noChangeAspect="1"/>
          </p:cNvPicPr>
          <p:nvPr/>
        </p:nvPicPr>
        <p:blipFill>
          <a:blip r:embed="rId3"/>
          <a:stretch/>
        </p:blipFill>
        <p:spPr>
          <a:xfrm>
            <a:off x="1991849" y="1381125"/>
            <a:ext cx="8208303" cy="4619625"/>
          </a:xfrm>
          <a:prstGeom prst="rect">
            <a:avLst/>
          </a:prstGeom>
        </p:spPr>
      </p:pic>
    </p:spTree>
    <p:extLst>
      <p:ext uri="{BB962C8B-B14F-4D97-AF65-F5344CB8AC3E}">
        <p14:creationId xmlns:p14="http://schemas.microsoft.com/office/powerpoint/2010/main" val="2032815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67" name="Rectangle 66">
            <a:extLst>
              <a:ext uri="{FF2B5EF4-FFF2-40B4-BE49-F238E27FC236}">
                <a16:creationId xmlns:a16="http://schemas.microsoft.com/office/drawing/2014/main" id="{C8F47B41-D5DE-451F-8394-A94BE073D6CC}"/>
              </a:ext>
            </a:extLst>
          </p:cNvPr>
          <p:cNvSpPr>
            <a:spLocks noGrp="1"/>
          </p:cNvSpPr>
          <p:nvPr/>
        </p:nvSpPr>
        <p:spPr>
          <a:xfrm>
            <a:off x="609600" y="285750"/>
            <a:ext cx="66675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SEARCH SPACE</a:t>
            </a:r>
          </a:p>
        </p:txBody>
      </p:sp>
      <p:sp>
        <p:nvSpPr>
          <p:cNvPr id="2" name="Rectangle 1">
            <a:extLst>
              <a:ext uri="{FF2B5EF4-FFF2-40B4-BE49-F238E27FC236}">
                <a16:creationId xmlns:a16="http://schemas.microsoft.com/office/drawing/2014/main" id="{2D651990-6394-46D1-AF00-F7F38AFCD82D}"/>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The search space is the set of all possible candidates</a:t>
            </a:r>
          </a:p>
        </p:txBody>
      </p:sp>
      <p:sp>
        <p:nvSpPr>
          <p:cNvPr id="3" name="Rectangle 2">
            <a:extLst>
              <a:ext uri="{FF2B5EF4-FFF2-40B4-BE49-F238E27FC236}">
                <a16:creationId xmlns:a16="http://schemas.microsoft.com/office/drawing/2014/main" id="{6878ECE1-6B79-4574-BF87-59D3F0B36213}"/>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D85F2228-D0DB-4CC3-B6BD-E65E8BD5E193}"/>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0</a:t>
            </a:r>
          </a:p>
        </p:txBody>
      </p:sp>
      <p:sp>
        <p:nvSpPr>
          <p:cNvPr id="5" name="Rectangle 4">
            <a:extLst>
              <a:ext uri="{FF2B5EF4-FFF2-40B4-BE49-F238E27FC236}">
                <a16:creationId xmlns:a16="http://schemas.microsoft.com/office/drawing/2014/main" id="{602375F2-64DE-4754-9DF8-849918A8CF5E}"/>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11</a:t>
            </a:r>
          </a:p>
        </p:txBody>
      </p:sp>
      <p:sp>
        <p:nvSpPr>
          <p:cNvPr id="6" name="Oval 5">
            <a:extLst>
              <a:ext uri="{FF2B5EF4-FFF2-40B4-BE49-F238E27FC236}">
                <a16:creationId xmlns:a16="http://schemas.microsoft.com/office/drawing/2014/main" id="{00515FF4-BF96-46FD-8B24-C448FAECCB44}"/>
              </a:ext>
            </a:extLst>
          </p:cNvPr>
          <p:cNvSpPr>
            <a:spLocks noGrp="1"/>
          </p:cNvSpPr>
          <p:nvPr/>
        </p:nvSpPr>
        <p:spPr>
          <a:xfrm>
            <a:off x="1095375" y="1571625"/>
            <a:ext cx="228600" cy="228600"/>
          </a:xfrm>
          <a:prstGeom prst="ellipse">
            <a:avLst/>
          </a:prstGeom>
          <a:solidFill>
            <a:srgbClr val="E6B9B4"/>
          </a:solidFill>
          <a:ln w="9525">
            <a:solidFill>
              <a:srgbClr val="D95D5D"/>
            </a:solidFill>
            <a:prstDash val="solid"/>
          </a:ln>
        </p:spPr>
        <p:txBody>
          <a:bodyPr/>
          <a:lstStyle/>
          <a:p>
            <a:endParaRPr lang="en-IQ"/>
          </a:p>
        </p:txBody>
      </p:sp>
      <p:sp>
        <p:nvSpPr>
          <p:cNvPr id="7" name="Oval 6">
            <a:extLst>
              <a:ext uri="{FF2B5EF4-FFF2-40B4-BE49-F238E27FC236}">
                <a16:creationId xmlns:a16="http://schemas.microsoft.com/office/drawing/2014/main" id="{D845EADB-DB9F-4715-A635-DA309764E2D7}"/>
              </a:ext>
            </a:extLst>
          </p:cNvPr>
          <p:cNvSpPr>
            <a:spLocks noGrp="1"/>
          </p:cNvSpPr>
          <p:nvPr/>
        </p:nvSpPr>
        <p:spPr>
          <a:xfrm>
            <a:off x="1952625" y="1571625"/>
            <a:ext cx="228600" cy="228600"/>
          </a:xfrm>
          <a:prstGeom prst="ellipse">
            <a:avLst/>
          </a:prstGeom>
          <a:solidFill>
            <a:srgbClr val="BBDDD9"/>
          </a:solidFill>
          <a:ln w="9525">
            <a:solidFill>
              <a:srgbClr val="0B9B91"/>
            </a:solidFill>
            <a:prstDash val="solid"/>
          </a:ln>
        </p:spPr>
        <p:txBody>
          <a:bodyPr/>
          <a:lstStyle/>
          <a:p>
            <a:endParaRPr lang="en-IQ"/>
          </a:p>
        </p:txBody>
      </p:sp>
      <p:sp>
        <p:nvSpPr>
          <p:cNvPr id="8" name="Oval 7">
            <a:extLst>
              <a:ext uri="{FF2B5EF4-FFF2-40B4-BE49-F238E27FC236}">
                <a16:creationId xmlns:a16="http://schemas.microsoft.com/office/drawing/2014/main" id="{37CFE886-3BFE-477F-8148-23FCD04FBD48}"/>
              </a:ext>
            </a:extLst>
          </p:cNvPr>
          <p:cNvSpPr>
            <a:spLocks noGrp="1"/>
          </p:cNvSpPr>
          <p:nvPr/>
        </p:nvSpPr>
        <p:spPr>
          <a:xfrm>
            <a:off x="2809875" y="1571625"/>
            <a:ext cx="228600" cy="228600"/>
          </a:xfrm>
          <a:prstGeom prst="ellipse">
            <a:avLst/>
          </a:prstGeom>
          <a:solidFill>
            <a:srgbClr val="BBDDD9"/>
          </a:solidFill>
          <a:ln w="9525">
            <a:solidFill>
              <a:srgbClr val="0B9B91"/>
            </a:solidFill>
            <a:prstDash val="solid"/>
          </a:ln>
        </p:spPr>
        <p:txBody>
          <a:bodyPr/>
          <a:lstStyle/>
          <a:p>
            <a:endParaRPr lang="en-IQ"/>
          </a:p>
        </p:txBody>
      </p:sp>
      <p:sp>
        <p:nvSpPr>
          <p:cNvPr id="9" name="Oval 8">
            <a:extLst>
              <a:ext uri="{FF2B5EF4-FFF2-40B4-BE49-F238E27FC236}">
                <a16:creationId xmlns:a16="http://schemas.microsoft.com/office/drawing/2014/main" id="{C5EADD9B-2E35-404F-A595-AB30E838B632}"/>
              </a:ext>
            </a:extLst>
          </p:cNvPr>
          <p:cNvSpPr>
            <a:spLocks noGrp="1"/>
          </p:cNvSpPr>
          <p:nvPr/>
        </p:nvSpPr>
        <p:spPr>
          <a:xfrm>
            <a:off x="3667125" y="1571625"/>
            <a:ext cx="228600" cy="228600"/>
          </a:xfrm>
          <a:prstGeom prst="ellipse">
            <a:avLst/>
          </a:prstGeom>
          <a:solidFill>
            <a:srgbClr val="BBDDD9"/>
          </a:solidFill>
          <a:ln w="9525">
            <a:solidFill>
              <a:srgbClr val="0B9B91"/>
            </a:solidFill>
            <a:prstDash val="solid"/>
          </a:ln>
        </p:spPr>
        <p:txBody>
          <a:bodyPr/>
          <a:lstStyle/>
          <a:p>
            <a:endParaRPr lang="en-IQ"/>
          </a:p>
        </p:txBody>
      </p:sp>
      <p:sp>
        <p:nvSpPr>
          <p:cNvPr id="10" name="Oval 9">
            <a:extLst>
              <a:ext uri="{FF2B5EF4-FFF2-40B4-BE49-F238E27FC236}">
                <a16:creationId xmlns:a16="http://schemas.microsoft.com/office/drawing/2014/main" id="{619EEE7B-2557-400D-A25A-190F1A999000}"/>
              </a:ext>
            </a:extLst>
          </p:cNvPr>
          <p:cNvSpPr>
            <a:spLocks noGrp="1"/>
          </p:cNvSpPr>
          <p:nvPr/>
        </p:nvSpPr>
        <p:spPr>
          <a:xfrm>
            <a:off x="4524375" y="1571625"/>
            <a:ext cx="228600" cy="228600"/>
          </a:xfrm>
          <a:prstGeom prst="ellipse">
            <a:avLst/>
          </a:prstGeom>
          <a:solidFill>
            <a:srgbClr val="BBDDD9"/>
          </a:solidFill>
          <a:ln w="9525">
            <a:solidFill>
              <a:srgbClr val="0B9B91"/>
            </a:solidFill>
            <a:prstDash val="solid"/>
          </a:ln>
        </p:spPr>
        <p:txBody>
          <a:bodyPr/>
          <a:lstStyle/>
          <a:p>
            <a:endParaRPr lang="en-IQ"/>
          </a:p>
        </p:txBody>
      </p:sp>
      <p:sp>
        <p:nvSpPr>
          <p:cNvPr id="11" name="Oval 10">
            <a:extLst>
              <a:ext uri="{FF2B5EF4-FFF2-40B4-BE49-F238E27FC236}">
                <a16:creationId xmlns:a16="http://schemas.microsoft.com/office/drawing/2014/main" id="{3636294C-6595-4069-97F7-E8C28EB94388}"/>
              </a:ext>
            </a:extLst>
          </p:cNvPr>
          <p:cNvSpPr>
            <a:spLocks noGrp="1"/>
          </p:cNvSpPr>
          <p:nvPr/>
        </p:nvSpPr>
        <p:spPr>
          <a:xfrm>
            <a:off x="5381625" y="1571625"/>
            <a:ext cx="228600" cy="228600"/>
          </a:xfrm>
          <a:prstGeom prst="ellipse">
            <a:avLst/>
          </a:prstGeom>
          <a:solidFill>
            <a:srgbClr val="BBDDD9"/>
          </a:solidFill>
          <a:ln w="9525">
            <a:solidFill>
              <a:srgbClr val="0B9B91"/>
            </a:solidFill>
            <a:prstDash val="solid"/>
          </a:ln>
        </p:spPr>
        <p:txBody>
          <a:bodyPr/>
          <a:lstStyle/>
          <a:p>
            <a:endParaRPr lang="en-IQ"/>
          </a:p>
        </p:txBody>
      </p:sp>
      <p:sp>
        <p:nvSpPr>
          <p:cNvPr id="12" name="Oval 11">
            <a:extLst>
              <a:ext uri="{FF2B5EF4-FFF2-40B4-BE49-F238E27FC236}">
                <a16:creationId xmlns:a16="http://schemas.microsoft.com/office/drawing/2014/main" id="{553B92ED-6B02-4C7D-AB30-F52AD503802E}"/>
              </a:ext>
            </a:extLst>
          </p:cNvPr>
          <p:cNvSpPr>
            <a:spLocks noGrp="1"/>
          </p:cNvSpPr>
          <p:nvPr/>
        </p:nvSpPr>
        <p:spPr>
          <a:xfrm>
            <a:off x="6238875" y="1571625"/>
            <a:ext cx="228600" cy="228600"/>
          </a:xfrm>
          <a:prstGeom prst="ellipse">
            <a:avLst/>
          </a:prstGeom>
          <a:solidFill>
            <a:srgbClr val="BBDDD9"/>
          </a:solidFill>
          <a:ln w="9525">
            <a:solidFill>
              <a:srgbClr val="0B9B91"/>
            </a:solidFill>
            <a:prstDash val="solid"/>
          </a:ln>
        </p:spPr>
        <p:txBody>
          <a:bodyPr/>
          <a:lstStyle/>
          <a:p>
            <a:endParaRPr lang="en-IQ"/>
          </a:p>
        </p:txBody>
      </p:sp>
      <p:sp>
        <p:nvSpPr>
          <p:cNvPr id="13" name="Oval 12">
            <a:extLst>
              <a:ext uri="{FF2B5EF4-FFF2-40B4-BE49-F238E27FC236}">
                <a16:creationId xmlns:a16="http://schemas.microsoft.com/office/drawing/2014/main" id="{A8B72D32-F094-4881-8A3E-4C2320937168}"/>
              </a:ext>
            </a:extLst>
          </p:cNvPr>
          <p:cNvSpPr>
            <a:spLocks noGrp="1"/>
          </p:cNvSpPr>
          <p:nvPr/>
        </p:nvSpPr>
        <p:spPr>
          <a:xfrm>
            <a:off x="7096125" y="1571625"/>
            <a:ext cx="228600" cy="228600"/>
          </a:xfrm>
          <a:prstGeom prst="ellipse">
            <a:avLst/>
          </a:prstGeom>
          <a:solidFill>
            <a:srgbClr val="BBDDD9"/>
          </a:solidFill>
          <a:ln w="9525">
            <a:solidFill>
              <a:srgbClr val="0B9B91"/>
            </a:solidFill>
            <a:prstDash val="solid"/>
          </a:ln>
        </p:spPr>
        <p:txBody>
          <a:bodyPr/>
          <a:lstStyle/>
          <a:p>
            <a:endParaRPr lang="en-IQ"/>
          </a:p>
        </p:txBody>
      </p:sp>
      <p:sp>
        <p:nvSpPr>
          <p:cNvPr id="14" name="Oval 13">
            <a:extLst>
              <a:ext uri="{FF2B5EF4-FFF2-40B4-BE49-F238E27FC236}">
                <a16:creationId xmlns:a16="http://schemas.microsoft.com/office/drawing/2014/main" id="{70AC7E14-811F-49E4-9557-0DA2A48904B8}"/>
              </a:ext>
            </a:extLst>
          </p:cNvPr>
          <p:cNvSpPr>
            <a:spLocks noGrp="1"/>
          </p:cNvSpPr>
          <p:nvPr/>
        </p:nvSpPr>
        <p:spPr>
          <a:xfrm>
            <a:off x="7953375" y="1571625"/>
            <a:ext cx="228600" cy="228600"/>
          </a:xfrm>
          <a:prstGeom prst="ellipse">
            <a:avLst/>
          </a:prstGeom>
          <a:solidFill>
            <a:srgbClr val="E6B9B4"/>
          </a:solidFill>
          <a:ln w="9525">
            <a:solidFill>
              <a:srgbClr val="D95D5D"/>
            </a:solidFill>
            <a:prstDash val="solid"/>
          </a:ln>
        </p:spPr>
        <p:txBody>
          <a:bodyPr/>
          <a:lstStyle/>
          <a:p>
            <a:endParaRPr lang="en-IQ"/>
          </a:p>
        </p:txBody>
      </p:sp>
      <p:sp>
        <p:nvSpPr>
          <p:cNvPr id="15" name="Oval 14">
            <a:extLst>
              <a:ext uri="{FF2B5EF4-FFF2-40B4-BE49-F238E27FC236}">
                <a16:creationId xmlns:a16="http://schemas.microsoft.com/office/drawing/2014/main" id="{2EEE2400-702D-4F99-A225-E87D4DF1152E}"/>
              </a:ext>
            </a:extLst>
          </p:cNvPr>
          <p:cNvSpPr>
            <a:spLocks noGrp="1"/>
          </p:cNvSpPr>
          <p:nvPr/>
        </p:nvSpPr>
        <p:spPr>
          <a:xfrm>
            <a:off x="8810625" y="1571625"/>
            <a:ext cx="228600" cy="228600"/>
          </a:xfrm>
          <a:prstGeom prst="ellipse">
            <a:avLst/>
          </a:prstGeom>
          <a:solidFill>
            <a:srgbClr val="BBDDD9"/>
          </a:solidFill>
          <a:ln w="9525">
            <a:solidFill>
              <a:srgbClr val="0B9B91"/>
            </a:solidFill>
            <a:prstDash val="solid"/>
          </a:ln>
        </p:spPr>
        <p:txBody>
          <a:bodyPr/>
          <a:lstStyle/>
          <a:p>
            <a:endParaRPr lang="en-IQ"/>
          </a:p>
        </p:txBody>
      </p:sp>
      <p:sp>
        <p:nvSpPr>
          <p:cNvPr id="16" name="Oval 15">
            <a:extLst>
              <a:ext uri="{FF2B5EF4-FFF2-40B4-BE49-F238E27FC236}">
                <a16:creationId xmlns:a16="http://schemas.microsoft.com/office/drawing/2014/main" id="{D5FA5136-77D9-460E-9910-2A2799A6200A}"/>
              </a:ext>
            </a:extLst>
          </p:cNvPr>
          <p:cNvSpPr>
            <a:spLocks noGrp="1"/>
          </p:cNvSpPr>
          <p:nvPr/>
        </p:nvSpPr>
        <p:spPr>
          <a:xfrm>
            <a:off x="9667875" y="1571625"/>
            <a:ext cx="228600" cy="228600"/>
          </a:xfrm>
          <a:prstGeom prst="ellipse">
            <a:avLst/>
          </a:prstGeom>
          <a:solidFill>
            <a:srgbClr val="BBDDD9"/>
          </a:solidFill>
          <a:ln w="9525">
            <a:solidFill>
              <a:srgbClr val="0B9B91"/>
            </a:solidFill>
            <a:prstDash val="solid"/>
          </a:ln>
        </p:spPr>
        <p:txBody>
          <a:bodyPr/>
          <a:lstStyle/>
          <a:p>
            <a:endParaRPr lang="en-IQ"/>
          </a:p>
        </p:txBody>
      </p:sp>
      <p:sp>
        <p:nvSpPr>
          <p:cNvPr id="17" name="Oval 16">
            <a:extLst>
              <a:ext uri="{FF2B5EF4-FFF2-40B4-BE49-F238E27FC236}">
                <a16:creationId xmlns:a16="http://schemas.microsoft.com/office/drawing/2014/main" id="{447B3EBF-5DE1-490D-B7B6-F28C22CF8D40}"/>
              </a:ext>
            </a:extLst>
          </p:cNvPr>
          <p:cNvSpPr>
            <a:spLocks noGrp="1"/>
          </p:cNvSpPr>
          <p:nvPr/>
        </p:nvSpPr>
        <p:spPr>
          <a:xfrm>
            <a:off x="1095375" y="2295525"/>
            <a:ext cx="228600" cy="228600"/>
          </a:xfrm>
          <a:prstGeom prst="ellipse">
            <a:avLst/>
          </a:prstGeom>
          <a:solidFill>
            <a:srgbClr val="BBDDD9"/>
          </a:solidFill>
          <a:ln w="9525">
            <a:solidFill>
              <a:srgbClr val="0B9B91"/>
            </a:solidFill>
            <a:prstDash val="solid"/>
          </a:ln>
        </p:spPr>
        <p:txBody>
          <a:bodyPr/>
          <a:lstStyle/>
          <a:p>
            <a:endParaRPr lang="en-IQ"/>
          </a:p>
        </p:txBody>
      </p:sp>
      <p:sp>
        <p:nvSpPr>
          <p:cNvPr id="18" name="Oval 17">
            <a:extLst>
              <a:ext uri="{FF2B5EF4-FFF2-40B4-BE49-F238E27FC236}">
                <a16:creationId xmlns:a16="http://schemas.microsoft.com/office/drawing/2014/main" id="{CDECA78D-BB63-46D9-9207-B558A5BB6E84}"/>
              </a:ext>
            </a:extLst>
          </p:cNvPr>
          <p:cNvSpPr>
            <a:spLocks noGrp="1"/>
          </p:cNvSpPr>
          <p:nvPr/>
        </p:nvSpPr>
        <p:spPr>
          <a:xfrm>
            <a:off x="1952625" y="2295525"/>
            <a:ext cx="228600" cy="228600"/>
          </a:xfrm>
          <a:prstGeom prst="ellipse">
            <a:avLst/>
          </a:prstGeom>
          <a:solidFill>
            <a:srgbClr val="BBDDD9"/>
          </a:solidFill>
          <a:ln w="9525">
            <a:solidFill>
              <a:srgbClr val="0B9B91"/>
            </a:solidFill>
            <a:prstDash val="solid"/>
          </a:ln>
        </p:spPr>
        <p:txBody>
          <a:bodyPr/>
          <a:lstStyle/>
          <a:p>
            <a:endParaRPr lang="en-IQ"/>
          </a:p>
        </p:txBody>
      </p:sp>
      <p:sp>
        <p:nvSpPr>
          <p:cNvPr id="19" name="Oval 18">
            <a:extLst>
              <a:ext uri="{FF2B5EF4-FFF2-40B4-BE49-F238E27FC236}">
                <a16:creationId xmlns:a16="http://schemas.microsoft.com/office/drawing/2014/main" id="{CF00085F-E36D-4BA7-9EE0-522FA7B9842C}"/>
              </a:ext>
            </a:extLst>
          </p:cNvPr>
          <p:cNvSpPr>
            <a:spLocks noGrp="1"/>
          </p:cNvSpPr>
          <p:nvPr/>
        </p:nvSpPr>
        <p:spPr>
          <a:xfrm>
            <a:off x="2809875" y="2295525"/>
            <a:ext cx="228600" cy="228600"/>
          </a:xfrm>
          <a:prstGeom prst="ellipse">
            <a:avLst/>
          </a:prstGeom>
          <a:solidFill>
            <a:srgbClr val="BBDDD9"/>
          </a:solidFill>
          <a:ln w="9525">
            <a:solidFill>
              <a:srgbClr val="0B9B91"/>
            </a:solidFill>
            <a:prstDash val="solid"/>
          </a:ln>
        </p:spPr>
        <p:txBody>
          <a:bodyPr/>
          <a:lstStyle/>
          <a:p>
            <a:endParaRPr lang="en-IQ"/>
          </a:p>
        </p:txBody>
      </p:sp>
      <p:sp>
        <p:nvSpPr>
          <p:cNvPr id="20" name="Oval 19">
            <a:extLst>
              <a:ext uri="{FF2B5EF4-FFF2-40B4-BE49-F238E27FC236}">
                <a16:creationId xmlns:a16="http://schemas.microsoft.com/office/drawing/2014/main" id="{2B6E9CA0-84EE-4DB0-AA73-C3D397871CC0}"/>
              </a:ext>
            </a:extLst>
          </p:cNvPr>
          <p:cNvSpPr>
            <a:spLocks noGrp="1"/>
          </p:cNvSpPr>
          <p:nvPr/>
        </p:nvSpPr>
        <p:spPr>
          <a:xfrm>
            <a:off x="3667125" y="2295525"/>
            <a:ext cx="228600" cy="228600"/>
          </a:xfrm>
          <a:prstGeom prst="ellipse">
            <a:avLst/>
          </a:prstGeom>
          <a:solidFill>
            <a:srgbClr val="BBDDD9"/>
          </a:solidFill>
          <a:ln w="9525">
            <a:solidFill>
              <a:srgbClr val="0B9B91"/>
            </a:solidFill>
            <a:prstDash val="solid"/>
          </a:ln>
        </p:spPr>
        <p:txBody>
          <a:bodyPr/>
          <a:lstStyle/>
          <a:p>
            <a:endParaRPr lang="en-IQ"/>
          </a:p>
        </p:txBody>
      </p:sp>
      <p:sp>
        <p:nvSpPr>
          <p:cNvPr id="21" name="Oval 20">
            <a:extLst>
              <a:ext uri="{FF2B5EF4-FFF2-40B4-BE49-F238E27FC236}">
                <a16:creationId xmlns:a16="http://schemas.microsoft.com/office/drawing/2014/main" id="{E9E08D84-0B50-4137-A9F8-85E7DA0C8369}"/>
              </a:ext>
            </a:extLst>
          </p:cNvPr>
          <p:cNvSpPr>
            <a:spLocks noGrp="1"/>
          </p:cNvSpPr>
          <p:nvPr/>
        </p:nvSpPr>
        <p:spPr>
          <a:xfrm>
            <a:off x="4524375" y="2295525"/>
            <a:ext cx="228600" cy="228600"/>
          </a:xfrm>
          <a:prstGeom prst="ellipse">
            <a:avLst/>
          </a:prstGeom>
          <a:solidFill>
            <a:srgbClr val="BBDDD9"/>
          </a:solidFill>
          <a:ln w="9525">
            <a:solidFill>
              <a:srgbClr val="0B9B91"/>
            </a:solidFill>
            <a:prstDash val="solid"/>
          </a:ln>
        </p:spPr>
        <p:txBody>
          <a:bodyPr/>
          <a:lstStyle/>
          <a:p>
            <a:endParaRPr lang="en-IQ"/>
          </a:p>
        </p:txBody>
      </p:sp>
      <p:sp>
        <p:nvSpPr>
          <p:cNvPr id="22" name="Oval 21">
            <a:extLst>
              <a:ext uri="{FF2B5EF4-FFF2-40B4-BE49-F238E27FC236}">
                <a16:creationId xmlns:a16="http://schemas.microsoft.com/office/drawing/2014/main" id="{0893F195-A19A-4330-96F2-1C6D864226C8}"/>
              </a:ext>
            </a:extLst>
          </p:cNvPr>
          <p:cNvSpPr>
            <a:spLocks noGrp="1"/>
          </p:cNvSpPr>
          <p:nvPr/>
        </p:nvSpPr>
        <p:spPr>
          <a:xfrm>
            <a:off x="5381625" y="2295525"/>
            <a:ext cx="228600" cy="228600"/>
          </a:xfrm>
          <a:prstGeom prst="ellipse">
            <a:avLst/>
          </a:prstGeom>
          <a:solidFill>
            <a:srgbClr val="E6B9B4"/>
          </a:solidFill>
          <a:ln w="9525">
            <a:solidFill>
              <a:srgbClr val="D95D5D"/>
            </a:solidFill>
            <a:prstDash val="solid"/>
          </a:ln>
        </p:spPr>
        <p:txBody>
          <a:bodyPr/>
          <a:lstStyle/>
          <a:p>
            <a:endParaRPr lang="en-IQ"/>
          </a:p>
        </p:txBody>
      </p:sp>
      <p:sp>
        <p:nvSpPr>
          <p:cNvPr id="23" name="Oval 22">
            <a:extLst>
              <a:ext uri="{FF2B5EF4-FFF2-40B4-BE49-F238E27FC236}">
                <a16:creationId xmlns:a16="http://schemas.microsoft.com/office/drawing/2014/main" id="{A06E269F-9230-458A-ACC4-E73D3F514B47}"/>
              </a:ext>
            </a:extLst>
          </p:cNvPr>
          <p:cNvSpPr>
            <a:spLocks noGrp="1"/>
          </p:cNvSpPr>
          <p:nvPr/>
        </p:nvSpPr>
        <p:spPr>
          <a:xfrm>
            <a:off x="6238875" y="2295525"/>
            <a:ext cx="228600" cy="228600"/>
          </a:xfrm>
          <a:prstGeom prst="ellipse">
            <a:avLst/>
          </a:prstGeom>
          <a:solidFill>
            <a:srgbClr val="BBDDD9"/>
          </a:solidFill>
          <a:ln w="9525">
            <a:solidFill>
              <a:srgbClr val="0B9B91"/>
            </a:solidFill>
            <a:prstDash val="solid"/>
          </a:ln>
        </p:spPr>
        <p:txBody>
          <a:bodyPr/>
          <a:lstStyle/>
          <a:p>
            <a:endParaRPr lang="en-IQ"/>
          </a:p>
        </p:txBody>
      </p:sp>
      <p:sp>
        <p:nvSpPr>
          <p:cNvPr id="24" name="Oval 23">
            <a:extLst>
              <a:ext uri="{FF2B5EF4-FFF2-40B4-BE49-F238E27FC236}">
                <a16:creationId xmlns:a16="http://schemas.microsoft.com/office/drawing/2014/main" id="{0B224C30-2D56-4856-B35A-6885FC0473BE}"/>
              </a:ext>
            </a:extLst>
          </p:cNvPr>
          <p:cNvSpPr>
            <a:spLocks noGrp="1"/>
          </p:cNvSpPr>
          <p:nvPr/>
        </p:nvSpPr>
        <p:spPr>
          <a:xfrm>
            <a:off x="7096125" y="2295525"/>
            <a:ext cx="228600" cy="228600"/>
          </a:xfrm>
          <a:prstGeom prst="ellipse">
            <a:avLst/>
          </a:prstGeom>
          <a:solidFill>
            <a:srgbClr val="BBDDD9"/>
          </a:solidFill>
          <a:ln w="9525">
            <a:solidFill>
              <a:srgbClr val="0B9B91"/>
            </a:solidFill>
            <a:prstDash val="solid"/>
          </a:ln>
        </p:spPr>
        <p:txBody>
          <a:bodyPr/>
          <a:lstStyle/>
          <a:p>
            <a:endParaRPr lang="en-IQ"/>
          </a:p>
        </p:txBody>
      </p:sp>
      <p:sp>
        <p:nvSpPr>
          <p:cNvPr id="25" name="Oval 24">
            <a:extLst>
              <a:ext uri="{FF2B5EF4-FFF2-40B4-BE49-F238E27FC236}">
                <a16:creationId xmlns:a16="http://schemas.microsoft.com/office/drawing/2014/main" id="{03FEE595-506B-4B70-AF6C-26947E55C6D2}"/>
              </a:ext>
            </a:extLst>
          </p:cNvPr>
          <p:cNvSpPr>
            <a:spLocks noGrp="1"/>
          </p:cNvSpPr>
          <p:nvPr/>
        </p:nvSpPr>
        <p:spPr>
          <a:xfrm>
            <a:off x="7953375" y="2295525"/>
            <a:ext cx="228600" cy="228600"/>
          </a:xfrm>
          <a:prstGeom prst="ellipse">
            <a:avLst/>
          </a:prstGeom>
          <a:solidFill>
            <a:srgbClr val="BBDDD9"/>
          </a:solidFill>
          <a:ln w="9525">
            <a:solidFill>
              <a:srgbClr val="0B9B91"/>
            </a:solidFill>
            <a:prstDash val="solid"/>
          </a:ln>
        </p:spPr>
        <p:txBody>
          <a:bodyPr/>
          <a:lstStyle/>
          <a:p>
            <a:endParaRPr lang="en-IQ"/>
          </a:p>
        </p:txBody>
      </p:sp>
      <p:sp>
        <p:nvSpPr>
          <p:cNvPr id="26" name="Oval 25">
            <a:extLst>
              <a:ext uri="{FF2B5EF4-FFF2-40B4-BE49-F238E27FC236}">
                <a16:creationId xmlns:a16="http://schemas.microsoft.com/office/drawing/2014/main" id="{A488414A-277F-4D8A-B6EA-84BA3CEA749F}"/>
              </a:ext>
            </a:extLst>
          </p:cNvPr>
          <p:cNvSpPr>
            <a:spLocks noGrp="1"/>
          </p:cNvSpPr>
          <p:nvPr/>
        </p:nvSpPr>
        <p:spPr>
          <a:xfrm>
            <a:off x="8810625" y="2295525"/>
            <a:ext cx="228600" cy="228600"/>
          </a:xfrm>
          <a:prstGeom prst="ellipse">
            <a:avLst/>
          </a:prstGeom>
          <a:solidFill>
            <a:srgbClr val="BBDDD9"/>
          </a:solidFill>
          <a:ln w="9525">
            <a:solidFill>
              <a:srgbClr val="0B9B91"/>
            </a:solidFill>
            <a:prstDash val="solid"/>
          </a:ln>
        </p:spPr>
        <p:txBody>
          <a:bodyPr/>
          <a:lstStyle/>
          <a:p>
            <a:endParaRPr lang="en-IQ"/>
          </a:p>
        </p:txBody>
      </p:sp>
      <p:sp>
        <p:nvSpPr>
          <p:cNvPr id="27" name="Oval 26">
            <a:extLst>
              <a:ext uri="{FF2B5EF4-FFF2-40B4-BE49-F238E27FC236}">
                <a16:creationId xmlns:a16="http://schemas.microsoft.com/office/drawing/2014/main" id="{1D1A9CE2-26E4-456A-84DA-2A937F439FF7}"/>
              </a:ext>
            </a:extLst>
          </p:cNvPr>
          <p:cNvSpPr>
            <a:spLocks noGrp="1"/>
          </p:cNvSpPr>
          <p:nvPr/>
        </p:nvSpPr>
        <p:spPr>
          <a:xfrm>
            <a:off x="9667875" y="2295525"/>
            <a:ext cx="228600" cy="228600"/>
          </a:xfrm>
          <a:prstGeom prst="ellipse">
            <a:avLst/>
          </a:prstGeom>
          <a:solidFill>
            <a:srgbClr val="BBDDD9"/>
          </a:solidFill>
          <a:ln w="9525">
            <a:solidFill>
              <a:srgbClr val="0B9B91"/>
            </a:solidFill>
            <a:prstDash val="solid"/>
          </a:ln>
        </p:spPr>
        <p:txBody>
          <a:bodyPr/>
          <a:lstStyle/>
          <a:p>
            <a:endParaRPr lang="en-IQ"/>
          </a:p>
        </p:txBody>
      </p:sp>
      <p:sp>
        <p:nvSpPr>
          <p:cNvPr id="28" name="Oval 27">
            <a:extLst>
              <a:ext uri="{FF2B5EF4-FFF2-40B4-BE49-F238E27FC236}">
                <a16:creationId xmlns:a16="http://schemas.microsoft.com/office/drawing/2014/main" id="{C5F9F21A-1153-40DF-9530-589800703635}"/>
              </a:ext>
            </a:extLst>
          </p:cNvPr>
          <p:cNvSpPr>
            <a:spLocks noGrp="1"/>
          </p:cNvSpPr>
          <p:nvPr/>
        </p:nvSpPr>
        <p:spPr>
          <a:xfrm>
            <a:off x="1095375" y="3019425"/>
            <a:ext cx="228600" cy="228600"/>
          </a:xfrm>
          <a:prstGeom prst="ellipse">
            <a:avLst/>
          </a:prstGeom>
          <a:solidFill>
            <a:srgbClr val="BBDDD9"/>
          </a:solidFill>
          <a:ln w="9525">
            <a:solidFill>
              <a:srgbClr val="0B9B91"/>
            </a:solidFill>
            <a:prstDash val="solid"/>
          </a:ln>
        </p:spPr>
        <p:txBody>
          <a:bodyPr/>
          <a:lstStyle/>
          <a:p>
            <a:endParaRPr lang="en-IQ"/>
          </a:p>
        </p:txBody>
      </p:sp>
      <p:sp>
        <p:nvSpPr>
          <p:cNvPr id="29" name="Oval 28">
            <a:extLst>
              <a:ext uri="{FF2B5EF4-FFF2-40B4-BE49-F238E27FC236}">
                <a16:creationId xmlns:a16="http://schemas.microsoft.com/office/drawing/2014/main" id="{F935DFB8-B29F-4F90-B32D-E29A94565391}"/>
              </a:ext>
            </a:extLst>
          </p:cNvPr>
          <p:cNvSpPr>
            <a:spLocks noGrp="1"/>
          </p:cNvSpPr>
          <p:nvPr/>
        </p:nvSpPr>
        <p:spPr>
          <a:xfrm>
            <a:off x="1952625" y="3019425"/>
            <a:ext cx="228600" cy="228600"/>
          </a:xfrm>
          <a:prstGeom prst="ellipse">
            <a:avLst/>
          </a:prstGeom>
          <a:solidFill>
            <a:srgbClr val="BBDDD9"/>
          </a:solidFill>
          <a:ln w="9525">
            <a:solidFill>
              <a:srgbClr val="0B9B91"/>
            </a:solidFill>
            <a:prstDash val="solid"/>
          </a:ln>
        </p:spPr>
        <p:txBody>
          <a:bodyPr/>
          <a:lstStyle/>
          <a:p>
            <a:endParaRPr lang="en-IQ"/>
          </a:p>
        </p:txBody>
      </p:sp>
      <p:sp>
        <p:nvSpPr>
          <p:cNvPr id="30" name="Oval 29">
            <a:extLst>
              <a:ext uri="{FF2B5EF4-FFF2-40B4-BE49-F238E27FC236}">
                <a16:creationId xmlns:a16="http://schemas.microsoft.com/office/drawing/2014/main" id="{6DA40F67-B29A-4CF6-9204-B4580E0EB914}"/>
              </a:ext>
            </a:extLst>
          </p:cNvPr>
          <p:cNvSpPr>
            <a:spLocks noGrp="1"/>
          </p:cNvSpPr>
          <p:nvPr/>
        </p:nvSpPr>
        <p:spPr>
          <a:xfrm>
            <a:off x="2809875" y="3019425"/>
            <a:ext cx="228600" cy="228600"/>
          </a:xfrm>
          <a:prstGeom prst="ellipse">
            <a:avLst/>
          </a:prstGeom>
          <a:solidFill>
            <a:srgbClr val="E6B9B4"/>
          </a:solidFill>
          <a:ln w="9525">
            <a:solidFill>
              <a:srgbClr val="D95D5D"/>
            </a:solidFill>
            <a:prstDash val="solid"/>
          </a:ln>
        </p:spPr>
        <p:txBody>
          <a:bodyPr/>
          <a:lstStyle/>
          <a:p>
            <a:endParaRPr lang="en-IQ"/>
          </a:p>
        </p:txBody>
      </p:sp>
      <p:sp>
        <p:nvSpPr>
          <p:cNvPr id="31" name="Oval 30">
            <a:extLst>
              <a:ext uri="{FF2B5EF4-FFF2-40B4-BE49-F238E27FC236}">
                <a16:creationId xmlns:a16="http://schemas.microsoft.com/office/drawing/2014/main" id="{DB999B12-9986-44E2-A479-22DD81F55183}"/>
              </a:ext>
            </a:extLst>
          </p:cNvPr>
          <p:cNvSpPr>
            <a:spLocks noGrp="1"/>
          </p:cNvSpPr>
          <p:nvPr/>
        </p:nvSpPr>
        <p:spPr>
          <a:xfrm>
            <a:off x="3667125" y="3019425"/>
            <a:ext cx="228600" cy="228600"/>
          </a:xfrm>
          <a:prstGeom prst="ellipse">
            <a:avLst/>
          </a:prstGeom>
          <a:solidFill>
            <a:srgbClr val="BBDDD9"/>
          </a:solidFill>
          <a:ln w="9525">
            <a:solidFill>
              <a:srgbClr val="0B9B91"/>
            </a:solidFill>
            <a:prstDash val="solid"/>
          </a:ln>
        </p:spPr>
        <p:txBody>
          <a:bodyPr/>
          <a:lstStyle/>
          <a:p>
            <a:endParaRPr lang="en-IQ"/>
          </a:p>
        </p:txBody>
      </p:sp>
      <p:sp>
        <p:nvSpPr>
          <p:cNvPr id="32" name="Oval 31">
            <a:extLst>
              <a:ext uri="{FF2B5EF4-FFF2-40B4-BE49-F238E27FC236}">
                <a16:creationId xmlns:a16="http://schemas.microsoft.com/office/drawing/2014/main" id="{FED4A36F-7C4C-459D-B3B0-85ED0BC2E007}"/>
              </a:ext>
            </a:extLst>
          </p:cNvPr>
          <p:cNvSpPr>
            <a:spLocks noGrp="1"/>
          </p:cNvSpPr>
          <p:nvPr/>
        </p:nvSpPr>
        <p:spPr>
          <a:xfrm>
            <a:off x="4524375" y="3019425"/>
            <a:ext cx="228600" cy="228600"/>
          </a:xfrm>
          <a:prstGeom prst="ellipse">
            <a:avLst/>
          </a:prstGeom>
          <a:solidFill>
            <a:srgbClr val="BBDDD9"/>
          </a:solidFill>
          <a:ln w="9525">
            <a:solidFill>
              <a:srgbClr val="0B9B91"/>
            </a:solidFill>
            <a:prstDash val="solid"/>
          </a:ln>
        </p:spPr>
        <p:txBody>
          <a:bodyPr/>
          <a:lstStyle/>
          <a:p>
            <a:endParaRPr lang="en-IQ"/>
          </a:p>
        </p:txBody>
      </p:sp>
      <p:sp>
        <p:nvSpPr>
          <p:cNvPr id="33" name="Oval 32">
            <a:extLst>
              <a:ext uri="{FF2B5EF4-FFF2-40B4-BE49-F238E27FC236}">
                <a16:creationId xmlns:a16="http://schemas.microsoft.com/office/drawing/2014/main" id="{8BDC0D48-2F6B-4241-84D6-290E0BDD22A5}"/>
              </a:ext>
            </a:extLst>
          </p:cNvPr>
          <p:cNvSpPr>
            <a:spLocks noGrp="1"/>
          </p:cNvSpPr>
          <p:nvPr/>
        </p:nvSpPr>
        <p:spPr>
          <a:xfrm>
            <a:off x="5381625" y="3019425"/>
            <a:ext cx="228600" cy="228600"/>
          </a:xfrm>
          <a:prstGeom prst="ellipse">
            <a:avLst/>
          </a:prstGeom>
          <a:solidFill>
            <a:srgbClr val="BBDDD9"/>
          </a:solidFill>
          <a:ln w="9525">
            <a:solidFill>
              <a:srgbClr val="0B9B91"/>
            </a:solidFill>
            <a:prstDash val="solid"/>
          </a:ln>
        </p:spPr>
        <p:txBody>
          <a:bodyPr/>
          <a:lstStyle/>
          <a:p>
            <a:endParaRPr lang="en-IQ"/>
          </a:p>
        </p:txBody>
      </p:sp>
      <p:sp>
        <p:nvSpPr>
          <p:cNvPr id="34" name="Oval 33">
            <a:extLst>
              <a:ext uri="{FF2B5EF4-FFF2-40B4-BE49-F238E27FC236}">
                <a16:creationId xmlns:a16="http://schemas.microsoft.com/office/drawing/2014/main" id="{25496928-2D32-446D-8545-93CB2FD6F2A6}"/>
              </a:ext>
            </a:extLst>
          </p:cNvPr>
          <p:cNvSpPr>
            <a:spLocks noGrp="1"/>
          </p:cNvSpPr>
          <p:nvPr/>
        </p:nvSpPr>
        <p:spPr>
          <a:xfrm>
            <a:off x="6238875" y="3019425"/>
            <a:ext cx="228600" cy="228600"/>
          </a:xfrm>
          <a:prstGeom prst="ellipse">
            <a:avLst/>
          </a:prstGeom>
          <a:solidFill>
            <a:srgbClr val="BBDDD9"/>
          </a:solidFill>
          <a:ln w="9525">
            <a:solidFill>
              <a:srgbClr val="0B9B91"/>
            </a:solidFill>
            <a:prstDash val="solid"/>
          </a:ln>
        </p:spPr>
        <p:txBody>
          <a:bodyPr/>
          <a:lstStyle/>
          <a:p>
            <a:endParaRPr lang="en-IQ"/>
          </a:p>
        </p:txBody>
      </p:sp>
      <p:sp>
        <p:nvSpPr>
          <p:cNvPr id="35" name="Oval 34">
            <a:extLst>
              <a:ext uri="{FF2B5EF4-FFF2-40B4-BE49-F238E27FC236}">
                <a16:creationId xmlns:a16="http://schemas.microsoft.com/office/drawing/2014/main" id="{B84F273F-EC8E-4C2F-B6A7-A268D7DA1C0A}"/>
              </a:ext>
            </a:extLst>
          </p:cNvPr>
          <p:cNvSpPr>
            <a:spLocks noGrp="1"/>
          </p:cNvSpPr>
          <p:nvPr/>
        </p:nvSpPr>
        <p:spPr>
          <a:xfrm>
            <a:off x="7096125" y="3019425"/>
            <a:ext cx="228600" cy="228600"/>
          </a:xfrm>
          <a:prstGeom prst="ellipse">
            <a:avLst/>
          </a:prstGeom>
          <a:solidFill>
            <a:srgbClr val="BBDDD9"/>
          </a:solidFill>
          <a:ln w="9525">
            <a:solidFill>
              <a:srgbClr val="0B9B91"/>
            </a:solidFill>
            <a:prstDash val="solid"/>
          </a:ln>
        </p:spPr>
        <p:txBody>
          <a:bodyPr/>
          <a:lstStyle/>
          <a:p>
            <a:endParaRPr lang="en-IQ"/>
          </a:p>
        </p:txBody>
      </p:sp>
      <p:sp>
        <p:nvSpPr>
          <p:cNvPr id="36" name="Oval 35">
            <a:extLst>
              <a:ext uri="{FF2B5EF4-FFF2-40B4-BE49-F238E27FC236}">
                <a16:creationId xmlns:a16="http://schemas.microsoft.com/office/drawing/2014/main" id="{CB3B717B-DC0F-43BC-99A5-D676CE7BFADF}"/>
              </a:ext>
            </a:extLst>
          </p:cNvPr>
          <p:cNvSpPr>
            <a:spLocks noGrp="1"/>
          </p:cNvSpPr>
          <p:nvPr/>
        </p:nvSpPr>
        <p:spPr>
          <a:xfrm>
            <a:off x="7953375" y="3019425"/>
            <a:ext cx="228600" cy="228600"/>
          </a:xfrm>
          <a:prstGeom prst="ellipse">
            <a:avLst/>
          </a:prstGeom>
          <a:solidFill>
            <a:srgbClr val="BBDDD9"/>
          </a:solidFill>
          <a:ln w="9525">
            <a:solidFill>
              <a:srgbClr val="0B9B91"/>
            </a:solidFill>
            <a:prstDash val="solid"/>
          </a:ln>
        </p:spPr>
        <p:txBody>
          <a:bodyPr/>
          <a:lstStyle/>
          <a:p>
            <a:endParaRPr lang="en-IQ"/>
          </a:p>
        </p:txBody>
      </p:sp>
      <p:sp>
        <p:nvSpPr>
          <p:cNvPr id="37" name="Oval 36">
            <a:extLst>
              <a:ext uri="{FF2B5EF4-FFF2-40B4-BE49-F238E27FC236}">
                <a16:creationId xmlns:a16="http://schemas.microsoft.com/office/drawing/2014/main" id="{05325539-C405-4014-B3CF-511A04DBF392}"/>
              </a:ext>
            </a:extLst>
          </p:cNvPr>
          <p:cNvSpPr>
            <a:spLocks noGrp="1"/>
          </p:cNvSpPr>
          <p:nvPr/>
        </p:nvSpPr>
        <p:spPr>
          <a:xfrm>
            <a:off x="8810625" y="3019425"/>
            <a:ext cx="228600" cy="228600"/>
          </a:xfrm>
          <a:prstGeom prst="ellipse">
            <a:avLst/>
          </a:prstGeom>
          <a:solidFill>
            <a:srgbClr val="BBDDD9"/>
          </a:solidFill>
          <a:ln w="9525">
            <a:solidFill>
              <a:srgbClr val="0B9B91"/>
            </a:solidFill>
            <a:prstDash val="solid"/>
          </a:ln>
        </p:spPr>
        <p:txBody>
          <a:bodyPr/>
          <a:lstStyle/>
          <a:p>
            <a:endParaRPr lang="en-IQ"/>
          </a:p>
        </p:txBody>
      </p:sp>
      <p:sp>
        <p:nvSpPr>
          <p:cNvPr id="38" name="Oval 37">
            <a:extLst>
              <a:ext uri="{FF2B5EF4-FFF2-40B4-BE49-F238E27FC236}">
                <a16:creationId xmlns:a16="http://schemas.microsoft.com/office/drawing/2014/main" id="{8A4DB91D-9E3D-4D34-8930-7AAF102DBAAD}"/>
              </a:ext>
            </a:extLst>
          </p:cNvPr>
          <p:cNvSpPr>
            <a:spLocks noGrp="1"/>
          </p:cNvSpPr>
          <p:nvPr/>
        </p:nvSpPr>
        <p:spPr>
          <a:xfrm>
            <a:off x="9667875" y="3019425"/>
            <a:ext cx="228600" cy="228600"/>
          </a:xfrm>
          <a:prstGeom prst="ellipse">
            <a:avLst/>
          </a:prstGeom>
          <a:solidFill>
            <a:srgbClr val="E6B9B4"/>
          </a:solidFill>
          <a:ln w="9525">
            <a:solidFill>
              <a:srgbClr val="D95D5D"/>
            </a:solidFill>
            <a:prstDash val="solid"/>
          </a:ln>
        </p:spPr>
        <p:txBody>
          <a:bodyPr/>
          <a:lstStyle/>
          <a:p>
            <a:endParaRPr lang="en-IQ"/>
          </a:p>
        </p:txBody>
      </p:sp>
      <p:sp>
        <p:nvSpPr>
          <p:cNvPr id="39" name="Oval 38">
            <a:extLst>
              <a:ext uri="{FF2B5EF4-FFF2-40B4-BE49-F238E27FC236}">
                <a16:creationId xmlns:a16="http://schemas.microsoft.com/office/drawing/2014/main" id="{6A067986-C324-49C4-BB33-78F185F16B0C}"/>
              </a:ext>
            </a:extLst>
          </p:cNvPr>
          <p:cNvSpPr>
            <a:spLocks noGrp="1"/>
          </p:cNvSpPr>
          <p:nvPr/>
        </p:nvSpPr>
        <p:spPr>
          <a:xfrm>
            <a:off x="1095375" y="3743325"/>
            <a:ext cx="228600" cy="228600"/>
          </a:xfrm>
          <a:prstGeom prst="ellipse">
            <a:avLst/>
          </a:prstGeom>
          <a:solidFill>
            <a:srgbClr val="BBDDD9"/>
          </a:solidFill>
          <a:ln w="9525">
            <a:solidFill>
              <a:srgbClr val="0B9B91"/>
            </a:solidFill>
            <a:prstDash val="solid"/>
          </a:ln>
        </p:spPr>
        <p:txBody>
          <a:bodyPr/>
          <a:lstStyle/>
          <a:p>
            <a:endParaRPr lang="en-IQ"/>
          </a:p>
        </p:txBody>
      </p:sp>
      <p:sp>
        <p:nvSpPr>
          <p:cNvPr id="40" name="Oval 39">
            <a:extLst>
              <a:ext uri="{FF2B5EF4-FFF2-40B4-BE49-F238E27FC236}">
                <a16:creationId xmlns:a16="http://schemas.microsoft.com/office/drawing/2014/main" id="{4C869645-F888-4134-82A3-871B2D1B2DAD}"/>
              </a:ext>
            </a:extLst>
          </p:cNvPr>
          <p:cNvSpPr>
            <a:spLocks noGrp="1"/>
          </p:cNvSpPr>
          <p:nvPr/>
        </p:nvSpPr>
        <p:spPr>
          <a:xfrm>
            <a:off x="1952625" y="3743325"/>
            <a:ext cx="228600" cy="228600"/>
          </a:xfrm>
          <a:prstGeom prst="ellipse">
            <a:avLst/>
          </a:prstGeom>
          <a:solidFill>
            <a:srgbClr val="BBDDD9"/>
          </a:solidFill>
          <a:ln w="9525">
            <a:solidFill>
              <a:srgbClr val="0B9B91"/>
            </a:solidFill>
            <a:prstDash val="solid"/>
          </a:ln>
        </p:spPr>
        <p:txBody>
          <a:bodyPr/>
          <a:lstStyle/>
          <a:p>
            <a:endParaRPr lang="en-IQ"/>
          </a:p>
        </p:txBody>
      </p:sp>
      <p:sp>
        <p:nvSpPr>
          <p:cNvPr id="41" name="Oval 40">
            <a:extLst>
              <a:ext uri="{FF2B5EF4-FFF2-40B4-BE49-F238E27FC236}">
                <a16:creationId xmlns:a16="http://schemas.microsoft.com/office/drawing/2014/main" id="{9ADF11E9-91CE-400A-B2F7-D076211AC0C7}"/>
              </a:ext>
            </a:extLst>
          </p:cNvPr>
          <p:cNvSpPr>
            <a:spLocks noGrp="1"/>
          </p:cNvSpPr>
          <p:nvPr/>
        </p:nvSpPr>
        <p:spPr>
          <a:xfrm>
            <a:off x="2809875" y="3743325"/>
            <a:ext cx="228600" cy="228600"/>
          </a:xfrm>
          <a:prstGeom prst="ellipse">
            <a:avLst/>
          </a:prstGeom>
          <a:solidFill>
            <a:srgbClr val="BBDDD9"/>
          </a:solidFill>
          <a:ln w="9525">
            <a:solidFill>
              <a:srgbClr val="0B9B91"/>
            </a:solidFill>
            <a:prstDash val="solid"/>
          </a:ln>
        </p:spPr>
        <p:txBody>
          <a:bodyPr/>
          <a:lstStyle/>
          <a:p>
            <a:endParaRPr lang="en-IQ"/>
          </a:p>
        </p:txBody>
      </p:sp>
      <p:sp>
        <p:nvSpPr>
          <p:cNvPr id="42" name="Oval 41">
            <a:extLst>
              <a:ext uri="{FF2B5EF4-FFF2-40B4-BE49-F238E27FC236}">
                <a16:creationId xmlns:a16="http://schemas.microsoft.com/office/drawing/2014/main" id="{7A909340-5110-4506-93D3-B1412295C6B8}"/>
              </a:ext>
            </a:extLst>
          </p:cNvPr>
          <p:cNvSpPr>
            <a:spLocks noGrp="1"/>
          </p:cNvSpPr>
          <p:nvPr/>
        </p:nvSpPr>
        <p:spPr>
          <a:xfrm>
            <a:off x="3667125" y="3743325"/>
            <a:ext cx="228600" cy="228600"/>
          </a:xfrm>
          <a:prstGeom prst="ellipse">
            <a:avLst/>
          </a:prstGeom>
          <a:solidFill>
            <a:srgbClr val="BBDDD9"/>
          </a:solidFill>
          <a:ln w="9525">
            <a:solidFill>
              <a:srgbClr val="0B9B91"/>
            </a:solidFill>
            <a:prstDash val="solid"/>
          </a:ln>
        </p:spPr>
        <p:txBody>
          <a:bodyPr/>
          <a:lstStyle/>
          <a:p>
            <a:endParaRPr lang="en-IQ"/>
          </a:p>
        </p:txBody>
      </p:sp>
      <p:sp>
        <p:nvSpPr>
          <p:cNvPr id="43" name="Oval 42">
            <a:extLst>
              <a:ext uri="{FF2B5EF4-FFF2-40B4-BE49-F238E27FC236}">
                <a16:creationId xmlns:a16="http://schemas.microsoft.com/office/drawing/2014/main" id="{F633F4E3-1E61-47E5-8DCB-5EAFB855C0BD}"/>
              </a:ext>
            </a:extLst>
          </p:cNvPr>
          <p:cNvSpPr>
            <a:spLocks noGrp="1"/>
          </p:cNvSpPr>
          <p:nvPr/>
        </p:nvSpPr>
        <p:spPr>
          <a:xfrm>
            <a:off x="4524375" y="3743325"/>
            <a:ext cx="228600" cy="228600"/>
          </a:xfrm>
          <a:prstGeom prst="ellipse">
            <a:avLst/>
          </a:prstGeom>
          <a:solidFill>
            <a:srgbClr val="BBDDD9"/>
          </a:solidFill>
          <a:ln w="9525">
            <a:solidFill>
              <a:srgbClr val="0B9B91"/>
            </a:solidFill>
            <a:prstDash val="solid"/>
          </a:ln>
        </p:spPr>
        <p:txBody>
          <a:bodyPr/>
          <a:lstStyle/>
          <a:p>
            <a:endParaRPr lang="en-IQ"/>
          </a:p>
        </p:txBody>
      </p:sp>
      <p:sp>
        <p:nvSpPr>
          <p:cNvPr id="44" name="Oval 43">
            <a:extLst>
              <a:ext uri="{FF2B5EF4-FFF2-40B4-BE49-F238E27FC236}">
                <a16:creationId xmlns:a16="http://schemas.microsoft.com/office/drawing/2014/main" id="{921BA9B0-7116-4569-8A8E-CDB79E253791}"/>
              </a:ext>
            </a:extLst>
          </p:cNvPr>
          <p:cNvSpPr>
            <a:spLocks noGrp="1"/>
          </p:cNvSpPr>
          <p:nvPr/>
        </p:nvSpPr>
        <p:spPr>
          <a:xfrm>
            <a:off x="5381625" y="3743325"/>
            <a:ext cx="228600" cy="228600"/>
          </a:xfrm>
          <a:prstGeom prst="ellipse">
            <a:avLst/>
          </a:prstGeom>
          <a:solidFill>
            <a:srgbClr val="BBDDD9"/>
          </a:solidFill>
          <a:ln w="9525">
            <a:solidFill>
              <a:srgbClr val="0B9B91"/>
            </a:solidFill>
            <a:prstDash val="solid"/>
          </a:ln>
        </p:spPr>
        <p:txBody>
          <a:bodyPr/>
          <a:lstStyle/>
          <a:p>
            <a:endParaRPr lang="en-IQ"/>
          </a:p>
        </p:txBody>
      </p:sp>
      <p:sp>
        <p:nvSpPr>
          <p:cNvPr id="45" name="Oval 44">
            <a:extLst>
              <a:ext uri="{FF2B5EF4-FFF2-40B4-BE49-F238E27FC236}">
                <a16:creationId xmlns:a16="http://schemas.microsoft.com/office/drawing/2014/main" id="{BC7EA641-D108-46A6-9970-F45DA5E3FC78}"/>
              </a:ext>
            </a:extLst>
          </p:cNvPr>
          <p:cNvSpPr>
            <a:spLocks noGrp="1"/>
          </p:cNvSpPr>
          <p:nvPr/>
        </p:nvSpPr>
        <p:spPr>
          <a:xfrm>
            <a:off x="6238875" y="3743325"/>
            <a:ext cx="228600" cy="228600"/>
          </a:xfrm>
          <a:prstGeom prst="ellipse">
            <a:avLst/>
          </a:prstGeom>
          <a:solidFill>
            <a:srgbClr val="BBDDD9"/>
          </a:solidFill>
          <a:ln w="9525">
            <a:solidFill>
              <a:srgbClr val="0B9B91"/>
            </a:solidFill>
            <a:prstDash val="solid"/>
          </a:ln>
        </p:spPr>
        <p:txBody>
          <a:bodyPr/>
          <a:lstStyle/>
          <a:p>
            <a:endParaRPr lang="en-IQ"/>
          </a:p>
        </p:txBody>
      </p:sp>
      <p:sp>
        <p:nvSpPr>
          <p:cNvPr id="46" name="Oval 45">
            <a:extLst>
              <a:ext uri="{FF2B5EF4-FFF2-40B4-BE49-F238E27FC236}">
                <a16:creationId xmlns:a16="http://schemas.microsoft.com/office/drawing/2014/main" id="{F5BB8581-A8AA-46F7-9C8E-60774B065086}"/>
              </a:ext>
            </a:extLst>
          </p:cNvPr>
          <p:cNvSpPr>
            <a:spLocks noGrp="1"/>
          </p:cNvSpPr>
          <p:nvPr/>
        </p:nvSpPr>
        <p:spPr>
          <a:xfrm>
            <a:off x="7096125" y="3743325"/>
            <a:ext cx="228600" cy="228600"/>
          </a:xfrm>
          <a:prstGeom prst="ellipse">
            <a:avLst/>
          </a:prstGeom>
          <a:solidFill>
            <a:srgbClr val="E6B9B4"/>
          </a:solidFill>
          <a:ln w="9525">
            <a:solidFill>
              <a:srgbClr val="D95D5D"/>
            </a:solidFill>
            <a:prstDash val="solid"/>
          </a:ln>
        </p:spPr>
        <p:txBody>
          <a:bodyPr/>
          <a:lstStyle/>
          <a:p>
            <a:endParaRPr lang="en-IQ"/>
          </a:p>
        </p:txBody>
      </p:sp>
      <p:sp>
        <p:nvSpPr>
          <p:cNvPr id="47" name="Oval 46">
            <a:extLst>
              <a:ext uri="{FF2B5EF4-FFF2-40B4-BE49-F238E27FC236}">
                <a16:creationId xmlns:a16="http://schemas.microsoft.com/office/drawing/2014/main" id="{F662AB57-D3EF-4CDA-940C-9D29D017D77A}"/>
              </a:ext>
            </a:extLst>
          </p:cNvPr>
          <p:cNvSpPr>
            <a:spLocks noGrp="1"/>
          </p:cNvSpPr>
          <p:nvPr/>
        </p:nvSpPr>
        <p:spPr>
          <a:xfrm>
            <a:off x="7953375" y="3743325"/>
            <a:ext cx="228600" cy="228600"/>
          </a:xfrm>
          <a:prstGeom prst="ellipse">
            <a:avLst/>
          </a:prstGeom>
          <a:solidFill>
            <a:srgbClr val="BBDDD9"/>
          </a:solidFill>
          <a:ln w="9525">
            <a:solidFill>
              <a:srgbClr val="0B9B91"/>
            </a:solidFill>
            <a:prstDash val="solid"/>
          </a:ln>
        </p:spPr>
        <p:txBody>
          <a:bodyPr/>
          <a:lstStyle/>
          <a:p>
            <a:endParaRPr lang="en-IQ"/>
          </a:p>
        </p:txBody>
      </p:sp>
      <p:sp>
        <p:nvSpPr>
          <p:cNvPr id="48" name="Oval 47">
            <a:extLst>
              <a:ext uri="{FF2B5EF4-FFF2-40B4-BE49-F238E27FC236}">
                <a16:creationId xmlns:a16="http://schemas.microsoft.com/office/drawing/2014/main" id="{240C3217-4E8A-444C-A7A5-D8F4D52B21AC}"/>
              </a:ext>
            </a:extLst>
          </p:cNvPr>
          <p:cNvSpPr>
            <a:spLocks noGrp="1"/>
          </p:cNvSpPr>
          <p:nvPr/>
        </p:nvSpPr>
        <p:spPr>
          <a:xfrm>
            <a:off x="8810625" y="3743325"/>
            <a:ext cx="228600" cy="228600"/>
          </a:xfrm>
          <a:prstGeom prst="ellipse">
            <a:avLst/>
          </a:prstGeom>
          <a:solidFill>
            <a:srgbClr val="BBDDD9"/>
          </a:solidFill>
          <a:ln w="9525">
            <a:solidFill>
              <a:srgbClr val="0B9B91"/>
            </a:solidFill>
            <a:prstDash val="solid"/>
          </a:ln>
        </p:spPr>
        <p:txBody>
          <a:bodyPr/>
          <a:lstStyle/>
          <a:p>
            <a:endParaRPr lang="en-IQ"/>
          </a:p>
        </p:txBody>
      </p:sp>
      <p:sp>
        <p:nvSpPr>
          <p:cNvPr id="49" name="Oval 48">
            <a:extLst>
              <a:ext uri="{FF2B5EF4-FFF2-40B4-BE49-F238E27FC236}">
                <a16:creationId xmlns:a16="http://schemas.microsoft.com/office/drawing/2014/main" id="{A59E3670-BCB8-4E2A-80B4-8F7F3319A0B7}"/>
              </a:ext>
            </a:extLst>
          </p:cNvPr>
          <p:cNvSpPr>
            <a:spLocks noGrp="1"/>
          </p:cNvSpPr>
          <p:nvPr/>
        </p:nvSpPr>
        <p:spPr>
          <a:xfrm>
            <a:off x="9667875" y="3743325"/>
            <a:ext cx="228600" cy="228600"/>
          </a:xfrm>
          <a:prstGeom prst="ellipse">
            <a:avLst/>
          </a:prstGeom>
          <a:solidFill>
            <a:srgbClr val="BBDDD9"/>
          </a:solidFill>
          <a:ln w="9525">
            <a:solidFill>
              <a:srgbClr val="0B9B91"/>
            </a:solidFill>
            <a:prstDash val="solid"/>
          </a:ln>
        </p:spPr>
        <p:txBody>
          <a:bodyPr/>
          <a:lstStyle/>
          <a:p>
            <a:endParaRPr lang="en-IQ"/>
          </a:p>
        </p:txBody>
      </p:sp>
      <p:sp>
        <p:nvSpPr>
          <p:cNvPr id="50" name="Oval 49">
            <a:extLst>
              <a:ext uri="{FF2B5EF4-FFF2-40B4-BE49-F238E27FC236}">
                <a16:creationId xmlns:a16="http://schemas.microsoft.com/office/drawing/2014/main" id="{B43BFDF3-E0A4-4839-A5C4-B91C2EE81FB1}"/>
              </a:ext>
            </a:extLst>
          </p:cNvPr>
          <p:cNvSpPr>
            <a:spLocks noGrp="1"/>
          </p:cNvSpPr>
          <p:nvPr/>
        </p:nvSpPr>
        <p:spPr>
          <a:xfrm>
            <a:off x="1095375" y="4467225"/>
            <a:ext cx="228600" cy="228600"/>
          </a:xfrm>
          <a:prstGeom prst="ellipse">
            <a:avLst/>
          </a:prstGeom>
          <a:solidFill>
            <a:srgbClr val="BBDDD9"/>
          </a:solidFill>
          <a:ln w="9525">
            <a:solidFill>
              <a:srgbClr val="0B9B91"/>
            </a:solidFill>
            <a:prstDash val="solid"/>
          </a:ln>
        </p:spPr>
        <p:txBody>
          <a:bodyPr/>
          <a:lstStyle/>
          <a:p>
            <a:endParaRPr lang="en-IQ"/>
          </a:p>
        </p:txBody>
      </p:sp>
      <p:sp>
        <p:nvSpPr>
          <p:cNvPr id="51" name="Oval 50">
            <a:extLst>
              <a:ext uri="{FF2B5EF4-FFF2-40B4-BE49-F238E27FC236}">
                <a16:creationId xmlns:a16="http://schemas.microsoft.com/office/drawing/2014/main" id="{B741A5D5-57EE-416E-B37F-99DA3956C45A}"/>
              </a:ext>
            </a:extLst>
          </p:cNvPr>
          <p:cNvSpPr>
            <a:spLocks noGrp="1"/>
          </p:cNvSpPr>
          <p:nvPr/>
        </p:nvSpPr>
        <p:spPr>
          <a:xfrm>
            <a:off x="1952625" y="4467225"/>
            <a:ext cx="228600" cy="228600"/>
          </a:xfrm>
          <a:prstGeom prst="ellipse">
            <a:avLst/>
          </a:prstGeom>
          <a:solidFill>
            <a:srgbClr val="BBDDD9"/>
          </a:solidFill>
          <a:ln w="9525">
            <a:solidFill>
              <a:srgbClr val="0B9B91"/>
            </a:solidFill>
            <a:prstDash val="solid"/>
          </a:ln>
        </p:spPr>
        <p:txBody>
          <a:bodyPr/>
          <a:lstStyle/>
          <a:p>
            <a:endParaRPr lang="en-IQ"/>
          </a:p>
        </p:txBody>
      </p:sp>
      <p:sp>
        <p:nvSpPr>
          <p:cNvPr id="52" name="Oval 51">
            <a:extLst>
              <a:ext uri="{FF2B5EF4-FFF2-40B4-BE49-F238E27FC236}">
                <a16:creationId xmlns:a16="http://schemas.microsoft.com/office/drawing/2014/main" id="{9C90C1E8-5D7B-4C81-97FB-FD0BA9A3EB8B}"/>
              </a:ext>
            </a:extLst>
          </p:cNvPr>
          <p:cNvSpPr>
            <a:spLocks noGrp="1"/>
          </p:cNvSpPr>
          <p:nvPr/>
        </p:nvSpPr>
        <p:spPr>
          <a:xfrm>
            <a:off x="2809875" y="4467225"/>
            <a:ext cx="228600" cy="228600"/>
          </a:xfrm>
          <a:prstGeom prst="ellipse">
            <a:avLst/>
          </a:prstGeom>
          <a:solidFill>
            <a:srgbClr val="BBDDD9"/>
          </a:solidFill>
          <a:ln w="9525">
            <a:solidFill>
              <a:srgbClr val="0B9B91"/>
            </a:solidFill>
            <a:prstDash val="solid"/>
          </a:ln>
        </p:spPr>
        <p:txBody>
          <a:bodyPr/>
          <a:lstStyle/>
          <a:p>
            <a:endParaRPr lang="en-IQ"/>
          </a:p>
        </p:txBody>
      </p:sp>
      <p:sp>
        <p:nvSpPr>
          <p:cNvPr id="53" name="Oval 52">
            <a:extLst>
              <a:ext uri="{FF2B5EF4-FFF2-40B4-BE49-F238E27FC236}">
                <a16:creationId xmlns:a16="http://schemas.microsoft.com/office/drawing/2014/main" id="{DF4F02A2-D473-49F5-BA38-4222FA2C2B2F}"/>
              </a:ext>
            </a:extLst>
          </p:cNvPr>
          <p:cNvSpPr>
            <a:spLocks noGrp="1"/>
          </p:cNvSpPr>
          <p:nvPr/>
        </p:nvSpPr>
        <p:spPr>
          <a:xfrm>
            <a:off x="3667125" y="4467225"/>
            <a:ext cx="228600" cy="228600"/>
          </a:xfrm>
          <a:prstGeom prst="ellipse">
            <a:avLst/>
          </a:prstGeom>
          <a:solidFill>
            <a:srgbClr val="BBDDD9"/>
          </a:solidFill>
          <a:ln w="9525">
            <a:solidFill>
              <a:srgbClr val="0B9B91"/>
            </a:solidFill>
            <a:prstDash val="solid"/>
          </a:ln>
        </p:spPr>
        <p:txBody>
          <a:bodyPr/>
          <a:lstStyle/>
          <a:p>
            <a:endParaRPr lang="en-IQ"/>
          </a:p>
        </p:txBody>
      </p:sp>
      <p:sp>
        <p:nvSpPr>
          <p:cNvPr id="54" name="Oval 53">
            <a:extLst>
              <a:ext uri="{FF2B5EF4-FFF2-40B4-BE49-F238E27FC236}">
                <a16:creationId xmlns:a16="http://schemas.microsoft.com/office/drawing/2014/main" id="{FD16A31D-DA97-45FF-A711-25C7404DF8D2}"/>
              </a:ext>
            </a:extLst>
          </p:cNvPr>
          <p:cNvSpPr>
            <a:spLocks noGrp="1"/>
          </p:cNvSpPr>
          <p:nvPr/>
        </p:nvSpPr>
        <p:spPr>
          <a:xfrm>
            <a:off x="4524375" y="4467225"/>
            <a:ext cx="228600" cy="228600"/>
          </a:xfrm>
          <a:prstGeom prst="ellipse">
            <a:avLst/>
          </a:prstGeom>
          <a:solidFill>
            <a:srgbClr val="E6B9B4"/>
          </a:solidFill>
          <a:ln w="9525">
            <a:solidFill>
              <a:srgbClr val="D95D5D"/>
            </a:solidFill>
            <a:prstDash val="solid"/>
          </a:ln>
        </p:spPr>
        <p:txBody>
          <a:bodyPr/>
          <a:lstStyle/>
          <a:p>
            <a:endParaRPr lang="en-IQ"/>
          </a:p>
        </p:txBody>
      </p:sp>
      <p:sp>
        <p:nvSpPr>
          <p:cNvPr id="55" name="Oval 54">
            <a:extLst>
              <a:ext uri="{FF2B5EF4-FFF2-40B4-BE49-F238E27FC236}">
                <a16:creationId xmlns:a16="http://schemas.microsoft.com/office/drawing/2014/main" id="{C422DE58-B641-4E28-9CA9-0E14257626DB}"/>
              </a:ext>
            </a:extLst>
          </p:cNvPr>
          <p:cNvSpPr>
            <a:spLocks noGrp="1"/>
          </p:cNvSpPr>
          <p:nvPr/>
        </p:nvSpPr>
        <p:spPr>
          <a:xfrm>
            <a:off x="5381625" y="4467225"/>
            <a:ext cx="228600" cy="228600"/>
          </a:xfrm>
          <a:prstGeom prst="ellipse">
            <a:avLst/>
          </a:prstGeom>
          <a:solidFill>
            <a:srgbClr val="BBDDD9"/>
          </a:solidFill>
          <a:ln w="9525">
            <a:solidFill>
              <a:srgbClr val="0B9B91"/>
            </a:solidFill>
            <a:prstDash val="solid"/>
          </a:ln>
        </p:spPr>
        <p:txBody>
          <a:bodyPr/>
          <a:lstStyle/>
          <a:p>
            <a:endParaRPr lang="en-IQ"/>
          </a:p>
        </p:txBody>
      </p:sp>
      <p:sp>
        <p:nvSpPr>
          <p:cNvPr id="56" name="Oval 55">
            <a:extLst>
              <a:ext uri="{FF2B5EF4-FFF2-40B4-BE49-F238E27FC236}">
                <a16:creationId xmlns:a16="http://schemas.microsoft.com/office/drawing/2014/main" id="{E9B91175-34EC-46A7-A348-03515F7B3A49}"/>
              </a:ext>
            </a:extLst>
          </p:cNvPr>
          <p:cNvSpPr>
            <a:spLocks noGrp="1"/>
          </p:cNvSpPr>
          <p:nvPr/>
        </p:nvSpPr>
        <p:spPr>
          <a:xfrm>
            <a:off x="6238875" y="4467225"/>
            <a:ext cx="228600" cy="228600"/>
          </a:xfrm>
          <a:prstGeom prst="ellipse">
            <a:avLst/>
          </a:prstGeom>
          <a:solidFill>
            <a:srgbClr val="BBDDD9"/>
          </a:solidFill>
          <a:ln w="9525">
            <a:solidFill>
              <a:srgbClr val="0B9B91"/>
            </a:solidFill>
            <a:prstDash val="solid"/>
          </a:ln>
        </p:spPr>
        <p:txBody>
          <a:bodyPr/>
          <a:lstStyle/>
          <a:p>
            <a:endParaRPr lang="en-IQ"/>
          </a:p>
        </p:txBody>
      </p:sp>
      <p:sp>
        <p:nvSpPr>
          <p:cNvPr id="57" name="Oval 56">
            <a:extLst>
              <a:ext uri="{FF2B5EF4-FFF2-40B4-BE49-F238E27FC236}">
                <a16:creationId xmlns:a16="http://schemas.microsoft.com/office/drawing/2014/main" id="{6F813310-EA1F-4B21-9BDE-716EC81397DE}"/>
              </a:ext>
            </a:extLst>
          </p:cNvPr>
          <p:cNvSpPr>
            <a:spLocks noGrp="1"/>
          </p:cNvSpPr>
          <p:nvPr/>
        </p:nvSpPr>
        <p:spPr>
          <a:xfrm>
            <a:off x="7096125" y="4467225"/>
            <a:ext cx="228600" cy="228600"/>
          </a:xfrm>
          <a:prstGeom prst="ellipse">
            <a:avLst/>
          </a:prstGeom>
          <a:solidFill>
            <a:srgbClr val="BBDDD9"/>
          </a:solidFill>
          <a:ln w="9525">
            <a:solidFill>
              <a:srgbClr val="0B9B91"/>
            </a:solidFill>
            <a:prstDash val="solid"/>
          </a:ln>
        </p:spPr>
        <p:txBody>
          <a:bodyPr/>
          <a:lstStyle/>
          <a:p>
            <a:endParaRPr lang="en-IQ"/>
          </a:p>
        </p:txBody>
      </p:sp>
      <p:sp>
        <p:nvSpPr>
          <p:cNvPr id="58" name="Oval 57">
            <a:extLst>
              <a:ext uri="{FF2B5EF4-FFF2-40B4-BE49-F238E27FC236}">
                <a16:creationId xmlns:a16="http://schemas.microsoft.com/office/drawing/2014/main" id="{2B93C1A5-6D1B-4FEE-98B8-69EDFF867BE1}"/>
              </a:ext>
            </a:extLst>
          </p:cNvPr>
          <p:cNvSpPr>
            <a:spLocks noGrp="1"/>
          </p:cNvSpPr>
          <p:nvPr/>
        </p:nvSpPr>
        <p:spPr>
          <a:xfrm>
            <a:off x="7953375" y="4467225"/>
            <a:ext cx="228600" cy="228600"/>
          </a:xfrm>
          <a:prstGeom prst="ellipse">
            <a:avLst/>
          </a:prstGeom>
          <a:solidFill>
            <a:srgbClr val="BBDDD9"/>
          </a:solidFill>
          <a:ln w="9525">
            <a:solidFill>
              <a:srgbClr val="0B9B91"/>
            </a:solidFill>
            <a:prstDash val="solid"/>
          </a:ln>
        </p:spPr>
        <p:txBody>
          <a:bodyPr/>
          <a:lstStyle/>
          <a:p>
            <a:endParaRPr lang="en-IQ"/>
          </a:p>
        </p:txBody>
      </p:sp>
      <p:sp>
        <p:nvSpPr>
          <p:cNvPr id="59" name="Oval 58">
            <a:extLst>
              <a:ext uri="{FF2B5EF4-FFF2-40B4-BE49-F238E27FC236}">
                <a16:creationId xmlns:a16="http://schemas.microsoft.com/office/drawing/2014/main" id="{853F3055-60A5-471D-B3BA-FAD3442AB1A0}"/>
              </a:ext>
            </a:extLst>
          </p:cNvPr>
          <p:cNvSpPr>
            <a:spLocks noGrp="1"/>
          </p:cNvSpPr>
          <p:nvPr/>
        </p:nvSpPr>
        <p:spPr>
          <a:xfrm>
            <a:off x="8810625" y="4467225"/>
            <a:ext cx="228600" cy="228600"/>
          </a:xfrm>
          <a:prstGeom prst="ellipse">
            <a:avLst/>
          </a:prstGeom>
          <a:solidFill>
            <a:srgbClr val="BBDDD9"/>
          </a:solidFill>
          <a:ln w="9525">
            <a:solidFill>
              <a:srgbClr val="0B9B91"/>
            </a:solidFill>
            <a:prstDash val="solid"/>
          </a:ln>
        </p:spPr>
        <p:txBody>
          <a:bodyPr/>
          <a:lstStyle/>
          <a:p>
            <a:endParaRPr lang="en-IQ"/>
          </a:p>
        </p:txBody>
      </p:sp>
      <p:sp>
        <p:nvSpPr>
          <p:cNvPr id="60" name="Oval 59">
            <a:extLst>
              <a:ext uri="{FF2B5EF4-FFF2-40B4-BE49-F238E27FC236}">
                <a16:creationId xmlns:a16="http://schemas.microsoft.com/office/drawing/2014/main" id="{F2752B18-0703-4FF2-9C98-17DF554273C3}"/>
              </a:ext>
            </a:extLst>
          </p:cNvPr>
          <p:cNvSpPr>
            <a:spLocks noGrp="1"/>
          </p:cNvSpPr>
          <p:nvPr/>
        </p:nvSpPr>
        <p:spPr>
          <a:xfrm>
            <a:off x="9667875" y="4467225"/>
            <a:ext cx="228600" cy="228600"/>
          </a:xfrm>
          <a:prstGeom prst="ellipse">
            <a:avLst/>
          </a:prstGeom>
          <a:solidFill>
            <a:srgbClr val="BBDDD9"/>
          </a:solidFill>
          <a:ln w="9525">
            <a:solidFill>
              <a:srgbClr val="0B9B91"/>
            </a:solidFill>
            <a:prstDash val="solid"/>
          </a:ln>
        </p:spPr>
        <p:txBody>
          <a:bodyPr/>
          <a:lstStyle/>
          <a:p>
            <a:endParaRPr lang="en-IQ"/>
          </a:p>
        </p:txBody>
      </p:sp>
      <p:sp>
        <p:nvSpPr>
          <p:cNvPr id="61" name="Oval 60">
            <a:extLst>
              <a:ext uri="{FF2B5EF4-FFF2-40B4-BE49-F238E27FC236}">
                <a16:creationId xmlns:a16="http://schemas.microsoft.com/office/drawing/2014/main" id="{6D72DE97-9390-4493-B70F-BD4F7CBEA5D1}"/>
              </a:ext>
            </a:extLst>
          </p:cNvPr>
          <p:cNvSpPr>
            <a:spLocks noGrp="1"/>
          </p:cNvSpPr>
          <p:nvPr/>
        </p:nvSpPr>
        <p:spPr>
          <a:xfrm>
            <a:off x="7953375" y="3743325"/>
            <a:ext cx="381000" cy="381000"/>
          </a:xfrm>
          <a:prstGeom prst="ellipse">
            <a:avLst/>
          </a:prstGeom>
          <a:solidFill>
            <a:srgbClr val="F2A93B"/>
          </a:solidFill>
          <a:ln w="19050">
            <a:solidFill>
              <a:srgbClr val="F2A93B"/>
            </a:solidFill>
            <a:prstDash val="solid"/>
          </a:ln>
        </p:spPr>
        <p:txBody>
          <a:bodyPr/>
          <a:lstStyle/>
          <a:p>
            <a:endParaRPr lang="en-IQ"/>
          </a:p>
        </p:txBody>
      </p:sp>
      <p:sp>
        <p:nvSpPr>
          <p:cNvPr id="62" name="Rectangle 61">
            <a:extLst>
              <a:ext uri="{FF2B5EF4-FFF2-40B4-BE49-F238E27FC236}">
                <a16:creationId xmlns:a16="http://schemas.microsoft.com/office/drawing/2014/main" id="{C67200FB-B404-4DE4-8D49-CA2469E0F270}"/>
              </a:ext>
            </a:extLst>
          </p:cNvPr>
          <p:cNvSpPr>
            <a:spLocks noGrp="1"/>
          </p:cNvSpPr>
          <p:nvPr/>
        </p:nvSpPr>
        <p:spPr>
          <a:xfrm>
            <a:off x="8477250" y="3714750"/>
            <a:ext cx="2381250" cy="400050"/>
          </a:xfrm>
          <a:prstGeom prst="rect">
            <a:avLst/>
          </a:prstGeom>
          <a:noFill/>
          <a:ln w="0">
            <a:noFill/>
            <a:prstDash val="solid"/>
          </a:ln>
        </p:spPr>
        <p:txBody>
          <a:bodyPr anchor="ctr"/>
          <a:lstStyle/>
          <a:p>
            <a:pPr algn="l">
              <a:defRPr sz="1425" b="1">
                <a:solidFill>
                  <a:srgbClr val="F2A93B"/>
                </a:solidFill>
              </a:defRPr>
            </a:pPr>
            <a:r>
              <a:rPr sz="1425" b="1">
                <a:solidFill>
                  <a:srgbClr val="F2A93B"/>
                </a:solidFill>
              </a:rPr>
              <a:t>best found so far</a:t>
            </a:r>
          </a:p>
        </p:txBody>
      </p:sp>
      <p:sp>
        <p:nvSpPr>
          <p:cNvPr id="63" name="Rectangle: Rounded Corners 62">
            <a:extLst>
              <a:ext uri="{FF2B5EF4-FFF2-40B4-BE49-F238E27FC236}">
                <a16:creationId xmlns:a16="http://schemas.microsoft.com/office/drawing/2014/main" id="{A763F3CA-0B83-44D3-98F9-A54D91CC726D}"/>
              </a:ext>
            </a:extLst>
          </p:cNvPr>
          <p:cNvSpPr>
            <a:spLocks noGrp="1"/>
          </p:cNvSpPr>
          <p:nvPr/>
        </p:nvSpPr>
        <p:spPr>
          <a:xfrm>
            <a:off x="2476500" y="5619750"/>
            <a:ext cx="7239000" cy="571500"/>
          </a:xfrm>
          <a:prstGeom prst="roundRect">
            <a:avLst>
              <a:gd name="adj" fmla="val 13333"/>
            </a:avLst>
          </a:prstGeom>
          <a:solidFill>
            <a:srgbClr val="092A3D"/>
          </a:solidFill>
          <a:ln w="0">
            <a:solidFill>
              <a:srgbClr val="092A3D"/>
            </a:solidFill>
            <a:prstDash val="solid"/>
          </a:ln>
        </p:spPr>
        <p:txBody>
          <a:bodyPr/>
          <a:lstStyle/>
          <a:p>
            <a:endParaRPr lang="en-IQ"/>
          </a:p>
        </p:txBody>
      </p:sp>
      <p:sp>
        <p:nvSpPr>
          <p:cNvPr id="64" name="Rectangle 63">
            <a:extLst>
              <a:ext uri="{FF2B5EF4-FFF2-40B4-BE49-F238E27FC236}">
                <a16:creationId xmlns:a16="http://schemas.microsoft.com/office/drawing/2014/main" id="{2E0E8998-EEC7-4D75-9F70-4F6095DB28A4}"/>
              </a:ext>
            </a:extLst>
          </p:cNvPr>
          <p:cNvSpPr>
            <a:spLocks noGrp="1"/>
          </p:cNvSpPr>
          <p:nvPr/>
        </p:nvSpPr>
        <p:spPr>
          <a:xfrm>
            <a:off x="2667000" y="5715000"/>
            <a:ext cx="6858000" cy="381000"/>
          </a:xfrm>
          <a:prstGeom prst="rect">
            <a:avLst/>
          </a:prstGeom>
          <a:noFill/>
          <a:ln w="0">
            <a:noFill/>
            <a:prstDash val="solid"/>
          </a:ln>
        </p:spPr>
        <p:txBody>
          <a:bodyPr anchor="ctr"/>
          <a:lstStyle/>
          <a:p>
            <a:pPr algn="ctr">
              <a:defRPr sz="1650" b="1">
                <a:solidFill>
                  <a:srgbClr val="FFFFFF"/>
                </a:solidFill>
              </a:defRPr>
            </a:pPr>
            <a:r>
              <a:rPr sz="1650" b="1">
                <a:solidFill>
                  <a:srgbClr val="FFFFFF"/>
                </a:solidFill>
              </a:rPr>
              <a:t>An algorithm chooses which candidates to examine.</a:t>
            </a:r>
          </a:p>
        </p:txBody>
      </p:sp>
      <p:sp>
        <p:nvSpPr>
          <p:cNvPr id="65" name="Rectangle 64">
            <a:extLst>
              <a:ext uri="{FF2B5EF4-FFF2-40B4-BE49-F238E27FC236}">
                <a16:creationId xmlns:a16="http://schemas.microsoft.com/office/drawing/2014/main" id="{6765604B-EBF8-4B5D-A068-4B01585B631B}"/>
              </a:ext>
            </a:extLst>
          </p:cNvPr>
          <p:cNvSpPr>
            <a:spLocks noGrp="1"/>
          </p:cNvSpPr>
          <p:nvPr/>
        </p:nvSpPr>
        <p:spPr>
          <a:xfrm>
            <a:off x="609600" y="1238250"/>
            <a:ext cx="10972800" cy="5067300"/>
          </a:xfrm>
          <a:prstGeom prst="rect">
            <a:avLst/>
          </a:prstGeom>
          <a:solidFill>
            <a:srgbClr val="F7F4EE"/>
          </a:solidFill>
          <a:ln w="0">
            <a:solidFill>
              <a:srgbClr val="F7F4EE"/>
            </a:solidFill>
            <a:prstDash val="solid"/>
          </a:ln>
        </p:spPr>
        <p:txBody>
          <a:bodyPr/>
          <a:lstStyle/>
          <a:p>
            <a:endParaRPr lang="en-IQ"/>
          </a:p>
        </p:txBody>
      </p:sp>
      <p:pic>
        <p:nvPicPr>
          <p:cNvPr id="132" name="Picture 131"/>
          <p:cNvPicPr>
            <a:picLocks noChangeAspect="1"/>
          </p:cNvPicPr>
          <p:nvPr/>
        </p:nvPicPr>
        <p:blipFill>
          <a:blip r:embed="rId3"/>
          <a:stretch/>
        </p:blipFill>
        <p:spPr>
          <a:xfrm>
            <a:off x="1991849" y="1381125"/>
            <a:ext cx="8208303" cy="4619625"/>
          </a:xfrm>
          <a:prstGeom prst="rect">
            <a:avLst/>
          </a:prstGeom>
        </p:spPr>
      </p:pic>
    </p:spTree>
    <p:extLst>
      <p:ext uri="{BB962C8B-B14F-4D97-AF65-F5344CB8AC3E}">
        <p14:creationId xmlns:p14="http://schemas.microsoft.com/office/powerpoint/2010/main" val="9515378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A79D1CCD-10B1-4817-8F3F-F8A4DFBC8DA6}"/>
              </a:ext>
            </a:extLst>
          </p:cNvPr>
          <p:cNvSpPr>
            <a:spLocks noGrp="1"/>
          </p:cNvSpPr>
          <p:nvPr/>
        </p:nvSpPr>
        <p:spPr>
          <a:xfrm>
            <a:off x="609600" y="285750"/>
            <a:ext cx="66675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EVALUATION</a:t>
            </a:r>
          </a:p>
        </p:txBody>
      </p:sp>
      <p:sp>
        <p:nvSpPr>
          <p:cNvPr id="2" name="Rectangle 1">
            <a:extLst>
              <a:ext uri="{FF2B5EF4-FFF2-40B4-BE49-F238E27FC236}">
                <a16:creationId xmlns:a16="http://schemas.microsoft.com/office/drawing/2014/main" id="{EDFB95CD-5544-4398-BACF-4CEA4BCFBCD2}"/>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Evaluation gives every candidate a consistent result</a:t>
            </a:r>
          </a:p>
        </p:txBody>
      </p:sp>
      <p:sp>
        <p:nvSpPr>
          <p:cNvPr id="3" name="Rectangle 2">
            <a:extLst>
              <a:ext uri="{FF2B5EF4-FFF2-40B4-BE49-F238E27FC236}">
                <a16:creationId xmlns:a16="http://schemas.microsoft.com/office/drawing/2014/main" id="{B6D9E18D-FBAA-48E9-B1B6-B61A0D3A8775}"/>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0E4CF908-8FFC-466B-A84F-7BD201AAC301}"/>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0</a:t>
            </a:r>
          </a:p>
        </p:txBody>
      </p:sp>
      <p:sp>
        <p:nvSpPr>
          <p:cNvPr id="5" name="Rectangle 4">
            <a:extLst>
              <a:ext uri="{FF2B5EF4-FFF2-40B4-BE49-F238E27FC236}">
                <a16:creationId xmlns:a16="http://schemas.microsoft.com/office/drawing/2014/main" id="{7E4B4505-D9D6-4AA9-927A-23B0BDE0BFB9}"/>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12</a:t>
            </a:r>
          </a:p>
        </p:txBody>
      </p:sp>
      <p:sp>
        <p:nvSpPr>
          <p:cNvPr id="6" name="Straight Connector 5">
            <a:extLst>
              <a:ext uri="{FF2B5EF4-FFF2-40B4-BE49-F238E27FC236}">
                <a16:creationId xmlns:a16="http://schemas.microsoft.com/office/drawing/2014/main" id="{EC1154F6-71B4-434A-98CF-DBACAE810ADD}"/>
              </a:ext>
            </a:extLst>
          </p:cNvPr>
          <p:cNvSpPr>
            <a:spLocks noGrp="1"/>
          </p:cNvSpPr>
          <p:nvPr/>
        </p:nvSpPr>
        <p:spPr>
          <a:xfrm>
            <a:off x="3167063" y="2714625"/>
            <a:ext cx="190500" cy="0"/>
          </a:xfrm>
          <a:prstGeom prst="line">
            <a:avLst/>
          </a:prstGeom>
          <a:noFill/>
          <a:ln w="28575">
            <a:solidFill>
              <a:srgbClr val="0B9B91"/>
            </a:solidFill>
            <a:prstDash val="solid"/>
          </a:ln>
        </p:spPr>
        <p:txBody>
          <a:bodyPr/>
          <a:lstStyle/>
          <a:p>
            <a:endParaRPr lang="en-IQ"/>
          </a:p>
        </p:txBody>
      </p:sp>
      <p:sp>
        <p:nvSpPr>
          <p:cNvPr id="7" name="Rectangle: Rounded Corners 6">
            <a:extLst>
              <a:ext uri="{FF2B5EF4-FFF2-40B4-BE49-F238E27FC236}">
                <a16:creationId xmlns:a16="http://schemas.microsoft.com/office/drawing/2014/main" id="{1508A7DE-C3A9-42F7-BF3E-D469397E7F21}"/>
              </a:ext>
            </a:extLst>
          </p:cNvPr>
          <p:cNvSpPr>
            <a:spLocks noGrp="1"/>
          </p:cNvSpPr>
          <p:nvPr/>
        </p:nvSpPr>
        <p:spPr>
          <a:xfrm>
            <a:off x="523875" y="2095500"/>
            <a:ext cx="2643188" cy="1238250"/>
          </a:xfrm>
          <a:prstGeom prst="roundRect">
            <a:avLst>
              <a:gd name="adj" fmla="val 6154"/>
            </a:avLst>
          </a:prstGeom>
          <a:solidFill>
            <a:srgbClr val="FFFFFF"/>
          </a:solidFill>
          <a:ln w="9525">
            <a:solidFill>
              <a:srgbClr val="CED9DB"/>
            </a:solidFill>
            <a:prstDash val="solid"/>
          </a:ln>
        </p:spPr>
        <p:txBody>
          <a:bodyPr/>
          <a:lstStyle/>
          <a:p>
            <a:endParaRPr lang="en-IQ"/>
          </a:p>
        </p:txBody>
      </p:sp>
      <p:sp>
        <p:nvSpPr>
          <p:cNvPr id="8" name="Rectangle 7">
            <a:extLst>
              <a:ext uri="{FF2B5EF4-FFF2-40B4-BE49-F238E27FC236}">
                <a16:creationId xmlns:a16="http://schemas.microsoft.com/office/drawing/2014/main" id="{866190C6-FE3B-4B41-AD04-96602BD986C0}"/>
              </a:ext>
            </a:extLst>
          </p:cNvPr>
          <p:cNvSpPr>
            <a:spLocks noGrp="1"/>
          </p:cNvSpPr>
          <p:nvPr/>
        </p:nvSpPr>
        <p:spPr>
          <a:xfrm>
            <a:off x="638175" y="2190750"/>
            <a:ext cx="323850" cy="266700"/>
          </a:xfrm>
          <a:prstGeom prst="rect">
            <a:avLst/>
          </a:prstGeom>
          <a:noFill/>
          <a:ln w="0">
            <a:noFill/>
            <a:prstDash val="solid"/>
          </a:ln>
        </p:spPr>
        <p:txBody>
          <a:bodyPr anchor="ctr"/>
          <a:lstStyle/>
          <a:p>
            <a:pPr algn="ctr">
              <a:defRPr sz="1275" b="1">
                <a:solidFill>
                  <a:srgbClr val="0B9B91"/>
                </a:solidFill>
              </a:defRPr>
            </a:pPr>
            <a:r>
              <a:rPr sz="1275" b="1">
                <a:solidFill>
                  <a:srgbClr val="0B9B91"/>
                </a:solidFill>
              </a:rPr>
              <a:t>1</a:t>
            </a:r>
          </a:p>
        </p:txBody>
      </p:sp>
      <p:sp>
        <p:nvSpPr>
          <p:cNvPr id="9" name="Rectangle 8">
            <a:extLst>
              <a:ext uri="{FF2B5EF4-FFF2-40B4-BE49-F238E27FC236}">
                <a16:creationId xmlns:a16="http://schemas.microsoft.com/office/drawing/2014/main" id="{FB818F16-BF3A-4095-ACD3-D6C63D3647A1}"/>
              </a:ext>
            </a:extLst>
          </p:cNvPr>
          <p:cNvSpPr>
            <a:spLocks noGrp="1"/>
          </p:cNvSpPr>
          <p:nvPr/>
        </p:nvSpPr>
        <p:spPr>
          <a:xfrm>
            <a:off x="676275" y="2524125"/>
            <a:ext cx="2338388" cy="628650"/>
          </a:xfrm>
          <a:prstGeom prst="rect">
            <a:avLst/>
          </a:prstGeom>
          <a:noFill/>
          <a:ln w="0">
            <a:noFill/>
            <a:prstDash val="solid"/>
          </a:ln>
        </p:spPr>
        <p:txBody>
          <a:bodyPr anchor="ctr"/>
          <a:lstStyle/>
          <a:p>
            <a:pPr algn="ctr">
              <a:defRPr sz="1275" b="1">
                <a:solidFill>
                  <a:srgbClr val="183544"/>
                </a:solidFill>
              </a:defRPr>
            </a:pPr>
            <a:r>
              <a:rPr sz="1275" b="1">
                <a:solidFill>
                  <a:srgbClr val="183544"/>
                </a:solidFill>
              </a:rPr>
              <a:t>Candidate</a:t>
            </a:r>
          </a:p>
        </p:txBody>
      </p:sp>
      <p:sp>
        <p:nvSpPr>
          <p:cNvPr id="10" name="Straight Connector 9">
            <a:extLst>
              <a:ext uri="{FF2B5EF4-FFF2-40B4-BE49-F238E27FC236}">
                <a16:creationId xmlns:a16="http://schemas.microsoft.com/office/drawing/2014/main" id="{54C18B41-DB7E-4315-8E97-8F1FD23EDA20}"/>
              </a:ext>
            </a:extLst>
          </p:cNvPr>
          <p:cNvSpPr>
            <a:spLocks noGrp="1"/>
          </p:cNvSpPr>
          <p:nvPr/>
        </p:nvSpPr>
        <p:spPr>
          <a:xfrm>
            <a:off x="6000750" y="2714625"/>
            <a:ext cx="190500" cy="0"/>
          </a:xfrm>
          <a:prstGeom prst="line">
            <a:avLst/>
          </a:prstGeom>
          <a:noFill/>
          <a:ln w="28575">
            <a:solidFill>
              <a:srgbClr val="0B9B91"/>
            </a:solidFill>
            <a:prstDash val="solid"/>
          </a:ln>
        </p:spPr>
        <p:txBody>
          <a:bodyPr/>
          <a:lstStyle/>
          <a:p>
            <a:endParaRPr lang="en-IQ"/>
          </a:p>
        </p:txBody>
      </p:sp>
      <p:sp>
        <p:nvSpPr>
          <p:cNvPr id="11" name="Rectangle: Rounded Corners 10">
            <a:extLst>
              <a:ext uri="{FF2B5EF4-FFF2-40B4-BE49-F238E27FC236}">
                <a16:creationId xmlns:a16="http://schemas.microsoft.com/office/drawing/2014/main" id="{96697051-6413-423F-B87F-6D85293FBBFE}"/>
              </a:ext>
            </a:extLst>
          </p:cNvPr>
          <p:cNvSpPr>
            <a:spLocks noGrp="1"/>
          </p:cNvSpPr>
          <p:nvPr/>
        </p:nvSpPr>
        <p:spPr>
          <a:xfrm>
            <a:off x="3357563" y="2095500"/>
            <a:ext cx="2643188" cy="1238250"/>
          </a:xfrm>
          <a:prstGeom prst="roundRect">
            <a:avLst>
              <a:gd name="adj" fmla="val 6154"/>
            </a:avLst>
          </a:prstGeom>
          <a:solidFill>
            <a:srgbClr val="FFFFFF"/>
          </a:solidFill>
          <a:ln w="9525">
            <a:solidFill>
              <a:srgbClr val="CED9DB"/>
            </a:solidFill>
            <a:prstDash val="solid"/>
          </a:ln>
        </p:spPr>
        <p:txBody>
          <a:bodyPr/>
          <a:lstStyle/>
          <a:p>
            <a:endParaRPr lang="en-IQ"/>
          </a:p>
        </p:txBody>
      </p:sp>
      <p:sp>
        <p:nvSpPr>
          <p:cNvPr id="12" name="Rectangle 11">
            <a:extLst>
              <a:ext uri="{FF2B5EF4-FFF2-40B4-BE49-F238E27FC236}">
                <a16:creationId xmlns:a16="http://schemas.microsoft.com/office/drawing/2014/main" id="{190F4EDB-7E07-47A2-B938-4E11B8160A69}"/>
              </a:ext>
            </a:extLst>
          </p:cNvPr>
          <p:cNvSpPr>
            <a:spLocks noGrp="1"/>
          </p:cNvSpPr>
          <p:nvPr/>
        </p:nvSpPr>
        <p:spPr>
          <a:xfrm>
            <a:off x="3471863" y="2190750"/>
            <a:ext cx="323850" cy="266700"/>
          </a:xfrm>
          <a:prstGeom prst="rect">
            <a:avLst/>
          </a:prstGeom>
          <a:noFill/>
          <a:ln w="0">
            <a:noFill/>
            <a:prstDash val="solid"/>
          </a:ln>
        </p:spPr>
        <p:txBody>
          <a:bodyPr anchor="ctr"/>
          <a:lstStyle/>
          <a:p>
            <a:pPr algn="ctr">
              <a:defRPr sz="1275" b="1">
                <a:solidFill>
                  <a:srgbClr val="0B9B91"/>
                </a:solidFill>
              </a:defRPr>
            </a:pPr>
            <a:r>
              <a:rPr sz="1275" b="1">
                <a:solidFill>
                  <a:srgbClr val="0B9B91"/>
                </a:solidFill>
              </a:rPr>
              <a:t>2</a:t>
            </a:r>
          </a:p>
        </p:txBody>
      </p:sp>
      <p:sp>
        <p:nvSpPr>
          <p:cNvPr id="13" name="Rectangle 12">
            <a:extLst>
              <a:ext uri="{FF2B5EF4-FFF2-40B4-BE49-F238E27FC236}">
                <a16:creationId xmlns:a16="http://schemas.microsoft.com/office/drawing/2014/main" id="{E8AEF3E3-0BDC-4085-B6B8-2DD80040E7FA}"/>
              </a:ext>
            </a:extLst>
          </p:cNvPr>
          <p:cNvSpPr>
            <a:spLocks noGrp="1"/>
          </p:cNvSpPr>
          <p:nvPr/>
        </p:nvSpPr>
        <p:spPr>
          <a:xfrm>
            <a:off x="3509963" y="2524125"/>
            <a:ext cx="2338388" cy="628650"/>
          </a:xfrm>
          <a:prstGeom prst="rect">
            <a:avLst/>
          </a:prstGeom>
          <a:noFill/>
          <a:ln w="0">
            <a:noFill/>
            <a:prstDash val="solid"/>
          </a:ln>
        </p:spPr>
        <p:txBody>
          <a:bodyPr anchor="ctr"/>
          <a:lstStyle/>
          <a:p>
            <a:pPr algn="ctr">
              <a:defRPr sz="1275" b="1">
                <a:solidFill>
                  <a:srgbClr val="183544"/>
                </a:solidFill>
              </a:defRPr>
            </a:pPr>
            <a:r>
              <a:rPr sz="1275" b="1">
                <a:solidFill>
                  <a:srgbClr val="183544"/>
                </a:solidFill>
              </a:rPr>
              <a:t>Check rules</a:t>
            </a:r>
          </a:p>
        </p:txBody>
      </p:sp>
      <p:sp>
        <p:nvSpPr>
          <p:cNvPr id="14" name="Straight Connector 13">
            <a:extLst>
              <a:ext uri="{FF2B5EF4-FFF2-40B4-BE49-F238E27FC236}">
                <a16:creationId xmlns:a16="http://schemas.microsoft.com/office/drawing/2014/main" id="{B527643A-4AC2-40A3-A771-8FB74B191AA4}"/>
              </a:ext>
            </a:extLst>
          </p:cNvPr>
          <p:cNvSpPr>
            <a:spLocks noGrp="1"/>
          </p:cNvSpPr>
          <p:nvPr/>
        </p:nvSpPr>
        <p:spPr>
          <a:xfrm>
            <a:off x="8834438" y="2714625"/>
            <a:ext cx="190500" cy="0"/>
          </a:xfrm>
          <a:prstGeom prst="line">
            <a:avLst/>
          </a:prstGeom>
          <a:noFill/>
          <a:ln w="28575">
            <a:solidFill>
              <a:srgbClr val="0B9B91"/>
            </a:solidFill>
            <a:prstDash val="solid"/>
          </a:ln>
        </p:spPr>
        <p:txBody>
          <a:bodyPr/>
          <a:lstStyle/>
          <a:p>
            <a:endParaRPr lang="en-IQ"/>
          </a:p>
        </p:txBody>
      </p:sp>
      <p:sp>
        <p:nvSpPr>
          <p:cNvPr id="15" name="Rectangle: Rounded Corners 14">
            <a:extLst>
              <a:ext uri="{FF2B5EF4-FFF2-40B4-BE49-F238E27FC236}">
                <a16:creationId xmlns:a16="http://schemas.microsoft.com/office/drawing/2014/main" id="{F1CBDB05-DA32-4F02-96CE-E1C1B57C5008}"/>
              </a:ext>
            </a:extLst>
          </p:cNvPr>
          <p:cNvSpPr>
            <a:spLocks noGrp="1"/>
          </p:cNvSpPr>
          <p:nvPr/>
        </p:nvSpPr>
        <p:spPr>
          <a:xfrm>
            <a:off x="6191250" y="2095500"/>
            <a:ext cx="2643188" cy="1238250"/>
          </a:xfrm>
          <a:prstGeom prst="roundRect">
            <a:avLst>
              <a:gd name="adj" fmla="val 6154"/>
            </a:avLst>
          </a:prstGeom>
          <a:solidFill>
            <a:srgbClr val="FFFFFF"/>
          </a:solidFill>
          <a:ln w="9525">
            <a:solidFill>
              <a:srgbClr val="CED9DB"/>
            </a:solidFill>
            <a:prstDash val="solid"/>
          </a:ln>
        </p:spPr>
        <p:txBody>
          <a:bodyPr/>
          <a:lstStyle/>
          <a:p>
            <a:endParaRPr lang="en-IQ"/>
          </a:p>
        </p:txBody>
      </p:sp>
      <p:sp>
        <p:nvSpPr>
          <p:cNvPr id="16" name="Rectangle 15">
            <a:extLst>
              <a:ext uri="{FF2B5EF4-FFF2-40B4-BE49-F238E27FC236}">
                <a16:creationId xmlns:a16="http://schemas.microsoft.com/office/drawing/2014/main" id="{E1F659B9-FD07-4C7A-AC9B-09161048DF3C}"/>
              </a:ext>
            </a:extLst>
          </p:cNvPr>
          <p:cNvSpPr>
            <a:spLocks noGrp="1"/>
          </p:cNvSpPr>
          <p:nvPr/>
        </p:nvSpPr>
        <p:spPr>
          <a:xfrm>
            <a:off x="6305550" y="2190750"/>
            <a:ext cx="323850" cy="266700"/>
          </a:xfrm>
          <a:prstGeom prst="rect">
            <a:avLst/>
          </a:prstGeom>
          <a:noFill/>
          <a:ln w="0">
            <a:noFill/>
            <a:prstDash val="solid"/>
          </a:ln>
        </p:spPr>
        <p:txBody>
          <a:bodyPr anchor="ctr"/>
          <a:lstStyle/>
          <a:p>
            <a:pPr algn="ctr">
              <a:defRPr sz="1275" b="1">
                <a:solidFill>
                  <a:srgbClr val="0B9B91"/>
                </a:solidFill>
              </a:defRPr>
            </a:pPr>
            <a:r>
              <a:rPr sz="1275" b="1">
                <a:solidFill>
                  <a:srgbClr val="0B9B91"/>
                </a:solidFill>
              </a:rPr>
              <a:t>3</a:t>
            </a:r>
          </a:p>
        </p:txBody>
      </p:sp>
      <p:sp>
        <p:nvSpPr>
          <p:cNvPr id="17" name="Rectangle 16">
            <a:extLst>
              <a:ext uri="{FF2B5EF4-FFF2-40B4-BE49-F238E27FC236}">
                <a16:creationId xmlns:a16="http://schemas.microsoft.com/office/drawing/2014/main" id="{FBA1B532-58E8-490B-9977-6627494FA89B}"/>
              </a:ext>
            </a:extLst>
          </p:cNvPr>
          <p:cNvSpPr>
            <a:spLocks noGrp="1"/>
          </p:cNvSpPr>
          <p:nvPr/>
        </p:nvSpPr>
        <p:spPr>
          <a:xfrm>
            <a:off x="6343650" y="2524125"/>
            <a:ext cx="2338388" cy="628650"/>
          </a:xfrm>
          <a:prstGeom prst="rect">
            <a:avLst/>
          </a:prstGeom>
          <a:noFill/>
          <a:ln w="0">
            <a:noFill/>
            <a:prstDash val="solid"/>
          </a:ln>
        </p:spPr>
        <p:txBody>
          <a:bodyPr anchor="ctr"/>
          <a:lstStyle/>
          <a:p>
            <a:pPr algn="ctr">
              <a:defRPr sz="1275" b="1">
                <a:solidFill>
                  <a:srgbClr val="183544"/>
                </a:solidFill>
              </a:defRPr>
            </a:pPr>
            <a:r>
              <a:rPr sz="1275" b="1">
                <a:solidFill>
                  <a:srgbClr val="183544"/>
                </a:solidFill>
              </a:rPr>
              <a:t>Measure quality</a:t>
            </a:r>
          </a:p>
        </p:txBody>
      </p:sp>
      <p:sp>
        <p:nvSpPr>
          <p:cNvPr id="18" name="Rectangle: Rounded Corners 17">
            <a:extLst>
              <a:ext uri="{FF2B5EF4-FFF2-40B4-BE49-F238E27FC236}">
                <a16:creationId xmlns:a16="http://schemas.microsoft.com/office/drawing/2014/main" id="{A5C5896E-2BC4-4756-8904-2D207C4DF490}"/>
              </a:ext>
            </a:extLst>
          </p:cNvPr>
          <p:cNvSpPr>
            <a:spLocks noGrp="1"/>
          </p:cNvSpPr>
          <p:nvPr/>
        </p:nvSpPr>
        <p:spPr>
          <a:xfrm>
            <a:off x="9024938" y="2095500"/>
            <a:ext cx="2643188" cy="1238250"/>
          </a:xfrm>
          <a:prstGeom prst="roundRect">
            <a:avLst>
              <a:gd name="adj" fmla="val 6154"/>
            </a:avLst>
          </a:prstGeom>
          <a:solidFill>
            <a:srgbClr val="092A3D"/>
          </a:solidFill>
          <a:ln w="9525">
            <a:solidFill>
              <a:srgbClr val="092A3D"/>
            </a:solidFill>
            <a:prstDash val="solid"/>
          </a:ln>
        </p:spPr>
        <p:txBody>
          <a:bodyPr/>
          <a:lstStyle/>
          <a:p>
            <a:endParaRPr lang="en-IQ"/>
          </a:p>
        </p:txBody>
      </p:sp>
      <p:sp>
        <p:nvSpPr>
          <p:cNvPr id="19" name="Rectangle 18">
            <a:extLst>
              <a:ext uri="{FF2B5EF4-FFF2-40B4-BE49-F238E27FC236}">
                <a16:creationId xmlns:a16="http://schemas.microsoft.com/office/drawing/2014/main" id="{E89DE6BD-5472-481D-94DF-3D92B251762B}"/>
              </a:ext>
            </a:extLst>
          </p:cNvPr>
          <p:cNvSpPr>
            <a:spLocks noGrp="1"/>
          </p:cNvSpPr>
          <p:nvPr/>
        </p:nvSpPr>
        <p:spPr>
          <a:xfrm>
            <a:off x="9139238" y="2190750"/>
            <a:ext cx="323850" cy="266700"/>
          </a:xfrm>
          <a:prstGeom prst="rect">
            <a:avLst/>
          </a:prstGeom>
          <a:noFill/>
          <a:ln w="0">
            <a:noFill/>
            <a:prstDash val="solid"/>
          </a:ln>
        </p:spPr>
        <p:txBody>
          <a:bodyPr anchor="ctr"/>
          <a:lstStyle/>
          <a:p>
            <a:pPr algn="ctr">
              <a:defRPr sz="1275" b="1">
                <a:solidFill>
                  <a:srgbClr val="F2A93B"/>
                </a:solidFill>
              </a:defRPr>
            </a:pPr>
            <a:r>
              <a:rPr sz="1275" b="1">
                <a:solidFill>
                  <a:srgbClr val="F2A93B"/>
                </a:solidFill>
              </a:rPr>
              <a:t>4</a:t>
            </a:r>
          </a:p>
        </p:txBody>
      </p:sp>
      <p:sp>
        <p:nvSpPr>
          <p:cNvPr id="20" name="Rectangle 19">
            <a:extLst>
              <a:ext uri="{FF2B5EF4-FFF2-40B4-BE49-F238E27FC236}">
                <a16:creationId xmlns:a16="http://schemas.microsoft.com/office/drawing/2014/main" id="{47B28919-C3C0-4C9E-9A4F-50BD9D20F64C}"/>
              </a:ext>
            </a:extLst>
          </p:cNvPr>
          <p:cNvSpPr>
            <a:spLocks noGrp="1"/>
          </p:cNvSpPr>
          <p:nvPr/>
        </p:nvSpPr>
        <p:spPr>
          <a:xfrm>
            <a:off x="9177338" y="2524125"/>
            <a:ext cx="2338388" cy="628650"/>
          </a:xfrm>
          <a:prstGeom prst="rect">
            <a:avLst/>
          </a:prstGeom>
          <a:noFill/>
          <a:ln w="0">
            <a:noFill/>
            <a:prstDash val="solid"/>
          </a:ln>
        </p:spPr>
        <p:txBody>
          <a:bodyPr anchor="ctr"/>
          <a:lstStyle/>
          <a:p>
            <a:pPr algn="ctr">
              <a:defRPr sz="1275" b="1">
                <a:solidFill>
                  <a:srgbClr val="FFFFFF"/>
                </a:solidFill>
              </a:defRPr>
            </a:pPr>
            <a:r>
              <a:rPr sz="1275" b="1">
                <a:solidFill>
                  <a:srgbClr val="FFFFFF"/>
                </a:solidFill>
              </a:rPr>
              <a:t>Record result</a:t>
            </a:r>
          </a:p>
        </p:txBody>
      </p:sp>
      <p:sp>
        <p:nvSpPr>
          <p:cNvPr id="21" name="Oval 20">
            <a:extLst>
              <a:ext uri="{FF2B5EF4-FFF2-40B4-BE49-F238E27FC236}">
                <a16:creationId xmlns:a16="http://schemas.microsoft.com/office/drawing/2014/main" id="{AE9A8491-F455-4762-ABC3-3907B67BE1E3}"/>
              </a:ext>
            </a:extLst>
          </p:cNvPr>
          <p:cNvSpPr>
            <a:spLocks noGrp="1"/>
          </p:cNvSpPr>
          <p:nvPr/>
        </p:nvSpPr>
        <p:spPr>
          <a:xfrm>
            <a:off x="1809750" y="4286250"/>
            <a:ext cx="114300" cy="114300"/>
          </a:xfrm>
          <a:prstGeom prst="ellipse">
            <a:avLst/>
          </a:prstGeom>
          <a:solidFill>
            <a:srgbClr val="0B9B91"/>
          </a:solidFill>
          <a:ln w="0">
            <a:solidFill>
              <a:srgbClr val="0B9B91"/>
            </a:solidFill>
            <a:prstDash val="solid"/>
          </a:ln>
        </p:spPr>
        <p:txBody>
          <a:bodyPr/>
          <a:lstStyle/>
          <a:p>
            <a:endParaRPr lang="en-IQ"/>
          </a:p>
        </p:txBody>
      </p:sp>
      <p:sp>
        <p:nvSpPr>
          <p:cNvPr id="22" name="Rectangle 21">
            <a:extLst>
              <a:ext uri="{FF2B5EF4-FFF2-40B4-BE49-F238E27FC236}">
                <a16:creationId xmlns:a16="http://schemas.microsoft.com/office/drawing/2014/main" id="{7BA4A68F-7343-4CAE-9A36-903B06CE3B9A}"/>
              </a:ext>
            </a:extLst>
          </p:cNvPr>
          <p:cNvSpPr>
            <a:spLocks noGrp="1"/>
          </p:cNvSpPr>
          <p:nvPr/>
        </p:nvSpPr>
        <p:spPr>
          <a:xfrm>
            <a:off x="2085975" y="4095750"/>
            <a:ext cx="8296275" cy="666750"/>
          </a:xfrm>
          <a:prstGeom prst="rect">
            <a:avLst/>
          </a:prstGeom>
          <a:noFill/>
          <a:ln w="0">
            <a:noFill/>
            <a:prstDash val="solid"/>
          </a:ln>
        </p:spPr>
        <p:txBody>
          <a:bodyPr anchor="ctr"/>
          <a:lstStyle/>
          <a:p>
            <a:pPr algn="l">
              <a:defRPr sz="1650" b="0">
                <a:solidFill>
                  <a:srgbClr val="183544"/>
                </a:solidFill>
              </a:defRPr>
            </a:pPr>
            <a:r>
              <a:rPr sz="1650" b="0">
                <a:solidFill>
                  <a:srgbClr val="183544"/>
                </a:solidFill>
              </a:rPr>
              <a:t>feasible or infeasible</a:t>
            </a:r>
          </a:p>
        </p:txBody>
      </p:sp>
      <p:sp>
        <p:nvSpPr>
          <p:cNvPr id="23" name="Oval 22">
            <a:extLst>
              <a:ext uri="{FF2B5EF4-FFF2-40B4-BE49-F238E27FC236}">
                <a16:creationId xmlns:a16="http://schemas.microsoft.com/office/drawing/2014/main" id="{2119A2BF-5FEF-402F-B465-8F71F300AE1E}"/>
              </a:ext>
            </a:extLst>
          </p:cNvPr>
          <p:cNvSpPr>
            <a:spLocks noGrp="1"/>
          </p:cNvSpPr>
          <p:nvPr/>
        </p:nvSpPr>
        <p:spPr>
          <a:xfrm>
            <a:off x="1809750" y="4953000"/>
            <a:ext cx="114300" cy="114300"/>
          </a:xfrm>
          <a:prstGeom prst="ellipse">
            <a:avLst/>
          </a:prstGeom>
          <a:solidFill>
            <a:srgbClr val="0B9B91"/>
          </a:solidFill>
          <a:ln w="0">
            <a:solidFill>
              <a:srgbClr val="0B9B91"/>
            </a:solidFill>
            <a:prstDash val="solid"/>
          </a:ln>
        </p:spPr>
        <p:txBody>
          <a:bodyPr/>
          <a:lstStyle/>
          <a:p>
            <a:endParaRPr lang="en-IQ"/>
          </a:p>
        </p:txBody>
      </p:sp>
      <p:sp>
        <p:nvSpPr>
          <p:cNvPr id="24" name="Rectangle 23">
            <a:extLst>
              <a:ext uri="{FF2B5EF4-FFF2-40B4-BE49-F238E27FC236}">
                <a16:creationId xmlns:a16="http://schemas.microsoft.com/office/drawing/2014/main" id="{0257DAF5-D4E7-4D7F-A148-176A6F18E9B5}"/>
              </a:ext>
            </a:extLst>
          </p:cNvPr>
          <p:cNvSpPr>
            <a:spLocks noGrp="1"/>
          </p:cNvSpPr>
          <p:nvPr/>
        </p:nvSpPr>
        <p:spPr>
          <a:xfrm>
            <a:off x="2085975" y="4762500"/>
            <a:ext cx="8296275" cy="666750"/>
          </a:xfrm>
          <a:prstGeom prst="rect">
            <a:avLst/>
          </a:prstGeom>
          <a:noFill/>
          <a:ln w="0">
            <a:noFill/>
            <a:prstDash val="solid"/>
          </a:ln>
        </p:spPr>
        <p:txBody>
          <a:bodyPr anchor="ctr"/>
          <a:lstStyle/>
          <a:p>
            <a:pPr algn="l">
              <a:defRPr sz="1650" b="0">
                <a:solidFill>
                  <a:srgbClr val="183544"/>
                </a:solidFill>
              </a:defRPr>
            </a:pPr>
            <a:r>
              <a:rPr sz="1650" b="0">
                <a:solidFill>
                  <a:srgbClr val="183544"/>
                </a:solidFill>
              </a:rPr>
              <a:t>objective value</a:t>
            </a:r>
          </a:p>
        </p:txBody>
      </p:sp>
      <p:sp>
        <p:nvSpPr>
          <p:cNvPr id="25" name="Oval 24">
            <a:extLst>
              <a:ext uri="{FF2B5EF4-FFF2-40B4-BE49-F238E27FC236}">
                <a16:creationId xmlns:a16="http://schemas.microsoft.com/office/drawing/2014/main" id="{FCD7CD36-BF5B-4118-920B-65D314A0AC3E}"/>
              </a:ext>
            </a:extLst>
          </p:cNvPr>
          <p:cNvSpPr>
            <a:spLocks noGrp="1"/>
          </p:cNvSpPr>
          <p:nvPr/>
        </p:nvSpPr>
        <p:spPr>
          <a:xfrm>
            <a:off x="1809750" y="5619750"/>
            <a:ext cx="114300" cy="114300"/>
          </a:xfrm>
          <a:prstGeom prst="ellipse">
            <a:avLst/>
          </a:prstGeom>
          <a:solidFill>
            <a:srgbClr val="0B9B91"/>
          </a:solidFill>
          <a:ln w="0">
            <a:solidFill>
              <a:srgbClr val="0B9B91"/>
            </a:solidFill>
            <a:prstDash val="solid"/>
          </a:ln>
        </p:spPr>
        <p:txBody>
          <a:bodyPr/>
          <a:lstStyle/>
          <a:p>
            <a:endParaRPr lang="en-IQ"/>
          </a:p>
        </p:txBody>
      </p:sp>
      <p:sp>
        <p:nvSpPr>
          <p:cNvPr id="26" name="Rectangle 25">
            <a:extLst>
              <a:ext uri="{FF2B5EF4-FFF2-40B4-BE49-F238E27FC236}">
                <a16:creationId xmlns:a16="http://schemas.microsoft.com/office/drawing/2014/main" id="{C7A2918D-CE28-4854-A08A-122ACF61D925}"/>
              </a:ext>
            </a:extLst>
          </p:cNvPr>
          <p:cNvSpPr>
            <a:spLocks noGrp="1"/>
          </p:cNvSpPr>
          <p:nvPr/>
        </p:nvSpPr>
        <p:spPr>
          <a:xfrm>
            <a:off x="2085975" y="5429250"/>
            <a:ext cx="8296275" cy="666750"/>
          </a:xfrm>
          <a:prstGeom prst="rect">
            <a:avLst/>
          </a:prstGeom>
          <a:noFill/>
          <a:ln w="0">
            <a:noFill/>
            <a:prstDash val="solid"/>
          </a:ln>
        </p:spPr>
        <p:txBody>
          <a:bodyPr anchor="ctr"/>
          <a:lstStyle/>
          <a:p>
            <a:pPr algn="l">
              <a:defRPr sz="1650" b="0">
                <a:solidFill>
                  <a:srgbClr val="183544"/>
                </a:solidFill>
              </a:defRPr>
            </a:pPr>
            <a:r>
              <a:rPr sz="1650" b="0">
                <a:solidFill>
                  <a:srgbClr val="183544"/>
                </a:solidFill>
              </a:rPr>
              <a:t>optional runtime or resource evidence</a:t>
            </a:r>
          </a:p>
        </p:txBody>
      </p:sp>
    </p:spTree>
    <p:extLst>
      <p:ext uri="{BB962C8B-B14F-4D97-AF65-F5344CB8AC3E}">
        <p14:creationId xmlns:p14="http://schemas.microsoft.com/office/powerpoint/2010/main" val="15405020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96AB518-C655-4E8D-BB1E-32E66765BEBB}"/>
              </a:ext>
            </a:extLst>
          </p:cNvPr>
          <p:cNvSpPr>
            <a:spLocks noGrp="1"/>
          </p:cNvSpPr>
          <p:nvPr/>
        </p:nvSpPr>
        <p:spPr>
          <a:xfrm>
            <a:off x="609600" y="285750"/>
            <a:ext cx="66675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OBJECTIVE DIRECTION</a:t>
            </a:r>
          </a:p>
        </p:txBody>
      </p:sp>
      <p:sp>
        <p:nvSpPr>
          <p:cNvPr id="2" name="Rectangle 1">
            <a:extLst>
              <a:ext uri="{FF2B5EF4-FFF2-40B4-BE49-F238E27FC236}">
                <a16:creationId xmlns:a16="http://schemas.microsoft.com/office/drawing/2014/main" id="{AEC05812-DCE8-466F-A88F-A47CF9D7327D}"/>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Some objectives are minimized; others are maximized</a:t>
            </a:r>
          </a:p>
        </p:txBody>
      </p:sp>
      <p:sp>
        <p:nvSpPr>
          <p:cNvPr id="3" name="Rectangle 2">
            <a:extLst>
              <a:ext uri="{FF2B5EF4-FFF2-40B4-BE49-F238E27FC236}">
                <a16:creationId xmlns:a16="http://schemas.microsoft.com/office/drawing/2014/main" id="{E3C9D004-4AB8-44F2-9369-43E5B19202A9}"/>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D9AE7DD9-A8AE-40C9-9E94-8300E9761779}"/>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0</a:t>
            </a:r>
          </a:p>
        </p:txBody>
      </p:sp>
      <p:sp>
        <p:nvSpPr>
          <p:cNvPr id="5" name="Rectangle 4">
            <a:extLst>
              <a:ext uri="{FF2B5EF4-FFF2-40B4-BE49-F238E27FC236}">
                <a16:creationId xmlns:a16="http://schemas.microsoft.com/office/drawing/2014/main" id="{137F71BA-2A1C-4685-9411-7ADDBD528E9C}"/>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13</a:t>
            </a:r>
          </a:p>
        </p:txBody>
      </p:sp>
      <p:sp>
        <p:nvSpPr>
          <p:cNvPr id="6" name="Rectangle: Rounded Corners 5">
            <a:extLst>
              <a:ext uri="{FF2B5EF4-FFF2-40B4-BE49-F238E27FC236}">
                <a16:creationId xmlns:a16="http://schemas.microsoft.com/office/drawing/2014/main" id="{9F3ACD7D-2F05-4A2E-970A-7196BDD580A6}"/>
              </a:ext>
            </a:extLst>
          </p:cNvPr>
          <p:cNvSpPr>
            <a:spLocks noGrp="1"/>
          </p:cNvSpPr>
          <p:nvPr/>
        </p:nvSpPr>
        <p:spPr>
          <a:xfrm>
            <a:off x="1047750" y="1809750"/>
            <a:ext cx="4572000" cy="2476500"/>
          </a:xfrm>
          <a:prstGeom prst="roundRect">
            <a:avLst>
              <a:gd name="adj" fmla="val 3077"/>
            </a:avLst>
          </a:prstGeom>
          <a:solidFill>
            <a:srgbClr val="FFFFFF"/>
          </a:solidFill>
          <a:ln w="9525">
            <a:solidFill>
              <a:srgbClr val="CED9DB"/>
            </a:solidFill>
            <a:prstDash val="solid"/>
          </a:ln>
        </p:spPr>
        <p:txBody>
          <a:bodyPr/>
          <a:lstStyle/>
          <a:p>
            <a:endParaRPr lang="en-IQ"/>
          </a:p>
        </p:txBody>
      </p:sp>
      <p:sp>
        <p:nvSpPr>
          <p:cNvPr id="7" name="Rectangle 6">
            <a:extLst>
              <a:ext uri="{FF2B5EF4-FFF2-40B4-BE49-F238E27FC236}">
                <a16:creationId xmlns:a16="http://schemas.microsoft.com/office/drawing/2014/main" id="{667F3507-EFDE-46D7-ABB4-A1F85AB378D9}"/>
              </a:ext>
            </a:extLst>
          </p:cNvPr>
          <p:cNvSpPr>
            <a:spLocks noGrp="1"/>
          </p:cNvSpPr>
          <p:nvPr/>
        </p:nvSpPr>
        <p:spPr>
          <a:xfrm>
            <a:off x="1047750" y="1809750"/>
            <a:ext cx="76200" cy="2476500"/>
          </a:xfrm>
          <a:prstGeom prst="rect">
            <a:avLst/>
          </a:prstGeom>
          <a:solidFill>
            <a:srgbClr val="0B9B91"/>
          </a:solidFill>
          <a:ln w="0">
            <a:solidFill>
              <a:srgbClr val="0B9B91"/>
            </a:solidFill>
            <a:prstDash val="solid"/>
          </a:ln>
        </p:spPr>
        <p:txBody>
          <a:bodyPr/>
          <a:lstStyle/>
          <a:p>
            <a:endParaRPr lang="en-IQ"/>
          </a:p>
        </p:txBody>
      </p:sp>
      <p:sp>
        <p:nvSpPr>
          <p:cNvPr id="8" name="Rectangle 7">
            <a:extLst>
              <a:ext uri="{FF2B5EF4-FFF2-40B4-BE49-F238E27FC236}">
                <a16:creationId xmlns:a16="http://schemas.microsoft.com/office/drawing/2014/main" id="{8645CBA2-98CC-46CC-82AB-123560E6B47D}"/>
              </a:ext>
            </a:extLst>
          </p:cNvPr>
          <p:cNvSpPr>
            <a:spLocks noGrp="1"/>
          </p:cNvSpPr>
          <p:nvPr/>
        </p:nvSpPr>
        <p:spPr>
          <a:xfrm>
            <a:off x="1295400" y="1952625"/>
            <a:ext cx="4171950" cy="342900"/>
          </a:xfrm>
          <a:prstGeom prst="rect">
            <a:avLst/>
          </a:prstGeom>
          <a:noFill/>
          <a:ln w="0">
            <a:noFill/>
            <a:prstDash val="solid"/>
          </a:ln>
        </p:spPr>
        <p:txBody>
          <a:bodyPr anchor="ctr"/>
          <a:lstStyle/>
          <a:p>
            <a:pPr algn="l">
              <a:defRPr sz="1650" b="1">
                <a:solidFill>
                  <a:srgbClr val="0B9B91"/>
                </a:solidFill>
              </a:defRPr>
            </a:pPr>
            <a:r>
              <a:rPr sz="1650" b="1">
                <a:solidFill>
                  <a:srgbClr val="0B9B91"/>
                </a:solidFill>
              </a:rPr>
              <a:t>MINIMIZE</a:t>
            </a:r>
          </a:p>
        </p:txBody>
      </p:sp>
      <p:sp>
        <p:nvSpPr>
          <p:cNvPr id="9" name="Rectangle 8">
            <a:extLst>
              <a:ext uri="{FF2B5EF4-FFF2-40B4-BE49-F238E27FC236}">
                <a16:creationId xmlns:a16="http://schemas.microsoft.com/office/drawing/2014/main" id="{9559AA38-0B6C-41AE-B9BA-C0CA9D2D039B}"/>
              </a:ext>
            </a:extLst>
          </p:cNvPr>
          <p:cNvSpPr>
            <a:spLocks noGrp="1"/>
          </p:cNvSpPr>
          <p:nvPr/>
        </p:nvSpPr>
        <p:spPr>
          <a:xfrm>
            <a:off x="1295400" y="2362200"/>
            <a:ext cx="4143375" cy="1790700"/>
          </a:xfrm>
          <a:prstGeom prst="rect">
            <a:avLst/>
          </a:prstGeom>
          <a:noFill/>
          <a:ln w="0">
            <a:noFill/>
            <a:prstDash val="solid"/>
          </a:ln>
        </p:spPr>
        <p:txBody>
          <a:bodyPr anchor="ctr"/>
          <a:lstStyle/>
          <a:p>
            <a:pPr algn="l">
              <a:defRPr sz="1350" b="0">
                <a:solidFill>
                  <a:srgbClr val="183544"/>
                </a:solidFill>
              </a:defRPr>
            </a:pPr>
            <a:r>
              <a:rPr sz="1350" b="0">
                <a:solidFill>
                  <a:srgbClr val="183544"/>
                </a:solidFill>
              </a:rPr>
              <a:t>cost • time • error • energy</a:t>
            </a:r>
          </a:p>
        </p:txBody>
      </p:sp>
      <p:sp>
        <p:nvSpPr>
          <p:cNvPr id="10" name="Rectangle: Rounded Corners 9">
            <a:extLst>
              <a:ext uri="{FF2B5EF4-FFF2-40B4-BE49-F238E27FC236}">
                <a16:creationId xmlns:a16="http://schemas.microsoft.com/office/drawing/2014/main" id="{6605DC86-427D-4F01-9D09-D8F29DBACBC2}"/>
              </a:ext>
            </a:extLst>
          </p:cNvPr>
          <p:cNvSpPr>
            <a:spLocks noGrp="1"/>
          </p:cNvSpPr>
          <p:nvPr/>
        </p:nvSpPr>
        <p:spPr>
          <a:xfrm>
            <a:off x="6572250" y="1809750"/>
            <a:ext cx="4572000" cy="2476500"/>
          </a:xfrm>
          <a:prstGeom prst="roundRect">
            <a:avLst>
              <a:gd name="adj" fmla="val 3077"/>
            </a:avLst>
          </a:prstGeom>
          <a:solidFill>
            <a:srgbClr val="FFFFFF"/>
          </a:solidFill>
          <a:ln w="9525">
            <a:solidFill>
              <a:srgbClr val="CED9DB"/>
            </a:solidFill>
            <a:prstDash val="solid"/>
          </a:ln>
        </p:spPr>
        <p:txBody>
          <a:bodyPr/>
          <a:lstStyle/>
          <a:p>
            <a:endParaRPr lang="en-IQ"/>
          </a:p>
        </p:txBody>
      </p:sp>
      <p:sp>
        <p:nvSpPr>
          <p:cNvPr id="11" name="Rectangle 10">
            <a:extLst>
              <a:ext uri="{FF2B5EF4-FFF2-40B4-BE49-F238E27FC236}">
                <a16:creationId xmlns:a16="http://schemas.microsoft.com/office/drawing/2014/main" id="{B6A1C83A-767B-42F7-B166-5B6CF1D94739}"/>
              </a:ext>
            </a:extLst>
          </p:cNvPr>
          <p:cNvSpPr>
            <a:spLocks noGrp="1"/>
          </p:cNvSpPr>
          <p:nvPr/>
        </p:nvSpPr>
        <p:spPr>
          <a:xfrm>
            <a:off x="6572250" y="1809750"/>
            <a:ext cx="76200" cy="2476500"/>
          </a:xfrm>
          <a:prstGeom prst="rect">
            <a:avLst/>
          </a:prstGeom>
          <a:solidFill>
            <a:srgbClr val="2878B5"/>
          </a:solidFill>
          <a:ln w="0">
            <a:solidFill>
              <a:srgbClr val="2878B5"/>
            </a:solidFill>
            <a:prstDash val="solid"/>
          </a:ln>
        </p:spPr>
        <p:txBody>
          <a:bodyPr/>
          <a:lstStyle/>
          <a:p>
            <a:endParaRPr lang="en-IQ"/>
          </a:p>
        </p:txBody>
      </p:sp>
      <p:sp>
        <p:nvSpPr>
          <p:cNvPr id="12" name="Rectangle 11">
            <a:extLst>
              <a:ext uri="{FF2B5EF4-FFF2-40B4-BE49-F238E27FC236}">
                <a16:creationId xmlns:a16="http://schemas.microsoft.com/office/drawing/2014/main" id="{B28D8527-1994-4A4C-A12C-6F02AA53C28D}"/>
              </a:ext>
            </a:extLst>
          </p:cNvPr>
          <p:cNvSpPr>
            <a:spLocks noGrp="1"/>
          </p:cNvSpPr>
          <p:nvPr/>
        </p:nvSpPr>
        <p:spPr>
          <a:xfrm>
            <a:off x="6819900" y="1952625"/>
            <a:ext cx="4171950" cy="342900"/>
          </a:xfrm>
          <a:prstGeom prst="rect">
            <a:avLst/>
          </a:prstGeom>
          <a:noFill/>
          <a:ln w="0">
            <a:noFill/>
            <a:prstDash val="solid"/>
          </a:ln>
        </p:spPr>
        <p:txBody>
          <a:bodyPr anchor="ctr"/>
          <a:lstStyle/>
          <a:p>
            <a:pPr algn="l">
              <a:defRPr sz="1650" b="1">
                <a:solidFill>
                  <a:srgbClr val="2878B5"/>
                </a:solidFill>
              </a:defRPr>
            </a:pPr>
            <a:r>
              <a:rPr sz="1650" b="1">
                <a:solidFill>
                  <a:srgbClr val="2878B5"/>
                </a:solidFill>
              </a:rPr>
              <a:t>MAXIMIZE</a:t>
            </a:r>
          </a:p>
        </p:txBody>
      </p:sp>
      <p:sp>
        <p:nvSpPr>
          <p:cNvPr id="13" name="Rectangle 12">
            <a:extLst>
              <a:ext uri="{FF2B5EF4-FFF2-40B4-BE49-F238E27FC236}">
                <a16:creationId xmlns:a16="http://schemas.microsoft.com/office/drawing/2014/main" id="{B2EAA209-59E2-468D-B1CA-887AF4877A4D}"/>
              </a:ext>
            </a:extLst>
          </p:cNvPr>
          <p:cNvSpPr>
            <a:spLocks noGrp="1"/>
          </p:cNvSpPr>
          <p:nvPr/>
        </p:nvSpPr>
        <p:spPr>
          <a:xfrm>
            <a:off x="6819900" y="2362200"/>
            <a:ext cx="4143375" cy="1790700"/>
          </a:xfrm>
          <a:prstGeom prst="rect">
            <a:avLst/>
          </a:prstGeom>
          <a:noFill/>
          <a:ln w="0">
            <a:noFill/>
            <a:prstDash val="solid"/>
          </a:ln>
        </p:spPr>
        <p:txBody>
          <a:bodyPr anchor="ctr"/>
          <a:lstStyle/>
          <a:p>
            <a:pPr algn="l">
              <a:defRPr sz="1350" b="0">
                <a:solidFill>
                  <a:srgbClr val="183544"/>
                </a:solidFill>
              </a:defRPr>
            </a:pPr>
            <a:r>
              <a:rPr sz="1350" b="0">
                <a:solidFill>
                  <a:srgbClr val="183544"/>
                </a:solidFill>
              </a:rPr>
              <a:t>profit • reliability • coverage • value</a:t>
            </a:r>
          </a:p>
        </p:txBody>
      </p:sp>
      <p:sp>
        <p:nvSpPr>
          <p:cNvPr id="14" name="Rectangle: Rounded Corners 13">
            <a:extLst>
              <a:ext uri="{FF2B5EF4-FFF2-40B4-BE49-F238E27FC236}">
                <a16:creationId xmlns:a16="http://schemas.microsoft.com/office/drawing/2014/main" id="{739134E1-0C43-4B00-9C16-69824B4815E3}"/>
              </a:ext>
            </a:extLst>
          </p:cNvPr>
          <p:cNvSpPr>
            <a:spLocks noGrp="1"/>
          </p:cNvSpPr>
          <p:nvPr/>
        </p:nvSpPr>
        <p:spPr>
          <a:xfrm>
            <a:off x="1809750" y="5191125"/>
            <a:ext cx="8572500" cy="590550"/>
          </a:xfrm>
          <a:prstGeom prst="roundRect">
            <a:avLst>
              <a:gd name="adj" fmla="val 12903"/>
            </a:avLst>
          </a:prstGeom>
          <a:solidFill>
            <a:srgbClr val="E6F3F2"/>
          </a:solidFill>
          <a:ln w="0">
            <a:solidFill>
              <a:srgbClr val="E6F3F2"/>
            </a:solidFill>
            <a:prstDash val="solid"/>
          </a:ln>
        </p:spPr>
        <p:txBody>
          <a:bodyPr/>
          <a:lstStyle/>
          <a:p>
            <a:endParaRPr lang="en-IQ"/>
          </a:p>
        </p:txBody>
      </p:sp>
      <p:sp>
        <p:nvSpPr>
          <p:cNvPr id="15" name="Rectangle 14">
            <a:extLst>
              <a:ext uri="{FF2B5EF4-FFF2-40B4-BE49-F238E27FC236}">
                <a16:creationId xmlns:a16="http://schemas.microsoft.com/office/drawing/2014/main" id="{24E58F51-B8DF-40AE-8ACE-B37003220917}"/>
              </a:ext>
            </a:extLst>
          </p:cNvPr>
          <p:cNvSpPr>
            <a:spLocks noGrp="1"/>
          </p:cNvSpPr>
          <p:nvPr/>
        </p:nvSpPr>
        <p:spPr>
          <a:xfrm>
            <a:off x="2000250" y="5286375"/>
            <a:ext cx="8191500" cy="400050"/>
          </a:xfrm>
          <a:prstGeom prst="rect">
            <a:avLst/>
          </a:prstGeom>
          <a:noFill/>
          <a:ln w="0">
            <a:noFill/>
            <a:prstDash val="solid"/>
          </a:ln>
        </p:spPr>
        <p:txBody>
          <a:bodyPr anchor="ctr"/>
          <a:lstStyle/>
          <a:p>
            <a:pPr algn="ctr">
              <a:defRPr sz="1650" b="1">
                <a:solidFill>
                  <a:srgbClr val="092A3D"/>
                </a:solidFill>
              </a:defRPr>
            </a:pPr>
            <a:r>
              <a:rPr sz="1650" b="1">
                <a:solidFill>
                  <a:srgbClr val="092A3D"/>
                </a:solidFill>
              </a:rPr>
              <a:t>Direction alone is not enough—the exact measure must be stated.</a:t>
            </a:r>
          </a:p>
        </p:txBody>
      </p:sp>
    </p:spTree>
    <p:extLst>
      <p:ext uri="{BB962C8B-B14F-4D97-AF65-F5344CB8AC3E}">
        <p14:creationId xmlns:p14="http://schemas.microsoft.com/office/powerpoint/2010/main" val="8051695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3E4734F-7962-458C-8B59-55FC3CE02154}"/>
              </a:ext>
            </a:extLst>
          </p:cNvPr>
          <p:cNvSpPr>
            <a:spLocks noGrp="1"/>
          </p:cNvSpPr>
          <p:nvPr/>
        </p:nvSpPr>
        <p:spPr>
          <a:xfrm>
            <a:off x="609600" y="285750"/>
            <a:ext cx="66675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TRADE-OFFS</a:t>
            </a:r>
          </a:p>
        </p:txBody>
      </p:sp>
      <p:sp>
        <p:nvSpPr>
          <p:cNvPr id="2" name="Rectangle 1">
            <a:extLst>
              <a:ext uri="{FF2B5EF4-FFF2-40B4-BE49-F238E27FC236}">
                <a16:creationId xmlns:a16="http://schemas.microsoft.com/office/drawing/2014/main" id="{FE5BC587-9595-4533-BC1E-48376484D5E2}"/>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Two good objectives may disagree</a:t>
            </a:r>
          </a:p>
        </p:txBody>
      </p:sp>
      <p:sp>
        <p:nvSpPr>
          <p:cNvPr id="3" name="Rectangle 2">
            <a:extLst>
              <a:ext uri="{FF2B5EF4-FFF2-40B4-BE49-F238E27FC236}">
                <a16:creationId xmlns:a16="http://schemas.microsoft.com/office/drawing/2014/main" id="{FE75C86F-440F-46F5-97F1-D8550F7AF601}"/>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A6E8E5DF-73AE-47A4-8F0D-4F3EE719DCF1}"/>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0</a:t>
            </a:r>
          </a:p>
        </p:txBody>
      </p:sp>
      <p:sp>
        <p:nvSpPr>
          <p:cNvPr id="5" name="Rectangle 4">
            <a:extLst>
              <a:ext uri="{FF2B5EF4-FFF2-40B4-BE49-F238E27FC236}">
                <a16:creationId xmlns:a16="http://schemas.microsoft.com/office/drawing/2014/main" id="{F42C413F-4562-4EA5-9C73-D1764640CEA5}"/>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14</a:t>
            </a:r>
          </a:p>
        </p:txBody>
      </p:sp>
      <p:graphicFrame>
        <p:nvGraphicFramePr>
          <p:cNvPr id="16" name="Chart"/>
          <p:cNvGraphicFramePr/>
          <p:nvPr/>
        </p:nvGraphicFramePr>
        <p:xfrm>
          <a:off x="1000125" y="1571625"/>
          <a:ext cx="6858000" cy="4095750"/>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6">
            <a:extLst>
              <a:ext uri="{FF2B5EF4-FFF2-40B4-BE49-F238E27FC236}">
                <a16:creationId xmlns:a16="http://schemas.microsoft.com/office/drawing/2014/main" id="{D60C4DC5-020B-427E-9A88-A9FA8F02A88B}"/>
              </a:ext>
            </a:extLst>
          </p:cNvPr>
          <p:cNvSpPr>
            <a:spLocks noGrp="1"/>
          </p:cNvSpPr>
          <p:nvPr/>
        </p:nvSpPr>
        <p:spPr>
          <a:xfrm>
            <a:off x="8382000" y="2381250"/>
            <a:ext cx="2857500" cy="809625"/>
          </a:xfrm>
          <a:prstGeom prst="rect">
            <a:avLst/>
          </a:prstGeom>
          <a:noFill/>
          <a:ln w="0">
            <a:noFill/>
            <a:prstDash val="solid"/>
          </a:ln>
        </p:spPr>
        <p:txBody>
          <a:bodyPr anchor="ctr"/>
          <a:lstStyle/>
          <a:p>
            <a:pPr algn="ctr">
              <a:defRPr sz="2175" b="1">
                <a:solidFill>
                  <a:srgbClr val="092A3D"/>
                </a:solidFill>
              </a:defRPr>
            </a:pPr>
            <a:r>
              <a:rPr sz="2175" b="1">
                <a:solidFill>
                  <a:srgbClr val="092A3D"/>
                </a:solidFill>
              </a:rPr>
              <a:t>Lower cost may mean</a:t>
            </a:r>
          </a:p>
          <a:p>
            <a:pPr algn="ctr">
              <a:defRPr sz="2175" b="1">
                <a:solidFill>
                  <a:srgbClr val="092A3D"/>
                </a:solidFill>
              </a:defRPr>
            </a:pPr>
            <a:r>
              <a:rPr sz="2175" b="1">
                <a:solidFill>
                  <a:srgbClr val="092A3D"/>
                </a:solidFill>
              </a:rPr>
              <a:t>slower response.</a:t>
            </a:r>
          </a:p>
        </p:txBody>
      </p:sp>
      <p:sp>
        <p:nvSpPr>
          <p:cNvPr id="8" name="Rectangle 7">
            <a:extLst>
              <a:ext uri="{FF2B5EF4-FFF2-40B4-BE49-F238E27FC236}">
                <a16:creationId xmlns:a16="http://schemas.microsoft.com/office/drawing/2014/main" id="{9C642141-5974-435C-BAB6-27B808897B88}"/>
              </a:ext>
            </a:extLst>
          </p:cNvPr>
          <p:cNvSpPr>
            <a:spLocks noGrp="1"/>
          </p:cNvSpPr>
          <p:nvPr/>
        </p:nvSpPr>
        <p:spPr>
          <a:xfrm>
            <a:off x="8239125" y="3810000"/>
            <a:ext cx="3143250" cy="857250"/>
          </a:xfrm>
          <a:prstGeom prst="rect">
            <a:avLst/>
          </a:prstGeom>
          <a:noFill/>
          <a:ln w="0">
            <a:noFill/>
            <a:prstDash val="solid"/>
          </a:ln>
        </p:spPr>
        <p:txBody>
          <a:bodyPr anchor="ctr"/>
          <a:lstStyle/>
          <a:p>
            <a:pPr algn="ctr">
              <a:defRPr sz="1575" b="1">
                <a:solidFill>
                  <a:srgbClr val="0B9B91"/>
                </a:solidFill>
              </a:defRPr>
            </a:pPr>
            <a:r>
              <a:rPr sz="1575" b="1">
                <a:solidFill>
                  <a:srgbClr val="0B9B91"/>
                </a:solidFill>
              </a:rPr>
              <a:t>Optimization can reveal choices;</a:t>
            </a:r>
          </a:p>
          <a:p>
            <a:pPr algn="ctr">
              <a:defRPr sz="1575" b="1">
                <a:solidFill>
                  <a:srgbClr val="0B9B91"/>
                </a:solidFill>
              </a:defRPr>
            </a:pPr>
            <a:r>
              <a:rPr sz="1575" b="1">
                <a:solidFill>
                  <a:srgbClr val="0B9B91"/>
                </a:solidFill>
              </a:rPr>
              <a:t>people still decide priorities.</a:t>
            </a:r>
          </a:p>
        </p:txBody>
      </p:sp>
      <p:sp>
        <p:nvSpPr>
          <p:cNvPr id="9" name="Rectangle 8">
            <a:extLst>
              <a:ext uri="{FF2B5EF4-FFF2-40B4-BE49-F238E27FC236}">
                <a16:creationId xmlns:a16="http://schemas.microsoft.com/office/drawing/2014/main" id="{ED71F931-E36C-45C5-95A7-AE83DFE64C1A}"/>
              </a:ext>
            </a:extLst>
          </p:cNvPr>
          <p:cNvSpPr>
            <a:spLocks noGrp="1"/>
          </p:cNvSpPr>
          <p:nvPr/>
        </p:nvSpPr>
        <p:spPr>
          <a:xfrm>
            <a:off x="609600" y="1238250"/>
            <a:ext cx="10972800" cy="5067300"/>
          </a:xfrm>
          <a:prstGeom prst="rect">
            <a:avLst/>
          </a:prstGeom>
          <a:solidFill>
            <a:srgbClr val="F7F4EE"/>
          </a:solidFill>
          <a:ln w="0">
            <a:solidFill>
              <a:srgbClr val="F7F4EE"/>
            </a:solidFill>
            <a:prstDash val="solid"/>
          </a:ln>
        </p:spPr>
        <p:txBody>
          <a:bodyPr/>
          <a:lstStyle/>
          <a:p>
            <a:endParaRPr lang="en-IQ"/>
          </a:p>
        </p:txBody>
      </p:sp>
      <p:pic>
        <p:nvPicPr>
          <p:cNvPr id="20" name="Picture 19"/>
          <p:cNvPicPr>
            <a:picLocks noChangeAspect="1"/>
          </p:cNvPicPr>
          <p:nvPr/>
        </p:nvPicPr>
        <p:blipFill>
          <a:blip r:embed="rId4"/>
          <a:stretch/>
        </p:blipFill>
        <p:spPr>
          <a:xfrm>
            <a:off x="1991849" y="1381125"/>
            <a:ext cx="8208303" cy="4619625"/>
          </a:xfrm>
          <a:prstGeom prst="rect">
            <a:avLst/>
          </a:prstGeom>
        </p:spPr>
      </p:pic>
    </p:spTree>
    <p:extLst>
      <p:ext uri="{BB962C8B-B14F-4D97-AF65-F5344CB8AC3E}">
        <p14:creationId xmlns:p14="http://schemas.microsoft.com/office/powerpoint/2010/main" val="20193702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ABBA3936-FE61-4552-A3AD-B73AD3532ECC}"/>
              </a:ext>
            </a:extLst>
          </p:cNvPr>
          <p:cNvSpPr>
            <a:spLocks noGrp="1"/>
          </p:cNvSpPr>
          <p:nvPr/>
        </p:nvSpPr>
        <p:spPr>
          <a:xfrm>
            <a:off x="609600" y="285750"/>
            <a:ext cx="66675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ALGORITHMS</a:t>
            </a:r>
          </a:p>
        </p:txBody>
      </p:sp>
      <p:sp>
        <p:nvSpPr>
          <p:cNvPr id="2" name="Rectangle 1">
            <a:extLst>
              <a:ext uri="{FF2B5EF4-FFF2-40B4-BE49-F238E27FC236}">
                <a16:creationId xmlns:a16="http://schemas.microsoft.com/office/drawing/2014/main" id="{07A76984-9199-4E51-ABD8-594100F1FDD3}"/>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An algorithm is a recipe for exploring candidates</a:t>
            </a:r>
          </a:p>
        </p:txBody>
      </p:sp>
      <p:sp>
        <p:nvSpPr>
          <p:cNvPr id="3" name="Rectangle 2">
            <a:extLst>
              <a:ext uri="{FF2B5EF4-FFF2-40B4-BE49-F238E27FC236}">
                <a16:creationId xmlns:a16="http://schemas.microsoft.com/office/drawing/2014/main" id="{E04B5E60-D191-472D-A085-EEE72B626BB6}"/>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43C46F83-0C99-492D-AE27-8C2971CB07F5}"/>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0</a:t>
            </a:r>
          </a:p>
        </p:txBody>
      </p:sp>
      <p:sp>
        <p:nvSpPr>
          <p:cNvPr id="5" name="Rectangle 4">
            <a:extLst>
              <a:ext uri="{FF2B5EF4-FFF2-40B4-BE49-F238E27FC236}">
                <a16:creationId xmlns:a16="http://schemas.microsoft.com/office/drawing/2014/main" id="{32240BC3-1496-472D-BEBD-8067BEA7C4EE}"/>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15</a:t>
            </a:r>
          </a:p>
        </p:txBody>
      </p:sp>
      <p:sp>
        <p:nvSpPr>
          <p:cNvPr id="6" name="Straight Connector 5">
            <a:extLst>
              <a:ext uri="{FF2B5EF4-FFF2-40B4-BE49-F238E27FC236}">
                <a16:creationId xmlns:a16="http://schemas.microsoft.com/office/drawing/2014/main" id="{35224831-D25B-43B8-9EC5-52DCF4228655}"/>
              </a:ext>
            </a:extLst>
          </p:cNvPr>
          <p:cNvSpPr>
            <a:spLocks noGrp="1"/>
          </p:cNvSpPr>
          <p:nvPr/>
        </p:nvSpPr>
        <p:spPr>
          <a:xfrm>
            <a:off x="2600325" y="2714625"/>
            <a:ext cx="190500" cy="0"/>
          </a:xfrm>
          <a:prstGeom prst="line">
            <a:avLst/>
          </a:prstGeom>
          <a:noFill/>
          <a:ln w="28575">
            <a:solidFill>
              <a:srgbClr val="0B9B91"/>
            </a:solidFill>
            <a:prstDash val="solid"/>
          </a:ln>
        </p:spPr>
        <p:txBody>
          <a:bodyPr/>
          <a:lstStyle/>
          <a:p>
            <a:endParaRPr lang="en-IQ"/>
          </a:p>
        </p:txBody>
      </p:sp>
      <p:sp>
        <p:nvSpPr>
          <p:cNvPr id="7" name="Rectangle: Rounded Corners 6">
            <a:extLst>
              <a:ext uri="{FF2B5EF4-FFF2-40B4-BE49-F238E27FC236}">
                <a16:creationId xmlns:a16="http://schemas.microsoft.com/office/drawing/2014/main" id="{C4874042-D995-4A2A-AF9B-4A01355D5164}"/>
              </a:ext>
            </a:extLst>
          </p:cNvPr>
          <p:cNvSpPr>
            <a:spLocks noGrp="1"/>
          </p:cNvSpPr>
          <p:nvPr/>
        </p:nvSpPr>
        <p:spPr>
          <a:xfrm>
            <a:off x="523875" y="2095500"/>
            <a:ext cx="2076450" cy="1238250"/>
          </a:xfrm>
          <a:prstGeom prst="roundRect">
            <a:avLst>
              <a:gd name="adj" fmla="val 6154"/>
            </a:avLst>
          </a:prstGeom>
          <a:solidFill>
            <a:srgbClr val="FFFFFF"/>
          </a:solidFill>
          <a:ln w="9525">
            <a:solidFill>
              <a:srgbClr val="CED9DB"/>
            </a:solidFill>
            <a:prstDash val="solid"/>
          </a:ln>
        </p:spPr>
        <p:txBody>
          <a:bodyPr/>
          <a:lstStyle/>
          <a:p>
            <a:endParaRPr lang="en-IQ"/>
          </a:p>
        </p:txBody>
      </p:sp>
      <p:sp>
        <p:nvSpPr>
          <p:cNvPr id="8" name="Rectangle 7">
            <a:extLst>
              <a:ext uri="{FF2B5EF4-FFF2-40B4-BE49-F238E27FC236}">
                <a16:creationId xmlns:a16="http://schemas.microsoft.com/office/drawing/2014/main" id="{B1034C19-A2F1-40D7-B448-9CABAE1D13CC}"/>
              </a:ext>
            </a:extLst>
          </p:cNvPr>
          <p:cNvSpPr>
            <a:spLocks noGrp="1"/>
          </p:cNvSpPr>
          <p:nvPr/>
        </p:nvSpPr>
        <p:spPr>
          <a:xfrm>
            <a:off x="638175" y="2190750"/>
            <a:ext cx="323850" cy="266700"/>
          </a:xfrm>
          <a:prstGeom prst="rect">
            <a:avLst/>
          </a:prstGeom>
          <a:noFill/>
          <a:ln w="0">
            <a:noFill/>
            <a:prstDash val="solid"/>
          </a:ln>
        </p:spPr>
        <p:txBody>
          <a:bodyPr anchor="ctr"/>
          <a:lstStyle/>
          <a:p>
            <a:pPr algn="ctr">
              <a:defRPr sz="1275" b="1">
                <a:solidFill>
                  <a:srgbClr val="0B9B91"/>
                </a:solidFill>
              </a:defRPr>
            </a:pPr>
            <a:r>
              <a:rPr sz="1275" b="1">
                <a:solidFill>
                  <a:srgbClr val="0B9B91"/>
                </a:solidFill>
              </a:rPr>
              <a:t>1</a:t>
            </a:r>
          </a:p>
        </p:txBody>
      </p:sp>
      <p:sp>
        <p:nvSpPr>
          <p:cNvPr id="9" name="Rectangle 8">
            <a:extLst>
              <a:ext uri="{FF2B5EF4-FFF2-40B4-BE49-F238E27FC236}">
                <a16:creationId xmlns:a16="http://schemas.microsoft.com/office/drawing/2014/main" id="{F6BF57CD-0A62-44FA-AD54-F5D4FCDDAF58}"/>
              </a:ext>
            </a:extLst>
          </p:cNvPr>
          <p:cNvSpPr>
            <a:spLocks noGrp="1"/>
          </p:cNvSpPr>
          <p:nvPr/>
        </p:nvSpPr>
        <p:spPr>
          <a:xfrm>
            <a:off x="676275" y="2524125"/>
            <a:ext cx="1771650" cy="628650"/>
          </a:xfrm>
          <a:prstGeom prst="rect">
            <a:avLst/>
          </a:prstGeom>
          <a:noFill/>
          <a:ln w="0">
            <a:noFill/>
            <a:prstDash val="solid"/>
          </a:ln>
        </p:spPr>
        <p:txBody>
          <a:bodyPr anchor="ctr"/>
          <a:lstStyle/>
          <a:p>
            <a:pPr algn="ctr">
              <a:defRPr sz="1275" b="1">
                <a:solidFill>
                  <a:srgbClr val="183544"/>
                </a:solidFill>
              </a:defRPr>
            </a:pPr>
            <a:r>
              <a:rPr sz="1275" b="1">
                <a:solidFill>
                  <a:srgbClr val="183544"/>
                </a:solidFill>
              </a:rPr>
              <a:t>Start</a:t>
            </a:r>
          </a:p>
        </p:txBody>
      </p:sp>
      <p:sp>
        <p:nvSpPr>
          <p:cNvPr id="10" name="Straight Connector 9">
            <a:extLst>
              <a:ext uri="{FF2B5EF4-FFF2-40B4-BE49-F238E27FC236}">
                <a16:creationId xmlns:a16="http://schemas.microsoft.com/office/drawing/2014/main" id="{2AEE49CA-1FC4-44C4-A228-23ABC4A49D33}"/>
              </a:ext>
            </a:extLst>
          </p:cNvPr>
          <p:cNvSpPr>
            <a:spLocks noGrp="1"/>
          </p:cNvSpPr>
          <p:nvPr/>
        </p:nvSpPr>
        <p:spPr>
          <a:xfrm>
            <a:off x="4867275" y="2714625"/>
            <a:ext cx="190500" cy="0"/>
          </a:xfrm>
          <a:prstGeom prst="line">
            <a:avLst/>
          </a:prstGeom>
          <a:noFill/>
          <a:ln w="28575">
            <a:solidFill>
              <a:srgbClr val="0B9B91"/>
            </a:solidFill>
            <a:prstDash val="solid"/>
          </a:ln>
        </p:spPr>
        <p:txBody>
          <a:bodyPr/>
          <a:lstStyle/>
          <a:p>
            <a:endParaRPr lang="en-IQ"/>
          </a:p>
        </p:txBody>
      </p:sp>
      <p:sp>
        <p:nvSpPr>
          <p:cNvPr id="11" name="Rectangle: Rounded Corners 10">
            <a:extLst>
              <a:ext uri="{FF2B5EF4-FFF2-40B4-BE49-F238E27FC236}">
                <a16:creationId xmlns:a16="http://schemas.microsoft.com/office/drawing/2014/main" id="{A9866037-E3E1-4F17-AF08-5CFDE6C3B3C7}"/>
              </a:ext>
            </a:extLst>
          </p:cNvPr>
          <p:cNvSpPr>
            <a:spLocks noGrp="1"/>
          </p:cNvSpPr>
          <p:nvPr/>
        </p:nvSpPr>
        <p:spPr>
          <a:xfrm>
            <a:off x="2790825" y="2095500"/>
            <a:ext cx="2076450" cy="1238250"/>
          </a:xfrm>
          <a:prstGeom prst="roundRect">
            <a:avLst>
              <a:gd name="adj" fmla="val 6154"/>
            </a:avLst>
          </a:prstGeom>
          <a:solidFill>
            <a:srgbClr val="FFFFFF"/>
          </a:solidFill>
          <a:ln w="9525">
            <a:solidFill>
              <a:srgbClr val="CED9DB"/>
            </a:solidFill>
            <a:prstDash val="solid"/>
          </a:ln>
        </p:spPr>
        <p:txBody>
          <a:bodyPr/>
          <a:lstStyle/>
          <a:p>
            <a:endParaRPr lang="en-IQ"/>
          </a:p>
        </p:txBody>
      </p:sp>
      <p:sp>
        <p:nvSpPr>
          <p:cNvPr id="12" name="Rectangle 11">
            <a:extLst>
              <a:ext uri="{FF2B5EF4-FFF2-40B4-BE49-F238E27FC236}">
                <a16:creationId xmlns:a16="http://schemas.microsoft.com/office/drawing/2014/main" id="{C9E28D8D-A9C3-42CB-94D0-0276963DCDDA}"/>
              </a:ext>
            </a:extLst>
          </p:cNvPr>
          <p:cNvSpPr>
            <a:spLocks noGrp="1"/>
          </p:cNvSpPr>
          <p:nvPr/>
        </p:nvSpPr>
        <p:spPr>
          <a:xfrm>
            <a:off x="2905125" y="2190750"/>
            <a:ext cx="323850" cy="266700"/>
          </a:xfrm>
          <a:prstGeom prst="rect">
            <a:avLst/>
          </a:prstGeom>
          <a:noFill/>
          <a:ln w="0">
            <a:noFill/>
            <a:prstDash val="solid"/>
          </a:ln>
        </p:spPr>
        <p:txBody>
          <a:bodyPr anchor="ctr"/>
          <a:lstStyle/>
          <a:p>
            <a:pPr algn="ctr">
              <a:defRPr sz="1275" b="1">
                <a:solidFill>
                  <a:srgbClr val="0B9B91"/>
                </a:solidFill>
              </a:defRPr>
            </a:pPr>
            <a:r>
              <a:rPr sz="1275" b="1">
                <a:solidFill>
                  <a:srgbClr val="0B9B91"/>
                </a:solidFill>
              </a:rPr>
              <a:t>2</a:t>
            </a:r>
          </a:p>
        </p:txBody>
      </p:sp>
      <p:sp>
        <p:nvSpPr>
          <p:cNvPr id="13" name="Rectangle 12">
            <a:extLst>
              <a:ext uri="{FF2B5EF4-FFF2-40B4-BE49-F238E27FC236}">
                <a16:creationId xmlns:a16="http://schemas.microsoft.com/office/drawing/2014/main" id="{01D669D4-0348-42A5-9D36-F21BFF4CE5CE}"/>
              </a:ext>
            </a:extLst>
          </p:cNvPr>
          <p:cNvSpPr>
            <a:spLocks noGrp="1"/>
          </p:cNvSpPr>
          <p:nvPr/>
        </p:nvSpPr>
        <p:spPr>
          <a:xfrm>
            <a:off x="2943225" y="2524125"/>
            <a:ext cx="1771650" cy="628650"/>
          </a:xfrm>
          <a:prstGeom prst="rect">
            <a:avLst/>
          </a:prstGeom>
          <a:noFill/>
          <a:ln w="0">
            <a:noFill/>
            <a:prstDash val="solid"/>
          </a:ln>
        </p:spPr>
        <p:txBody>
          <a:bodyPr anchor="ctr"/>
          <a:lstStyle/>
          <a:p>
            <a:pPr algn="ctr">
              <a:defRPr sz="1275" b="1">
                <a:solidFill>
                  <a:srgbClr val="183544"/>
                </a:solidFill>
              </a:defRPr>
            </a:pPr>
            <a:r>
              <a:rPr sz="1275" b="1">
                <a:solidFill>
                  <a:srgbClr val="183544"/>
                </a:solidFill>
              </a:rPr>
              <a:t>Create or modify</a:t>
            </a:r>
          </a:p>
        </p:txBody>
      </p:sp>
      <p:sp>
        <p:nvSpPr>
          <p:cNvPr id="14" name="Straight Connector 13">
            <a:extLst>
              <a:ext uri="{FF2B5EF4-FFF2-40B4-BE49-F238E27FC236}">
                <a16:creationId xmlns:a16="http://schemas.microsoft.com/office/drawing/2014/main" id="{D837EE5E-6996-4B7B-89F3-CDC50597CB09}"/>
              </a:ext>
            </a:extLst>
          </p:cNvPr>
          <p:cNvSpPr>
            <a:spLocks noGrp="1"/>
          </p:cNvSpPr>
          <p:nvPr/>
        </p:nvSpPr>
        <p:spPr>
          <a:xfrm>
            <a:off x="7134225" y="2714625"/>
            <a:ext cx="190500" cy="0"/>
          </a:xfrm>
          <a:prstGeom prst="line">
            <a:avLst/>
          </a:prstGeom>
          <a:noFill/>
          <a:ln w="28575">
            <a:solidFill>
              <a:srgbClr val="0B9B91"/>
            </a:solidFill>
            <a:prstDash val="solid"/>
          </a:ln>
        </p:spPr>
        <p:txBody>
          <a:bodyPr/>
          <a:lstStyle/>
          <a:p>
            <a:endParaRPr lang="en-IQ"/>
          </a:p>
        </p:txBody>
      </p:sp>
      <p:sp>
        <p:nvSpPr>
          <p:cNvPr id="15" name="Rectangle: Rounded Corners 14">
            <a:extLst>
              <a:ext uri="{FF2B5EF4-FFF2-40B4-BE49-F238E27FC236}">
                <a16:creationId xmlns:a16="http://schemas.microsoft.com/office/drawing/2014/main" id="{06285F31-C430-46A8-9DA7-5FFCD4DBAECE}"/>
              </a:ext>
            </a:extLst>
          </p:cNvPr>
          <p:cNvSpPr>
            <a:spLocks noGrp="1"/>
          </p:cNvSpPr>
          <p:nvPr/>
        </p:nvSpPr>
        <p:spPr>
          <a:xfrm>
            <a:off x="5057775" y="2095500"/>
            <a:ext cx="2076450" cy="1238250"/>
          </a:xfrm>
          <a:prstGeom prst="roundRect">
            <a:avLst>
              <a:gd name="adj" fmla="val 6154"/>
            </a:avLst>
          </a:prstGeom>
          <a:solidFill>
            <a:srgbClr val="FFFFFF"/>
          </a:solidFill>
          <a:ln w="9525">
            <a:solidFill>
              <a:srgbClr val="CED9DB"/>
            </a:solidFill>
            <a:prstDash val="solid"/>
          </a:ln>
        </p:spPr>
        <p:txBody>
          <a:bodyPr/>
          <a:lstStyle/>
          <a:p>
            <a:endParaRPr lang="en-IQ"/>
          </a:p>
        </p:txBody>
      </p:sp>
      <p:sp>
        <p:nvSpPr>
          <p:cNvPr id="16" name="Rectangle 15">
            <a:extLst>
              <a:ext uri="{FF2B5EF4-FFF2-40B4-BE49-F238E27FC236}">
                <a16:creationId xmlns:a16="http://schemas.microsoft.com/office/drawing/2014/main" id="{1A3289DD-E09D-4045-A3CA-9CBF472C2375}"/>
              </a:ext>
            </a:extLst>
          </p:cNvPr>
          <p:cNvSpPr>
            <a:spLocks noGrp="1"/>
          </p:cNvSpPr>
          <p:nvPr/>
        </p:nvSpPr>
        <p:spPr>
          <a:xfrm>
            <a:off x="5172075" y="2190750"/>
            <a:ext cx="323850" cy="266700"/>
          </a:xfrm>
          <a:prstGeom prst="rect">
            <a:avLst/>
          </a:prstGeom>
          <a:noFill/>
          <a:ln w="0">
            <a:noFill/>
            <a:prstDash val="solid"/>
          </a:ln>
        </p:spPr>
        <p:txBody>
          <a:bodyPr anchor="ctr"/>
          <a:lstStyle/>
          <a:p>
            <a:pPr algn="ctr">
              <a:defRPr sz="1275" b="1">
                <a:solidFill>
                  <a:srgbClr val="0B9B91"/>
                </a:solidFill>
              </a:defRPr>
            </a:pPr>
            <a:r>
              <a:rPr sz="1275" b="1">
                <a:solidFill>
                  <a:srgbClr val="0B9B91"/>
                </a:solidFill>
              </a:rPr>
              <a:t>3</a:t>
            </a:r>
          </a:p>
        </p:txBody>
      </p:sp>
      <p:sp>
        <p:nvSpPr>
          <p:cNvPr id="17" name="Rectangle 16">
            <a:extLst>
              <a:ext uri="{FF2B5EF4-FFF2-40B4-BE49-F238E27FC236}">
                <a16:creationId xmlns:a16="http://schemas.microsoft.com/office/drawing/2014/main" id="{5B9AB4CD-C201-4536-8585-36218F3DCA0A}"/>
              </a:ext>
            </a:extLst>
          </p:cNvPr>
          <p:cNvSpPr>
            <a:spLocks noGrp="1"/>
          </p:cNvSpPr>
          <p:nvPr/>
        </p:nvSpPr>
        <p:spPr>
          <a:xfrm>
            <a:off x="5210175" y="2524125"/>
            <a:ext cx="1771650" cy="628650"/>
          </a:xfrm>
          <a:prstGeom prst="rect">
            <a:avLst/>
          </a:prstGeom>
          <a:noFill/>
          <a:ln w="0">
            <a:noFill/>
            <a:prstDash val="solid"/>
          </a:ln>
        </p:spPr>
        <p:txBody>
          <a:bodyPr anchor="ctr"/>
          <a:lstStyle/>
          <a:p>
            <a:pPr algn="ctr">
              <a:defRPr sz="1275" b="1">
                <a:solidFill>
                  <a:srgbClr val="183544"/>
                </a:solidFill>
              </a:defRPr>
            </a:pPr>
            <a:r>
              <a:rPr sz="1275" b="1">
                <a:solidFill>
                  <a:srgbClr val="183544"/>
                </a:solidFill>
              </a:rPr>
              <a:t>Evaluate</a:t>
            </a:r>
          </a:p>
        </p:txBody>
      </p:sp>
      <p:sp>
        <p:nvSpPr>
          <p:cNvPr id="18" name="Straight Connector 17">
            <a:extLst>
              <a:ext uri="{FF2B5EF4-FFF2-40B4-BE49-F238E27FC236}">
                <a16:creationId xmlns:a16="http://schemas.microsoft.com/office/drawing/2014/main" id="{ADCD74CD-9620-462C-8805-C759696F6EF3}"/>
              </a:ext>
            </a:extLst>
          </p:cNvPr>
          <p:cNvSpPr>
            <a:spLocks noGrp="1"/>
          </p:cNvSpPr>
          <p:nvPr/>
        </p:nvSpPr>
        <p:spPr>
          <a:xfrm>
            <a:off x="9401175" y="2714625"/>
            <a:ext cx="190500" cy="0"/>
          </a:xfrm>
          <a:prstGeom prst="line">
            <a:avLst/>
          </a:prstGeom>
          <a:noFill/>
          <a:ln w="28575">
            <a:solidFill>
              <a:srgbClr val="0B9B91"/>
            </a:solidFill>
            <a:prstDash val="solid"/>
          </a:ln>
        </p:spPr>
        <p:txBody>
          <a:bodyPr/>
          <a:lstStyle/>
          <a:p>
            <a:endParaRPr lang="en-IQ"/>
          </a:p>
        </p:txBody>
      </p:sp>
      <p:sp>
        <p:nvSpPr>
          <p:cNvPr id="19" name="Rectangle: Rounded Corners 18">
            <a:extLst>
              <a:ext uri="{FF2B5EF4-FFF2-40B4-BE49-F238E27FC236}">
                <a16:creationId xmlns:a16="http://schemas.microsoft.com/office/drawing/2014/main" id="{95C64EC1-CC04-4824-BE80-F4626BE8A91A}"/>
              </a:ext>
            </a:extLst>
          </p:cNvPr>
          <p:cNvSpPr>
            <a:spLocks noGrp="1"/>
          </p:cNvSpPr>
          <p:nvPr/>
        </p:nvSpPr>
        <p:spPr>
          <a:xfrm>
            <a:off x="7324725" y="2095500"/>
            <a:ext cx="2076450" cy="1238250"/>
          </a:xfrm>
          <a:prstGeom prst="roundRect">
            <a:avLst>
              <a:gd name="adj" fmla="val 6154"/>
            </a:avLst>
          </a:prstGeom>
          <a:solidFill>
            <a:srgbClr val="FFFFFF"/>
          </a:solidFill>
          <a:ln w="9525">
            <a:solidFill>
              <a:srgbClr val="CED9DB"/>
            </a:solidFill>
            <a:prstDash val="solid"/>
          </a:ln>
        </p:spPr>
        <p:txBody>
          <a:bodyPr/>
          <a:lstStyle/>
          <a:p>
            <a:endParaRPr lang="en-IQ"/>
          </a:p>
        </p:txBody>
      </p:sp>
      <p:sp>
        <p:nvSpPr>
          <p:cNvPr id="20" name="Rectangle 19">
            <a:extLst>
              <a:ext uri="{FF2B5EF4-FFF2-40B4-BE49-F238E27FC236}">
                <a16:creationId xmlns:a16="http://schemas.microsoft.com/office/drawing/2014/main" id="{E41CB6D5-9DC4-49A3-8CAF-8A32FA648D7B}"/>
              </a:ext>
            </a:extLst>
          </p:cNvPr>
          <p:cNvSpPr>
            <a:spLocks noGrp="1"/>
          </p:cNvSpPr>
          <p:nvPr/>
        </p:nvSpPr>
        <p:spPr>
          <a:xfrm>
            <a:off x="7439025" y="2190750"/>
            <a:ext cx="323850" cy="266700"/>
          </a:xfrm>
          <a:prstGeom prst="rect">
            <a:avLst/>
          </a:prstGeom>
          <a:noFill/>
          <a:ln w="0">
            <a:noFill/>
            <a:prstDash val="solid"/>
          </a:ln>
        </p:spPr>
        <p:txBody>
          <a:bodyPr anchor="ctr"/>
          <a:lstStyle/>
          <a:p>
            <a:pPr algn="ctr">
              <a:defRPr sz="1275" b="1">
                <a:solidFill>
                  <a:srgbClr val="0B9B91"/>
                </a:solidFill>
              </a:defRPr>
            </a:pPr>
            <a:r>
              <a:rPr sz="1275" b="1">
                <a:solidFill>
                  <a:srgbClr val="0B9B91"/>
                </a:solidFill>
              </a:rPr>
              <a:t>4</a:t>
            </a:r>
          </a:p>
        </p:txBody>
      </p:sp>
      <p:sp>
        <p:nvSpPr>
          <p:cNvPr id="21" name="Rectangle 20">
            <a:extLst>
              <a:ext uri="{FF2B5EF4-FFF2-40B4-BE49-F238E27FC236}">
                <a16:creationId xmlns:a16="http://schemas.microsoft.com/office/drawing/2014/main" id="{F967D04C-6D11-4585-A97F-F73A6D8A3B27}"/>
              </a:ext>
            </a:extLst>
          </p:cNvPr>
          <p:cNvSpPr>
            <a:spLocks noGrp="1"/>
          </p:cNvSpPr>
          <p:nvPr/>
        </p:nvSpPr>
        <p:spPr>
          <a:xfrm>
            <a:off x="7477125" y="2524125"/>
            <a:ext cx="1771650" cy="628650"/>
          </a:xfrm>
          <a:prstGeom prst="rect">
            <a:avLst/>
          </a:prstGeom>
          <a:noFill/>
          <a:ln w="0">
            <a:noFill/>
            <a:prstDash val="solid"/>
          </a:ln>
        </p:spPr>
        <p:txBody>
          <a:bodyPr anchor="ctr"/>
          <a:lstStyle/>
          <a:p>
            <a:pPr algn="ctr">
              <a:defRPr sz="1275" b="1">
                <a:solidFill>
                  <a:srgbClr val="183544"/>
                </a:solidFill>
              </a:defRPr>
            </a:pPr>
            <a:r>
              <a:rPr sz="1275" b="1">
                <a:solidFill>
                  <a:srgbClr val="183544"/>
                </a:solidFill>
              </a:rPr>
              <a:t>Compare</a:t>
            </a:r>
          </a:p>
        </p:txBody>
      </p:sp>
      <p:sp>
        <p:nvSpPr>
          <p:cNvPr id="22" name="Rectangle: Rounded Corners 21">
            <a:extLst>
              <a:ext uri="{FF2B5EF4-FFF2-40B4-BE49-F238E27FC236}">
                <a16:creationId xmlns:a16="http://schemas.microsoft.com/office/drawing/2014/main" id="{75558566-7DB2-496D-91A0-4A01D9E1D3E2}"/>
              </a:ext>
            </a:extLst>
          </p:cNvPr>
          <p:cNvSpPr>
            <a:spLocks noGrp="1"/>
          </p:cNvSpPr>
          <p:nvPr/>
        </p:nvSpPr>
        <p:spPr>
          <a:xfrm>
            <a:off x="9591675" y="2095500"/>
            <a:ext cx="2076450" cy="1238250"/>
          </a:xfrm>
          <a:prstGeom prst="roundRect">
            <a:avLst>
              <a:gd name="adj" fmla="val 6154"/>
            </a:avLst>
          </a:prstGeom>
          <a:solidFill>
            <a:srgbClr val="092A3D"/>
          </a:solidFill>
          <a:ln w="9525">
            <a:solidFill>
              <a:srgbClr val="092A3D"/>
            </a:solidFill>
            <a:prstDash val="solid"/>
          </a:ln>
        </p:spPr>
        <p:txBody>
          <a:bodyPr/>
          <a:lstStyle/>
          <a:p>
            <a:endParaRPr lang="en-IQ"/>
          </a:p>
        </p:txBody>
      </p:sp>
      <p:sp>
        <p:nvSpPr>
          <p:cNvPr id="23" name="Rectangle 22">
            <a:extLst>
              <a:ext uri="{FF2B5EF4-FFF2-40B4-BE49-F238E27FC236}">
                <a16:creationId xmlns:a16="http://schemas.microsoft.com/office/drawing/2014/main" id="{D39E91E8-DEAD-4E61-A226-C15CF1958973}"/>
              </a:ext>
            </a:extLst>
          </p:cNvPr>
          <p:cNvSpPr>
            <a:spLocks noGrp="1"/>
          </p:cNvSpPr>
          <p:nvPr/>
        </p:nvSpPr>
        <p:spPr>
          <a:xfrm>
            <a:off x="9705975" y="2190750"/>
            <a:ext cx="323850" cy="266700"/>
          </a:xfrm>
          <a:prstGeom prst="rect">
            <a:avLst/>
          </a:prstGeom>
          <a:noFill/>
          <a:ln w="0">
            <a:noFill/>
            <a:prstDash val="solid"/>
          </a:ln>
        </p:spPr>
        <p:txBody>
          <a:bodyPr anchor="ctr"/>
          <a:lstStyle/>
          <a:p>
            <a:pPr algn="ctr">
              <a:defRPr sz="1275" b="1">
                <a:solidFill>
                  <a:srgbClr val="F2A93B"/>
                </a:solidFill>
              </a:defRPr>
            </a:pPr>
            <a:r>
              <a:rPr sz="1275" b="1">
                <a:solidFill>
                  <a:srgbClr val="F2A93B"/>
                </a:solidFill>
              </a:rPr>
              <a:t>5</a:t>
            </a:r>
          </a:p>
        </p:txBody>
      </p:sp>
      <p:sp>
        <p:nvSpPr>
          <p:cNvPr id="24" name="Rectangle 23">
            <a:extLst>
              <a:ext uri="{FF2B5EF4-FFF2-40B4-BE49-F238E27FC236}">
                <a16:creationId xmlns:a16="http://schemas.microsoft.com/office/drawing/2014/main" id="{E4A470D8-CD67-4CAF-9030-1FA5DCA5E89E}"/>
              </a:ext>
            </a:extLst>
          </p:cNvPr>
          <p:cNvSpPr>
            <a:spLocks noGrp="1"/>
          </p:cNvSpPr>
          <p:nvPr/>
        </p:nvSpPr>
        <p:spPr>
          <a:xfrm>
            <a:off x="9744075" y="2524125"/>
            <a:ext cx="1771650" cy="628650"/>
          </a:xfrm>
          <a:prstGeom prst="rect">
            <a:avLst/>
          </a:prstGeom>
          <a:noFill/>
          <a:ln w="0">
            <a:noFill/>
            <a:prstDash val="solid"/>
          </a:ln>
        </p:spPr>
        <p:txBody>
          <a:bodyPr anchor="ctr"/>
          <a:lstStyle/>
          <a:p>
            <a:pPr algn="ctr">
              <a:defRPr sz="1275" b="1">
                <a:solidFill>
                  <a:srgbClr val="FFFFFF"/>
                </a:solidFill>
              </a:defRPr>
            </a:pPr>
            <a:r>
              <a:rPr sz="1275" b="1">
                <a:solidFill>
                  <a:srgbClr val="FFFFFF"/>
                </a:solidFill>
              </a:rPr>
              <a:t>Stop and report</a:t>
            </a:r>
          </a:p>
        </p:txBody>
      </p:sp>
      <p:sp>
        <p:nvSpPr>
          <p:cNvPr id="25" name="Rectangle: Rounded Corners 24">
            <a:extLst>
              <a:ext uri="{FF2B5EF4-FFF2-40B4-BE49-F238E27FC236}">
                <a16:creationId xmlns:a16="http://schemas.microsoft.com/office/drawing/2014/main" id="{62EC9947-84F8-4B59-8196-594D80A5F3F6}"/>
              </a:ext>
            </a:extLst>
          </p:cNvPr>
          <p:cNvSpPr>
            <a:spLocks noGrp="1"/>
          </p:cNvSpPr>
          <p:nvPr/>
        </p:nvSpPr>
        <p:spPr>
          <a:xfrm>
            <a:off x="2667000" y="5000625"/>
            <a:ext cx="6858000" cy="590550"/>
          </a:xfrm>
          <a:prstGeom prst="roundRect">
            <a:avLst>
              <a:gd name="adj" fmla="val 12903"/>
            </a:avLst>
          </a:prstGeom>
          <a:solidFill>
            <a:srgbClr val="092A3D"/>
          </a:solidFill>
          <a:ln w="0">
            <a:solidFill>
              <a:srgbClr val="092A3D"/>
            </a:solidFill>
            <a:prstDash val="solid"/>
          </a:ln>
        </p:spPr>
        <p:txBody>
          <a:bodyPr/>
          <a:lstStyle/>
          <a:p>
            <a:endParaRPr lang="en-IQ"/>
          </a:p>
        </p:txBody>
      </p:sp>
      <p:sp>
        <p:nvSpPr>
          <p:cNvPr id="26" name="Rectangle 25">
            <a:extLst>
              <a:ext uri="{FF2B5EF4-FFF2-40B4-BE49-F238E27FC236}">
                <a16:creationId xmlns:a16="http://schemas.microsoft.com/office/drawing/2014/main" id="{5F911889-33D6-4CBB-937C-A87C4D11CA51}"/>
              </a:ext>
            </a:extLst>
          </p:cNvPr>
          <p:cNvSpPr>
            <a:spLocks noGrp="1"/>
          </p:cNvSpPr>
          <p:nvPr/>
        </p:nvSpPr>
        <p:spPr>
          <a:xfrm>
            <a:off x="2857500" y="5095875"/>
            <a:ext cx="6477000" cy="400050"/>
          </a:xfrm>
          <a:prstGeom prst="rect">
            <a:avLst/>
          </a:prstGeom>
          <a:noFill/>
          <a:ln w="0">
            <a:noFill/>
            <a:prstDash val="solid"/>
          </a:ln>
        </p:spPr>
        <p:txBody>
          <a:bodyPr anchor="ctr"/>
          <a:lstStyle/>
          <a:p>
            <a:pPr algn="ctr">
              <a:defRPr sz="1725" b="1">
                <a:solidFill>
                  <a:srgbClr val="FFFFFF"/>
                </a:solidFill>
              </a:defRPr>
            </a:pPr>
            <a:r>
              <a:rPr sz="1725" b="1">
                <a:solidFill>
                  <a:srgbClr val="FFFFFF"/>
                </a:solidFill>
              </a:rPr>
              <a:t>Different algorithms explore in different ways.</a:t>
            </a:r>
          </a:p>
        </p:txBody>
      </p:sp>
    </p:spTree>
    <p:extLst>
      <p:ext uri="{BB962C8B-B14F-4D97-AF65-F5344CB8AC3E}">
        <p14:creationId xmlns:p14="http://schemas.microsoft.com/office/powerpoint/2010/main" val="14246005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EB132DE0-C1AC-4812-BEAD-A7B0AC492973}"/>
              </a:ext>
            </a:extLst>
          </p:cNvPr>
          <p:cNvSpPr>
            <a:spLocks noGrp="1"/>
          </p:cNvSpPr>
          <p:nvPr/>
        </p:nvSpPr>
        <p:spPr>
          <a:xfrm>
            <a:off x="609600" y="285750"/>
            <a:ext cx="66675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METHOD FAMILIES</a:t>
            </a:r>
          </a:p>
        </p:txBody>
      </p:sp>
      <p:sp>
        <p:nvSpPr>
          <p:cNvPr id="2" name="Rectangle 1">
            <a:extLst>
              <a:ext uri="{FF2B5EF4-FFF2-40B4-BE49-F238E27FC236}">
                <a16:creationId xmlns:a16="http://schemas.microsoft.com/office/drawing/2014/main" id="{BA49F1E3-7F5A-4A31-AD1B-411B60073735}"/>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Methods differ in the promises they can make</a:t>
            </a:r>
          </a:p>
        </p:txBody>
      </p:sp>
      <p:sp>
        <p:nvSpPr>
          <p:cNvPr id="3" name="Rectangle 2">
            <a:extLst>
              <a:ext uri="{FF2B5EF4-FFF2-40B4-BE49-F238E27FC236}">
                <a16:creationId xmlns:a16="http://schemas.microsoft.com/office/drawing/2014/main" id="{C8FBD807-2927-46E7-9EE5-F3F36CFFFEDB}"/>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37F0AC04-4588-4C82-9937-993576BCB08B}"/>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0</a:t>
            </a:r>
          </a:p>
        </p:txBody>
      </p:sp>
      <p:sp>
        <p:nvSpPr>
          <p:cNvPr id="5" name="Rectangle 4">
            <a:extLst>
              <a:ext uri="{FF2B5EF4-FFF2-40B4-BE49-F238E27FC236}">
                <a16:creationId xmlns:a16="http://schemas.microsoft.com/office/drawing/2014/main" id="{9DCCFE73-607F-46BF-BDB4-7B9200985C0A}"/>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16</a:t>
            </a:r>
          </a:p>
        </p:txBody>
      </p:sp>
      <p:sp>
        <p:nvSpPr>
          <p:cNvPr id="6" name="Rectangle: Rounded Corners 5">
            <a:extLst>
              <a:ext uri="{FF2B5EF4-FFF2-40B4-BE49-F238E27FC236}">
                <a16:creationId xmlns:a16="http://schemas.microsoft.com/office/drawing/2014/main" id="{935DE0A7-BEC1-484D-B684-1FFEB346DC73}"/>
              </a:ext>
            </a:extLst>
          </p:cNvPr>
          <p:cNvSpPr>
            <a:spLocks noGrp="1"/>
          </p:cNvSpPr>
          <p:nvPr/>
        </p:nvSpPr>
        <p:spPr>
          <a:xfrm>
            <a:off x="809625" y="1762125"/>
            <a:ext cx="3333750" cy="2714625"/>
          </a:xfrm>
          <a:prstGeom prst="roundRect">
            <a:avLst>
              <a:gd name="adj" fmla="val 2807"/>
            </a:avLst>
          </a:prstGeom>
          <a:solidFill>
            <a:srgbClr val="FFFFFF"/>
          </a:solidFill>
          <a:ln w="9525">
            <a:solidFill>
              <a:srgbClr val="CED9DB"/>
            </a:solidFill>
            <a:prstDash val="solid"/>
          </a:ln>
        </p:spPr>
        <p:txBody>
          <a:bodyPr/>
          <a:lstStyle/>
          <a:p>
            <a:endParaRPr lang="en-IQ"/>
          </a:p>
        </p:txBody>
      </p:sp>
      <p:sp>
        <p:nvSpPr>
          <p:cNvPr id="7" name="Rectangle 6">
            <a:extLst>
              <a:ext uri="{FF2B5EF4-FFF2-40B4-BE49-F238E27FC236}">
                <a16:creationId xmlns:a16="http://schemas.microsoft.com/office/drawing/2014/main" id="{D9A29438-38BB-45F3-88BD-0FA2D955D854}"/>
              </a:ext>
            </a:extLst>
          </p:cNvPr>
          <p:cNvSpPr>
            <a:spLocks noGrp="1"/>
          </p:cNvSpPr>
          <p:nvPr/>
        </p:nvSpPr>
        <p:spPr>
          <a:xfrm>
            <a:off x="809625" y="1762125"/>
            <a:ext cx="76200" cy="2714625"/>
          </a:xfrm>
          <a:prstGeom prst="rect">
            <a:avLst/>
          </a:prstGeom>
          <a:solidFill>
            <a:srgbClr val="2878B5"/>
          </a:solidFill>
          <a:ln w="0">
            <a:solidFill>
              <a:srgbClr val="2878B5"/>
            </a:solidFill>
            <a:prstDash val="solid"/>
          </a:ln>
        </p:spPr>
        <p:txBody>
          <a:bodyPr/>
          <a:lstStyle/>
          <a:p>
            <a:endParaRPr lang="en-IQ"/>
          </a:p>
        </p:txBody>
      </p:sp>
      <p:sp>
        <p:nvSpPr>
          <p:cNvPr id="8" name="Rectangle 7">
            <a:extLst>
              <a:ext uri="{FF2B5EF4-FFF2-40B4-BE49-F238E27FC236}">
                <a16:creationId xmlns:a16="http://schemas.microsoft.com/office/drawing/2014/main" id="{E53A20C1-9424-4FDA-A33B-506BC24EEAA2}"/>
              </a:ext>
            </a:extLst>
          </p:cNvPr>
          <p:cNvSpPr>
            <a:spLocks noGrp="1"/>
          </p:cNvSpPr>
          <p:nvPr/>
        </p:nvSpPr>
        <p:spPr>
          <a:xfrm>
            <a:off x="1057275" y="1905000"/>
            <a:ext cx="2933700" cy="342900"/>
          </a:xfrm>
          <a:prstGeom prst="rect">
            <a:avLst/>
          </a:prstGeom>
          <a:noFill/>
          <a:ln w="0">
            <a:noFill/>
            <a:prstDash val="solid"/>
          </a:ln>
        </p:spPr>
        <p:txBody>
          <a:bodyPr anchor="ctr"/>
          <a:lstStyle/>
          <a:p>
            <a:pPr algn="l">
              <a:defRPr sz="1650" b="1">
                <a:solidFill>
                  <a:srgbClr val="2878B5"/>
                </a:solidFill>
              </a:defRPr>
            </a:pPr>
            <a:r>
              <a:rPr sz="1650" b="1">
                <a:solidFill>
                  <a:srgbClr val="2878B5"/>
                </a:solidFill>
              </a:rPr>
              <a:t>EXACT</a:t>
            </a:r>
          </a:p>
        </p:txBody>
      </p:sp>
      <p:sp>
        <p:nvSpPr>
          <p:cNvPr id="9" name="Rectangle 8">
            <a:extLst>
              <a:ext uri="{FF2B5EF4-FFF2-40B4-BE49-F238E27FC236}">
                <a16:creationId xmlns:a16="http://schemas.microsoft.com/office/drawing/2014/main" id="{79DA536A-D1FA-4BCF-B451-EBCCB0E52EC1}"/>
              </a:ext>
            </a:extLst>
          </p:cNvPr>
          <p:cNvSpPr>
            <a:spLocks noGrp="1"/>
          </p:cNvSpPr>
          <p:nvPr/>
        </p:nvSpPr>
        <p:spPr>
          <a:xfrm>
            <a:off x="1057275" y="2314575"/>
            <a:ext cx="2905125" cy="2028825"/>
          </a:xfrm>
          <a:prstGeom prst="rect">
            <a:avLst/>
          </a:prstGeom>
          <a:noFill/>
          <a:ln w="0">
            <a:noFill/>
            <a:prstDash val="solid"/>
          </a:ln>
        </p:spPr>
        <p:txBody>
          <a:bodyPr anchor="ctr"/>
          <a:lstStyle/>
          <a:p>
            <a:pPr algn="l">
              <a:defRPr sz="1350" b="0">
                <a:solidFill>
                  <a:srgbClr val="183544"/>
                </a:solidFill>
              </a:defRPr>
            </a:pPr>
            <a:r>
              <a:rPr sz="1350" b="0">
                <a:solidFill>
                  <a:srgbClr val="183544"/>
                </a:solidFill>
              </a:rPr>
              <a:t>May prove the best answer for supported models.</a:t>
            </a:r>
          </a:p>
        </p:txBody>
      </p:sp>
      <p:sp>
        <p:nvSpPr>
          <p:cNvPr id="10" name="Rectangle: Rounded Corners 9">
            <a:extLst>
              <a:ext uri="{FF2B5EF4-FFF2-40B4-BE49-F238E27FC236}">
                <a16:creationId xmlns:a16="http://schemas.microsoft.com/office/drawing/2014/main" id="{2C920F52-A32D-4E46-B809-1681209219A8}"/>
              </a:ext>
            </a:extLst>
          </p:cNvPr>
          <p:cNvSpPr>
            <a:spLocks noGrp="1"/>
          </p:cNvSpPr>
          <p:nvPr/>
        </p:nvSpPr>
        <p:spPr>
          <a:xfrm>
            <a:off x="4429125" y="1762125"/>
            <a:ext cx="3333750" cy="2714625"/>
          </a:xfrm>
          <a:prstGeom prst="roundRect">
            <a:avLst>
              <a:gd name="adj" fmla="val 2807"/>
            </a:avLst>
          </a:prstGeom>
          <a:solidFill>
            <a:srgbClr val="FFFFFF"/>
          </a:solidFill>
          <a:ln w="9525">
            <a:solidFill>
              <a:srgbClr val="CED9DB"/>
            </a:solidFill>
            <a:prstDash val="solid"/>
          </a:ln>
        </p:spPr>
        <p:txBody>
          <a:bodyPr/>
          <a:lstStyle/>
          <a:p>
            <a:endParaRPr lang="en-IQ"/>
          </a:p>
        </p:txBody>
      </p:sp>
      <p:sp>
        <p:nvSpPr>
          <p:cNvPr id="11" name="Rectangle 10">
            <a:extLst>
              <a:ext uri="{FF2B5EF4-FFF2-40B4-BE49-F238E27FC236}">
                <a16:creationId xmlns:a16="http://schemas.microsoft.com/office/drawing/2014/main" id="{E14FA83B-2CE1-4C91-A2EB-B281A8502C7E}"/>
              </a:ext>
            </a:extLst>
          </p:cNvPr>
          <p:cNvSpPr>
            <a:spLocks noGrp="1"/>
          </p:cNvSpPr>
          <p:nvPr/>
        </p:nvSpPr>
        <p:spPr>
          <a:xfrm>
            <a:off x="4429125" y="1762125"/>
            <a:ext cx="76200" cy="2714625"/>
          </a:xfrm>
          <a:prstGeom prst="rect">
            <a:avLst/>
          </a:prstGeom>
          <a:solidFill>
            <a:srgbClr val="2C9976"/>
          </a:solidFill>
          <a:ln w="0">
            <a:solidFill>
              <a:srgbClr val="2C9976"/>
            </a:solidFill>
            <a:prstDash val="solid"/>
          </a:ln>
        </p:spPr>
        <p:txBody>
          <a:bodyPr/>
          <a:lstStyle/>
          <a:p>
            <a:endParaRPr lang="en-IQ"/>
          </a:p>
        </p:txBody>
      </p:sp>
      <p:sp>
        <p:nvSpPr>
          <p:cNvPr id="12" name="Rectangle 11">
            <a:extLst>
              <a:ext uri="{FF2B5EF4-FFF2-40B4-BE49-F238E27FC236}">
                <a16:creationId xmlns:a16="http://schemas.microsoft.com/office/drawing/2014/main" id="{FB65081B-D4AB-412F-B57F-27D0B7C0DB02}"/>
              </a:ext>
            </a:extLst>
          </p:cNvPr>
          <p:cNvSpPr>
            <a:spLocks noGrp="1"/>
          </p:cNvSpPr>
          <p:nvPr/>
        </p:nvSpPr>
        <p:spPr>
          <a:xfrm>
            <a:off x="4676775" y="1905000"/>
            <a:ext cx="2933700" cy="342900"/>
          </a:xfrm>
          <a:prstGeom prst="rect">
            <a:avLst/>
          </a:prstGeom>
          <a:noFill/>
          <a:ln w="0">
            <a:noFill/>
            <a:prstDash val="solid"/>
          </a:ln>
        </p:spPr>
        <p:txBody>
          <a:bodyPr anchor="ctr"/>
          <a:lstStyle/>
          <a:p>
            <a:pPr algn="l">
              <a:defRPr sz="1650" b="1">
                <a:solidFill>
                  <a:srgbClr val="2C9976"/>
                </a:solidFill>
              </a:defRPr>
            </a:pPr>
            <a:r>
              <a:rPr sz="1650" b="1">
                <a:solidFill>
                  <a:srgbClr val="2C9976"/>
                </a:solidFill>
              </a:rPr>
              <a:t>HEURISTIC</a:t>
            </a:r>
          </a:p>
        </p:txBody>
      </p:sp>
      <p:sp>
        <p:nvSpPr>
          <p:cNvPr id="13" name="Rectangle 12">
            <a:extLst>
              <a:ext uri="{FF2B5EF4-FFF2-40B4-BE49-F238E27FC236}">
                <a16:creationId xmlns:a16="http://schemas.microsoft.com/office/drawing/2014/main" id="{5F5C27CE-BE46-491F-8CA7-300F484DC9F4}"/>
              </a:ext>
            </a:extLst>
          </p:cNvPr>
          <p:cNvSpPr>
            <a:spLocks noGrp="1"/>
          </p:cNvSpPr>
          <p:nvPr/>
        </p:nvSpPr>
        <p:spPr>
          <a:xfrm>
            <a:off x="4676775" y="2314575"/>
            <a:ext cx="2905125" cy="2028825"/>
          </a:xfrm>
          <a:prstGeom prst="rect">
            <a:avLst/>
          </a:prstGeom>
          <a:noFill/>
          <a:ln w="0">
            <a:noFill/>
            <a:prstDash val="solid"/>
          </a:ln>
        </p:spPr>
        <p:txBody>
          <a:bodyPr anchor="ctr"/>
          <a:lstStyle/>
          <a:p>
            <a:pPr algn="l">
              <a:defRPr sz="1350" b="0">
                <a:solidFill>
                  <a:srgbClr val="183544"/>
                </a:solidFill>
              </a:defRPr>
            </a:pPr>
            <a:r>
              <a:rPr sz="1350" b="0">
                <a:solidFill>
                  <a:srgbClr val="183544"/>
                </a:solidFill>
              </a:rPr>
              <a:t>Uses a useful rule to find a good answer quickly.</a:t>
            </a:r>
          </a:p>
        </p:txBody>
      </p:sp>
      <p:sp>
        <p:nvSpPr>
          <p:cNvPr id="14" name="Rectangle: Rounded Corners 13">
            <a:extLst>
              <a:ext uri="{FF2B5EF4-FFF2-40B4-BE49-F238E27FC236}">
                <a16:creationId xmlns:a16="http://schemas.microsoft.com/office/drawing/2014/main" id="{E80A7DF3-5D1A-4842-AC50-888D3193116A}"/>
              </a:ext>
            </a:extLst>
          </p:cNvPr>
          <p:cNvSpPr>
            <a:spLocks noGrp="1"/>
          </p:cNvSpPr>
          <p:nvPr/>
        </p:nvSpPr>
        <p:spPr>
          <a:xfrm>
            <a:off x="8048625" y="1762125"/>
            <a:ext cx="3333750" cy="2714625"/>
          </a:xfrm>
          <a:prstGeom prst="roundRect">
            <a:avLst>
              <a:gd name="adj" fmla="val 2807"/>
            </a:avLst>
          </a:prstGeom>
          <a:solidFill>
            <a:srgbClr val="FFFFFF"/>
          </a:solidFill>
          <a:ln w="9525">
            <a:solidFill>
              <a:srgbClr val="CED9DB"/>
            </a:solidFill>
            <a:prstDash val="solid"/>
          </a:ln>
        </p:spPr>
        <p:txBody>
          <a:bodyPr/>
          <a:lstStyle/>
          <a:p>
            <a:endParaRPr lang="en-IQ"/>
          </a:p>
        </p:txBody>
      </p:sp>
      <p:sp>
        <p:nvSpPr>
          <p:cNvPr id="15" name="Rectangle 14">
            <a:extLst>
              <a:ext uri="{FF2B5EF4-FFF2-40B4-BE49-F238E27FC236}">
                <a16:creationId xmlns:a16="http://schemas.microsoft.com/office/drawing/2014/main" id="{F58DD3B8-8B4F-4EBA-8CE2-FC0279A38293}"/>
              </a:ext>
            </a:extLst>
          </p:cNvPr>
          <p:cNvSpPr>
            <a:spLocks noGrp="1"/>
          </p:cNvSpPr>
          <p:nvPr/>
        </p:nvSpPr>
        <p:spPr>
          <a:xfrm>
            <a:off x="8048625" y="1762125"/>
            <a:ext cx="76200" cy="2714625"/>
          </a:xfrm>
          <a:prstGeom prst="rect">
            <a:avLst/>
          </a:prstGeom>
          <a:solidFill>
            <a:srgbClr val="F2A93B"/>
          </a:solidFill>
          <a:ln w="0">
            <a:solidFill>
              <a:srgbClr val="F2A93B"/>
            </a:solidFill>
            <a:prstDash val="solid"/>
          </a:ln>
        </p:spPr>
        <p:txBody>
          <a:bodyPr/>
          <a:lstStyle/>
          <a:p>
            <a:endParaRPr lang="en-IQ"/>
          </a:p>
        </p:txBody>
      </p:sp>
      <p:sp>
        <p:nvSpPr>
          <p:cNvPr id="16" name="Rectangle 15">
            <a:extLst>
              <a:ext uri="{FF2B5EF4-FFF2-40B4-BE49-F238E27FC236}">
                <a16:creationId xmlns:a16="http://schemas.microsoft.com/office/drawing/2014/main" id="{0DC5886D-AAA1-41F8-B2B2-D445057EA6C8}"/>
              </a:ext>
            </a:extLst>
          </p:cNvPr>
          <p:cNvSpPr>
            <a:spLocks noGrp="1"/>
          </p:cNvSpPr>
          <p:nvPr/>
        </p:nvSpPr>
        <p:spPr>
          <a:xfrm>
            <a:off x="8296275" y="1905000"/>
            <a:ext cx="2933700" cy="342900"/>
          </a:xfrm>
          <a:prstGeom prst="rect">
            <a:avLst/>
          </a:prstGeom>
          <a:noFill/>
          <a:ln w="0">
            <a:noFill/>
            <a:prstDash val="solid"/>
          </a:ln>
        </p:spPr>
        <p:txBody>
          <a:bodyPr anchor="ctr"/>
          <a:lstStyle/>
          <a:p>
            <a:pPr algn="l">
              <a:defRPr sz="1650" b="1">
                <a:solidFill>
                  <a:srgbClr val="F2A93B"/>
                </a:solidFill>
              </a:defRPr>
            </a:pPr>
            <a:r>
              <a:rPr sz="1650" b="1">
                <a:solidFill>
                  <a:srgbClr val="F2A93B"/>
                </a:solidFill>
              </a:rPr>
              <a:t>METAHEURISTIC</a:t>
            </a:r>
          </a:p>
        </p:txBody>
      </p:sp>
      <p:sp>
        <p:nvSpPr>
          <p:cNvPr id="17" name="Rectangle 16">
            <a:extLst>
              <a:ext uri="{FF2B5EF4-FFF2-40B4-BE49-F238E27FC236}">
                <a16:creationId xmlns:a16="http://schemas.microsoft.com/office/drawing/2014/main" id="{CB8C5879-5CFE-49C7-B9B4-59AF33A4801B}"/>
              </a:ext>
            </a:extLst>
          </p:cNvPr>
          <p:cNvSpPr>
            <a:spLocks noGrp="1"/>
          </p:cNvSpPr>
          <p:nvPr/>
        </p:nvSpPr>
        <p:spPr>
          <a:xfrm>
            <a:off x="8296275" y="2314575"/>
            <a:ext cx="2905125" cy="2028825"/>
          </a:xfrm>
          <a:prstGeom prst="rect">
            <a:avLst/>
          </a:prstGeom>
          <a:noFill/>
          <a:ln w="0">
            <a:noFill/>
            <a:prstDash val="solid"/>
          </a:ln>
        </p:spPr>
        <p:txBody>
          <a:bodyPr anchor="ctr"/>
          <a:lstStyle/>
          <a:p>
            <a:pPr algn="l">
              <a:defRPr sz="1350" b="0">
                <a:solidFill>
                  <a:srgbClr val="183544"/>
                </a:solidFill>
              </a:defRPr>
            </a:pPr>
            <a:r>
              <a:rPr sz="1350" b="0">
                <a:solidFill>
                  <a:srgbClr val="183544"/>
                </a:solidFill>
              </a:rPr>
              <a:t>Uses a general strategy to explore difficult spaces.</a:t>
            </a:r>
          </a:p>
        </p:txBody>
      </p:sp>
      <p:sp>
        <p:nvSpPr>
          <p:cNvPr id="18" name="Rectangle 17">
            <a:extLst>
              <a:ext uri="{FF2B5EF4-FFF2-40B4-BE49-F238E27FC236}">
                <a16:creationId xmlns:a16="http://schemas.microsoft.com/office/drawing/2014/main" id="{DC8EF7B5-B8B5-4C7C-826A-5CA61DF9D08F}"/>
              </a:ext>
            </a:extLst>
          </p:cNvPr>
          <p:cNvSpPr>
            <a:spLocks noGrp="1"/>
          </p:cNvSpPr>
          <p:nvPr/>
        </p:nvSpPr>
        <p:spPr>
          <a:xfrm>
            <a:off x="1428750" y="5429250"/>
            <a:ext cx="9334500" cy="400050"/>
          </a:xfrm>
          <a:prstGeom prst="rect">
            <a:avLst/>
          </a:prstGeom>
          <a:noFill/>
          <a:ln w="0">
            <a:noFill/>
            <a:prstDash val="solid"/>
          </a:ln>
        </p:spPr>
        <p:txBody>
          <a:bodyPr anchor="ctr"/>
          <a:lstStyle/>
          <a:p>
            <a:pPr algn="ctr">
              <a:defRPr sz="1650" b="1">
                <a:solidFill>
                  <a:srgbClr val="092A3D"/>
                </a:solidFill>
              </a:defRPr>
            </a:pPr>
            <a:r>
              <a:rPr sz="1650" b="1">
                <a:solidFill>
                  <a:srgbClr val="092A3D"/>
                </a:solidFill>
              </a:rPr>
              <a:t>Good method choice depends on structure, scale, time and evidence required.</a:t>
            </a:r>
          </a:p>
        </p:txBody>
      </p:sp>
    </p:spTree>
    <p:extLst>
      <p:ext uri="{BB962C8B-B14F-4D97-AF65-F5344CB8AC3E}">
        <p14:creationId xmlns:p14="http://schemas.microsoft.com/office/powerpoint/2010/main" val="14655045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2CB1B6E8-FF79-4682-9F9C-06F209EF96C4}"/>
              </a:ext>
            </a:extLst>
          </p:cNvPr>
          <p:cNvSpPr>
            <a:spLocks noGrp="1"/>
          </p:cNvSpPr>
          <p:nvPr/>
        </p:nvSpPr>
        <p:spPr>
          <a:xfrm>
            <a:off x="609600" y="285750"/>
            <a:ext cx="66675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APPLICATIONS</a:t>
            </a:r>
          </a:p>
        </p:txBody>
      </p:sp>
      <p:sp>
        <p:nvSpPr>
          <p:cNvPr id="2" name="Rectangle 1">
            <a:extLst>
              <a:ext uri="{FF2B5EF4-FFF2-40B4-BE49-F238E27FC236}">
                <a16:creationId xmlns:a16="http://schemas.microsoft.com/office/drawing/2014/main" id="{44601FD8-A7AE-4D74-8C93-E940B3B0053C}"/>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Optimization appears throughout computing</a:t>
            </a:r>
          </a:p>
        </p:txBody>
      </p:sp>
      <p:sp>
        <p:nvSpPr>
          <p:cNvPr id="3" name="Rectangle 2">
            <a:extLst>
              <a:ext uri="{FF2B5EF4-FFF2-40B4-BE49-F238E27FC236}">
                <a16:creationId xmlns:a16="http://schemas.microsoft.com/office/drawing/2014/main" id="{D62BD223-36B9-421A-8BC2-8FD76B2CE2FE}"/>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CC3AF784-A367-4636-AD9B-D503A30E1C84}"/>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0</a:t>
            </a:r>
          </a:p>
        </p:txBody>
      </p:sp>
      <p:sp>
        <p:nvSpPr>
          <p:cNvPr id="5" name="Rectangle 4">
            <a:extLst>
              <a:ext uri="{FF2B5EF4-FFF2-40B4-BE49-F238E27FC236}">
                <a16:creationId xmlns:a16="http://schemas.microsoft.com/office/drawing/2014/main" id="{A7DB43D4-3867-49E3-AC38-7E1ABE97E3D3}"/>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17</a:t>
            </a:r>
          </a:p>
        </p:txBody>
      </p:sp>
      <p:sp>
        <p:nvSpPr>
          <p:cNvPr id="6" name="Rectangle: Rounded Corners 5">
            <a:extLst>
              <a:ext uri="{FF2B5EF4-FFF2-40B4-BE49-F238E27FC236}">
                <a16:creationId xmlns:a16="http://schemas.microsoft.com/office/drawing/2014/main" id="{8906A3F6-B7D5-4F63-ADD2-867910022FBC}"/>
              </a:ext>
            </a:extLst>
          </p:cNvPr>
          <p:cNvSpPr>
            <a:spLocks noGrp="1"/>
          </p:cNvSpPr>
          <p:nvPr/>
        </p:nvSpPr>
        <p:spPr>
          <a:xfrm>
            <a:off x="857250" y="1476375"/>
            <a:ext cx="3333750" cy="1476375"/>
          </a:xfrm>
          <a:prstGeom prst="roundRect">
            <a:avLst>
              <a:gd name="adj" fmla="val 5161"/>
            </a:avLst>
          </a:prstGeom>
          <a:solidFill>
            <a:srgbClr val="FFFFFF"/>
          </a:solidFill>
          <a:ln w="9525">
            <a:solidFill>
              <a:srgbClr val="CED9DB"/>
            </a:solidFill>
            <a:prstDash val="solid"/>
          </a:ln>
        </p:spPr>
        <p:txBody>
          <a:bodyPr/>
          <a:lstStyle/>
          <a:p>
            <a:endParaRPr lang="en-IQ"/>
          </a:p>
        </p:txBody>
      </p:sp>
      <p:sp>
        <p:nvSpPr>
          <p:cNvPr id="7" name="Rectangle 6">
            <a:extLst>
              <a:ext uri="{FF2B5EF4-FFF2-40B4-BE49-F238E27FC236}">
                <a16:creationId xmlns:a16="http://schemas.microsoft.com/office/drawing/2014/main" id="{4AC40573-CFE7-4539-A559-AE356900F6BD}"/>
              </a:ext>
            </a:extLst>
          </p:cNvPr>
          <p:cNvSpPr>
            <a:spLocks noGrp="1"/>
          </p:cNvSpPr>
          <p:nvPr/>
        </p:nvSpPr>
        <p:spPr>
          <a:xfrm>
            <a:off x="857250" y="1476375"/>
            <a:ext cx="76200" cy="1476375"/>
          </a:xfrm>
          <a:prstGeom prst="rect">
            <a:avLst/>
          </a:prstGeom>
          <a:solidFill>
            <a:srgbClr val="0B9B91"/>
          </a:solidFill>
          <a:ln w="0">
            <a:solidFill>
              <a:srgbClr val="0B9B91"/>
            </a:solidFill>
            <a:prstDash val="solid"/>
          </a:ln>
        </p:spPr>
        <p:txBody>
          <a:bodyPr/>
          <a:lstStyle/>
          <a:p>
            <a:endParaRPr lang="en-IQ"/>
          </a:p>
        </p:txBody>
      </p:sp>
      <p:sp>
        <p:nvSpPr>
          <p:cNvPr id="8" name="Rectangle 7">
            <a:extLst>
              <a:ext uri="{FF2B5EF4-FFF2-40B4-BE49-F238E27FC236}">
                <a16:creationId xmlns:a16="http://schemas.microsoft.com/office/drawing/2014/main" id="{979CED12-7F8B-4540-8D65-D84E3F137E06}"/>
              </a:ext>
            </a:extLst>
          </p:cNvPr>
          <p:cNvSpPr>
            <a:spLocks noGrp="1"/>
          </p:cNvSpPr>
          <p:nvPr/>
        </p:nvSpPr>
        <p:spPr>
          <a:xfrm>
            <a:off x="1104900" y="1619250"/>
            <a:ext cx="2933700" cy="342900"/>
          </a:xfrm>
          <a:prstGeom prst="rect">
            <a:avLst/>
          </a:prstGeom>
          <a:noFill/>
          <a:ln w="0">
            <a:noFill/>
            <a:prstDash val="solid"/>
          </a:ln>
        </p:spPr>
        <p:txBody>
          <a:bodyPr anchor="ctr"/>
          <a:lstStyle/>
          <a:p>
            <a:pPr algn="l">
              <a:defRPr sz="1650" b="1">
                <a:solidFill>
                  <a:srgbClr val="0B9B91"/>
                </a:solidFill>
              </a:defRPr>
            </a:pPr>
            <a:r>
              <a:rPr sz="1650" b="1">
                <a:solidFill>
                  <a:srgbClr val="0B9B91"/>
                </a:solidFill>
              </a:rPr>
              <a:t>Routing</a:t>
            </a:r>
          </a:p>
        </p:txBody>
      </p:sp>
      <p:sp>
        <p:nvSpPr>
          <p:cNvPr id="9" name="Rectangle 8">
            <a:extLst>
              <a:ext uri="{FF2B5EF4-FFF2-40B4-BE49-F238E27FC236}">
                <a16:creationId xmlns:a16="http://schemas.microsoft.com/office/drawing/2014/main" id="{98F17DF0-CCFE-439B-897C-BB951066DAD6}"/>
              </a:ext>
            </a:extLst>
          </p:cNvPr>
          <p:cNvSpPr>
            <a:spLocks noGrp="1"/>
          </p:cNvSpPr>
          <p:nvPr/>
        </p:nvSpPr>
        <p:spPr>
          <a:xfrm>
            <a:off x="1104900" y="2028825"/>
            <a:ext cx="2905125" cy="790575"/>
          </a:xfrm>
          <a:prstGeom prst="rect">
            <a:avLst/>
          </a:prstGeom>
          <a:noFill/>
          <a:ln w="0">
            <a:noFill/>
            <a:prstDash val="solid"/>
          </a:ln>
        </p:spPr>
        <p:txBody>
          <a:bodyPr anchor="ctr"/>
          <a:lstStyle/>
          <a:p>
            <a:pPr algn="l">
              <a:defRPr sz="1350" b="0">
                <a:solidFill>
                  <a:srgbClr val="183544"/>
                </a:solidFill>
              </a:defRPr>
            </a:pPr>
            <a:r>
              <a:rPr sz="1350" b="0">
                <a:solidFill>
                  <a:srgbClr val="183544"/>
                </a:solidFill>
              </a:rPr>
              <a:t>choose network paths</a:t>
            </a:r>
          </a:p>
        </p:txBody>
      </p:sp>
      <p:sp>
        <p:nvSpPr>
          <p:cNvPr id="10" name="Rectangle: Rounded Corners 9">
            <a:extLst>
              <a:ext uri="{FF2B5EF4-FFF2-40B4-BE49-F238E27FC236}">
                <a16:creationId xmlns:a16="http://schemas.microsoft.com/office/drawing/2014/main" id="{B7A3E2BE-8F16-498B-AB75-2490CB6F7CC8}"/>
              </a:ext>
            </a:extLst>
          </p:cNvPr>
          <p:cNvSpPr>
            <a:spLocks noGrp="1"/>
          </p:cNvSpPr>
          <p:nvPr/>
        </p:nvSpPr>
        <p:spPr>
          <a:xfrm>
            <a:off x="4572000" y="1476375"/>
            <a:ext cx="3333750" cy="1476375"/>
          </a:xfrm>
          <a:prstGeom prst="roundRect">
            <a:avLst>
              <a:gd name="adj" fmla="val 5161"/>
            </a:avLst>
          </a:prstGeom>
          <a:solidFill>
            <a:srgbClr val="FFFFFF"/>
          </a:solidFill>
          <a:ln w="9525">
            <a:solidFill>
              <a:srgbClr val="CED9DB"/>
            </a:solidFill>
            <a:prstDash val="solid"/>
          </a:ln>
        </p:spPr>
        <p:txBody>
          <a:bodyPr/>
          <a:lstStyle/>
          <a:p>
            <a:endParaRPr lang="en-IQ"/>
          </a:p>
        </p:txBody>
      </p:sp>
      <p:sp>
        <p:nvSpPr>
          <p:cNvPr id="11" name="Rectangle 10">
            <a:extLst>
              <a:ext uri="{FF2B5EF4-FFF2-40B4-BE49-F238E27FC236}">
                <a16:creationId xmlns:a16="http://schemas.microsoft.com/office/drawing/2014/main" id="{BFD4250E-7638-4EC1-8092-80176519CEB7}"/>
              </a:ext>
            </a:extLst>
          </p:cNvPr>
          <p:cNvSpPr>
            <a:spLocks noGrp="1"/>
          </p:cNvSpPr>
          <p:nvPr/>
        </p:nvSpPr>
        <p:spPr>
          <a:xfrm>
            <a:off x="4572000" y="1476375"/>
            <a:ext cx="76200" cy="1476375"/>
          </a:xfrm>
          <a:prstGeom prst="rect">
            <a:avLst/>
          </a:prstGeom>
          <a:solidFill>
            <a:srgbClr val="2878B5"/>
          </a:solidFill>
          <a:ln w="0">
            <a:solidFill>
              <a:srgbClr val="2878B5"/>
            </a:solidFill>
            <a:prstDash val="solid"/>
          </a:ln>
        </p:spPr>
        <p:txBody>
          <a:bodyPr/>
          <a:lstStyle/>
          <a:p>
            <a:endParaRPr lang="en-IQ"/>
          </a:p>
        </p:txBody>
      </p:sp>
      <p:sp>
        <p:nvSpPr>
          <p:cNvPr id="12" name="Rectangle 11">
            <a:extLst>
              <a:ext uri="{FF2B5EF4-FFF2-40B4-BE49-F238E27FC236}">
                <a16:creationId xmlns:a16="http://schemas.microsoft.com/office/drawing/2014/main" id="{908E7606-BB3D-446F-BEAC-1EF343F3751C}"/>
              </a:ext>
            </a:extLst>
          </p:cNvPr>
          <p:cNvSpPr>
            <a:spLocks noGrp="1"/>
          </p:cNvSpPr>
          <p:nvPr/>
        </p:nvSpPr>
        <p:spPr>
          <a:xfrm>
            <a:off x="4819650" y="1619250"/>
            <a:ext cx="2933700" cy="342900"/>
          </a:xfrm>
          <a:prstGeom prst="rect">
            <a:avLst/>
          </a:prstGeom>
          <a:noFill/>
          <a:ln w="0">
            <a:noFill/>
            <a:prstDash val="solid"/>
          </a:ln>
        </p:spPr>
        <p:txBody>
          <a:bodyPr anchor="ctr"/>
          <a:lstStyle/>
          <a:p>
            <a:pPr algn="l">
              <a:defRPr sz="1650" b="1">
                <a:solidFill>
                  <a:srgbClr val="2878B5"/>
                </a:solidFill>
              </a:defRPr>
            </a:pPr>
            <a:r>
              <a:rPr sz="1650" b="1">
                <a:solidFill>
                  <a:srgbClr val="2878B5"/>
                </a:solidFill>
              </a:rPr>
              <a:t>Cloud</a:t>
            </a:r>
          </a:p>
        </p:txBody>
      </p:sp>
      <p:sp>
        <p:nvSpPr>
          <p:cNvPr id="13" name="Rectangle 12">
            <a:extLst>
              <a:ext uri="{FF2B5EF4-FFF2-40B4-BE49-F238E27FC236}">
                <a16:creationId xmlns:a16="http://schemas.microsoft.com/office/drawing/2014/main" id="{E2F0370F-A680-4487-8574-833458E40595}"/>
              </a:ext>
            </a:extLst>
          </p:cNvPr>
          <p:cNvSpPr>
            <a:spLocks noGrp="1"/>
          </p:cNvSpPr>
          <p:nvPr/>
        </p:nvSpPr>
        <p:spPr>
          <a:xfrm>
            <a:off x="4819650" y="2028825"/>
            <a:ext cx="2905125" cy="790575"/>
          </a:xfrm>
          <a:prstGeom prst="rect">
            <a:avLst/>
          </a:prstGeom>
          <a:noFill/>
          <a:ln w="0">
            <a:noFill/>
            <a:prstDash val="solid"/>
          </a:ln>
        </p:spPr>
        <p:txBody>
          <a:bodyPr anchor="ctr"/>
          <a:lstStyle/>
          <a:p>
            <a:pPr algn="l">
              <a:defRPr sz="1350" b="0">
                <a:solidFill>
                  <a:srgbClr val="183544"/>
                </a:solidFill>
              </a:defRPr>
            </a:pPr>
            <a:r>
              <a:rPr sz="1350" b="0">
                <a:solidFill>
                  <a:srgbClr val="183544"/>
                </a:solidFill>
              </a:rPr>
              <a:t>place and scale services</a:t>
            </a:r>
          </a:p>
        </p:txBody>
      </p:sp>
      <p:sp>
        <p:nvSpPr>
          <p:cNvPr id="14" name="Rectangle: Rounded Corners 13">
            <a:extLst>
              <a:ext uri="{FF2B5EF4-FFF2-40B4-BE49-F238E27FC236}">
                <a16:creationId xmlns:a16="http://schemas.microsoft.com/office/drawing/2014/main" id="{C9E8B484-9E74-4187-950B-1617BE5FFC21}"/>
              </a:ext>
            </a:extLst>
          </p:cNvPr>
          <p:cNvSpPr>
            <a:spLocks noGrp="1"/>
          </p:cNvSpPr>
          <p:nvPr/>
        </p:nvSpPr>
        <p:spPr>
          <a:xfrm>
            <a:off x="8286750" y="1476375"/>
            <a:ext cx="3333750" cy="1476375"/>
          </a:xfrm>
          <a:prstGeom prst="roundRect">
            <a:avLst>
              <a:gd name="adj" fmla="val 5161"/>
            </a:avLst>
          </a:prstGeom>
          <a:solidFill>
            <a:srgbClr val="FFFFFF"/>
          </a:solidFill>
          <a:ln w="9525">
            <a:solidFill>
              <a:srgbClr val="CED9DB"/>
            </a:solidFill>
            <a:prstDash val="solid"/>
          </a:ln>
        </p:spPr>
        <p:txBody>
          <a:bodyPr/>
          <a:lstStyle/>
          <a:p>
            <a:endParaRPr lang="en-IQ"/>
          </a:p>
        </p:txBody>
      </p:sp>
      <p:sp>
        <p:nvSpPr>
          <p:cNvPr id="15" name="Rectangle 14">
            <a:extLst>
              <a:ext uri="{FF2B5EF4-FFF2-40B4-BE49-F238E27FC236}">
                <a16:creationId xmlns:a16="http://schemas.microsoft.com/office/drawing/2014/main" id="{22D25A29-1180-46CA-A06B-173337FC3092}"/>
              </a:ext>
            </a:extLst>
          </p:cNvPr>
          <p:cNvSpPr>
            <a:spLocks noGrp="1"/>
          </p:cNvSpPr>
          <p:nvPr/>
        </p:nvSpPr>
        <p:spPr>
          <a:xfrm>
            <a:off x="8286750" y="1476375"/>
            <a:ext cx="76200" cy="1476375"/>
          </a:xfrm>
          <a:prstGeom prst="rect">
            <a:avLst/>
          </a:prstGeom>
          <a:solidFill>
            <a:srgbClr val="F2A93B"/>
          </a:solidFill>
          <a:ln w="0">
            <a:solidFill>
              <a:srgbClr val="F2A93B"/>
            </a:solidFill>
            <a:prstDash val="solid"/>
          </a:ln>
        </p:spPr>
        <p:txBody>
          <a:bodyPr/>
          <a:lstStyle/>
          <a:p>
            <a:endParaRPr lang="en-IQ"/>
          </a:p>
        </p:txBody>
      </p:sp>
      <p:sp>
        <p:nvSpPr>
          <p:cNvPr id="16" name="Rectangle 15">
            <a:extLst>
              <a:ext uri="{FF2B5EF4-FFF2-40B4-BE49-F238E27FC236}">
                <a16:creationId xmlns:a16="http://schemas.microsoft.com/office/drawing/2014/main" id="{9AC0FB40-F9C4-448B-80A5-E4A49103B80E}"/>
              </a:ext>
            </a:extLst>
          </p:cNvPr>
          <p:cNvSpPr>
            <a:spLocks noGrp="1"/>
          </p:cNvSpPr>
          <p:nvPr/>
        </p:nvSpPr>
        <p:spPr>
          <a:xfrm>
            <a:off x="8534400" y="1619250"/>
            <a:ext cx="2933700" cy="342900"/>
          </a:xfrm>
          <a:prstGeom prst="rect">
            <a:avLst/>
          </a:prstGeom>
          <a:noFill/>
          <a:ln w="0">
            <a:noFill/>
            <a:prstDash val="solid"/>
          </a:ln>
        </p:spPr>
        <p:txBody>
          <a:bodyPr anchor="ctr"/>
          <a:lstStyle/>
          <a:p>
            <a:pPr algn="l">
              <a:defRPr sz="1650" b="1">
                <a:solidFill>
                  <a:srgbClr val="F2A93B"/>
                </a:solidFill>
              </a:defRPr>
            </a:pPr>
            <a:r>
              <a:rPr sz="1650" b="1">
                <a:solidFill>
                  <a:srgbClr val="F2A93B"/>
                </a:solidFill>
              </a:rPr>
              <a:t>AI</a:t>
            </a:r>
          </a:p>
        </p:txBody>
      </p:sp>
      <p:sp>
        <p:nvSpPr>
          <p:cNvPr id="17" name="Rectangle 16">
            <a:extLst>
              <a:ext uri="{FF2B5EF4-FFF2-40B4-BE49-F238E27FC236}">
                <a16:creationId xmlns:a16="http://schemas.microsoft.com/office/drawing/2014/main" id="{AC5F6992-2178-4D3E-A697-CC3AFAD3D659}"/>
              </a:ext>
            </a:extLst>
          </p:cNvPr>
          <p:cNvSpPr>
            <a:spLocks noGrp="1"/>
          </p:cNvSpPr>
          <p:nvPr/>
        </p:nvSpPr>
        <p:spPr>
          <a:xfrm>
            <a:off x="8534400" y="2028825"/>
            <a:ext cx="2905125" cy="790575"/>
          </a:xfrm>
          <a:prstGeom prst="rect">
            <a:avLst/>
          </a:prstGeom>
          <a:noFill/>
          <a:ln w="0">
            <a:noFill/>
            <a:prstDash val="solid"/>
          </a:ln>
        </p:spPr>
        <p:txBody>
          <a:bodyPr anchor="ctr"/>
          <a:lstStyle/>
          <a:p>
            <a:pPr algn="l">
              <a:defRPr sz="1350" b="0">
                <a:solidFill>
                  <a:srgbClr val="183544"/>
                </a:solidFill>
              </a:defRPr>
            </a:pPr>
            <a:r>
              <a:rPr sz="1350" b="0">
                <a:solidFill>
                  <a:srgbClr val="183544"/>
                </a:solidFill>
              </a:rPr>
              <a:t>adjust parameters to reduce error</a:t>
            </a:r>
          </a:p>
        </p:txBody>
      </p:sp>
      <p:sp>
        <p:nvSpPr>
          <p:cNvPr id="18" name="Rectangle: Rounded Corners 17">
            <a:extLst>
              <a:ext uri="{FF2B5EF4-FFF2-40B4-BE49-F238E27FC236}">
                <a16:creationId xmlns:a16="http://schemas.microsoft.com/office/drawing/2014/main" id="{6B83FA20-7CD9-4C37-810F-B773F26C7E95}"/>
              </a:ext>
            </a:extLst>
          </p:cNvPr>
          <p:cNvSpPr>
            <a:spLocks noGrp="1"/>
          </p:cNvSpPr>
          <p:nvPr/>
        </p:nvSpPr>
        <p:spPr>
          <a:xfrm>
            <a:off x="857250" y="3429000"/>
            <a:ext cx="3333750" cy="1476375"/>
          </a:xfrm>
          <a:prstGeom prst="roundRect">
            <a:avLst>
              <a:gd name="adj" fmla="val 5161"/>
            </a:avLst>
          </a:prstGeom>
          <a:solidFill>
            <a:srgbClr val="FFFFFF"/>
          </a:solidFill>
          <a:ln w="9525">
            <a:solidFill>
              <a:srgbClr val="CED9DB"/>
            </a:solidFill>
            <a:prstDash val="solid"/>
          </a:ln>
        </p:spPr>
        <p:txBody>
          <a:bodyPr/>
          <a:lstStyle/>
          <a:p>
            <a:endParaRPr lang="en-IQ"/>
          </a:p>
        </p:txBody>
      </p:sp>
      <p:sp>
        <p:nvSpPr>
          <p:cNvPr id="19" name="Rectangle 18">
            <a:extLst>
              <a:ext uri="{FF2B5EF4-FFF2-40B4-BE49-F238E27FC236}">
                <a16:creationId xmlns:a16="http://schemas.microsoft.com/office/drawing/2014/main" id="{868B9189-B60D-45D9-BC6E-EFBA1165E906}"/>
              </a:ext>
            </a:extLst>
          </p:cNvPr>
          <p:cNvSpPr>
            <a:spLocks noGrp="1"/>
          </p:cNvSpPr>
          <p:nvPr/>
        </p:nvSpPr>
        <p:spPr>
          <a:xfrm>
            <a:off x="857250" y="3429000"/>
            <a:ext cx="76200" cy="1476375"/>
          </a:xfrm>
          <a:prstGeom prst="rect">
            <a:avLst/>
          </a:prstGeom>
          <a:solidFill>
            <a:srgbClr val="0B9B91"/>
          </a:solidFill>
          <a:ln w="0">
            <a:solidFill>
              <a:srgbClr val="0B9B91"/>
            </a:solidFill>
            <a:prstDash val="solid"/>
          </a:ln>
        </p:spPr>
        <p:txBody>
          <a:bodyPr/>
          <a:lstStyle/>
          <a:p>
            <a:endParaRPr lang="en-IQ"/>
          </a:p>
        </p:txBody>
      </p:sp>
      <p:sp>
        <p:nvSpPr>
          <p:cNvPr id="20" name="Rectangle 19">
            <a:extLst>
              <a:ext uri="{FF2B5EF4-FFF2-40B4-BE49-F238E27FC236}">
                <a16:creationId xmlns:a16="http://schemas.microsoft.com/office/drawing/2014/main" id="{1316E020-B489-45D7-AB91-EA8506C55F0D}"/>
              </a:ext>
            </a:extLst>
          </p:cNvPr>
          <p:cNvSpPr>
            <a:spLocks noGrp="1"/>
          </p:cNvSpPr>
          <p:nvPr/>
        </p:nvSpPr>
        <p:spPr>
          <a:xfrm>
            <a:off x="1104900" y="3571875"/>
            <a:ext cx="2933700" cy="342900"/>
          </a:xfrm>
          <a:prstGeom prst="rect">
            <a:avLst/>
          </a:prstGeom>
          <a:noFill/>
          <a:ln w="0">
            <a:noFill/>
            <a:prstDash val="solid"/>
          </a:ln>
        </p:spPr>
        <p:txBody>
          <a:bodyPr anchor="ctr"/>
          <a:lstStyle/>
          <a:p>
            <a:pPr algn="l">
              <a:defRPr sz="1650" b="1">
                <a:solidFill>
                  <a:srgbClr val="0B9B91"/>
                </a:solidFill>
              </a:defRPr>
            </a:pPr>
            <a:r>
              <a:rPr sz="1650" b="1">
                <a:solidFill>
                  <a:srgbClr val="0B9B91"/>
                </a:solidFill>
              </a:rPr>
              <a:t>Software</a:t>
            </a:r>
          </a:p>
        </p:txBody>
      </p:sp>
      <p:sp>
        <p:nvSpPr>
          <p:cNvPr id="21" name="Rectangle 20">
            <a:extLst>
              <a:ext uri="{FF2B5EF4-FFF2-40B4-BE49-F238E27FC236}">
                <a16:creationId xmlns:a16="http://schemas.microsoft.com/office/drawing/2014/main" id="{6D83D917-3456-4139-A632-2540F2517F84}"/>
              </a:ext>
            </a:extLst>
          </p:cNvPr>
          <p:cNvSpPr>
            <a:spLocks noGrp="1"/>
          </p:cNvSpPr>
          <p:nvPr/>
        </p:nvSpPr>
        <p:spPr>
          <a:xfrm>
            <a:off x="1104900" y="3981450"/>
            <a:ext cx="2905125" cy="790575"/>
          </a:xfrm>
          <a:prstGeom prst="rect">
            <a:avLst/>
          </a:prstGeom>
          <a:noFill/>
          <a:ln w="0">
            <a:noFill/>
            <a:prstDash val="solid"/>
          </a:ln>
        </p:spPr>
        <p:txBody>
          <a:bodyPr anchor="ctr"/>
          <a:lstStyle/>
          <a:p>
            <a:pPr algn="l">
              <a:defRPr sz="1350" b="0">
                <a:solidFill>
                  <a:srgbClr val="183544"/>
                </a:solidFill>
              </a:defRPr>
            </a:pPr>
            <a:r>
              <a:rPr sz="1350" b="0">
                <a:solidFill>
                  <a:srgbClr val="183544"/>
                </a:solidFill>
              </a:rPr>
              <a:t>select tests and features</a:t>
            </a:r>
          </a:p>
        </p:txBody>
      </p:sp>
      <p:sp>
        <p:nvSpPr>
          <p:cNvPr id="22" name="Rectangle: Rounded Corners 21">
            <a:extLst>
              <a:ext uri="{FF2B5EF4-FFF2-40B4-BE49-F238E27FC236}">
                <a16:creationId xmlns:a16="http://schemas.microsoft.com/office/drawing/2014/main" id="{118BEBD2-D23B-4112-BD26-9F0D84A97E7B}"/>
              </a:ext>
            </a:extLst>
          </p:cNvPr>
          <p:cNvSpPr>
            <a:spLocks noGrp="1"/>
          </p:cNvSpPr>
          <p:nvPr/>
        </p:nvSpPr>
        <p:spPr>
          <a:xfrm>
            <a:off x="4572000" y="3429000"/>
            <a:ext cx="3333750" cy="1476375"/>
          </a:xfrm>
          <a:prstGeom prst="roundRect">
            <a:avLst>
              <a:gd name="adj" fmla="val 5161"/>
            </a:avLst>
          </a:prstGeom>
          <a:solidFill>
            <a:srgbClr val="FFFFFF"/>
          </a:solidFill>
          <a:ln w="9525">
            <a:solidFill>
              <a:srgbClr val="CED9DB"/>
            </a:solidFill>
            <a:prstDash val="solid"/>
          </a:ln>
        </p:spPr>
        <p:txBody>
          <a:bodyPr/>
          <a:lstStyle/>
          <a:p>
            <a:endParaRPr lang="en-IQ"/>
          </a:p>
        </p:txBody>
      </p:sp>
      <p:sp>
        <p:nvSpPr>
          <p:cNvPr id="23" name="Rectangle 22">
            <a:extLst>
              <a:ext uri="{FF2B5EF4-FFF2-40B4-BE49-F238E27FC236}">
                <a16:creationId xmlns:a16="http://schemas.microsoft.com/office/drawing/2014/main" id="{7592C175-EDD2-40DE-8340-40554C55628D}"/>
              </a:ext>
            </a:extLst>
          </p:cNvPr>
          <p:cNvSpPr>
            <a:spLocks noGrp="1"/>
          </p:cNvSpPr>
          <p:nvPr/>
        </p:nvSpPr>
        <p:spPr>
          <a:xfrm>
            <a:off x="4572000" y="3429000"/>
            <a:ext cx="76200" cy="1476375"/>
          </a:xfrm>
          <a:prstGeom prst="rect">
            <a:avLst/>
          </a:prstGeom>
          <a:solidFill>
            <a:srgbClr val="2878B5"/>
          </a:solidFill>
          <a:ln w="0">
            <a:solidFill>
              <a:srgbClr val="2878B5"/>
            </a:solidFill>
            <a:prstDash val="solid"/>
          </a:ln>
        </p:spPr>
        <p:txBody>
          <a:bodyPr/>
          <a:lstStyle/>
          <a:p>
            <a:endParaRPr lang="en-IQ"/>
          </a:p>
        </p:txBody>
      </p:sp>
      <p:sp>
        <p:nvSpPr>
          <p:cNvPr id="24" name="Rectangle 23">
            <a:extLst>
              <a:ext uri="{FF2B5EF4-FFF2-40B4-BE49-F238E27FC236}">
                <a16:creationId xmlns:a16="http://schemas.microsoft.com/office/drawing/2014/main" id="{93B22E14-F3E6-4352-8956-8F000D8C60F5}"/>
              </a:ext>
            </a:extLst>
          </p:cNvPr>
          <p:cNvSpPr>
            <a:spLocks noGrp="1"/>
          </p:cNvSpPr>
          <p:nvPr/>
        </p:nvSpPr>
        <p:spPr>
          <a:xfrm>
            <a:off x="4819650" y="3571875"/>
            <a:ext cx="2933700" cy="342900"/>
          </a:xfrm>
          <a:prstGeom prst="rect">
            <a:avLst/>
          </a:prstGeom>
          <a:noFill/>
          <a:ln w="0">
            <a:noFill/>
            <a:prstDash val="solid"/>
          </a:ln>
        </p:spPr>
        <p:txBody>
          <a:bodyPr anchor="ctr"/>
          <a:lstStyle/>
          <a:p>
            <a:pPr algn="l">
              <a:defRPr sz="1650" b="1">
                <a:solidFill>
                  <a:srgbClr val="2878B5"/>
                </a:solidFill>
              </a:defRPr>
            </a:pPr>
            <a:r>
              <a:rPr sz="1650" b="1">
                <a:solidFill>
                  <a:srgbClr val="2878B5"/>
                </a:solidFill>
              </a:rPr>
              <a:t>Security</a:t>
            </a:r>
          </a:p>
        </p:txBody>
      </p:sp>
      <p:sp>
        <p:nvSpPr>
          <p:cNvPr id="25" name="Rectangle 24">
            <a:extLst>
              <a:ext uri="{FF2B5EF4-FFF2-40B4-BE49-F238E27FC236}">
                <a16:creationId xmlns:a16="http://schemas.microsoft.com/office/drawing/2014/main" id="{F70AED10-4E6E-4F57-98EB-F84CAB1B9B7F}"/>
              </a:ext>
            </a:extLst>
          </p:cNvPr>
          <p:cNvSpPr>
            <a:spLocks noGrp="1"/>
          </p:cNvSpPr>
          <p:nvPr/>
        </p:nvSpPr>
        <p:spPr>
          <a:xfrm>
            <a:off x="4819650" y="3981450"/>
            <a:ext cx="2905125" cy="790575"/>
          </a:xfrm>
          <a:prstGeom prst="rect">
            <a:avLst/>
          </a:prstGeom>
          <a:noFill/>
          <a:ln w="0">
            <a:noFill/>
            <a:prstDash val="solid"/>
          </a:ln>
        </p:spPr>
        <p:txBody>
          <a:bodyPr anchor="ctr"/>
          <a:lstStyle/>
          <a:p>
            <a:pPr algn="l">
              <a:defRPr sz="1350" b="0">
                <a:solidFill>
                  <a:srgbClr val="183544"/>
                </a:solidFill>
              </a:defRPr>
            </a:pPr>
            <a:r>
              <a:rPr sz="1350" b="0">
                <a:solidFill>
                  <a:srgbClr val="183544"/>
                </a:solidFill>
              </a:rPr>
              <a:t>allocate limited defenses</a:t>
            </a:r>
          </a:p>
        </p:txBody>
      </p:sp>
      <p:sp>
        <p:nvSpPr>
          <p:cNvPr id="26" name="Rectangle: Rounded Corners 25">
            <a:extLst>
              <a:ext uri="{FF2B5EF4-FFF2-40B4-BE49-F238E27FC236}">
                <a16:creationId xmlns:a16="http://schemas.microsoft.com/office/drawing/2014/main" id="{0218EA00-3FE5-4177-A776-483FDD214954}"/>
              </a:ext>
            </a:extLst>
          </p:cNvPr>
          <p:cNvSpPr>
            <a:spLocks noGrp="1"/>
          </p:cNvSpPr>
          <p:nvPr/>
        </p:nvSpPr>
        <p:spPr>
          <a:xfrm>
            <a:off x="8286750" y="3429000"/>
            <a:ext cx="3333750" cy="1476375"/>
          </a:xfrm>
          <a:prstGeom prst="roundRect">
            <a:avLst>
              <a:gd name="adj" fmla="val 5161"/>
            </a:avLst>
          </a:prstGeom>
          <a:solidFill>
            <a:srgbClr val="FFFFFF"/>
          </a:solidFill>
          <a:ln w="9525">
            <a:solidFill>
              <a:srgbClr val="CED9DB"/>
            </a:solidFill>
            <a:prstDash val="solid"/>
          </a:ln>
        </p:spPr>
        <p:txBody>
          <a:bodyPr/>
          <a:lstStyle/>
          <a:p>
            <a:endParaRPr lang="en-IQ"/>
          </a:p>
        </p:txBody>
      </p:sp>
      <p:sp>
        <p:nvSpPr>
          <p:cNvPr id="27" name="Rectangle 26">
            <a:extLst>
              <a:ext uri="{FF2B5EF4-FFF2-40B4-BE49-F238E27FC236}">
                <a16:creationId xmlns:a16="http://schemas.microsoft.com/office/drawing/2014/main" id="{1ED3E61F-D619-4133-8473-B8C944AD60EC}"/>
              </a:ext>
            </a:extLst>
          </p:cNvPr>
          <p:cNvSpPr>
            <a:spLocks noGrp="1"/>
          </p:cNvSpPr>
          <p:nvPr/>
        </p:nvSpPr>
        <p:spPr>
          <a:xfrm>
            <a:off x="8286750" y="3429000"/>
            <a:ext cx="76200" cy="1476375"/>
          </a:xfrm>
          <a:prstGeom prst="rect">
            <a:avLst/>
          </a:prstGeom>
          <a:solidFill>
            <a:srgbClr val="F2A93B"/>
          </a:solidFill>
          <a:ln w="0">
            <a:solidFill>
              <a:srgbClr val="F2A93B"/>
            </a:solidFill>
            <a:prstDash val="solid"/>
          </a:ln>
        </p:spPr>
        <p:txBody>
          <a:bodyPr/>
          <a:lstStyle/>
          <a:p>
            <a:endParaRPr lang="en-IQ"/>
          </a:p>
        </p:txBody>
      </p:sp>
      <p:sp>
        <p:nvSpPr>
          <p:cNvPr id="28" name="Rectangle 27">
            <a:extLst>
              <a:ext uri="{FF2B5EF4-FFF2-40B4-BE49-F238E27FC236}">
                <a16:creationId xmlns:a16="http://schemas.microsoft.com/office/drawing/2014/main" id="{823ECDB0-A2E6-4F22-A72A-B917860928B2}"/>
              </a:ext>
            </a:extLst>
          </p:cNvPr>
          <p:cNvSpPr>
            <a:spLocks noGrp="1"/>
          </p:cNvSpPr>
          <p:nvPr/>
        </p:nvSpPr>
        <p:spPr>
          <a:xfrm>
            <a:off x="8534400" y="3571875"/>
            <a:ext cx="2933700" cy="342900"/>
          </a:xfrm>
          <a:prstGeom prst="rect">
            <a:avLst/>
          </a:prstGeom>
          <a:noFill/>
          <a:ln w="0">
            <a:noFill/>
            <a:prstDash val="solid"/>
          </a:ln>
        </p:spPr>
        <p:txBody>
          <a:bodyPr anchor="ctr"/>
          <a:lstStyle/>
          <a:p>
            <a:pPr algn="l">
              <a:defRPr sz="1650" b="1">
                <a:solidFill>
                  <a:srgbClr val="F2A93B"/>
                </a:solidFill>
              </a:defRPr>
            </a:pPr>
            <a:r>
              <a:rPr sz="1650" b="1">
                <a:solidFill>
                  <a:srgbClr val="F2A93B"/>
                </a:solidFill>
              </a:rPr>
              <a:t>Scheduling</a:t>
            </a:r>
          </a:p>
        </p:txBody>
      </p:sp>
      <p:sp>
        <p:nvSpPr>
          <p:cNvPr id="29" name="Rectangle 28">
            <a:extLst>
              <a:ext uri="{FF2B5EF4-FFF2-40B4-BE49-F238E27FC236}">
                <a16:creationId xmlns:a16="http://schemas.microsoft.com/office/drawing/2014/main" id="{F863DE54-3E8E-41C3-9E63-9E70E8AC1ADB}"/>
              </a:ext>
            </a:extLst>
          </p:cNvPr>
          <p:cNvSpPr>
            <a:spLocks noGrp="1"/>
          </p:cNvSpPr>
          <p:nvPr/>
        </p:nvSpPr>
        <p:spPr>
          <a:xfrm>
            <a:off x="8534400" y="3981450"/>
            <a:ext cx="2905125" cy="790575"/>
          </a:xfrm>
          <a:prstGeom prst="rect">
            <a:avLst/>
          </a:prstGeom>
          <a:noFill/>
          <a:ln w="0">
            <a:noFill/>
            <a:prstDash val="solid"/>
          </a:ln>
        </p:spPr>
        <p:txBody>
          <a:bodyPr anchor="ctr"/>
          <a:lstStyle/>
          <a:p>
            <a:pPr algn="l">
              <a:defRPr sz="1350" b="0">
                <a:solidFill>
                  <a:srgbClr val="183544"/>
                </a:solidFill>
              </a:defRPr>
            </a:pPr>
            <a:r>
              <a:rPr sz="1350" b="0">
                <a:solidFill>
                  <a:srgbClr val="183544"/>
                </a:solidFill>
              </a:rPr>
              <a:t>assign tasks, rooms and time</a:t>
            </a:r>
          </a:p>
        </p:txBody>
      </p:sp>
    </p:spTree>
    <p:extLst>
      <p:ext uri="{BB962C8B-B14F-4D97-AF65-F5344CB8AC3E}">
        <p14:creationId xmlns:p14="http://schemas.microsoft.com/office/powerpoint/2010/main" val="8550465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36EA89B-E3BC-4109-9899-EA5AED5E74C0}"/>
              </a:ext>
            </a:extLst>
          </p:cNvPr>
          <p:cNvSpPr>
            <a:spLocks noGrp="1"/>
          </p:cNvSpPr>
          <p:nvPr/>
        </p:nvSpPr>
        <p:spPr>
          <a:xfrm>
            <a:off x="609600" y="285750"/>
            <a:ext cx="66675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JAVA ORIENTATION</a:t>
            </a:r>
          </a:p>
        </p:txBody>
      </p:sp>
      <p:sp>
        <p:nvSpPr>
          <p:cNvPr id="2" name="Rectangle 1">
            <a:extLst>
              <a:ext uri="{FF2B5EF4-FFF2-40B4-BE49-F238E27FC236}">
                <a16:creationId xmlns:a16="http://schemas.microsoft.com/office/drawing/2014/main" id="{149DE18E-A000-446C-8B10-A277BE5E6248}"/>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In Java, keep the problem separate from the search</a:t>
            </a:r>
          </a:p>
        </p:txBody>
      </p:sp>
      <p:sp>
        <p:nvSpPr>
          <p:cNvPr id="3" name="Rectangle 2">
            <a:extLst>
              <a:ext uri="{FF2B5EF4-FFF2-40B4-BE49-F238E27FC236}">
                <a16:creationId xmlns:a16="http://schemas.microsoft.com/office/drawing/2014/main" id="{5BD08BC0-9296-4A92-B916-5B9F46C53A98}"/>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EA5F4AEE-64DB-436E-B91E-2C76A9757405}"/>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0</a:t>
            </a:r>
          </a:p>
        </p:txBody>
      </p:sp>
      <p:sp>
        <p:nvSpPr>
          <p:cNvPr id="5" name="Rectangle 4">
            <a:extLst>
              <a:ext uri="{FF2B5EF4-FFF2-40B4-BE49-F238E27FC236}">
                <a16:creationId xmlns:a16="http://schemas.microsoft.com/office/drawing/2014/main" id="{54BF01C1-9512-4ACF-A4BF-97B7B40B1137}"/>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18</a:t>
            </a:r>
          </a:p>
        </p:txBody>
      </p:sp>
      <p:sp>
        <p:nvSpPr>
          <p:cNvPr id="6" name="Rectangle: Rounded Corners 5">
            <a:extLst>
              <a:ext uri="{FF2B5EF4-FFF2-40B4-BE49-F238E27FC236}">
                <a16:creationId xmlns:a16="http://schemas.microsoft.com/office/drawing/2014/main" id="{8AA9808B-CA72-4A69-BDFD-941F322C16B6}"/>
              </a:ext>
            </a:extLst>
          </p:cNvPr>
          <p:cNvSpPr>
            <a:spLocks noGrp="1"/>
          </p:cNvSpPr>
          <p:nvPr/>
        </p:nvSpPr>
        <p:spPr>
          <a:xfrm>
            <a:off x="857250" y="1619250"/>
            <a:ext cx="4762500" cy="3714750"/>
          </a:xfrm>
          <a:prstGeom prst="roundRect">
            <a:avLst>
              <a:gd name="adj" fmla="val 2051"/>
            </a:avLst>
          </a:prstGeom>
          <a:solidFill>
            <a:srgbClr val="071C28"/>
          </a:solidFill>
          <a:ln w="0">
            <a:solidFill>
              <a:srgbClr val="071C28"/>
            </a:solidFill>
            <a:prstDash val="solid"/>
          </a:ln>
        </p:spPr>
        <p:txBody>
          <a:bodyPr/>
          <a:lstStyle/>
          <a:p>
            <a:endParaRPr lang="en-IQ"/>
          </a:p>
        </p:txBody>
      </p:sp>
      <p:sp>
        <p:nvSpPr>
          <p:cNvPr id="7" name="Rectangle 6">
            <a:extLst>
              <a:ext uri="{FF2B5EF4-FFF2-40B4-BE49-F238E27FC236}">
                <a16:creationId xmlns:a16="http://schemas.microsoft.com/office/drawing/2014/main" id="{58722A8F-A206-4A40-99A1-0F53AF46D7A4}"/>
              </a:ext>
            </a:extLst>
          </p:cNvPr>
          <p:cNvSpPr>
            <a:spLocks noGrp="1"/>
          </p:cNvSpPr>
          <p:nvPr/>
        </p:nvSpPr>
        <p:spPr>
          <a:xfrm>
            <a:off x="1285875" y="2000250"/>
            <a:ext cx="3905250" cy="2857500"/>
          </a:xfrm>
          <a:prstGeom prst="rect">
            <a:avLst/>
          </a:prstGeom>
          <a:noFill/>
          <a:ln w="0">
            <a:noFill/>
            <a:prstDash val="solid"/>
          </a:ln>
        </p:spPr>
        <p:txBody>
          <a:bodyPr anchor="ctr"/>
          <a:lstStyle/>
          <a:p>
            <a:pPr algn="l">
              <a:defRPr sz="1800" b="0">
                <a:solidFill>
                  <a:srgbClr val="E4F1F3"/>
                </a:solidFill>
              </a:defRPr>
            </a:pPr>
            <a:r>
              <a:rPr sz="1800" b="0">
                <a:solidFill>
                  <a:srgbClr val="E4F1F3"/>
                </a:solidFill>
              </a:rPr>
              <a:t>ProblemData</a:t>
            </a:r>
          </a:p>
          <a:p>
            <a:pPr algn="l">
              <a:defRPr sz="1800" b="0">
                <a:solidFill>
                  <a:srgbClr val="E4F1F3"/>
                </a:solidFill>
              </a:defRPr>
            </a:pPr>
            <a:r>
              <a:rPr sz="1800" b="0">
                <a:solidFill>
                  <a:srgbClr val="E4F1F3"/>
                </a:solidFill>
              </a:rPr>
              <a:t>Candidate</a:t>
            </a:r>
          </a:p>
          <a:p>
            <a:pPr algn="l">
              <a:defRPr sz="1800" b="0">
                <a:solidFill>
                  <a:srgbClr val="E4F1F3"/>
                </a:solidFill>
              </a:defRPr>
            </a:pPr>
            <a:r>
              <a:rPr sz="1800" b="0">
                <a:solidFill>
                  <a:srgbClr val="E4F1F3"/>
                </a:solidFill>
              </a:rPr>
              <a:t>Evaluation</a:t>
            </a:r>
          </a:p>
          <a:p>
            <a:pPr algn="l">
              <a:defRPr sz="1800" b="0">
                <a:solidFill>
                  <a:srgbClr val="E4F1F3"/>
                </a:solidFill>
              </a:defRPr>
            </a:pPr>
            <a:r>
              <a:rPr sz="1800" b="0">
                <a:solidFill>
                  <a:srgbClr val="E4F1F3"/>
                </a:solidFill>
              </a:rPr>
              <a:t>Evaluator</a:t>
            </a:r>
          </a:p>
          <a:p>
            <a:pPr algn="l">
              <a:defRPr sz="1800" b="0">
                <a:solidFill>
                  <a:srgbClr val="E4F1F3"/>
                </a:solidFill>
              </a:defRPr>
            </a:pPr>
            <a:r>
              <a:rPr sz="1800" b="0">
                <a:solidFill>
                  <a:srgbClr val="E4F1F3"/>
                </a:solidFill>
              </a:rPr>
              <a:t>SearchMethod</a:t>
            </a:r>
          </a:p>
          <a:p>
            <a:pPr algn="l">
              <a:defRPr sz="1800" b="0">
                <a:solidFill>
                  <a:srgbClr val="E4F1F3"/>
                </a:solidFill>
              </a:defRPr>
            </a:pPr>
            <a:r>
              <a:rPr sz="1800" b="0">
                <a:solidFill>
                  <a:srgbClr val="E4F1F3"/>
                </a:solidFill>
              </a:rPr>
              <a:t>ExperimentRunner</a:t>
            </a:r>
          </a:p>
        </p:txBody>
      </p:sp>
      <p:sp>
        <p:nvSpPr>
          <p:cNvPr id="8" name="Oval 7">
            <a:extLst>
              <a:ext uri="{FF2B5EF4-FFF2-40B4-BE49-F238E27FC236}">
                <a16:creationId xmlns:a16="http://schemas.microsoft.com/office/drawing/2014/main" id="{EA62DADD-894D-4BFF-A7CE-7793232A459F}"/>
              </a:ext>
            </a:extLst>
          </p:cNvPr>
          <p:cNvSpPr>
            <a:spLocks noGrp="1"/>
          </p:cNvSpPr>
          <p:nvPr/>
        </p:nvSpPr>
        <p:spPr>
          <a:xfrm>
            <a:off x="6477000" y="1857375"/>
            <a:ext cx="114300" cy="114300"/>
          </a:xfrm>
          <a:prstGeom prst="ellipse">
            <a:avLst/>
          </a:prstGeom>
          <a:solidFill>
            <a:srgbClr val="0B9B91"/>
          </a:solidFill>
          <a:ln w="0">
            <a:solidFill>
              <a:srgbClr val="0B9B91"/>
            </a:solidFill>
            <a:prstDash val="solid"/>
          </a:ln>
        </p:spPr>
        <p:txBody>
          <a:bodyPr/>
          <a:lstStyle/>
          <a:p>
            <a:endParaRPr lang="en-IQ"/>
          </a:p>
        </p:txBody>
      </p:sp>
      <p:sp>
        <p:nvSpPr>
          <p:cNvPr id="9" name="Rectangle 8">
            <a:extLst>
              <a:ext uri="{FF2B5EF4-FFF2-40B4-BE49-F238E27FC236}">
                <a16:creationId xmlns:a16="http://schemas.microsoft.com/office/drawing/2014/main" id="{7D5D6D8A-7195-4C55-970D-1255F5560252}"/>
              </a:ext>
            </a:extLst>
          </p:cNvPr>
          <p:cNvSpPr>
            <a:spLocks noGrp="1"/>
          </p:cNvSpPr>
          <p:nvPr/>
        </p:nvSpPr>
        <p:spPr>
          <a:xfrm>
            <a:off x="6753225" y="1666875"/>
            <a:ext cx="4200525" cy="723900"/>
          </a:xfrm>
          <a:prstGeom prst="rect">
            <a:avLst/>
          </a:prstGeom>
          <a:noFill/>
          <a:ln w="0">
            <a:noFill/>
            <a:prstDash val="solid"/>
          </a:ln>
        </p:spPr>
        <p:txBody>
          <a:bodyPr anchor="ctr"/>
          <a:lstStyle/>
          <a:p>
            <a:pPr algn="l">
              <a:defRPr sz="1500" b="0">
                <a:solidFill>
                  <a:srgbClr val="183544"/>
                </a:solidFill>
              </a:defRPr>
            </a:pPr>
            <a:r>
              <a:rPr sz="1500" b="0">
                <a:solidFill>
                  <a:srgbClr val="183544"/>
                </a:solidFill>
              </a:rPr>
              <a:t>data describe the instance</a:t>
            </a:r>
          </a:p>
        </p:txBody>
      </p:sp>
      <p:sp>
        <p:nvSpPr>
          <p:cNvPr id="10" name="Oval 9">
            <a:extLst>
              <a:ext uri="{FF2B5EF4-FFF2-40B4-BE49-F238E27FC236}">
                <a16:creationId xmlns:a16="http://schemas.microsoft.com/office/drawing/2014/main" id="{F4C79B71-1FA3-45DB-AEB5-B6D74A5CFD91}"/>
              </a:ext>
            </a:extLst>
          </p:cNvPr>
          <p:cNvSpPr>
            <a:spLocks noGrp="1"/>
          </p:cNvSpPr>
          <p:nvPr/>
        </p:nvSpPr>
        <p:spPr>
          <a:xfrm>
            <a:off x="6477000" y="2581275"/>
            <a:ext cx="114300" cy="114300"/>
          </a:xfrm>
          <a:prstGeom prst="ellipse">
            <a:avLst/>
          </a:prstGeom>
          <a:solidFill>
            <a:srgbClr val="0B9B91"/>
          </a:solidFill>
          <a:ln w="0">
            <a:solidFill>
              <a:srgbClr val="0B9B91"/>
            </a:solidFill>
            <a:prstDash val="solid"/>
          </a:ln>
        </p:spPr>
        <p:txBody>
          <a:bodyPr/>
          <a:lstStyle/>
          <a:p>
            <a:endParaRPr lang="en-IQ"/>
          </a:p>
        </p:txBody>
      </p:sp>
      <p:sp>
        <p:nvSpPr>
          <p:cNvPr id="11" name="Rectangle 10">
            <a:extLst>
              <a:ext uri="{FF2B5EF4-FFF2-40B4-BE49-F238E27FC236}">
                <a16:creationId xmlns:a16="http://schemas.microsoft.com/office/drawing/2014/main" id="{CE002A05-01AB-49BA-99CC-38415D47672F}"/>
              </a:ext>
            </a:extLst>
          </p:cNvPr>
          <p:cNvSpPr>
            <a:spLocks noGrp="1"/>
          </p:cNvSpPr>
          <p:nvPr/>
        </p:nvSpPr>
        <p:spPr>
          <a:xfrm>
            <a:off x="6753225" y="2390775"/>
            <a:ext cx="4200525" cy="723900"/>
          </a:xfrm>
          <a:prstGeom prst="rect">
            <a:avLst/>
          </a:prstGeom>
          <a:noFill/>
          <a:ln w="0">
            <a:noFill/>
            <a:prstDash val="solid"/>
          </a:ln>
        </p:spPr>
        <p:txBody>
          <a:bodyPr anchor="ctr"/>
          <a:lstStyle/>
          <a:p>
            <a:pPr algn="l">
              <a:defRPr sz="1500" b="0">
                <a:solidFill>
                  <a:srgbClr val="183544"/>
                </a:solidFill>
              </a:defRPr>
            </a:pPr>
            <a:r>
              <a:rPr sz="1500" b="0">
                <a:solidFill>
                  <a:srgbClr val="183544"/>
                </a:solidFill>
              </a:rPr>
              <a:t>candidate stores decisions</a:t>
            </a:r>
          </a:p>
        </p:txBody>
      </p:sp>
      <p:sp>
        <p:nvSpPr>
          <p:cNvPr id="12" name="Oval 11">
            <a:extLst>
              <a:ext uri="{FF2B5EF4-FFF2-40B4-BE49-F238E27FC236}">
                <a16:creationId xmlns:a16="http://schemas.microsoft.com/office/drawing/2014/main" id="{14F4282E-2FF8-43F0-9C57-5D042F27E749}"/>
              </a:ext>
            </a:extLst>
          </p:cNvPr>
          <p:cNvSpPr>
            <a:spLocks noGrp="1"/>
          </p:cNvSpPr>
          <p:nvPr/>
        </p:nvSpPr>
        <p:spPr>
          <a:xfrm>
            <a:off x="6477000" y="3305175"/>
            <a:ext cx="114300" cy="114300"/>
          </a:xfrm>
          <a:prstGeom prst="ellipse">
            <a:avLst/>
          </a:prstGeom>
          <a:solidFill>
            <a:srgbClr val="0B9B91"/>
          </a:solidFill>
          <a:ln w="0">
            <a:solidFill>
              <a:srgbClr val="0B9B91"/>
            </a:solidFill>
            <a:prstDash val="solid"/>
          </a:ln>
        </p:spPr>
        <p:txBody>
          <a:bodyPr/>
          <a:lstStyle/>
          <a:p>
            <a:endParaRPr lang="en-IQ"/>
          </a:p>
        </p:txBody>
      </p:sp>
      <p:sp>
        <p:nvSpPr>
          <p:cNvPr id="13" name="Rectangle 12">
            <a:extLst>
              <a:ext uri="{FF2B5EF4-FFF2-40B4-BE49-F238E27FC236}">
                <a16:creationId xmlns:a16="http://schemas.microsoft.com/office/drawing/2014/main" id="{95432B58-D88C-4F13-AF3F-A18226670430}"/>
              </a:ext>
            </a:extLst>
          </p:cNvPr>
          <p:cNvSpPr>
            <a:spLocks noGrp="1"/>
          </p:cNvSpPr>
          <p:nvPr/>
        </p:nvSpPr>
        <p:spPr>
          <a:xfrm>
            <a:off x="6753225" y="3114675"/>
            <a:ext cx="4200525" cy="723900"/>
          </a:xfrm>
          <a:prstGeom prst="rect">
            <a:avLst/>
          </a:prstGeom>
          <a:noFill/>
          <a:ln w="0">
            <a:noFill/>
            <a:prstDash val="solid"/>
          </a:ln>
        </p:spPr>
        <p:txBody>
          <a:bodyPr anchor="ctr"/>
          <a:lstStyle/>
          <a:p>
            <a:pPr algn="l">
              <a:defRPr sz="1500" b="0">
                <a:solidFill>
                  <a:srgbClr val="183544"/>
                </a:solidFill>
              </a:defRPr>
            </a:pPr>
            <a:r>
              <a:rPr sz="1500" b="0">
                <a:solidFill>
                  <a:srgbClr val="183544"/>
                </a:solidFill>
              </a:rPr>
              <a:t>evaluator checks and measures</a:t>
            </a:r>
          </a:p>
        </p:txBody>
      </p:sp>
      <p:sp>
        <p:nvSpPr>
          <p:cNvPr id="14" name="Oval 13">
            <a:extLst>
              <a:ext uri="{FF2B5EF4-FFF2-40B4-BE49-F238E27FC236}">
                <a16:creationId xmlns:a16="http://schemas.microsoft.com/office/drawing/2014/main" id="{FB248713-B7C5-4927-9653-5AFDBE6FC6A4}"/>
              </a:ext>
            </a:extLst>
          </p:cNvPr>
          <p:cNvSpPr>
            <a:spLocks noGrp="1"/>
          </p:cNvSpPr>
          <p:nvPr/>
        </p:nvSpPr>
        <p:spPr>
          <a:xfrm>
            <a:off x="6477000" y="4029075"/>
            <a:ext cx="114300" cy="114300"/>
          </a:xfrm>
          <a:prstGeom prst="ellipse">
            <a:avLst/>
          </a:prstGeom>
          <a:solidFill>
            <a:srgbClr val="0B9B91"/>
          </a:solidFill>
          <a:ln w="0">
            <a:solidFill>
              <a:srgbClr val="0B9B91"/>
            </a:solidFill>
            <a:prstDash val="solid"/>
          </a:ln>
        </p:spPr>
        <p:txBody>
          <a:bodyPr/>
          <a:lstStyle/>
          <a:p>
            <a:endParaRPr lang="en-IQ"/>
          </a:p>
        </p:txBody>
      </p:sp>
      <p:sp>
        <p:nvSpPr>
          <p:cNvPr id="15" name="Rectangle 14">
            <a:extLst>
              <a:ext uri="{FF2B5EF4-FFF2-40B4-BE49-F238E27FC236}">
                <a16:creationId xmlns:a16="http://schemas.microsoft.com/office/drawing/2014/main" id="{452C35D5-64FF-4A5A-8737-8897E5B89B42}"/>
              </a:ext>
            </a:extLst>
          </p:cNvPr>
          <p:cNvSpPr>
            <a:spLocks noGrp="1"/>
          </p:cNvSpPr>
          <p:nvPr/>
        </p:nvSpPr>
        <p:spPr>
          <a:xfrm>
            <a:off x="6753225" y="3838575"/>
            <a:ext cx="4200525" cy="723900"/>
          </a:xfrm>
          <a:prstGeom prst="rect">
            <a:avLst/>
          </a:prstGeom>
          <a:noFill/>
          <a:ln w="0">
            <a:noFill/>
            <a:prstDash val="solid"/>
          </a:ln>
        </p:spPr>
        <p:txBody>
          <a:bodyPr anchor="ctr"/>
          <a:lstStyle/>
          <a:p>
            <a:pPr algn="l">
              <a:defRPr sz="1500" b="0">
                <a:solidFill>
                  <a:srgbClr val="183544"/>
                </a:solidFill>
              </a:defRPr>
            </a:pPr>
            <a:r>
              <a:rPr sz="1500" b="0">
                <a:solidFill>
                  <a:srgbClr val="183544"/>
                </a:solidFill>
              </a:rPr>
              <a:t>search method explores</a:t>
            </a:r>
          </a:p>
        </p:txBody>
      </p:sp>
      <p:sp>
        <p:nvSpPr>
          <p:cNvPr id="16" name="Oval 15">
            <a:extLst>
              <a:ext uri="{FF2B5EF4-FFF2-40B4-BE49-F238E27FC236}">
                <a16:creationId xmlns:a16="http://schemas.microsoft.com/office/drawing/2014/main" id="{71FDD2A7-5762-4B2E-B69D-C87AC8475FF0}"/>
              </a:ext>
            </a:extLst>
          </p:cNvPr>
          <p:cNvSpPr>
            <a:spLocks noGrp="1"/>
          </p:cNvSpPr>
          <p:nvPr/>
        </p:nvSpPr>
        <p:spPr>
          <a:xfrm>
            <a:off x="6477000" y="4752975"/>
            <a:ext cx="114300" cy="114300"/>
          </a:xfrm>
          <a:prstGeom prst="ellipse">
            <a:avLst/>
          </a:prstGeom>
          <a:solidFill>
            <a:srgbClr val="0B9B91"/>
          </a:solidFill>
          <a:ln w="0">
            <a:solidFill>
              <a:srgbClr val="0B9B91"/>
            </a:solidFill>
            <a:prstDash val="solid"/>
          </a:ln>
        </p:spPr>
        <p:txBody>
          <a:bodyPr/>
          <a:lstStyle/>
          <a:p>
            <a:endParaRPr lang="en-IQ"/>
          </a:p>
        </p:txBody>
      </p:sp>
      <p:sp>
        <p:nvSpPr>
          <p:cNvPr id="17" name="Rectangle 16">
            <a:extLst>
              <a:ext uri="{FF2B5EF4-FFF2-40B4-BE49-F238E27FC236}">
                <a16:creationId xmlns:a16="http://schemas.microsoft.com/office/drawing/2014/main" id="{8BDAC3FE-A01A-40C2-91DE-A6759ADD79F9}"/>
              </a:ext>
            </a:extLst>
          </p:cNvPr>
          <p:cNvSpPr>
            <a:spLocks noGrp="1"/>
          </p:cNvSpPr>
          <p:nvPr/>
        </p:nvSpPr>
        <p:spPr>
          <a:xfrm>
            <a:off x="6753225" y="4562475"/>
            <a:ext cx="4200525" cy="723900"/>
          </a:xfrm>
          <a:prstGeom prst="rect">
            <a:avLst/>
          </a:prstGeom>
          <a:noFill/>
          <a:ln w="0">
            <a:noFill/>
            <a:prstDash val="solid"/>
          </a:ln>
        </p:spPr>
        <p:txBody>
          <a:bodyPr anchor="ctr"/>
          <a:lstStyle/>
          <a:p>
            <a:pPr algn="l">
              <a:defRPr sz="1500" b="0">
                <a:solidFill>
                  <a:srgbClr val="183544"/>
                </a:solidFill>
              </a:defRPr>
            </a:pPr>
            <a:r>
              <a:rPr sz="1500" b="0">
                <a:solidFill>
                  <a:srgbClr val="183544"/>
                </a:solidFill>
              </a:rPr>
              <a:t>runner records evidence</a:t>
            </a:r>
          </a:p>
        </p:txBody>
      </p:sp>
    </p:spTree>
    <p:extLst>
      <p:ext uri="{BB962C8B-B14F-4D97-AF65-F5344CB8AC3E}">
        <p14:creationId xmlns:p14="http://schemas.microsoft.com/office/powerpoint/2010/main" val="21067656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FC552A9A-E13E-44D0-86AC-AF1ACA4A1A49}"/>
              </a:ext>
            </a:extLst>
          </p:cNvPr>
          <p:cNvSpPr>
            <a:spLocks noGrp="1"/>
          </p:cNvSpPr>
          <p:nvPr/>
        </p:nvSpPr>
        <p:spPr>
          <a:xfrm>
            <a:off x="609600" y="285750"/>
            <a:ext cx="66675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CLASS ACTIVITY</a:t>
            </a:r>
          </a:p>
        </p:txBody>
      </p:sp>
      <p:sp>
        <p:nvSpPr>
          <p:cNvPr id="2" name="Rectangle 1">
            <a:extLst>
              <a:ext uri="{FF2B5EF4-FFF2-40B4-BE49-F238E27FC236}">
                <a16:creationId xmlns:a16="http://schemas.microsoft.com/office/drawing/2014/main" id="{2BB75F0E-5BA7-4523-B485-9213E4E1E956}"/>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Orientation activity: describe, do not solve</a:t>
            </a:r>
          </a:p>
        </p:txBody>
      </p:sp>
      <p:sp>
        <p:nvSpPr>
          <p:cNvPr id="3" name="Rectangle 2">
            <a:extLst>
              <a:ext uri="{FF2B5EF4-FFF2-40B4-BE49-F238E27FC236}">
                <a16:creationId xmlns:a16="http://schemas.microsoft.com/office/drawing/2014/main" id="{9D71FDE7-F5C0-4812-A10C-255E78FC16A9}"/>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E8F31685-35E8-4269-99FC-4011B39D9D30}"/>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0</a:t>
            </a:r>
          </a:p>
        </p:txBody>
      </p:sp>
      <p:sp>
        <p:nvSpPr>
          <p:cNvPr id="5" name="Rectangle 4">
            <a:extLst>
              <a:ext uri="{FF2B5EF4-FFF2-40B4-BE49-F238E27FC236}">
                <a16:creationId xmlns:a16="http://schemas.microsoft.com/office/drawing/2014/main" id="{69E4B04E-966C-4131-9159-23B635497576}"/>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19</a:t>
            </a:r>
          </a:p>
        </p:txBody>
      </p:sp>
      <p:sp>
        <p:nvSpPr>
          <p:cNvPr id="6" name="Rectangle: Rounded Corners 5">
            <a:extLst>
              <a:ext uri="{FF2B5EF4-FFF2-40B4-BE49-F238E27FC236}">
                <a16:creationId xmlns:a16="http://schemas.microsoft.com/office/drawing/2014/main" id="{5F17CF61-EF4B-40AF-93D9-942B86F5FF70}"/>
              </a:ext>
            </a:extLst>
          </p:cNvPr>
          <p:cNvSpPr>
            <a:spLocks noGrp="1"/>
          </p:cNvSpPr>
          <p:nvPr/>
        </p:nvSpPr>
        <p:spPr>
          <a:xfrm>
            <a:off x="1238250" y="1476375"/>
            <a:ext cx="9715500" cy="619125"/>
          </a:xfrm>
          <a:prstGeom prst="roundRect">
            <a:avLst>
              <a:gd name="adj" fmla="val 12308"/>
            </a:avLst>
          </a:prstGeom>
          <a:solidFill>
            <a:srgbClr val="092A3D"/>
          </a:solidFill>
          <a:ln w="0">
            <a:solidFill>
              <a:srgbClr val="092A3D"/>
            </a:solidFill>
            <a:prstDash val="solid"/>
          </a:ln>
        </p:spPr>
        <p:txBody>
          <a:bodyPr/>
          <a:lstStyle/>
          <a:p>
            <a:endParaRPr lang="en-IQ"/>
          </a:p>
        </p:txBody>
      </p:sp>
      <p:sp>
        <p:nvSpPr>
          <p:cNvPr id="7" name="Rectangle 6">
            <a:extLst>
              <a:ext uri="{FF2B5EF4-FFF2-40B4-BE49-F238E27FC236}">
                <a16:creationId xmlns:a16="http://schemas.microsoft.com/office/drawing/2014/main" id="{9D2EB3B7-0B19-46E2-ADDC-CB8D90F2BCDB}"/>
              </a:ext>
            </a:extLst>
          </p:cNvPr>
          <p:cNvSpPr>
            <a:spLocks noGrp="1"/>
          </p:cNvSpPr>
          <p:nvPr/>
        </p:nvSpPr>
        <p:spPr>
          <a:xfrm>
            <a:off x="1428750" y="1571625"/>
            <a:ext cx="9334500" cy="428625"/>
          </a:xfrm>
          <a:prstGeom prst="rect">
            <a:avLst/>
          </a:prstGeom>
          <a:noFill/>
          <a:ln w="0">
            <a:noFill/>
            <a:prstDash val="solid"/>
          </a:ln>
        </p:spPr>
        <p:txBody>
          <a:bodyPr anchor="ctr"/>
          <a:lstStyle/>
          <a:p>
            <a:pPr algn="ctr">
              <a:defRPr sz="1875" b="1">
                <a:solidFill>
                  <a:srgbClr val="FFFFFF"/>
                </a:solidFill>
              </a:defRPr>
            </a:pPr>
            <a:r>
              <a:rPr sz="1875" b="1">
                <a:solidFill>
                  <a:srgbClr val="FFFFFF"/>
                </a:solidFill>
              </a:rPr>
              <a:t>Choose a laptop for a software-engineering student</a:t>
            </a:r>
          </a:p>
        </p:txBody>
      </p:sp>
      <p:sp>
        <p:nvSpPr>
          <p:cNvPr id="8" name="Rectangle 7">
            <a:extLst>
              <a:ext uri="{FF2B5EF4-FFF2-40B4-BE49-F238E27FC236}">
                <a16:creationId xmlns:a16="http://schemas.microsoft.com/office/drawing/2014/main" id="{08AE05E7-3057-4939-ABA4-6FBDDCAE72E0}"/>
              </a:ext>
            </a:extLst>
          </p:cNvPr>
          <p:cNvSpPr>
            <a:spLocks noGrp="1"/>
          </p:cNvSpPr>
          <p:nvPr/>
        </p:nvSpPr>
        <p:spPr>
          <a:xfrm>
            <a:off x="1285875" y="2381250"/>
            <a:ext cx="523875" cy="428625"/>
          </a:xfrm>
          <a:prstGeom prst="rect">
            <a:avLst/>
          </a:prstGeom>
          <a:noFill/>
          <a:ln w="0">
            <a:noFill/>
            <a:prstDash val="solid"/>
          </a:ln>
        </p:spPr>
        <p:txBody>
          <a:bodyPr anchor="ctr"/>
          <a:lstStyle/>
          <a:p>
            <a:pPr algn="ctr">
              <a:defRPr sz="1500" b="1">
                <a:solidFill>
                  <a:srgbClr val="F2A93B"/>
                </a:solidFill>
              </a:defRPr>
            </a:pPr>
            <a:r>
              <a:rPr sz="1500" b="1">
                <a:solidFill>
                  <a:srgbClr val="F2A93B"/>
                </a:solidFill>
              </a:rPr>
              <a:t>1</a:t>
            </a:r>
          </a:p>
        </p:txBody>
      </p:sp>
      <p:sp>
        <p:nvSpPr>
          <p:cNvPr id="9" name="Rectangle 8">
            <a:extLst>
              <a:ext uri="{FF2B5EF4-FFF2-40B4-BE49-F238E27FC236}">
                <a16:creationId xmlns:a16="http://schemas.microsoft.com/office/drawing/2014/main" id="{C82D234C-C564-4957-AB09-E73E98934DD0}"/>
              </a:ext>
            </a:extLst>
          </p:cNvPr>
          <p:cNvSpPr>
            <a:spLocks noGrp="1"/>
          </p:cNvSpPr>
          <p:nvPr/>
        </p:nvSpPr>
        <p:spPr>
          <a:xfrm>
            <a:off x="2047875" y="2381250"/>
            <a:ext cx="8382000" cy="428625"/>
          </a:xfrm>
          <a:prstGeom prst="rect">
            <a:avLst/>
          </a:prstGeom>
          <a:noFill/>
          <a:ln w="0">
            <a:noFill/>
            <a:prstDash val="solid"/>
          </a:ln>
        </p:spPr>
        <p:txBody>
          <a:bodyPr anchor="ctr"/>
          <a:lstStyle/>
          <a:p>
            <a:pPr algn="l">
              <a:defRPr sz="1575" b="1">
                <a:solidFill>
                  <a:srgbClr val="183544"/>
                </a:solidFill>
              </a:defRPr>
            </a:pPr>
            <a:r>
              <a:rPr sz="1575" b="1">
                <a:solidFill>
                  <a:srgbClr val="183544"/>
                </a:solidFill>
              </a:rPr>
              <a:t>List three candidate laptops.</a:t>
            </a:r>
          </a:p>
        </p:txBody>
      </p:sp>
      <p:sp>
        <p:nvSpPr>
          <p:cNvPr id="10" name="Rectangle 9">
            <a:extLst>
              <a:ext uri="{FF2B5EF4-FFF2-40B4-BE49-F238E27FC236}">
                <a16:creationId xmlns:a16="http://schemas.microsoft.com/office/drawing/2014/main" id="{4CC2562E-661A-4CE5-9B81-8AEBCF4F542C}"/>
              </a:ext>
            </a:extLst>
          </p:cNvPr>
          <p:cNvSpPr>
            <a:spLocks noGrp="1"/>
          </p:cNvSpPr>
          <p:nvPr/>
        </p:nvSpPr>
        <p:spPr>
          <a:xfrm>
            <a:off x="1285875" y="3009900"/>
            <a:ext cx="523875" cy="428625"/>
          </a:xfrm>
          <a:prstGeom prst="rect">
            <a:avLst/>
          </a:prstGeom>
          <a:noFill/>
          <a:ln w="0">
            <a:noFill/>
            <a:prstDash val="solid"/>
          </a:ln>
        </p:spPr>
        <p:txBody>
          <a:bodyPr anchor="ctr"/>
          <a:lstStyle/>
          <a:p>
            <a:pPr algn="ctr">
              <a:defRPr sz="1500" b="1">
                <a:solidFill>
                  <a:srgbClr val="F2A93B"/>
                </a:solidFill>
              </a:defRPr>
            </a:pPr>
            <a:r>
              <a:rPr sz="1500" b="1">
                <a:solidFill>
                  <a:srgbClr val="F2A93B"/>
                </a:solidFill>
              </a:rPr>
              <a:t>2</a:t>
            </a:r>
          </a:p>
        </p:txBody>
      </p:sp>
      <p:sp>
        <p:nvSpPr>
          <p:cNvPr id="11" name="Rectangle 10">
            <a:extLst>
              <a:ext uri="{FF2B5EF4-FFF2-40B4-BE49-F238E27FC236}">
                <a16:creationId xmlns:a16="http://schemas.microsoft.com/office/drawing/2014/main" id="{6F026FD4-0046-4970-86E6-7C6422550088}"/>
              </a:ext>
            </a:extLst>
          </p:cNvPr>
          <p:cNvSpPr>
            <a:spLocks noGrp="1"/>
          </p:cNvSpPr>
          <p:nvPr/>
        </p:nvSpPr>
        <p:spPr>
          <a:xfrm>
            <a:off x="2047875" y="3009900"/>
            <a:ext cx="8382000" cy="428625"/>
          </a:xfrm>
          <a:prstGeom prst="rect">
            <a:avLst/>
          </a:prstGeom>
          <a:noFill/>
          <a:ln w="0">
            <a:noFill/>
            <a:prstDash val="solid"/>
          </a:ln>
        </p:spPr>
        <p:txBody>
          <a:bodyPr anchor="ctr"/>
          <a:lstStyle/>
          <a:p>
            <a:pPr algn="l">
              <a:defRPr sz="1575" b="1">
                <a:solidFill>
                  <a:srgbClr val="183544"/>
                </a:solidFill>
              </a:defRPr>
            </a:pPr>
            <a:r>
              <a:rPr sz="1575" b="1">
                <a:solidFill>
                  <a:srgbClr val="183544"/>
                </a:solidFill>
              </a:rPr>
              <a:t>Choose one objective.</a:t>
            </a:r>
          </a:p>
        </p:txBody>
      </p:sp>
      <p:sp>
        <p:nvSpPr>
          <p:cNvPr id="12" name="Rectangle 11">
            <a:extLst>
              <a:ext uri="{FF2B5EF4-FFF2-40B4-BE49-F238E27FC236}">
                <a16:creationId xmlns:a16="http://schemas.microsoft.com/office/drawing/2014/main" id="{D4FE3F80-8176-4425-84D5-FA9702FD2B8C}"/>
              </a:ext>
            </a:extLst>
          </p:cNvPr>
          <p:cNvSpPr>
            <a:spLocks noGrp="1"/>
          </p:cNvSpPr>
          <p:nvPr/>
        </p:nvSpPr>
        <p:spPr>
          <a:xfrm>
            <a:off x="1285875" y="3638550"/>
            <a:ext cx="523875" cy="428625"/>
          </a:xfrm>
          <a:prstGeom prst="rect">
            <a:avLst/>
          </a:prstGeom>
          <a:noFill/>
          <a:ln w="0">
            <a:noFill/>
            <a:prstDash val="solid"/>
          </a:ln>
        </p:spPr>
        <p:txBody>
          <a:bodyPr anchor="ctr"/>
          <a:lstStyle/>
          <a:p>
            <a:pPr algn="ctr">
              <a:defRPr sz="1500" b="1">
                <a:solidFill>
                  <a:srgbClr val="F2A93B"/>
                </a:solidFill>
              </a:defRPr>
            </a:pPr>
            <a:r>
              <a:rPr sz="1500" b="1">
                <a:solidFill>
                  <a:srgbClr val="F2A93B"/>
                </a:solidFill>
              </a:rPr>
              <a:t>3</a:t>
            </a:r>
          </a:p>
        </p:txBody>
      </p:sp>
      <p:sp>
        <p:nvSpPr>
          <p:cNvPr id="13" name="Rectangle 12">
            <a:extLst>
              <a:ext uri="{FF2B5EF4-FFF2-40B4-BE49-F238E27FC236}">
                <a16:creationId xmlns:a16="http://schemas.microsoft.com/office/drawing/2014/main" id="{A8DE4E70-3A25-4642-AA5A-E84B823A59F3}"/>
              </a:ext>
            </a:extLst>
          </p:cNvPr>
          <p:cNvSpPr>
            <a:spLocks noGrp="1"/>
          </p:cNvSpPr>
          <p:nvPr/>
        </p:nvSpPr>
        <p:spPr>
          <a:xfrm>
            <a:off x="2047875" y="3638550"/>
            <a:ext cx="8382000" cy="428625"/>
          </a:xfrm>
          <a:prstGeom prst="rect">
            <a:avLst/>
          </a:prstGeom>
          <a:noFill/>
          <a:ln w="0">
            <a:noFill/>
            <a:prstDash val="solid"/>
          </a:ln>
        </p:spPr>
        <p:txBody>
          <a:bodyPr anchor="ctr"/>
          <a:lstStyle/>
          <a:p>
            <a:pPr algn="l">
              <a:defRPr sz="1575" b="1">
                <a:solidFill>
                  <a:srgbClr val="183544"/>
                </a:solidFill>
              </a:defRPr>
            </a:pPr>
            <a:r>
              <a:rPr sz="1575" b="1">
                <a:solidFill>
                  <a:srgbClr val="183544"/>
                </a:solidFill>
              </a:rPr>
              <a:t>Write two constraints.</a:t>
            </a:r>
          </a:p>
        </p:txBody>
      </p:sp>
      <p:sp>
        <p:nvSpPr>
          <p:cNvPr id="14" name="Rectangle 13">
            <a:extLst>
              <a:ext uri="{FF2B5EF4-FFF2-40B4-BE49-F238E27FC236}">
                <a16:creationId xmlns:a16="http://schemas.microsoft.com/office/drawing/2014/main" id="{A12405F5-C59B-4002-91F7-1AF3E41DAF93}"/>
              </a:ext>
            </a:extLst>
          </p:cNvPr>
          <p:cNvSpPr>
            <a:spLocks noGrp="1"/>
          </p:cNvSpPr>
          <p:nvPr/>
        </p:nvSpPr>
        <p:spPr>
          <a:xfrm>
            <a:off x="1285875" y="4267200"/>
            <a:ext cx="523875" cy="428625"/>
          </a:xfrm>
          <a:prstGeom prst="rect">
            <a:avLst/>
          </a:prstGeom>
          <a:noFill/>
          <a:ln w="0">
            <a:noFill/>
            <a:prstDash val="solid"/>
          </a:ln>
        </p:spPr>
        <p:txBody>
          <a:bodyPr anchor="ctr"/>
          <a:lstStyle/>
          <a:p>
            <a:pPr algn="ctr">
              <a:defRPr sz="1500" b="1">
                <a:solidFill>
                  <a:srgbClr val="F2A93B"/>
                </a:solidFill>
              </a:defRPr>
            </a:pPr>
            <a:r>
              <a:rPr sz="1500" b="1">
                <a:solidFill>
                  <a:srgbClr val="F2A93B"/>
                </a:solidFill>
              </a:rPr>
              <a:t>4</a:t>
            </a:r>
          </a:p>
        </p:txBody>
      </p:sp>
      <p:sp>
        <p:nvSpPr>
          <p:cNvPr id="15" name="Rectangle 14">
            <a:extLst>
              <a:ext uri="{FF2B5EF4-FFF2-40B4-BE49-F238E27FC236}">
                <a16:creationId xmlns:a16="http://schemas.microsoft.com/office/drawing/2014/main" id="{04047AEC-CE5C-4BEB-8E64-026DE59D4D22}"/>
              </a:ext>
            </a:extLst>
          </p:cNvPr>
          <p:cNvSpPr>
            <a:spLocks noGrp="1"/>
          </p:cNvSpPr>
          <p:nvPr/>
        </p:nvSpPr>
        <p:spPr>
          <a:xfrm>
            <a:off x="2047875" y="4267200"/>
            <a:ext cx="8382000" cy="428625"/>
          </a:xfrm>
          <a:prstGeom prst="rect">
            <a:avLst/>
          </a:prstGeom>
          <a:noFill/>
          <a:ln w="0">
            <a:noFill/>
            <a:prstDash val="solid"/>
          </a:ln>
        </p:spPr>
        <p:txBody>
          <a:bodyPr anchor="ctr"/>
          <a:lstStyle/>
          <a:p>
            <a:pPr algn="l">
              <a:defRPr sz="1575" b="1">
                <a:solidFill>
                  <a:srgbClr val="183544"/>
                </a:solidFill>
              </a:defRPr>
            </a:pPr>
            <a:r>
              <a:rPr sz="1575" b="1">
                <a:solidFill>
                  <a:srgbClr val="183544"/>
                </a:solidFill>
              </a:rPr>
              <a:t>Identify the problem data.</a:t>
            </a:r>
          </a:p>
        </p:txBody>
      </p:sp>
      <p:sp>
        <p:nvSpPr>
          <p:cNvPr id="16" name="Rectangle 15">
            <a:extLst>
              <a:ext uri="{FF2B5EF4-FFF2-40B4-BE49-F238E27FC236}">
                <a16:creationId xmlns:a16="http://schemas.microsoft.com/office/drawing/2014/main" id="{73910E9E-D098-45D1-8F5D-C9226295FB8B}"/>
              </a:ext>
            </a:extLst>
          </p:cNvPr>
          <p:cNvSpPr>
            <a:spLocks noGrp="1"/>
          </p:cNvSpPr>
          <p:nvPr/>
        </p:nvSpPr>
        <p:spPr>
          <a:xfrm>
            <a:off x="1285875" y="4895850"/>
            <a:ext cx="523875" cy="428625"/>
          </a:xfrm>
          <a:prstGeom prst="rect">
            <a:avLst/>
          </a:prstGeom>
          <a:noFill/>
          <a:ln w="0">
            <a:noFill/>
            <a:prstDash val="solid"/>
          </a:ln>
        </p:spPr>
        <p:txBody>
          <a:bodyPr anchor="ctr"/>
          <a:lstStyle/>
          <a:p>
            <a:pPr algn="ctr">
              <a:defRPr sz="1500" b="1">
                <a:solidFill>
                  <a:srgbClr val="F2A93B"/>
                </a:solidFill>
              </a:defRPr>
            </a:pPr>
            <a:r>
              <a:rPr sz="1500" b="1">
                <a:solidFill>
                  <a:srgbClr val="F2A93B"/>
                </a:solidFill>
              </a:rPr>
              <a:t>5</a:t>
            </a:r>
          </a:p>
        </p:txBody>
      </p:sp>
      <p:sp>
        <p:nvSpPr>
          <p:cNvPr id="17" name="Rectangle 16">
            <a:extLst>
              <a:ext uri="{FF2B5EF4-FFF2-40B4-BE49-F238E27FC236}">
                <a16:creationId xmlns:a16="http://schemas.microsoft.com/office/drawing/2014/main" id="{89443D6F-AE8D-464C-8484-F7B7BA48DC16}"/>
              </a:ext>
            </a:extLst>
          </p:cNvPr>
          <p:cNvSpPr>
            <a:spLocks noGrp="1"/>
          </p:cNvSpPr>
          <p:nvPr/>
        </p:nvSpPr>
        <p:spPr>
          <a:xfrm>
            <a:off x="2047875" y="4895850"/>
            <a:ext cx="8382000" cy="428625"/>
          </a:xfrm>
          <a:prstGeom prst="rect">
            <a:avLst/>
          </a:prstGeom>
          <a:noFill/>
          <a:ln w="0">
            <a:noFill/>
            <a:prstDash val="solid"/>
          </a:ln>
        </p:spPr>
        <p:txBody>
          <a:bodyPr anchor="ctr"/>
          <a:lstStyle/>
          <a:p>
            <a:pPr algn="l">
              <a:defRPr sz="1575" b="1">
                <a:solidFill>
                  <a:srgbClr val="183544"/>
                </a:solidFill>
              </a:defRPr>
            </a:pPr>
            <a:r>
              <a:rPr sz="1575" b="1">
                <a:solidFill>
                  <a:srgbClr val="183544"/>
                </a:solidFill>
              </a:rPr>
              <a:t>Explain how each candidate would be evaluated.</a:t>
            </a:r>
          </a:p>
        </p:txBody>
      </p:sp>
    </p:spTree>
    <p:extLst>
      <p:ext uri="{BB962C8B-B14F-4D97-AF65-F5344CB8AC3E}">
        <p14:creationId xmlns:p14="http://schemas.microsoft.com/office/powerpoint/2010/main" val="561854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5E98C003-7066-445A-973F-86A50DA60209}"/>
              </a:ext>
            </a:extLst>
          </p:cNvPr>
          <p:cNvSpPr>
            <a:spLocks noGrp="1"/>
          </p:cNvSpPr>
          <p:nvPr/>
        </p:nvSpPr>
        <p:spPr>
          <a:xfrm>
            <a:off x="609600" y="285750"/>
            <a:ext cx="66675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COMMON CONFUSIONS</a:t>
            </a:r>
          </a:p>
        </p:txBody>
      </p:sp>
      <p:sp>
        <p:nvSpPr>
          <p:cNvPr id="2" name="Rectangle 1">
            <a:extLst>
              <a:ext uri="{FF2B5EF4-FFF2-40B4-BE49-F238E27FC236}">
                <a16:creationId xmlns:a16="http://schemas.microsoft.com/office/drawing/2014/main" id="{3023053E-FD9C-46BA-820D-C1E2ECA331A7}"/>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Three confusions to avoid from the beginning</a:t>
            </a:r>
          </a:p>
        </p:txBody>
      </p:sp>
      <p:sp>
        <p:nvSpPr>
          <p:cNvPr id="3" name="Rectangle 2">
            <a:extLst>
              <a:ext uri="{FF2B5EF4-FFF2-40B4-BE49-F238E27FC236}">
                <a16:creationId xmlns:a16="http://schemas.microsoft.com/office/drawing/2014/main" id="{DB80952F-27B9-40EB-BEF9-161787CCF2CD}"/>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634125E9-3FCD-4B9E-8508-D8884A02AF73}"/>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0</a:t>
            </a:r>
          </a:p>
        </p:txBody>
      </p:sp>
      <p:sp>
        <p:nvSpPr>
          <p:cNvPr id="5" name="Rectangle 4">
            <a:extLst>
              <a:ext uri="{FF2B5EF4-FFF2-40B4-BE49-F238E27FC236}">
                <a16:creationId xmlns:a16="http://schemas.microsoft.com/office/drawing/2014/main" id="{7AD2A710-F837-48F8-B97F-B85202D3BF32}"/>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20</a:t>
            </a:r>
          </a:p>
        </p:txBody>
      </p:sp>
      <p:sp>
        <p:nvSpPr>
          <p:cNvPr id="6" name="Rectangle: Rounded Corners 5">
            <a:extLst>
              <a:ext uri="{FF2B5EF4-FFF2-40B4-BE49-F238E27FC236}">
                <a16:creationId xmlns:a16="http://schemas.microsoft.com/office/drawing/2014/main" id="{278E2EAA-1212-4167-96F8-4728C61B7F69}"/>
              </a:ext>
            </a:extLst>
          </p:cNvPr>
          <p:cNvSpPr>
            <a:spLocks noGrp="1"/>
          </p:cNvSpPr>
          <p:nvPr/>
        </p:nvSpPr>
        <p:spPr>
          <a:xfrm>
            <a:off x="857250" y="1762125"/>
            <a:ext cx="3333750" cy="2714625"/>
          </a:xfrm>
          <a:prstGeom prst="roundRect">
            <a:avLst>
              <a:gd name="adj" fmla="val 2807"/>
            </a:avLst>
          </a:prstGeom>
          <a:solidFill>
            <a:srgbClr val="FFFFFF"/>
          </a:solidFill>
          <a:ln w="9525">
            <a:solidFill>
              <a:srgbClr val="CED9DB"/>
            </a:solidFill>
            <a:prstDash val="solid"/>
          </a:ln>
        </p:spPr>
        <p:txBody>
          <a:bodyPr/>
          <a:lstStyle/>
          <a:p>
            <a:endParaRPr lang="en-IQ"/>
          </a:p>
        </p:txBody>
      </p:sp>
      <p:sp>
        <p:nvSpPr>
          <p:cNvPr id="7" name="Rectangle 6">
            <a:extLst>
              <a:ext uri="{FF2B5EF4-FFF2-40B4-BE49-F238E27FC236}">
                <a16:creationId xmlns:a16="http://schemas.microsoft.com/office/drawing/2014/main" id="{0CA122F2-9BF3-40D8-BB8C-2D4592A9E90A}"/>
              </a:ext>
            </a:extLst>
          </p:cNvPr>
          <p:cNvSpPr>
            <a:spLocks noGrp="1"/>
          </p:cNvSpPr>
          <p:nvPr/>
        </p:nvSpPr>
        <p:spPr>
          <a:xfrm>
            <a:off x="857250" y="1762125"/>
            <a:ext cx="76200" cy="2714625"/>
          </a:xfrm>
          <a:prstGeom prst="rect">
            <a:avLst/>
          </a:prstGeom>
          <a:solidFill>
            <a:srgbClr val="0B9B91"/>
          </a:solidFill>
          <a:ln w="0">
            <a:solidFill>
              <a:srgbClr val="0B9B91"/>
            </a:solidFill>
            <a:prstDash val="solid"/>
          </a:ln>
        </p:spPr>
        <p:txBody>
          <a:bodyPr/>
          <a:lstStyle/>
          <a:p>
            <a:endParaRPr lang="en-IQ"/>
          </a:p>
        </p:txBody>
      </p:sp>
      <p:sp>
        <p:nvSpPr>
          <p:cNvPr id="8" name="Rectangle 7">
            <a:extLst>
              <a:ext uri="{FF2B5EF4-FFF2-40B4-BE49-F238E27FC236}">
                <a16:creationId xmlns:a16="http://schemas.microsoft.com/office/drawing/2014/main" id="{D871E62A-4A40-4B00-8BCE-9234EBC1C656}"/>
              </a:ext>
            </a:extLst>
          </p:cNvPr>
          <p:cNvSpPr>
            <a:spLocks noGrp="1"/>
          </p:cNvSpPr>
          <p:nvPr/>
        </p:nvSpPr>
        <p:spPr>
          <a:xfrm>
            <a:off x="1104900" y="1905000"/>
            <a:ext cx="2933700" cy="342900"/>
          </a:xfrm>
          <a:prstGeom prst="rect">
            <a:avLst/>
          </a:prstGeom>
          <a:noFill/>
          <a:ln w="0">
            <a:noFill/>
            <a:prstDash val="solid"/>
          </a:ln>
        </p:spPr>
        <p:txBody>
          <a:bodyPr anchor="ctr"/>
          <a:lstStyle/>
          <a:p>
            <a:pPr algn="l">
              <a:defRPr sz="1650" b="1">
                <a:solidFill>
                  <a:srgbClr val="0B9B91"/>
                </a:solidFill>
              </a:defRPr>
            </a:pPr>
            <a:r>
              <a:rPr sz="1650" b="1">
                <a:solidFill>
                  <a:srgbClr val="0B9B91"/>
                </a:solidFill>
              </a:rPr>
              <a:t>DATA ≠ DECISION</a:t>
            </a:r>
          </a:p>
        </p:txBody>
      </p:sp>
      <p:sp>
        <p:nvSpPr>
          <p:cNvPr id="9" name="Rectangle 8">
            <a:extLst>
              <a:ext uri="{FF2B5EF4-FFF2-40B4-BE49-F238E27FC236}">
                <a16:creationId xmlns:a16="http://schemas.microsoft.com/office/drawing/2014/main" id="{5D879131-B9A0-422D-A84D-27E8718BF364}"/>
              </a:ext>
            </a:extLst>
          </p:cNvPr>
          <p:cNvSpPr>
            <a:spLocks noGrp="1"/>
          </p:cNvSpPr>
          <p:nvPr/>
        </p:nvSpPr>
        <p:spPr>
          <a:xfrm>
            <a:off x="1104900" y="2314575"/>
            <a:ext cx="2905125" cy="2028825"/>
          </a:xfrm>
          <a:prstGeom prst="rect">
            <a:avLst/>
          </a:prstGeom>
          <a:noFill/>
          <a:ln w="0">
            <a:noFill/>
            <a:prstDash val="solid"/>
          </a:ln>
        </p:spPr>
        <p:txBody>
          <a:bodyPr anchor="ctr"/>
          <a:lstStyle/>
          <a:p>
            <a:pPr algn="l">
              <a:defRPr sz="1350" b="0">
                <a:solidFill>
                  <a:srgbClr val="183544"/>
                </a:solidFill>
              </a:defRPr>
            </a:pPr>
            <a:r>
              <a:rPr sz="1350" b="0">
                <a:solidFill>
                  <a:srgbClr val="183544"/>
                </a:solidFill>
              </a:rPr>
              <a:t>Price is known; which product to buy is chosen.</a:t>
            </a:r>
          </a:p>
        </p:txBody>
      </p:sp>
      <p:sp>
        <p:nvSpPr>
          <p:cNvPr id="10" name="Rectangle: Rounded Corners 9">
            <a:extLst>
              <a:ext uri="{FF2B5EF4-FFF2-40B4-BE49-F238E27FC236}">
                <a16:creationId xmlns:a16="http://schemas.microsoft.com/office/drawing/2014/main" id="{6154F720-EB5D-4272-9F66-003334D2773C}"/>
              </a:ext>
            </a:extLst>
          </p:cNvPr>
          <p:cNvSpPr>
            <a:spLocks noGrp="1"/>
          </p:cNvSpPr>
          <p:nvPr/>
        </p:nvSpPr>
        <p:spPr>
          <a:xfrm>
            <a:off x="4429125" y="1762125"/>
            <a:ext cx="3333750" cy="2714625"/>
          </a:xfrm>
          <a:prstGeom prst="roundRect">
            <a:avLst>
              <a:gd name="adj" fmla="val 2807"/>
            </a:avLst>
          </a:prstGeom>
          <a:solidFill>
            <a:srgbClr val="FFFFFF"/>
          </a:solidFill>
          <a:ln w="9525">
            <a:solidFill>
              <a:srgbClr val="CED9DB"/>
            </a:solidFill>
            <a:prstDash val="solid"/>
          </a:ln>
        </p:spPr>
        <p:txBody>
          <a:bodyPr/>
          <a:lstStyle/>
          <a:p>
            <a:endParaRPr lang="en-IQ"/>
          </a:p>
        </p:txBody>
      </p:sp>
      <p:sp>
        <p:nvSpPr>
          <p:cNvPr id="11" name="Rectangle 10">
            <a:extLst>
              <a:ext uri="{FF2B5EF4-FFF2-40B4-BE49-F238E27FC236}">
                <a16:creationId xmlns:a16="http://schemas.microsoft.com/office/drawing/2014/main" id="{272FB5C9-EF94-43E3-8069-3722D88ECA0D}"/>
              </a:ext>
            </a:extLst>
          </p:cNvPr>
          <p:cNvSpPr>
            <a:spLocks noGrp="1"/>
          </p:cNvSpPr>
          <p:nvPr/>
        </p:nvSpPr>
        <p:spPr>
          <a:xfrm>
            <a:off x="4429125" y="1762125"/>
            <a:ext cx="76200" cy="2714625"/>
          </a:xfrm>
          <a:prstGeom prst="rect">
            <a:avLst/>
          </a:prstGeom>
          <a:solidFill>
            <a:srgbClr val="2878B5"/>
          </a:solidFill>
          <a:ln w="0">
            <a:solidFill>
              <a:srgbClr val="2878B5"/>
            </a:solidFill>
            <a:prstDash val="solid"/>
          </a:ln>
        </p:spPr>
        <p:txBody>
          <a:bodyPr/>
          <a:lstStyle/>
          <a:p>
            <a:endParaRPr lang="en-IQ"/>
          </a:p>
        </p:txBody>
      </p:sp>
      <p:sp>
        <p:nvSpPr>
          <p:cNvPr id="12" name="Rectangle 11">
            <a:extLst>
              <a:ext uri="{FF2B5EF4-FFF2-40B4-BE49-F238E27FC236}">
                <a16:creationId xmlns:a16="http://schemas.microsoft.com/office/drawing/2014/main" id="{ABC07AED-5021-4E72-9C97-BBBC17F47E98}"/>
              </a:ext>
            </a:extLst>
          </p:cNvPr>
          <p:cNvSpPr>
            <a:spLocks noGrp="1"/>
          </p:cNvSpPr>
          <p:nvPr/>
        </p:nvSpPr>
        <p:spPr>
          <a:xfrm>
            <a:off x="4676775" y="1905000"/>
            <a:ext cx="2933700" cy="342900"/>
          </a:xfrm>
          <a:prstGeom prst="rect">
            <a:avLst/>
          </a:prstGeom>
          <a:noFill/>
          <a:ln w="0">
            <a:noFill/>
            <a:prstDash val="solid"/>
          </a:ln>
        </p:spPr>
        <p:txBody>
          <a:bodyPr anchor="ctr"/>
          <a:lstStyle/>
          <a:p>
            <a:pPr algn="l">
              <a:defRPr sz="1650" b="1">
                <a:solidFill>
                  <a:srgbClr val="2878B5"/>
                </a:solidFill>
              </a:defRPr>
            </a:pPr>
            <a:r>
              <a:rPr sz="1650" b="1">
                <a:solidFill>
                  <a:srgbClr val="2878B5"/>
                </a:solidFill>
              </a:rPr>
              <a:t>OBJECTIVE ≠ CONSTRAINT</a:t>
            </a:r>
          </a:p>
        </p:txBody>
      </p:sp>
      <p:sp>
        <p:nvSpPr>
          <p:cNvPr id="13" name="Rectangle 12">
            <a:extLst>
              <a:ext uri="{FF2B5EF4-FFF2-40B4-BE49-F238E27FC236}">
                <a16:creationId xmlns:a16="http://schemas.microsoft.com/office/drawing/2014/main" id="{657FE6B6-D7F8-433F-BF01-83109616E51E}"/>
              </a:ext>
            </a:extLst>
          </p:cNvPr>
          <p:cNvSpPr>
            <a:spLocks noGrp="1"/>
          </p:cNvSpPr>
          <p:nvPr/>
        </p:nvSpPr>
        <p:spPr>
          <a:xfrm>
            <a:off x="4676775" y="2314575"/>
            <a:ext cx="2905125" cy="2028825"/>
          </a:xfrm>
          <a:prstGeom prst="rect">
            <a:avLst/>
          </a:prstGeom>
          <a:noFill/>
          <a:ln w="0">
            <a:noFill/>
            <a:prstDash val="solid"/>
          </a:ln>
        </p:spPr>
        <p:txBody>
          <a:bodyPr anchor="ctr"/>
          <a:lstStyle/>
          <a:p>
            <a:pPr algn="l">
              <a:defRPr sz="1350" b="0">
                <a:solidFill>
                  <a:srgbClr val="183544"/>
                </a:solidFill>
              </a:defRPr>
            </a:pPr>
            <a:r>
              <a:rPr sz="1350" b="0">
                <a:solidFill>
                  <a:srgbClr val="183544"/>
                </a:solidFill>
              </a:rPr>
              <a:t>Low cost is preferred; budget is mandatory.</a:t>
            </a:r>
          </a:p>
        </p:txBody>
      </p:sp>
      <p:sp>
        <p:nvSpPr>
          <p:cNvPr id="14" name="Rectangle: Rounded Corners 13">
            <a:extLst>
              <a:ext uri="{FF2B5EF4-FFF2-40B4-BE49-F238E27FC236}">
                <a16:creationId xmlns:a16="http://schemas.microsoft.com/office/drawing/2014/main" id="{E21E3D4C-C7CF-4459-B50D-31B8297D6EE4}"/>
              </a:ext>
            </a:extLst>
          </p:cNvPr>
          <p:cNvSpPr>
            <a:spLocks noGrp="1"/>
          </p:cNvSpPr>
          <p:nvPr/>
        </p:nvSpPr>
        <p:spPr>
          <a:xfrm>
            <a:off x="8001000" y="1762125"/>
            <a:ext cx="3333750" cy="2714625"/>
          </a:xfrm>
          <a:prstGeom prst="roundRect">
            <a:avLst>
              <a:gd name="adj" fmla="val 2807"/>
            </a:avLst>
          </a:prstGeom>
          <a:solidFill>
            <a:srgbClr val="FFFFFF"/>
          </a:solidFill>
          <a:ln w="9525">
            <a:solidFill>
              <a:srgbClr val="CED9DB"/>
            </a:solidFill>
            <a:prstDash val="solid"/>
          </a:ln>
        </p:spPr>
        <p:txBody>
          <a:bodyPr/>
          <a:lstStyle/>
          <a:p>
            <a:endParaRPr lang="en-IQ"/>
          </a:p>
        </p:txBody>
      </p:sp>
      <p:sp>
        <p:nvSpPr>
          <p:cNvPr id="15" name="Rectangle 14">
            <a:extLst>
              <a:ext uri="{FF2B5EF4-FFF2-40B4-BE49-F238E27FC236}">
                <a16:creationId xmlns:a16="http://schemas.microsoft.com/office/drawing/2014/main" id="{336C7C49-C882-4282-9AC6-6E253ACFF0C5}"/>
              </a:ext>
            </a:extLst>
          </p:cNvPr>
          <p:cNvSpPr>
            <a:spLocks noGrp="1"/>
          </p:cNvSpPr>
          <p:nvPr/>
        </p:nvSpPr>
        <p:spPr>
          <a:xfrm>
            <a:off x="8001000" y="1762125"/>
            <a:ext cx="76200" cy="2714625"/>
          </a:xfrm>
          <a:prstGeom prst="rect">
            <a:avLst/>
          </a:prstGeom>
          <a:solidFill>
            <a:srgbClr val="D95D5D"/>
          </a:solidFill>
          <a:ln w="0">
            <a:solidFill>
              <a:srgbClr val="D95D5D"/>
            </a:solidFill>
            <a:prstDash val="solid"/>
          </a:ln>
        </p:spPr>
        <p:txBody>
          <a:bodyPr/>
          <a:lstStyle/>
          <a:p>
            <a:endParaRPr lang="en-IQ"/>
          </a:p>
        </p:txBody>
      </p:sp>
      <p:sp>
        <p:nvSpPr>
          <p:cNvPr id="16" name="Rectangle 15">
            <a:extLst>
              <a:ext uri="{FF2B5EF4-FFF2-40B4-BE49-F238E27FC236}">
                <a16:creationId xmlns:a16="http://schemas.microsoft.com/office/drawing/2014/main" id="{7F6150CC-756A-4744-8A0D-521F9726AB03}"/>
              </a:ext>
            </a:extLst>
          </p:cNvPr>
          <p:cNvSpPr>
            <a:spLocks noGrp="1"/>
          </p:cNvSpPr>
          <p:nvPr/>
        </p:nvSpPr>
        <p:spPr>
          <a:xfrm>
            <a:off x="8248650" y="1905000"/>
            <a:ext cx="2933700" cy="342900"/>
          </a:xfrm>
          <a:prstGeom prst="rect">
            <a:avLst/>
          </a:prstGeom>
          <a:noFill/>
          <a:ln w="0">
            <a:noFill/>
            <a:prstDash val="solid"/>
          </a:ln>
        </p:spPr>
        <p:txBody>
          <a:bodyPr anchor="ctr"/>
          <a:lstStyle/>
          <a:p>
            <a:pPr algn="l">
              <a:defRPr sz="1650" b="1">
                <a:solidFill>
                  <a:srgbClr val="D95D5D"/>
                </a:solidFill>
              </a:defRPr>
            </a:pPr>
            <a:r>
              <a:rPr sz="1650" b="1">
                <a:solidFill>
                  <a:srgbClr val="D95D5D"/>
                </a:solidFill>
              </a:rPr>
              <a:t>GOOD ≠ FEASIBLE</a:t>
            </a:r>
          </a:p>
        </p:txBody>
      </p:sp>
      <p:sp>
        <p:nvSpPr>
          <p:cNvPr id="17" name="Rectangle 16">
            <a:extLst>
              <a:ext uri="{FF2B5EF4-FFF2-40B4-BE49-F238E27FC236}">
                <a16:creationId xmlns:a16="http://schemas.microsoft.com/office/drawing/2014/main" id="{F97A3F35-A39D-483E-B98E-28AC9FA53BBC}"/>
              </a:ext>
            </a:extLst>
          </p:cNvPr>
          <p:cNvSpPr>
            <a:spLocks noGrp="1"/>
          </p:cNvSpPr>
          <p:nvPr/>
        </p:nvSpPr>
        <p:spPr>
          <a:xfrm>
            <a:off x="8248650" y="2314575"/>
            <a:ext cx="2905125" cy="2028825"/>
          </a:xfrm>
          <a:prstGeom prst="rect">
            <a:avLst/>
          </a:prstGeom>
          <a:noFill/>
          <a:ln w="0">
            <a:noFill/>
            <a:prstDash val="solid"/>
          </a:ln>
        </p:spPr>
        <p:txBody>
          <a:bodyPr anchor="ctr"/>
          <a:lstStyle/>
          <a:p>
            <a:pPr algn="l">
              <a:defRPr sz="1350" b="0">
                <a:solidFill>
                  <a:srgbClr val="183544"/>
                </a:solidFill>
              </a:defRPr>
            </a:pPr>
            <a:r>
              <a:rPr sz="1350" b="0">
                <a:solidFill>
                  <a:srgbClr val="183544"/>
                </a:solidFill>
              </a:rPr>
              <a:t>A high-quality solution may still break a rule.</a:t>
            </a:r>
          </a:p>
        </p:txBody>
      </p:sp>
    </p:spTree>
    <p:extLst>
      <p:ext uri="{BB962C8B-B14F-4D97-AF65-F5344CB8AC3E}">
        <p14:creationId xmlns:p14="http://schemas.microsoft.com/office/powerpoint/2010/main" val="19719744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8D696151-26A4-46B5-A531-EE2D335C9F61}"/>
              </a:ext>
            </a:extLst>
          </p:cNvPr>
          <p:cNvSpPr>
            <a:spLocks noGrp="1"/>
          </p:cNvSpPr>
          <p:nvPr/>
        </p:nvSpPr>
        <p:spPr>
          <a:xfrm>
            <a:off x="609600" y="285750"/>
            <a:ext cx="6667500" cy="209550"/>
          </a:xfrm>
          <a:prstGeom prst="rect">
            <a:avLst/>
          </a:prstGeom>
          <a:noFill/>
          <a:ln w="0">
            <a:noFill/>
            <a:prstDash val="solid"/>
          </a:ln>
        </p:spPr>
        <p:txBody>
          <a:bodyPr anchor="ctr"/>
          <a:lstStyle/>
          <a:p>
            <a:pPr algn="l">
              <a:defRPr sz="975" b="1">
                <a:solidFill>
                  <a:srgbClr val="0B9B91"/>
                </a:solidFill>
              </a:defRPr>
            </a:pPr>
            <a:r>
              <a:rPr sz="975" b="1">
                <a:solidFill>
                  <a:srgbClr val="0B9B91"/>
                </a:solidFill>
              </a:rPr>
              <a:t>SUMMARY</a:t>
            </a:r>
          </a:p>
        </p:txBody>
      </p:sp>
      <p:sp>
        <p:nvSpPr>
          <p:cNvPr id="2" name="Rectangle 1">
            <a:extLst>
              <a:ext uri="{FF2B5EF4-FFF2-40B4-BE49-F238E27FC236}">
                <a16:creationId xmlns:a16="http://schemas.microsoft.com/office/drawing/2014/main" id="{F54AB251-AD04-487C-8142-7DED8B353534}"/>
              </a:ext>
            </a:extLst>
          </p:cNvPr>
          <p:cNvSpPr>
            <a:spLocks noGrp="1"/>
          </p:cNvSpPr>
          <p:nvPr/>
        </p:nvSpPr>
        <p:spPr>
          <a:xfrm>
            <a:off x="609600" y="552450"/>
            <a:ext cx="10953750" cy="552450"/>
          </a:xfrm>
          <a:prstGeom prst="rect">
            <a:avLst/>
          </a:prstGeom>
          <a:noFill/>
          <a:ln w="0">
            <a:noFill/>
            <a:prstDash val="solid"/>
          </a:ln>
        </p:spPr>
        <p:txBody>
          <a:bodyPr anchor="ctr"/>
          <a:lstStyle/>
          <a:p>
            <a:pPr algn="l">
              <a:defRPr sz="2625" b="1">
                <a:solidFill>
                  <a:srgbClr val="092A3D"/>
                </a:solidFill>
              </a:defRPr>
            </a:pPr>
            <a:r>
              <a:rPr sz="2625" b="1">
                <a:solidFill>
                  <a:srgbClr val="092A3D"/>
                </a:solidFill>
              </a:rPr>
              <a:t>The five words to remember</a:t>
            </a:r>
          </a:p>
        </p:txBody>
      </p:sp>
      <p:sp>
        <p:nvSpPr>
          <p:cNvPr id="3" name="Rectangle 2">
            <a:extLst>
              <a:ext uri="{FF2B5EF4-FFF2-40B4-BE49-F238E27FC236}">
                <a16:creationId xmlns:a16="http://schemas.microsoft.com/office/drawing/2014/main" id="{D7E52D70-6EA2-4C4B-805E-08DD6F120726}"/>
              </a:ext>
            </a:extLst>
          </p:cNvPr>
          <p:cNvSpPr>
            <a:spLocks noGrp="1"/>
          </p:cNvSpPr>
          <p:nvPr/>
        </p:nvSpPr>
        <p:spPr>
          <a:xfrm>
            <a:off x="609600" y="1200150"/>
            <a:ext cx="10972800" cy="19050"/>
          </a:xfrm>
          <a:prstGeom prst="rect">
            <a:avLst/>
          </a:prstGeom>
          <a:solidFill>
            <a:srgbClr val="CED9DB"/>
          </a:solidFill>
          <a:ln w="0">
            <a:noFill/>
            <a:prstDash val="solid"/>
          </a:ln>
        </p:spPr>
        <p:txBody>
          <a:bodyPr/>
          <a:lstStyle/>
          <a:p>
            <a:endParaRPr lang="en-IQ"/>
          </a:p>
        </p:txBody>
      </p:sp>
      <p:sp>
        <p:nvSpPr>
          <p:cNvPr id="4" name="Rectangle 3">
            <a:extLst>
              <a:ext uri="{FF2B5EF4-FFF2-40B4-BE49-F238E27FC236}">
                <a16:creationId xmlns:a16="http://schemas.microsoft.com/office/drawing/2014/main" id="{52CFA76B-532F-4509-B3C6-BB6C866CBD0E}"/>
              </a:ext>
            </a:extLst>
          </p:cNvPr>
          <p:cNvSpPr>
            <a:spLocks noGrp="1"/>
          </p:cNvSpPr>
          <p:nvPr/>
        </p:nvSpPr>
        <p:spPr>
          <a:xfrm>
            <a:off x="609600" y="6496050"/>
            <a:ext cx="3333750" cy="152400"/>
          </a:xfrm>
          <a:prstGeom prst="rect">
            <a:avLst/>
          </a:prstGeom>
          <a:noFill/>
          <a:ln w="0">
            <a:noFill/>
            <a:prstDash val="solid"/>
          </a:ln>
        </p:spPr>
        <p:txBody>
          <a:bodyPr anchor="ctr"/>
          <a:lstStyle/>
          <a:p>
            <a:pPr algn="l">
              <a:defRPr sz="825" b="0">
                <a:solidFill>
                  <a:srgbClr val="58707C"/>
                </a:solidFill>
              </a:defRPr>
            </a:pPr>
            <a:r>
              <a:rPr sz="825" b="0">
                <a:solidFill>
                  <a:srgbClr val="58707C"/>
                </a:solidFill>
              </a:rPr>
              <a:t>Optimization Methods • Week 0</a:t>
            </a:r>
          </a:p>
        </p:txBody>
      </p:sp>
      <p:sp>
        <p:nvSpPr>
          <p:cNvPr id="5" name="Rectangle 4">
            <a:extLst>
              <a:ext uri="{FF2B5EF4-FFF2-40B4-BE49-F238E27FC236}">
                <a16:creationId xmlns:a16="http://schemas.microsoft.com/office/drawing/2014/main" id="{64C7D408-CAB0-47F9-9B18-656DC5E22F39}"/>
              </a:ext>
            </a:extLst>
          </p:cNvPr>
          <p:cNvSpPr>
            <a:spLocks noGrp="1"/>
          </p:cNvSpPr>
          <p:nvPr/>
        </p:nvSpPr>
        <p:spPr>
          <a:xfrm>
            <a:off x="11049000" y="6477000"/>
            <a:ext cx="523875" cy="171450"/>
          </a:xfrm>
          <a:prstGeom prst="rect">
            <a:avLst/>
          </a:prstGeom>
          <a:noFill/>
          <a:ln w="0">
            <a:noFill/>
            <a:prstDash val="solid"/>
          </a:ln>
        </p:spPr>
        <p:txBody>
          <a:bodyPr anchor="ctr"/>
          <a:lstStyle/>
          <a:p>
            <a:pPr algn="r">
              <a:defRPr sz="825" b="1">
                <a:solidFill>
                  <a:srgbClr val="58707C"/>
                </a:solidFill>
              </a:defRPr>
            </a:pPr>
            <a:r>
              <a:rPr sz="825" b="1">
                <a:solidFill>
                  <a:srgbClr val="58707C"/>
                </a:solidFill>
              </a:rPr>
              <a:t>21</a:t>
            </a:r>
          </a:p>
        </p:txBody>
      </p:sp>
      <p:sp>
        <p:nvSpPr>
          <p:cNvPr id="6" name="Rectangle: Rounded Corners 5">
            <a:extLst>
              <a:ext uri="{FF2B5EF4-FFF2-40B4-BE49-F238E27FC236}">
                <a16:creationId xmlns:a16="http://schemas.microsoft.com/office/drawing/2014/main" id="{CB51A89C-A677-469D-B7D8-84746A56D8C3}"/>
              </a:ext>
            </a:extLst>
          </p:cNvPr>
          <p:cNvSpPr>
            <a:spLocks noGrp="1"/>
          </p:cNvSpPr>
          <p:nvPr/>
        </p:nvSpPr>
        <p:spPr>
          <a:xfrm>
            <a:off x="523875" y="1952625"/>
            <a:ext cx="2047875" cy="2381250"/>
          </a:xfrm>
          <a:prstGeom prst="roundRect">
            <a:avLst>
              <a:gd name="adj" fmla="val 3721"/>
            </a:avLst>
          </a:prstGeom>
          <a:solidFill>
            <a:srgbClr val="092A3D"/>
          </a:solidFill>
          <a:ln w="9525">
            <a:solidFill>
              <a:srgbClr val="092A3D"/>
            </a:solidFill>
            <a:prstDash val="solid"/>
          </a:ln>
        </p:spPr>
        <p:txBody>
          <a:bodyPr/>
          <a:lstStyle/>
          <a:p>
            <a:endParaRPr lang="en-IQ"/>
          </a:p>
        </p:txBody>
      </p:sp>
      <p:sp>
        <p:nvSpPr>
          <p:cNvPr id="7" name="Rectangle 6">
            <a:extLst>
              <a:ext uri="{FF2B5EF4-FFF2-40B4-BE49-F238E27FC236}">
                <a16:creationId xmlns:a16="http://schemas.microsoft.com/office/drawing/2014/main" id="{5045D99E-287A-4D2F-97A1-4B2BCAA0F2F5}"/>
              </a:ext>
            </a:extLst>
          </p:cNvPr>
          <p:cNvSpPr>
            <a:spLocks noGrp="1"/>
          </p:cNvSpPr>
          <p:nvPr/>
        </p:nvSpPr>
        <p:spPr>
          <a:xfrm>
            <a:off x="695325" y="2333625"/>
            <a:ext cx="1704975" cy="428625"/>
          </a:xfrm>
          <a:prstGeom prst="rect">
            <a:avLst/>
          </a:prstGeom>
          <a:noFill/>
          <a:ln w="0">
            <a:noFill/>
            <a:prstDash val="solid"/>
          </a:ln>
        </p:spPr>
        <p:txBody>
          <a:bodyPr anchor="ctr"/>
          <a:lstStyle/>
          <a:p>
            <a:pPr algn="ctr">
              <a:defRPr sz="1425" b="1">
                <a:solidFill>
                  <a:srgbClr val="F2A93B"/>
                </a:solidFill>
              </a:defRPr>
            </a:pPr>
            <a:r>
              <a:rPr sz="1425" b="1">
                <a:solidFill>
                  <a:srgbClr val="F2A93B"/>
                </a:solidFill>
              </a:rPr>
              <a:t>DECISION</a:t>
            </a:r>
          </a:p>
        </p:txBody>
      </p:sp>
      <p:sp>
        <p:nvSpPr>
          <p:cNvPr id="8" name="Rectangle 7">
            <a:extLst>
              <a:ext uri="{FF2B5EF4-FFF2-40B4-BE49-F238E27FC236}">
                <a16:creationId xmlns:a16="http://schemas.microsoft.com/office/drawing/2014/main" id="{D2D8908C-429A-447C-B8D0-718CAED27FE0}"/>
              </a:ext>
            </a:extLst>
          </p:cNvPr>
          <p:cNvSpPr>
            <a:spLocks noGrp="1"/>
          </p:cNvSpPr>
          <p:nvPr/>
        </p:nvSpPr>
        <p:spPr>
          <a:xfrm>
            <a:off x="714375" y="3143250"/>
            <a:ext cx="1666875" cy="619125"/>
          </a:xfrm>
          <a:prstGeom prst="rect">
            <a:avLst/>
          </a:prstGeom>
          <a:noFill/>
          <a:ln w="0">
            <a:noFill/>
            <a:prstDash val="solid"/>
          </a:ln>
        </p:spPr>
        <p:txBody>
          <a:bodyPr anchor="ctr"/>
          <a:lstStyle/>
          <a:p>
            <a:pPr algn="ctr">
              <a:defRPr sz="1425" b="1">
                <a:solidFill>
                  <a:srgbClr val="FFFFFF"/>
                </a:solidFill>
              </a:defRPr>
            </a:pPr>
            <a:r>
              <a:rPr sz="1425" b="1">
                <a:solidFill>
                  <a:srgbClr val="FFFFFF"/>
                </a:solidFill>
              </a:rPr>
              <a:t>what may change</a:t>
            </a:r>
          </a:p>
        </p:txBody>
      </p:sp>
      <p:sp>
        <p:nvSpPr>
          <p:cNvPr id="9" name="Rectangle: Rounded Corners 8">
            <a:extLst>
              <a:ext uri="{FF2B5EF4-FFF2-40B4-BE49-F238E27FC236}">
                <a16:creationId xmlns:a16="http://schemas.microsoft.com/office/drawing/2014/main" id="{6AA62ECC-344A-4682-B0FA-06A1F72317DE}"/>
              </a:ext>
            </a:extLst>
          </p:cNvPr>
          <p:cNvSpPr>
            <a:spLocks noGrp="1"/>
          </p:cNvSpPr>
          <p:nvPr/>
        </p:nvSpPr>
        <p:spPr>
          <a:xfrm>
            <a:off x="2857500" y="1952625"/>
            <a:ext cx="2047875" cy="2381250"/>
          </a:xfrm>
          <a:prstGeom prst="roundRect">
            <a:avLst>
              <a:gd name="adj" fmla="val 3721"/>
            </a:avLst>
          </a:prstGeom>
          <a:solidFill>
            <a:srgbClr val="FFFFFF"/>
          </a:solidFill>
          <a:ln w="9525">
            <a:solidFill>
              <a:srgbClr val="CED9DB"/>
            </a:solidFill>
            <a:prstDash val="solid"/>
          </a:ln>
        </p:spPr>
        <p:txBody>
          <a:bodyPr/>
          <a:lstStyle/>
          <a:p>
            <a:endParaRPr lang="en-IQ"/>
          </a:p>
        </p:txBody>
      </p:sp>
      <p:sp>
        <p:nvSpPr>
          <p:cNvPr id="10" name="Rectangle 9">
            <a:extLst>
              <a:ext uri="{FF2B5EF4-FFF2-40B4-BE49-F238E27FC236}">
                <a16:creationId xmlns:a16="http://schemas.microsoft.com/office/drawing/2014/main" id="{DDAE1F10-89D6-4003-B3F5-6D34CFF80A12}"/>
              </a:ext>
            </a:extLst>
          </p:cNvPr>
          <p:cNvSpPr>
            <a:spLocks noGrp="1"/>
          </p:cNvSpPr>
          <p:nvPr/>
        </p:nvSpPr>
        <p:spPr>
          <a:xfrm>
            <a:off x="3028950" y="2333625"/>
            <a:ext cx="1704975" cy="428625"/>
          </a:xfrm>
          <a:prstGeom prst="rect">
            <a:avLst/>
          </a:prstGeom>
          <a:noFill/>
          <a:ln w="0">
            <a:noFill/>
            <a:prstDash val="solid"/>
          </a:ln>
        </p:spPr>
        <p:txBody>
          <a:bodyPr anchor="ctr"/>
          <a:lstStyle/>
          <a:p>
            <a:pPr algn="ctr">
              <a:defRPr sz="1425" b="1">
                <a:solidFill>
                  <a:srgbClr val="0B9B91"/>
                </a:solidFill>
              </a:defRPr>
            </a:pPr>
            <a:r>
              <a:rPr sz="1425" b="1">
                <a:solidFill>
                  <a:srgbClr val="0B9B91"/>
                </a:solidFill>
              </a:rPr>
              <a:t>OBJECTIVE</a:t>
            </a:r>
          </a:p>
        </p:txBody>
      </p:sp>
      <p:sp>
        <p:nvSpPr>
          <p:cNvPr id="11" name="Rectangle 10">
            <a:extLst>
              <a:ext uri="{FF2B5EF4-FFF2-40B4-BE49-F238E27FC236}">
                <a16:creationId xmlns:a16="http://schemas.microsoft.com/office/drawing/2014/main" id="{D1100740-311F-4296-B849-5B198293B8F6}"/>
              </a:ext>
            </a:extLst>
          </p:cNvPr>
          <p:cNvSpPr>
            <a:spLocks noGrp="1"/>
          </p:cNvSpPr>
          <p:nvPr/>
        </p:nvSpPr>
        <p:spPr>
          <a:xfrm>
            <a:off x="3048000" y="3143250"/>
            <a:ext cx="1666875" cy="619125"/>
          </a:xfrm>
          <a:prstGeom prst="rect">
            <a:avLst/>
          </a:prstGeom>
          <a:noFill/>
          <a:ln w="0">
            <a:noFill/>
            <a:prstDash val="solid"/>
          </a:ln>
        </p:spPr>
        <p:txBody>
          <a:bodyPr anchor="ctr"/>
          <a:lstStyle/>
          <a:p>
            <a:pPr algn="ctr">
              <a:defRPr sz="1425" b="1">
                <a:solidFill>
                  <a:srgbClr val="183544"/>
                </a:solidFill>
              </a:defRPr>
            </a:pPr>
            <a:r>
              <a:rPr sz="1425" b="1">
                <a:solidFill>
                  <a:srgbClr val="183544"/>
                </a:solidFill>
              </a:rPr>
              <a:t>what means better</a:t>
            </a:r>
          </a:p>
        </p:txBody>
      </p:sp>
      <p:sp>
        <p:nvSpPr>
          <p:cNvPr id="12" name="Rectangle: Rounded Corners 11">
            <a:extLst>
              <a:ext uri="{FF2B5EF4-FFF2-40B4-BE49-F238E27FC236}">
                <a16:creationId xmlns:a16="http://schemas.microsoft.com/office/drawing/2014/main" id="{C1A96A26-3F96-4050-BDFE-D31648488744}"/>
              </a:ext>
            </a:extLst>
          </p:cNvPr>
          <p:cNvSpPr>
            <a:spLocks noGrp="1"/>
          </p:cNvSpPr>
          <p:nvPr/>
        </p:nvSpPr>
        <p:spPr>
          <a:xfrm>
            <a:off x="5191125" y="1952625"/>
            <a:ext cx="2047875" cy="2381250"/>
          </a:xfrm>
          <a:prstGeom prst="roundRect">
            <a:avLst>
              <a:gd name="adj" fmla="val 3721"/>
            </a:avLst>
          </a:prstGeom>
          <a:solidFill>
            <a:srgbClr val="FFFFFF"/>
          </a:solidFill>
          <a:ln w="9525">
            <a:solidFill>
              <a:srgbClr val="CED9DB"/>
            </a:solidFill>
            <a:prstDash val="solid"/>
          </a:ln>
        </p:spPr>
        <p:txBody>
          <a:bodyPr/>
          <a:lstStyle/>
          <a:p>
            <a:endParaRPr lang="en-IQ"/>
          </a:p>
        </p:txBody>
      </p:sp>
      <p:sp>
        <p:nvSpPr>
          <p:cNvPr id="13" name="Rectangle 12">
            <a:extLst>
              <a:ext uri="{FF2B5EF4-FFF2-40B4-BE49-F238E27FC236}">
                <a16:creationId xmlns:a16="http://schemas.microsoft.com/office/drawing/2014/main" id="{B6A99B92-B675-4BCE-BAC1-F091ACAE8D39}"/>
              </a:ext>
            </a:extLst>
          </p:cNvPr>
          <p:cNvSpPr>
            <a:spLocks noGrp="1"/>
          </p:cNvSpPr>
          <p:nvPr/>
        </p:nvSpPr>
        <p:spPr>
          <a:xfrm>
            <a:off x="5362575" y="2333625"/>
            <a:ext cx="1704975" cy="428625"/>
          </a:xfrm>
          <a:prstGeom prst="rect">
            <a:avLst/>
          </a:prstGeom>
          <a:noFill/>
          <a:ln w="0">
            <a:noFill/>
            <a:prstDash val="solid"/>
          </a:ln>
        </p:spPr>
        <p:txBody>
          <a:bodyPr anchor="ctr"/>
          <a:lstStyle/>
          <a:p>
            <a:pPr algn="ctr">
              <a:defRPr sz="1425" b="1">
                <a:solidFill>
                  <a:srgbClr val="0B9B91"/>
                </a:solidFill>
              </a:defRPr>
            </a:pPr>
            <a:r>
              <a:rPr sz="1425" b="1">
                <a:solidFill>
                  <a:srgbClr val="0B9B91"/>
                </a:solidFill>
              </a:rPr>
              <a:t>CONSTRAINT</a:t>
            </a:r>
          </a:p>
        </p:txBody>
      </p:sp>
      <p:sp>
        <p:nvSpPr>
          <p:cNvPr id="14" name="Rectangle 13">
            <a:extLst>
              <a:ext uri="{FF2B5EF4-FFF2-40B4-BE49-F238E27FC236}">
                <a16:creationId xmlns:a16="http://schemas.microsoft.com/office/drawing/2014/main" id="{5168946D-9424-43CC-8D9D-441B431FBDB4}"/>
              </a:ext>
            </a:extLst>
          </p:cNvPr>
          <p:cNvSpPr>
            <a:spLocks noGrp="1"/>
          </p:cNvSpPr>
          <p:nvPr/>
        </p:nvSpPr>
        <p:spPr>
          <a:xfrm>
            <a:off x="5381625" y="3143250"/>
            <a:ext cx="1666875" cy="619125"/>
          </a:xfrm>
          <a:prstGeom prst="rect">
            <a:avLst/>
          </a:prstGeom>
          <a:noFill/>
          <a:ln w="0">
            <a:noFill/>
            <a:prstDash val="solid"/>
          </a:ln>
        </p:spPr>
        <p:txBody>
          <a:bodyPr anchor="ctr"/>
          <a:lstStyle/>
          <a:p>
            <a:pPr algn="ctr">
              <a:defRPr sz="1425" b="1">
                <a:solidFill>
                  <a:srgbClr val="183544"/>
                </a:solidFill>
              </a:defRPr>
            </a:pPr>
            <a:r>
              <a:rPr sz="1425" b="1">
                <a:solidFill>
                  <a:srgbClr val="183544"/>
                </a:solidFill>
              </a:rPr>
              <a:t>what must be true</a:t>
            </a:r>
          </a:p>
        </p:txBody>
      </p:sp>
      <p:sp>
        <p:nvSpPr>
          <p:cNvPr id="15" name="Rectangle: Rounded Corners 14">
            <a:extLst>
              <a:ext uri="{FF2B5EF4-FFF2-40B4-BE49-F238E27FC236}">
                <a16:creationId xmlns:a16="http://schemas.microsoft.com/office/drawing/2014/main" id="{AB2DF766-8F7A-4073-9FA8-A6B17E0B0023}"/>
              </a:ext>
            </a:extLst>
          </p:cNvPr>
          <p:cNvSpPr>
            <a:spLocks noGrp="1"/>
          </p:cNvSpPr>
          <p:nvPr/>
        </p:nvSpPr>
        <p:spPr>
          <a:xfrm>
            <a:off x="7524750" y="1952625"/>
            <a:ext cx="2047875" cy="2381250"/>
          </a:xfrm>
          <a:prstGeom prst="roundRect">
            <a:avLst>
              <a:gd name="adj" fmla="val 3721"/>
            </a:avLst>
          </a:prstGeom>
          <a:solidFill>
            <a:srgbClr val="FFFFFF"/>
          </a:solidFill>
          <a:ln w="9525">
            <a:solidFill>
              <a:srgbClr val="CED9DB"/>
            </a:solidFill>
            <a:prstDash val="solid"/>
          </a:ln>
        </p:spPr>
        <p:txBody>
          <a:bodyPr/>
          <a:lstStyle/>
          <a:p>
            <a:endParaRPr lang="en-IQ"/>
          </a:p>
        </p:txBody>
      </p:sp>
      <p:sp>
        <p:nvSpPr>
          <p:cNvPr id="16" name="Rectangle 15">
            <a:extLst>
              <a:ext uri="{FF2B5EF4-FFF2-40B4-BE49-F238E27FC236}">
                <a16:creationId xmlns:a16="http://schemas.microsoft.com/office/drawing/2014/main" id="{8FC2B7E9-31C3-4D64-A7B7-70760531B5E6}"/>
              </a:ext>
            </a:extLst>
          </p:cNvPr>
          <p:cNvSpPr>
            <a:spLocks noGrp="1"/>
          </p:cNvSpPr>
          <p:nvPr/>
        </p:nvSpPr>
        <p:spPr>
          <a:xfrm>
            <a:off x="7696200" y="2333625"/>
            <a:ext cx="1704975" cy="428625"/>
          </a:xfrm>
          <a:prstGeom prst="rect">
            <a:avLst/>
          </a:prstGeom>
          <a:noFill/>
          <a:ln w="0">
            <a:noFill/>
            <a:prstDash val="solid"/>
          </a:ln>
        </p:spPr>
        <p:txBody>
          <a:bodyPr anchor="ctr"/>
          <a:lstStyle/>
          <a:p>
            <a:pPr algn="ctr">
              <a:defRPr sz="1425" b="1">
                <a:solidFill>
                  <a:srgbClr val="0B9B91"/>
                </a:solidFill>
              </a:defRPr>
            </a:pPr>
            <a:r>
              <a:rPr sz="1425" b="1">
                <a:solidFill>
                  <a:srgbClr val="0B9B91"/>
                </a:solidFill>
              </a:rPr>
              <a:t>DATA</a:t>
            </a:r>
          </a:p>
        </p:txBody>
      </p:sp>
      <p:sp>
        <p:nvSpPr>
          <p:cNvPr id="17" name="Rectangle 16">
            <a:extLst>
              <a:ext uri="{FF2B5EF4-FFF2-40B4-BE49-F238E27FC236}">
                <a16:creationId xmlns:a16="http://schemas.microsoft.com/office/drawing/2014/main" id="{8C462339-3757-4843-BD6B-011ACB99B771}"/>
              </a:ext>
            </a:extLst>
          </p:cNvPr>
          <p:cNvSpPr>
            <a:spLocks noGrp="1"/>
          </p:cNvSpPr>
          <p:nvPr/>
        </p:nvSpPr>
        <p:spPr>
          <a:xfrm>
            <a:off x="7715250" y="3143250"/>
            <a:ext cx="1666875" cy="619125"/>
          </a:xfrm>
          <a:prstGeom prst="rect">
            <a:avLst/>
          </a:prstGeom>
          <a:noFill/>
          <a:ln w="0">
            <a:noFill/>
            <a:prstDash val="solid"/>
          </a:ln>
        </p:spPr>
        <p:txBody>
          <a:bodyPr anchor="ctr"/>
          <a:lstStyle/>
          <a:p>
            <a:pPr algn="ctr">
              <a:defRPr sz="1425" b="1">
                <a:solidFill>
                  <a:srgbClr val="183544"/>
                </a:solidFill>
              </a:defRPr>
            </a:pPr>
            <a:r>
              <a:rPr sz="1425" b="1">
                <a:solidFill>
                  <a:srgbClr val="183544"/>
                </a:solidFill>
              </a:rPr>
              <a:t>what is known</a:t>
            </a:r>
          </a:p>
        </p:txBody>
      </p:sp>
      <p:sp>
        <p:nvSpPr>
          <p:cNvPr id="18" name="Rectangle: Rounded Corners 17">
            <a:extLst>
              <a:ext uri="{FF2B5EF4-FFF2-40B4-BE49-F238E27FC236}">
                <a16:creationId xmlns:a16="http://schemas.microsoft.com/office/drawing/2014/main" id="{20ACE9AE-2236-4981-A535-91B37AD09E43}"/>
              </a:ext>
            </a:extLst>
          </p:cNvPr>
          <p:cNvSpPr>
            <a:spLocks noGrp="1"/>
          </p:cNvSpPr>
          <p:nvPr/>
        </p:nvSpPr>
        <p:spPr>
          <a:xfrm>
            <a:off x="9858375" y="1952625"/>
            <a:ext cx="2047875" cy="2381250"/>
          </a:xfrm>
          <a:prstGeom prst="roundRect">
            <a:avLst>
              <a:gd name="adj" fmla="val 3721"/>
            </a:avLst>
          </a:prstGeom>
          <a:solidFill>
            <a:srgbClr val="FFFFFF"/>
          </a:solidFill>
          <a:ln w="9525">
            <a:solidFill>
              <a:srgbClr val="CED9DB"/>
            </a:solidFill>
            <a:prstDash val="solid"/>
          </a:ln>
        </p:spPr>
        <p:txBody>
          <a:bodyPr/>
          <a:lstStyle/>
          <a:p>
            <a:endParaRPr lang="en-IQ"/>
          </a:p>
        </p:txBody>
      </p:sp>
      <p:sp>
        <p:nvSpPr>
          <p:cNvPr id="19" name="Rectangle 18">
            <a:extLst>
              <a:ext uri="{FF2B5EF4-FFF2-40B4-BE49-F238E27FC236}">
                <a16:creationId xmlns:a16="http://schemas.microsoft.com/office/drawing/2014/main" id="{95669A9C-3352-41FA-ADFC-FF5FD7CE37E9}"/>
              </a:ext>
            </a:extLst>
          </p:cNvPr>
          <p:cNvSpPr>
            <a:spLocks noGrp="1"/>
          </p:cNvSpPr>
          <p:nvPr/>
        </p:nvSpPr>
        <p:spPr>
          <a:xfrm>
            <a:off x="10029825" y="2333625"/>
            <a:ext cx="1704975" cy="428625"/>
          </a:xfrm>
          <a:prstGeom prst="rect">
            <a:avLst/>
          </a:prstGeom>
          <a:noFill/>
          <a:ln w="0">
            <a:noFill/>
            <a:prstDash val="solid"/>
          </a:ln>
        </p:spPr>
        <p:txBody>
          <a:bodyPr anchor="ctr"/>
          <a:lstStyle/>
          <a:p>
            <a:pPr algn="ctr">
              <a:defRPr sz="1425" b="1">
                <a:solidFill>
                  <a:srgbClr val="0B9B91"/>
                </a:solidFill>
              </a:defRPr>
            </a:pPr>
            <a:r>
              <a:rPr sz="1425" b="1">
                <a:solidFill>
                  <a:srgbClr val="0B9B91"/>
                </a:solidFill>
              </a:rPr>
              <a:t>CANDIDATE</a:t>
            </a:r>
          </a:p>
        </p:txBody>
      </p:sp>
      <p:sp>
        <p:nvSpPr>
          <p:cNvPr id="20" name="Rectangle 19">
            <a:extLst>
              <a:ext uri="{FF2B5EF4-FFF2-40B4-BE49-F238E27FC236}">
                <a16:creationId xmlns:a16="http://schemas.microsoft.com/office/drawing/2014/main" id="{573A1E9C-6442-4D5E-B21D-DC7D13B288DF}"/>
              </a:ext>
            </a:extLst>
          </p:cNvPr>
          <p:cNvSpPr>
            <a:spLocks noGrp="1"/>
          </p:cNvSpPr>
          <p:nvPr/>
        </p:nvSpPr>
        <p:spPr>
          <a:xfrm>
            <a:off x="10048875" y="3143250"/>
            <a:ext cx="1666875" cy="619125"/>
          </a:xfrm>
          <a:prstGeom prst="rect">
            <a:avLst/>
          </a:prstGeom>
          <a:noFill/>
          <a:ln w="0">
            <a:noFill/>
            <a:prstDash val="solid"/>
          </a:ln>
        </p:spPr>
        <p:txBody>
          <a:bodyPr anchor="ctr"/>
          <a:lstStyle/>
          <a:p>
            <a:pPr algn="ctr">
              <a:defRPr sz="1425" b="1">
                <a:solidFill>
                  <a:srgbClr val="183544"/>
                </a:solidFill>
              </a:defRPr>
            </a:pPr>
            <a:r>
              <a:rPr sz="1425" b="1">
                <a:solidFill>
                  <a:srgbClr val="183544"/>
                </a:solidFill>
              </a:rPr>
              <a:t>one complete proposal</a:t>
            </a:r>
          </a:p>
        </p:txBody>
      </p:sp>
      <p:sp>
        <p:nvSpPr>
          <p:cNvPr id="21" name="Rectangle: Rounded Corners 20">
            <a:extLst>
              <a:ext uri="{FF2B5EF4-FFF2-40B4-BE49-F238E27FC236}">
                <a16:creationId xmlns:a16="http://schemas.microsoft.com/office/drawing/2014/main" id="{F95EC03A-CB5A-40FA-B142-F955B4BF9241}"/>
              </a:ext>
            </a:extLst>
          </p:cNvPr>
          <p:cNvSpPr>
            <a:spLocks noGrp="1"/>
          </p:cNvSpPr>
          <p:nvPr/>
        </p:nvSpPr>
        <p:spPr>
          <a:xfrm>
            <a:off x="2047875" y="5286375"/>
            <a:ext cx="8096250" cy="590550"/>
          </a:xfrm>
          <a:prstGeom prst="roundRect">
            <a:avLst>
              <a:gd name="adj" fmla="val 12903"/>
            </a:avLst>
          </a:prstGeom>
          <a:solidFill>
            <a:srgbClr val="E6F3F2"/>
          </a:solidFill>
          <a:ln w="0">
            <a:solidFill>
              <a:srgbClr val="E6F3F2"/>
            </a:solidFill>
            <a:prstDash val="solid"/>
          </a:ln>
        </p:spPr>
        <p:txBody>
          <a:bodyPr/>
          <a:lstStyle/>
          <a:p>
            <a:endParaRPr lang="en-IQ"/>
          </a:p>
        </p:txBody>
      </p:sp>
      <p:sp>
        <p:nvSpPr>
          <p:cNvPr id="22" name="Rectangle 21">
            <a:extLst>
              <a:ext uri="{FF2B5EF4-FFF2-40B4-BE49-F238E27FC236}">
                <a16:creationId xmlns:a16="http://schemas.microsoft.com/office/drawing/2014/main" id="{5AC379A3-71E3-4F87-BCCB-988ECE262A15}"/>
              </a:ext>
            </a:extLst>
          </p:cNvPr>
          <p:cNvSpPr>
            <a:spLocks noGrp="1"/>
          </p:cNvSpPr>
          <p:nvPr/>
        </p:nvSpPr>
        <p:spPr>
          <a:xfrm>
            <a:off x="2238375" y="5381625"/>
            <a:ext cx="7715250" cy="400050"/>
          </a:xfrm>
          <a:prstGeom prst="rect">
            <a:avLst/>
          </a:prstGeom>
          <a:noFill/>
          <a:ln w="0">
            <a:noFill/>
            <a:prstDash val="solid"/>
          </a:ln>
        </p:spPr>
        <p:txBody>
          <a:bodyPr anchor="ctr"/>
          <a:lstStyle/>
          <a:p>
            <a:pPr algn="ctr">
              <a:defRPr sz="1650" b="1">
                <a:solidFill>
                  <a:srgbClr val="092A3D"/>
                </a:solidFill>
              </a:defRPr>
            </a:pPr>
            <a:r>
              <a:rPr sz="1650" b="1">
                <a:solidFill>
                  <a:srgbClr val="092A3D"/>
                </a:solidFill>
              </a:rPr>
              <a:t>Next: turn this language into a formal optimization model.</a:t>
            </a:r>
          </a:p>
        </p:txBody>
      </p:sp>
    </p:spTree>
    <p:extLst>
      <p:ext uri="{BB962C8B-B14F-4D97-AF65-F5344CB8AC3E}">
        <p14:creationId xmlns:p14="http://schemas.microsoft.com/office/powerpoint/2010/main" val="10334721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71C28"/>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A67FC48-550F-427F-8533-A67439EE8B21}"/>
              </a:ext>
            </a:extLst>
          </p:cNvPr>
          <p:cNvSpPr>
            <a:spLocks noGrp="1"/>
          </p:cNvSpPr>
          <p:nvPr/>
        </p:nvSpPr>
        <p:spPr>
          <a:xfrm>
            <a:off x="666750" y="666750"/>
            <a:ext cx="2857500" cy="238125"/>
          </a:xfrm>
          <a:prstGeom prst="rect">
            <a:avLst/>
          </a:prstGeom>
          <a:noFill/>
          <a:ln w="0">
            <a:noFill/>
            <a:prstDash val="solid"/>
          </a:ln>
        </p:spPr>
        <p:txBody>
          <a:bodyPr anchor="ctr"/>
          <a:lstStyle/>
          <a:p>
            <a:pPr algn="l">
              <a:defRPr sz="1125" b="1">
                <a:solidFill>
                  <a:srgbClr val="70D5D0"/>
                </a:solidFill>
              </a:defRPr>
            </a:pPr>
            <a:r>
              <a:rPr sz="1125" b="1">
                <a:solidFill>
                  <a:srgbClr val="70D5D0"/>
                </a:solidFill>
              </a:rPr>
              <a:t>NEXT LECTURE</a:t>
            </a:r>
          </a:p>
        </p:txBody>
      </p:sp>
      <p:sp>
        <p:nvSpPr>
          <p:cNvPr id="2" name="Rectangle 1">
            <a:extLst>
              <a:ext uri="{FF2B5EF4-FFF2-40B4-BE49-F238E27FC236}">
                <a16:creationId xmlns:a16="http://schemas.microsoft.com/office/drawing/2014/main" id="{625BB4CB-E860-4357-8AED-4D3E776F4B01}"/>
              </a:ext>
            </a:extLst>
          </p:cNvPr>
          <p:cNvSpPr>
            <a:spLocks noGrp="1"/>
          </p:cNvSpPr>
          <p:nvPr/>
        </p:nvSpPr>
        <p:spPr>
          <a:xfrm>
            <a:off x="666750" y="1809750"/>
            <a:ext cx="7620000" cy="1619250"/>
          </a:xfrm>
          <a:prstGeom prst="rect">
            <a:avLst/>
          </a:prstGeom>
          <a:noFill/>
          <a:ln w="0">
            <a:noFill/>
            <a:prstDash val="solid"/>
          </a:ln>
        </p:spPr>
        <p:txBody>
          <a:bodyPr anchor="ctr"/>
          <a:lstStyle/>
          <a:p>
            <a:pPr algn="l">
              <a:defRPr sz="3750" b="1">
                <a:solidFill>
                  <a:srgbClr val="FFFFFF"/>
                </a:solidFill>
              </a:defRPr>
            </a:pPr>
            <a:r>
              <a:rPr sz="3750" b="1">
                <a:solidFill>
                  <a:srgbClr val="FFFFFF"/>
                </a:solidFill>
              </a:rPr>
              <a:t>Week 1</a:t>
            </a:r>
          </a:p>
          <a:p>
            <a:pPr algn="l">
              <a:defRPr sz="3750" b="1">
                <a:solidFill>
                  <a:srgbClr val="FFFFFF"/>
                </a:solidFill>
              </a:defRPr>
            </a:pPr>
            <a:r>
              <a:rPr sz="3750" b="1">
                <a:solidFill>
                  <a:srgbClr val="FFFFFF"/>
                </a:solidFill>
              </a:rPr>
              <a:t>Thinking clearly about better decisions</a:t>
            </a:r>
          </a:p>
        </p:txBody>
      </p:sp>
      <p:sp>
        <p:nvSpPr>
          <p:cNvPr id="3" name="Rectangle 2">
            <a:extLst>
              <a:ext uri="{FF2B5EF4-FFF2-40B4-BE49-F238E27FC236}">
                <a16:creationId xmlns:a16="http://schemas.microsoft.com/office/drawing/2014/main" id="{CC454A28-573E-4593-86C2-26B9FE4432F8}"/>
              </a:ext>
            </a:extLst>
          </p:cNvPr>
          <p:cNvSpPr>
            <a:spLocks noGrp="1"/>
          </p:cNvSpPr>
          <p:nvPr/>
        </p:nvSpPr>
        <p:spPr>
          <a:xfrm>
            <a:off x="685800" y="4000500"/>
            <a:ext cx="7239000" cy="619125"/>
          </a:xfrm>
          <a:prstGeom prst="rect">
            <a:avLst/>
          </a:prstGeom>
          <a:noFill/>
          <a:ln w="0">
            <a:noFill/>
            <a:prstDash val="solid"/>
          </a:ln>
        </p:spPr>
        <p:txBody>
          <a:bodyPr anchor="ctr"/>
          <a:lstStyle/>
          <a:p>
            <a:pPr algn="l">
              <a:defRPr sz="1650" b="0">
                <a:solidFill>
                  <a:srgbClr val="D6E8EC"/>
                </a:solidFill>
              </a:defRPr>
            </a:pPr>
            <a:r>
              <a:rPr sz="1650" b="0">
                <a:solidFill>
                  <a:srgbClr val="D6E8EC"/>
                </a:solidFill>
              </a:rPr>
              <a:t>Models, problem types, engineering applications and Java evaluation</a:t>
            </a:r>
          </a:p>
        </p:txBody>
      </p:sp>
      <p:sp>
        <p:nvSpPr>
          <p:cNvPr id="4" name="Rectangle: Rounded Corners 3">
            <a:extLst>
              <a:ext uri="{FF2B5EF4-FFF2-40B4-BE49-F238E27FC236}">
                <a16:creationId xmlns:a16="http://schemas.microsoft.com/office/drawing/2014/main" id="{E48E58FA-D63B-4F25-9036-9D7564D2AF63}"/>
              </a:ext>
            </a:extLst>
          </p:cNvPr>
          <p:cNvSpPr>
            <a:spLocks noGrp="1"/>
          </p:cNvSpPr>
          <p:nvPr/>
        </p:nvSpPr>
        <p:spPr>
          <a:xfrm>
            <a:off x="8572500" y="4953000"/>
            <a:ext cx="2667000" cy="742950"/>
          </a:xfrm>
          <a:prstGeom prst="roundRect">
            <a:avLst>
              <a:gd name="adj" fmla="val 10256"/>
            </a:avLst>
          </a:prstGeom>
          <a:solidFill>
            <a:srgbClr val="F2A93B"/>
          </a:solidFill>
          <a:ln w="0">
            <a:solidFill>
              <a:srgbClr val="F2A93B"/>
            </a:solidFill>
            <a:prstDash val="solid"/>
          </a:ln>
        </p:spPr>
        <p:txBody>
          <a:bodyPr/>
          <a:lstStyle/>
          <a:p>
            <a:endParaRPr lang="en-IQ"/>
          </a:p>
        </p:txBody>
      </p:sp>
      <p:sp>
        <p:nvSpPr>
          <p:cNvPr id="5" name="Rectangle 4">
            <a:extLst>
              <a:ext uri="{FF2B5EF4-FFF2-40B4-BE49-F238E27FC236}">
                <a16:creationId xmlns:a16="http://schemas.microsoft.com/office/drawing/2014/main" id="{68165687-7B30-42C6-B43D-C91C391B11A2}"/>
              </a:ext>
            </a:extLst>
          </p:cNvPr>
          <p:cNvSpPr>
            <a:spLocks noGrp="1"/>
          </p:cNvSpPr>
          <p:nvPr/>
        </p:nvSpPr>
        <p:spPr>
          <a:xfrm>
            <a:off x="8763000" y="5048250"/>
            <a:ext cx="2286000" cy="552450"/>
          </a:xfrm>
          <a:prstGeom prst="rect">
            <a:avLst/>
          </a:prstGeom>
          <a:noFill/>
          <a:ln w="0">
            <a:noFill/>
            <a:prstDash val="solid"/>
          </a:ln>
        </p:spPr>
        <p:txBody>
          <a:bodyPr anchor="ctr"/>
          <a:lstStyle/>
          <a:p>
            <a:pPr algn="ctr">
              <a:defRPr sz="2025" b="1">
                <a:solidFill>
                  <a:srgbClr val="FFFFFF"/>
                </a:solidFill>
              </a:defRPr>
            </a:pPr>
            <a:r>
              <a:rPr sz="2025" b="1">
                <a:solidFill>
                  <a:srgbClr val="FFFFFF"/>
                </a:solidFill>
              </a:rPr>
              <a:t>Questions?</a:t>
            </a:r>
          </a:p>
        </p:txBody>
      </p:sp>
    </p:spTree>
    <p:extLst>
      <p:ext uri="{BB962C8B-B14F-4D97-AF65-F5344CB8AC3E}">
        <p14:creationId xmlns:p14="http://schemas.microsoft.com/office/powerpoint/2010/main" val="84639358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3755</Words>
  <Application>Microsoft Macintosh PowerPoint</Application>
  <DocSecurity>0</DocSecurity>
  <PresentationFormat>Widescreen</PresentationFormat>
  <Paragraphs>406</Paragraphs>
  <Slides>22</Slides>
  <Notes>22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22</vt:i4>
      </vt:variant>
    </vt:vector>
  </HeadingPairs>
  <TitlesOfParts>
    <vt:vector size="24"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Awrosoft Support</cp:lastModifiedBy>
  <cp:revision>6</cp:revision>
  <dcterms:created xsi:type="dcterms:W3CDTF">2026-08-30T10:18:58Z</dcterms:created>
  <dcterms:modified xsi:type="dcterms:W3CDTF">2026-09-19T17:21:13Z</dcterms:modified>
</cp:coreProperties>
</file>